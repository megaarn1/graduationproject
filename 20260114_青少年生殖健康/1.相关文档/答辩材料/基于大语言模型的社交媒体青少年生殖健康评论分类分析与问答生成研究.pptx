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评论数</c:v>
                </c:pt>
              </c:strCache>
            </c:strRef>
          </c:tx>
          <c:spPr>
            <a:solidFill>
              <a:srgbClr val="1A4B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Sheet1!$A$2:$A$14</c:f>
              <c:multiLvlStrCache>
                <c:ptCount val="13"/>
                <c:lvl>
                  <c:pt idx="0">
                    <c:v>生殖健康科普</c:v>
                  </c:pt>
                  <c:pt idx="1">
                    <c:v>安全套</c:v>
                  </c:pt>
                  <c:pt idx="2">
                    <c:v>避孕药</c:v>
                  </c:pt>
                  <c:pt idx="3">
                    <c:v>体外排精</c:v>
                  </c:pt>
                  <c:pt idx="4">
                    <c:v>安全期避孕</c:v>
                  </c:pt>
                  <c:pt idx="5">
                    <c:v>人工流产</c:v>
                  </c:pt>
                  <c:pt idx="6">
                    <c:v>绝育手术</c:v>
                  </c:pt>
                  <c:pt idx="7">
                    <c:v>避孕科普</c:v>
                  </c:pt>
                  <c:pt idx="8">
                    <c:v>节育器</c:v>
                  </c:pt>
                  <c:pt idx="9">
                    <c:v>避孕失败</c:v>
                  </c:pt>
                  <c:pt idx="10">
                    <c:v>女用安全套</c:v>
                  </c:pt>
                  <c:pt idx="11">
                    <c:v>新型避孕方式</c:v>
                  </c:pt>
                  <c:pt idx="12">
                    <c:v>其他</c:v>
                  </c:pt>
                </c:lvl>
              </c:multiLvlStrCache>
            </c:multiLvlStrRef>
          </c:cat>
          <c:val>
            <c:numRef>
              <c:f>Sheet1!$B$2:$B$14</c:f>
              <c:numCache>
                <c:formatCode>General</c:formatCode>
                <c:ptCount val="13"/>
                <c:pt idx="0">
                  <c:v>1204</c:v>
                </c:pt>
                <c:pt idx="1">
                  <c:v>855</c:v>
                </c:pt>
                <c:pt idx="2">
                  <c:v>381</c:v>
                </c:pt>
                <c:pt idx="3">
                  <c:v>211</c:v>
                </c:pt>
                <c:pt idx="4">
                  <c:v>189</c:v>
                </c:pt>
                <c:pt idx="5">
                  <c:v>175</c:v>
                </c:pt>
                <c:pt idx="6">
                  <c:v>168</c:v>
                </c:pt>
                <c:pt idx="7">
                  <c:v>152</c:v>
                </c:pt>
                <c:pt idx="8">
                  <c:v>113</c:v>
                </c:pt>
                <c:pt idx="9">
                  <c:v>89</c:v>
                </c:pt>
                <c:pt idx="10">
                  <c:v>76</c:v>
                </c:pt>
                <c:pt idx="11">
                  <c:v>68</c:v>
                </c:pt>
                <c:pt idx="12">
                  <c:v>99</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7"/>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dash"/>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A1D2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基线模型</c:v>
                </c:pt>
              </c:strCache>
            </c:strRef>
          </c:tx>
          <c:spPr>
            <a:solidFill>
              <a:srgbClr val="8A9BB0"/>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Qwen2.5-1.5B</c:v>
                  </c:pt>
                  <c:pt idx="1">
                    <c:v>Qwen2.5-3B</c:v>
                  </c:pt>
                  <c:pt idx="2">
                    <c:v>Qwen2.5-7B</c:v>
                  </c:pt>
                  <c:pt idx="3">
                    <c:v>Qwen3-1.7B</c:v>
                  </c:pt>
                  <c:pt idx="4">
                    <c:v>Qwen3-4B</c:v>
                  </c:pt>
                  <c:pt idx="5">
                    <c:v>Qwen3-8B</c:v>
                  </c:pt>
                </c:lvl>
              </c:multiLvlStrCache>
            </c:multiLvlStrRef>
          </c:cat>
          <c:val>
            <c:numRef>
              <c:f>Sheet1!$B$2:$B$7</c:f>
              <c:numCache>
                <c:formatCode>General</c:formatCode>
                <c:ptCount val="6"/>
                <c:pt idx="0">
                  <c:v>2.108</c:v>
                </c:pt>
                <c:pt idx="1">
                  <c:v>2.262</c:v>
                </c:pt>
                <c:pt idx="2">
                  <c:v>2.595</c:v>
                </c:pt>
                <c:pt idx="3">
                  <c:v>2.259</c:v>
                </c:pt>
                <c:pt idx="4">
                  <c:v>2.555</c:v>
                </c:pt>
                <c:pt idx="5">
                  <c:v>2.657</c:v>
                </c:pt>
              </c:numCache>
            </c:numRef>
          </c:val>
        </c:ser>
        <c:ser>
          <c:idx val="1"/>
          <c:order val="1"/>
          <c:tx>
            <c:strRef>
              <c:f>Sheet1!$C$1</c:f>
              <c:strCache>
                <c:ptCount val="1"/>
                <c:pt idx="0">
                  <c:v>微调后</c:v>
                </c:pt>
              </c:strCache>
            </c:strRef>
          </c:tx>
          <c:spPr>
            <a:solidFill>
              <a:srgbClr val="1A4B8C"/>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Qwen2.5-1.5B</c:v>
                  </c:pt>
                  <c:pt idx="1">
                    <c:v>Qwen2.5-3B</c:v>
                  </c:pt>
                  <c:pt idx="2">
                    <c:v>Qwen2.5-7B</c:v>
                  </c:pt>
                  <c:pt idx="3">
                    <c:v>Qwen3-1.7B</c:v>
                  </c:pt>
                  <c:pt idx="4">
                    <c:v>Qwen3-4B</c:v>
                  </c:pt>
                  <c:pt idx="5">
                    <c:v>Qwen3-8B</c:v>
                  </c:pt>
                </c:lvl>
              </c:multiLvlStrCache>
            </c:multiLvlStrRef>
          </c:cat>
          <c:val>
            <c:numRef>
              <c:f>Sheet1!$C$2:$C$7</c:f>
              <c:numCache>
                <c:formatCode>General</c:formatCode>
                <c:ptCount val="6"/>
                <c:pt idx="0">
                  <c:v>2.552</c:v>
                </c:pt>
                <c:pt idx="1">
                  <c:v>2.699</c:v>
                </c:pt>
                <c:pt idx="2">
                  <c:v>2.914</c:v>
                </c:pt>
                <c:pt idx="3">
                  <c:v>2.815</c:v>
                </c:pt>
                <c:pt idx="4">
                  <c:v>2.927</c:v>
                </c:pt>
                <c:pt idx="5">
                  <c:v>2.922</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0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2"/>
        <c:crosses val="autoZero"/>
        <c:auto val="1"/>
        <c:lblAlgn val="ctr"/>
        <c:noMultiLvlLbl val="1"/>
      </c:catAx>
      <c:valAx>
        <c:axId val="2094734552"/>
        <c:scaling>
          <c:orientation val="minMax"/>
          <c:max val="3.2"/>
          <c:min val="1.5"/>
        </c:scaling>
        <c:delete val="0"/>
        <c:axPos val="l"/>
        <c:majorGridlines>
          <c:spPr>
            <a:ln w="12700" cap="flat">
              <a:solidFill>
                <a:srgbClr val="e5e7eb"/>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提升幅度</c:v>
                </c:pt>
              </c:strCache>
            </c:strRef>
          </c:tx>
          <c:spPr>
            <a:solidFill>
              <a:srgbClr val="C45C26"/>
            </a:solidFill>
            <a:effectLst/>
          </c:spPr>
          <c:invertIfNegative val="0"/>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Sheet1!$A$2:$A$10</c:f>
              <c:multiLvlStrCache>
                <c:ptCount val="9"/>
                <c:lvl>
                  <c:pt idx="0">
                    <c:v>人工流产</c:v>
                  </c:pt>
                  <c:pt idx="1">
                    <c:v>体外排精</c:v>
                  </c:pt>
                  <c:pt idx="2">
                    <c:v>节育器</c:v>
                  </c:pt>
                  <c:pt idx="3">
                    <c:v>绝育手术</c:v>
                  </c:pt>
                  <c:pt idx="4">
                    <c:v>其他内容</c:v>
                  </c:pt>
                  <c:pt idx="5">
                    <c:v>生殖健康科普</c:v>
                  </c:pt>
                  <c:pt idx="6">
                    <c:v>安全套</c:v>
                  </c:pt>
                  <c:pt idx="7">
                    <c:v>避孕科普</c:v>
                  </c:pt>
                  <c:pt idx="8">
                    <c:v>避孕药</c:v>
                  </c:pt>
                </c:lvl>
              </c:multiLvlStrCache>
            </c:multiLvlStrRef>
          </c:cat>
          <c:val>
            <c:numRef>
              <c:f>Sheet1!$B$2:$B$10</c:f>
              <c:numCache>
                <c:formatCode>General</c:formatCode>
                <c:ptCount val="9"/>
                <c:pt idx="0">
                  <c:v>0.619</c:v>
                </c:pt>
                <c:pt idx="1">
                  <c:v>0.476</c:v>
                </c:pt>
                <c:pt idx="2">
                  <c:v>0.43</c:v>
                </c:pt>
                <c:pt idx="3">
                  <c:v>0.375</c:v>
                </c:pt>
                <c:pt idx="4">
                  <c:v>0.361</c:v>
                </c:pt>
                <c:pt idx="5">
                  <c:v>0.355</c:v>
                </c:pt>
                <c:pt idx="6">
                  <c:v>0.348</c:v>
                </c:pt>
                <c:pt idx="7">
                  <c:v>0.347</c:v>
                </c:pt>
                <c:pt idx="8">
                  <c:v>0.316</c:v>
                </c:pt>
              </c:numCache>
            </c:numRef>
          </c:val>
        </c:ser>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0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0E6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B8C"/>
        </a:solidFill>
      </p:bgPr>
    </p:bg>
    <p:spTree>
      <p:nvGrpSpPr>
        <p:cNvPr id="1" name=""/>
        <p:cNvGrpSpPr/>
        <p:nvPr/>
      </p:nvGrpSpPr>
      <p:grpSpPr>
        <a:xfrm>
          <a:off x="0" y="0"/>
          <a:ext cx="0" cy="0"/>
          <a:chOff x="0" y="0"/>
          <a:chExt cx="0" cy="0"/>
        </a:xfrm>
      </p:grpSpPr>
      <p:sp>
        <p:nvSpPr>
          <p:cNvPr id="2" name="Text 0"/>
          <p:cNvSpPr/>
          <p:nvPr/>
        </p:nvSpPr>
        <p:spPr>
          <a:xfrm>
            <a:off x="1016000" y="2794000"/>
            <a:ext cx="9144000" cy="2603500"/>
          </a:xfrm>
          <a:prstGeom prst="rect">
            <a:avLst/>
          </a:prstGeom>
          <a:noFill/>
          <a:ln/>
        </p:spPr>
        <p:txBody>
          <a:bodyPr wrap="square" lIns="0" tIns="0" rIns="0" bIns="0" rtlCol="0" anchor="t"/>
          <a:lstStyle/>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基于大语言模型的社交媒体</a:t>
            </a:r>
            <a:endParaRPr lang="en-US" sz="3600" dirty="0"/>
          </a:p>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青少年生殖健康评论分类分析</a:t>
            </a:r>
            <a:endParaRPr lang="en-US" sz="3600" dirty="0"/>
          </a:p>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与问答生成研究</a:t>
            </a:r>
            <a:endParaRPr lang="en-US" sz="3600" dirty="0"/>
          </a:p>
        </p:txBody>
      </p:sp>
      <p:sp>
        <p:nvSpPr>
          <p:cNvPr id="3" name="Shape 1"/>
          <p:cNvSpPr/>
          <p:nvPr/>
        </p:nvSpPr>
        <p:spPr>
          <a:xfrm>
            <a:off x="1016000" y="5461000"/>
            <a:ext cx="762000" cy="50800"/>
          </a:xfrm>
          <a:prstGeom prst="rect">
            <a:avLst/>
          </a:prstGeom>
          <a:solidFill>
            <a:srgbClr val="C45C26"/>
          </a:solidFill>
          <a:ln/>
        </p:spPr>
      </p:sp>
      <p:sp>
        <p:nvSpPr>
          <p:cNvPr id="4" name="Text 2"/>
          <p:cNvSpPr/>
          <p:nvPr/>
        </p:nvSpPr>
        <p:spPr>
          <a:xfrm>
            <a:off x="1016000" y="5651500"/>
            <a:ext cx="9144000" cy="508000"/>
          </a:xfrm>
          <a:prstGeom prst="rect">
            <a:avLst/>
          </a:prstGeom>
          <a:noFill/>
          <a:ln/>
        </p:spPr>
        <p:txBody>
          <a:bodyPr wrap="none" lIns="0" tIns="0" rIns="0" bIns="0" rtlCol="0" anchor="ctr"/>
          <a:lstStyle/>
          <a:p>
            <a:pPr>
              <a:lnSpc>
                <a:spcPct val="10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本科生毕业设计（论文）答辩</a:t>
            </a:r>
            <a:endParaRPr lang="en-US" sz="1600" dirty="0"/>
          </a:p>
        </p:txBody>
      </p:sp>
      <p:sp>
        <p:nvSpPr>
          <p:cNvPr id="5" name="Text 3"/>
          <p:cNvSpPr/>
          <p:nvPr/>
        </p:nvSpPr>
        <p:spPr>
          <a:xfrm>
            <a:off x="1016000" y="6604000"/>
            <a:ext cx="9144000" cy="1524000"/>
          </a:xfrm>
          <a:prstGeom prst="rect">
            <a:avLst/>
          </a:prstGeom>
          <a:noFill/>
          <a:ln/>
        </p:spPr>
        <p:txBody>
          <a:bodyPr wrap="square" lIns="0" tIns="0" rIns="0" bIns="0" rtlCol="0" anchor="t"/>
          <a:lstStyle/>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答辩人：周子轩 | 导师：黄若尘 讲师</a:t>
            </a:r>
            <a:endParaRPr lang="en-US" sz="1600" dirty="0"/>
          </a:p>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南京医科大学 生物医学工程与信息学院</a:t>
            </a:r>
            <a:endParaRPr lang="en-US" sz="1600" dirty="0"/>
          </a:p>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2026年5月</a:t>
            </a:r>
            <a:endParaRPr lang="en-US" sz="1600" dirty="0"/>
          </a:p>
        </p:txBody>
      </p:sp>
      <p:sp>
        <p:nvSpPr>
          <p:cNvPr id="6" name="Shape 4"/>
          <p:cNvSpPr/>
          <p:nvPr/>
        </p:nvSpPr>
        <p:spPr>
          <a:xfrm>
            <a:off x="11176000" y="0"/>
            <a:ext cx="5080000" cy="9144000"/>
          </a:xfrm>
          <a:prstGeom prst="rect">
            <a:avLst/>
          </a:prstGeom>
          <a:solidFill>
            <a:srgbClr val="FFFFFF">
              <a:alpha val="8235"/>
            </a:srgbClr>
          </a:solidFill>
          <a:ln/>
        </p:spPr>
      </p:sp>
      <p:sp>
        <p:nvSpPr>
          <p:cNvPr id="7" name="Shape 5"/>
          <p:cNvSpPr/>
          <p:nvPr/>
        </p:nvSpPr>
        <p:spPr>
          <a:xfrm>
            <a:off x="12446000" y="2286000"/>
            <a:ext cx="2540000" cy="2540000"/>
          </a:xfrm>
          <a:prstGeom prst="ellipse">
            <a:avLst/>
          </a:prstGeom>
          <a:solidFill>
            <a:srgbClr val="FFFFFF">
              <a:alpha val="6275"/>
            </a:srgbClr>
          </a:solidFill>
          <a:ln/>
        </p:spPr>
      </p:sp>
      <p:sp>
        <p:nvSpPr>
          <p:cNvPr id="8" name="Shape 6"/>
          <p:cNvSpPr/>
          <p:nvPr/>
        </p:nvSpPr>
        <p:spPr>
          <a:xfrm>
            <a:off x="13335000" y="5080000"/>
            <a:ext cx="1524000" cy="1524000"/>
          </a:xfrm>
          <a:prstGeom prst="ellipse">
            <a:avLst/>
          </a:prstGeom>
          <a:solidFill>
            <a:srgbClr val="FFFFFF">
              <a:alpha val="3137"/>
            </a:srgbClr>
          </a:solidFill>
          <a:ln/>
        </p:spPr>
      </p:sp>
      <p:sp>
        <p:nvSpPr>
          <p:cNvPr id="9" name="Shape 7"/>
          <p:cNvSpPr/>
          <p:nvPr/>
        </p:nvSpPr>
        <p:spPr>
          <a:xfrm>
            <a:off x="11684000" y="7112000"/>
            <a:ext cx="3048000" cy="0"/>
          </a:xfrm>
          <a:prstGeom prst="straightConnector1">
            <a:avLst/>
          </a:prstGeom>
          <a:noFill/>
          <a:ln w="25400">
            <a:solidFill>
              <a:srgbClr val="FFFFFF">
                <a:alpha val="18824"/>
              </a:srgbClr>
            </a:solidFill>
            <a:prstDash val="solid"/>
            <a:headEnd type="none"/>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研究背景与意义</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研究背景与意义</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Shape 5"/>
          <p:cNvSpPr/>
          <p:nvPr/>
        </p:nvSpPr>
        <p:spPr>
          <a:xfrm>
            <a:off x="762000" y="1651000"/>
            <a:ext cx="4699000" cy="2667000"/>
          </a:xfrm>
          <a:prstGeom prst="rect">
            <a:avLst/>
          </a:prstGeom>
          <a:solidFill>
            <a:srgbClr val="FFFFFF"/>
          </a:solidFill>
          <a:ln/>
        </p:spPr>
      </p:sp>
      <p:sp>
        <p:nvSpPr>
          <p:cNvPr id="8" name="Text 6"/>
          <p:cNvSpPr/>
          <p:nvPr/>
        </p:nvSpPr>
        <p:spPr>
          <a:xfrm>
            <a:off x="1016000" y="1778000"/>
            <a:ext cx="4191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严峻的现实挑战</a:t>
            </a:r>
            <a:endParaRPr lang="en-US" sz="1600" dirty="0"/>
          </a:p>
        </p:txBody>
      </p:sp>
      <p:sp>
        <p:nvSpPr>
          <p:cNvPr id="9" name="Text 7"/>
          <p:cNvSpPr/>
          <p:nvPr/>
        </p:nvSpPr>
        <p:spPr>
          <a:xfrm>
            <a:off x="1016000" y="2260600"/>
            <a:ext cx="4191000" cy="1905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全球：2019年中低收入国家15-19岁女性约</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2100万例</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怀孕，半数为非意愿妊娠</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中国：青少年HIV发病率2008-2017年间增加约</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五倍</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，生殖健康教育亟待加强</a:t>
            </a:r>
            <a:endParaRPr lang="en-US" sz="1600" dirty="0"/>
          </a:p>
        </p:txBody>
      </p:sp>
      <p:sp>
        <p:nvSpPr>
          <p:cNvPr id="10" name="Shape 8"/>
          <p:cNvSpPr/>
          <p:nvPr/>
        </p:nvSpPr>
        <p:spPr>
          <a:xfrm>
            <a:off x="5715000" y="1651000"/>
            <a:ext cx="4699000" cy="2540000"/>
          </a:xfrm>
          <a:prstGeom prst="rect">
            <a:avLst/>
          </a:prstGeom>
          <a:solidFill>
            <a:srgbClr val="FFFFFF"/>
          </a:solidFill>
          <a:ln/>
        </p:spPr>
      </p:sp>
      <p:sp>
        <p:nvSpPr>
          <p:cNvPr id="11" name="Text 9"/>
          <p:cNvSpPr/>
          <p:nvPr/>
        </p:nvSpPr>
        <p:spPr>
          <a:xfrm>
            <a:off x="5969000" y="1778000"/>
            <a:ext cx="4191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传统教育的局限</a:t>
            </a:r>
            <a:endParaRPr lang="en-US" sz="1600" dirty="0"/>
          </a:p>
        </p:txBody>
      </p:sp>
      <p:sp>
        <p:nvSpPr>
          <p:cNvPr id="12" name="Text 10"/>
          <p:cNvSpPr/>
          <p:nvPr/>
        </p:nvSpPr>
        <p:spPr>
          <a:xfrm>
            <a:off x="5969000" y="2260600"/>
            <a:ext cx="4191000" cy="1778000"/>
          </a:xfrm>
          <a:prstGeom prst="rect">
            <a:avLst/>
          </a:prstGeom>
          <a:noFill/>
          <a:ln/>
        </p:spPr>
        <p:txBody>
          <a:bodyPr wrap="square" lIns="0" tIns="0" rIns="0" bIns="0" rtlCol="0" anchor="t"/>
          <a:lstStyle/>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文化敏感性导致学校性教育避而不谈</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课程体系不完善，知识缺口显著</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全国调查显示青少年生殖健康知识及格率偏低</a:t>
            </a:r>
            <a:endParaRPr lang="en-US" sz="1600" dirty="0"/>
          </a:p>
        </p:txBody>
      </p:sp>
      <p:sp>
        <p:nvSpPr>
          <p:cNvPr id="13" name="Shape 11"/>
          <p:cNvSpPr/>
          <p:nvPr/>
        </p:nvSpPr>
        <p:spPr>
          <a:xfrm>
            <a:off x="10668000" y="1651000"/>
            <a:ext cx="4826000" cy="2540000"/>
          </a:xfrm>
          <a:prstGeom prst="rect">
            <a:avLst/>
          </a:prstGeom>
          <a:solidFill>
            <a:srgbClr val="FFFFFF"/>
          </a:solidFill>
          <a:ln/>
        </p:spPr>
      </p:sp>
      <p:sp>
        <p:nvSpPr>
          <p:cNvPr id="14" name="Text 12"/>
          <p:cNvSpPr/>
          <p:nvPr/>
        </p:nvSpPr>
        <p:spPr>
          <a:xfrm>
            <a:off x="10922000" y="1778000"/>
            <a:ext cx="4318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社交媒体的机遇与挑战</a:t>
            </a:r>
            <a:endParaRPr lang="en-US" sz="1600" dirty="0"/>
          </a:p>
        </p:txBody>
      </p:sp>
      <p:sp>
        <p:nvSpPr>
          <p:cNvPr id="15" name="Text 13"/>
          <p:cNvSpPr/>
          <p:nvPr/>
        </p:nvSpPr>
        <p:spPr>
          <a:xfrm>
            <a:off x="10922000" y="2260600"/>
            <a:ext cx="4318000" cy="18415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B站等社交媒体成为Z世代获取敏感话题信息的核心渠道</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海量真实评论构成自发的"问答社区"</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核心挑战：UGC质量参差，如何转化为规范知识资源</a:t>
            </a:r>
            <a:endParaRPr lang="en-US" sz="1600" dirty="0"/>
          </a:p>
        </p:txBody>
      </p:sp>
      <p:sp>
        <p:nvSpPr>
          <p:cNvPr id="16" name="Shape 14"/>
          <p:cNvSpPr/>
          <p:nvPr/>
        </p:nvSpPr>
        <p:spPr>
          <a:xfrm>
            <a:off x="762000" y="4445000"/>
            <a:ext cx="14732000" cy="0"/>
          </a:xfrm>
          <a:prstGeom prst="straightConnector1">
            <a:avLst/>
          </a:prstGeom>
          <a:noFill/>
          <a:ln w="12700">
            <a:solidFill>
              <a:srgbClr val="8A9BB0"/>
            </a:solidFill>
            <a:prstDash val="solid"/>
            <a:headEnd type="none"/>
            <a:tailEnd type="none"/>
          </a:ln>
        </p:spPr>
      </p:sp>
      <p:sp>
        <p:nvSpPr>
          <p:cNvPr id="17" name="Text 15"/>
          <p:cNvSpPr/>
          <p:nvPr/>
        </p:nvSpPr>
        <p:spPr>
          <a:xfrm>
            <a:off x="762000" y="4635500"/>
            <a:ext cx="3810000" cy="406400"/>
          </a:xfrm>
          <a:prstGeom prst="rect">
            <a:avLst/>
          </a:prstGeom>
          <a:noFill/>
          <a:ln/>
        </p:spPr>
        <p:txBody>
          <a:bodyPr wrap="none" lIns="0" tIns="0" rIns="0" bIns="0" rtlCol="0" anchor="ctr"/>
          <a:lstStyle/>
          <a:p>
            <a:pPr>
              <a:lnSpc>
                <a:spcPct val="100000"/>
              </a:lnSpc>
            </a:pPr>
            <a:r>
              <a:rPr lang="en-US" sz="2000" b="1" dirty="0">
                <a:solidFill>
                  <a:srgbClr val="1A4B8C"/>
                </a:solidFill>
                <a:latin typeface="Quattrocento Sans" pitchFamily="34" charset="0"/>
                <a:ea typeface="Quattrocento Sans" pitchFamily="34" charset="-122"/>
                <a:cs typeface="Quattrocento Sans" pitchFamily="34" charset="-120"/>
              </a:rPr>
              <a:t>研究意义</a:t>
            </a:r>
            <a:endParaRPr lang="en-US" sz="1600" dirty="0"/>
          </a:p>
        </p:txBody>
      </p:sp>
      <p:sp>
        <p:nvSpPr>
          <p:cNvPr id="18" name="Text 16"/>
          <p:cNvSpPr/>
          <p:nvPr/>
        </p:nvSpPr>
        <p:spPr>
          <a:xfrm>
            <a:off x="762000" y="5143500"/>
            <a:ext cx="14732000" cy="2540000"/>
          </a:xfrm>
          <a:prstGeom prst="rect">
            <a:avLst/>
          </a:prstGeom>
          <a:noFill/>
          <a:ln/>
        </p:spPr>
        <p:txBody>
          <a:bodyPr wrap="square" lIns="0" tIns="0" rIns="0" bIns="0" rtlCol="0" anchor="t"/>
          <a:lstStyle/>
          <a:p>
            <a:pPr>
              <a:lnSpc>
                <a:spcPct val="170000"/>
              </a:lnSpc>
            </a:pPr>
            <a:r>
              <a:rPr lang="en-US" sz="1800" b="1" dirty="0">
                <a:solidFill>
                  <a:srgbClr val="1A1D21"/>
                </a:solidFill>
                <a:latin typeface="Quattrocento Sans" pitchFamily="34" charset="0"/>
                <a:ea typeface="Quattrocento Sans" pitchFamily="34" charset="-122"/>
                <a:cs typeface="Quattrocento Sans" pitchFamily="34" charset="-120"/>
              </a:rPr>
              <a:t>理论意义：</a:t>
            </a:r>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将研究对象从社交媒体"发布端"下沉至"接收与互动端"，将UGC视为反映真实需求的问题语料库；以大数据技术直接从匿名网络言论中挖掘青少年真实、隐秘的知识盲区</a:t>
            </a:r>
            <a:endParaRPr lang="en-US" sz="1600" dirty="0"/>
          </a:p>
          <a:p>
            <a:pPr>
              <a:lnSpc>
                <a:spcPct val="170000"/>
              </a:lnSpc>
            </a:pPr>
            <a:r>
              <a:rPr lang="en-US" sz="1800" b="1" dirty="0">
                <a:solidFill>
                  <a:srgbClr val="1A1D21"/>
                </a:solidFill>
                <a:latin typeface="Quattrocento Sans" pitchFamily="34" charset="0"/>
                <a:ea typeface="Quattrocento Sans" pitchFamily="34" charset="-122"/>
                <a:cs typeface="Quattrocento Sans" pitchFamily="34" charset="-120"/>
              </a:rPr>
              <a:t>实践意义：</a:t>
            </a:r>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为青少年精准健康教育提供数据支持；为平台健康内容治理提供科学依据；为智能健康问答系统开发提供高质量数据资源</a:t>
            </a:r>
            <a:endParaRPr lang="en-US" sz="1600" dirty="0"/>
          </a:p>
        </p:txBody>
      </p:sp>
      <p:sp>
        <p:nvSpPr>
          <p:cNvPr id="19" name="Text 17"/>
          <p:cNvSpPr/>
          <p:nvPr/>
        </p:nvSpPr>
        <p:spPr>
          <a:xfrm>
            <a:off x="762000" y="7810500"/>
            <a:ext cx="14732000" cy="635000"/>
          </a:xfrm>
          <a:prstGeom prst="rect">
            <a:avLst/>
          </a:prstGeom>
          <a:noFill/>
          <a:ln/>
        </p:spPr>
        <p:txBody>
          <a:bodyPr wrap="square" lIns="0" tIns="0" rIns="0" bIns="0" rtlCol="0" anchor="ctr"/>
          <a:lstStyle/>
          <a:p>
            <a:pPr>
              <a:lnSpc>
                <a:spcPct val="150000"/>
              </a:lnSpc>
            </a:pPr>
            <a:r>
              <a:rPr lang="en-US" sz="1800" b="1" dirty="0">
                <a:solidFill>
                  <a:srgbClr val="C45C26"/>
                </a:solidFill>
                <a:latin typeface="Quattrocento Sans" pitchFamily="34" charset="0"/>
                <a:ea typeface="Quattrocento Sans" pitchFamily="34" charset="-122"/>
                <a:cs typeface="Quattrocento Sans" pitchFamily="34" charset="-120"/>
              </a:rPr>
              <a:t>核心目标：</a:t>
            </a:r>
            <a:pPr>
              <a:lnSpc>
                <a:spcPct val="150000"/>
              </a:lnSpc>
            </a:pPr>
            <a:r>
              <a:rPr lang="en-US" sz="1800" dirty="0">
                <a:solidFill>
                  <a:srgbClr val="C45C26"/>
                </a:solidFill>
                <a:latin typeface="Quattrocento Sans" pitchFamily="34" charset="0"/>
                <a:ea typeface="Quattrocento Sans" pitchFamily="34" charset="-122"/>
                <a:cs typeface="Quattrocento Sans" pitchFamily="34" charset="-120"/>
              </a:rPr>
              <a:t>利用大语言模型，将B站真实用户评论系统性转化为高质量问答数据集与领域专用模型</a:t>
            </a:r>
            <a:endParaRPr lang="en-US" sz="1600" dirty="0"/>
          </a:p>
        </p:txBody>
      </p:sp>
      <p:sp>
        <p:nvSpPr>
          <p:cNvPr id="20"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1"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研究内容与技术路线</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研究内容与技术路线</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四大研究目标</a:t>
            </a:r>
            <a:endParaRPr lang="en-US" sz="1600" dirty="0"/>
          </a:p>
        </p:txBody>
      </p:sp>
      <p:sp>
        <p:nvSpPr>
          <p:cNvPr id="8" name="Text 6"/>
          <p:cNvSpPr/>
          <p:nvPr/>
        </p:nvSpPr>
        <p:spPr>
          <a:xfrm>
            <a:off x="762000" y="1968500"/>
            <a:ext cx="14732000" cy="1079500"/>
          </a:xfrm>
          <a:prstGeom prst="rect">
            <a:avLst/>
          </a:prstGeom>
          <a:noFill/>
          <a:ln/>
        </p:spPr>
        <p:txBody>
          <a:bodyPr wrap="square" lIns="0" tIns="0" rIns="0" bIns="0" rtlCol="0" anchor="t"/>
          <a:lstStyle/>
          <a:p>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①</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青少年生殖健康问题分类分析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②</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问题规范化与问答生成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③</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构建高质量问答数据集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④</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模型微调与效果验证</a:t>
            </a:r>
            <a:endParaRPr lang="en-US" sz="1600" dirty="0"/>
          </a:p>
        </p:txBody>
      </p:sp>
      <p:sp>
        <p:nvSpPr>
          <p:cNvPr id="9" name="Text 7"/>
          <p:cNvSpPr/>
          <p:nvPr/>
        </p:nvSpPr>
        <p:spPr>
          <a:xfrm>
            <a:off x="762000" y="3175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完整技术链路</a:t>
            </a:r>
            <a:endParaRPr lang="en-US" sz="1600" dirty="0"/>
          </a:p>
        </p:txBody>
      </p:sp>
      <p:sp>
        <p:nvSpPr>
          <p:cNvPr id="10" name="Shape 8"/>
          <p:cNvSpPr/>
          <p:nvPr/>
        </p:nvSpPr>
        <p:spPr>
          <a:xfrm>
            <a:off x="762000" y="3683000"/>
            <a:ext cx="14732000" cy="4064000"/>
          </a:xfrm>
          <a:prstGeom prst="rect">
            <a:avLst/>
          </a:prstGeom>
          <a:solidFill>
            <a:srgbClr val="FFFFFF"/>
          </a:solidFill>
          <a:ln/>
        </p:spPr>
      </p:sp>
      <p:sp>
        <p:nvSpPr>
          <p:cNvPr id="11" name="Shape 9"/>
          <p:cNvSpPr/>
          <p:nvPr/>
        </p:nvSpPr>
        <p:spPr>
          <a:xfrm>
            <a:off x="1079500" y="4191000"/>
            <a:ext cx="1968500" cy="1016000"/>
          </a:xfrm>
          <a:prstGeom prst="rect">
            <a:avLst/>
          </a:prstGeom>
          <a:solidFill>
            <a:srgbClr val="1A4B8C"/>
          </a:solidFill>
          <a:ln/>
        </p:spPr>
      </p:sp>
      <p:sp>
        <p:nvSpPr>
          <p:cNvPr id="12" name="Text 10"/>
          <p:cNvSpPr/>
          <p:nvPr/>
        </p:nvSpPr>
        <p:spPr>
          <a:xfrm>
            <a:off x="1079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数据采集</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B站743视频</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32.8万评论</a:t>
            </a:r>
            <a:endParaRPr lang="en-US" sz="1600" dirty="0"/>
          </a:p>
        </p:txBody>
      </p:sp>
      <p:sp>
        <p:nvSpPr>
          <p:cNvPr id="13" name="Shape 11"/>
          <p:cNvSpPr/>
          <p:nvPr/>
        </p:nvSpPr>
        <p:spPr>
          <a:xfrm>
            <a:off x="3048000" y="4635500"/>
            <a:ext cx="381000" cy="0"/>
          </a:xfrm>
          <a:prstGeom prst="straightConnector1">
            <a:avLst/>
          </a:prstGeom>
          <a:noFill/>
          <a:ln w="25400">
            <a:solidFill>
              <a:srgbClr val="8A9BB0"/>
            </a:solidFill>
            <a:prstDash val="solid"/>
            <a:headEnd type="none"/>
            <a:tailEnd type="arrow"/>
          </a:ln>
        </p:spPr>
      </p:sp>
      <p:sp>
        <p:nvSpPr>
          <p:cNvPr id="14" name="Shape 12"/>
          <p:cNvSpPr/>
          <p:nvPr/>
        </p:nvSpPr>
        <p:spPr>
          <a:xfrm>
            <a:off x="3429000" y="4191000"/>
            <a:ext cx="1968500" cy="1016000"/>
          </a:xfrm>
          <a:prstGeom prst="rect">
            <a:avLst/>
          </a:prstGeom>
          <a:solidFill>
            <a:srgbClr val="1A4B8C"/>
          </a:solidFill>
          <a:ln/>
        </p:spPr>
      </p:sp>
      <p:sp>
        <p:nvSpPr>
          <p:cNvPr id="15" name="Text 13"/>
          <p:cNvSpPr/>
          <p:nvPr/>
        </p:nvSpPr>
        <p:spPr>
          <a:xfrm>
            <a:off x="3429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数据清洗</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问题提取</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3780条问题</a:t>
            </a:r>
            <a:endParaRPr lang="en-US" sz="1600" dirty="0"/>
          </a:p>
        </p:txBody>
      </p:sp>
      <p:sp>
        <p:nvSpPr>
          <p:cNvPr id="16" name="Shape 14"/>
          <p:cNvSpPr/>
          <p:nvPr/>
        </p:nvSpPr>
        <p:spPr>
          <a:xfrm>
            <a:off x="5397500" y="4635500"/>
            <a:ext cx="381000" cy="0"/>
          </a:xfrm>
          <a:prstGeom prst="straightConnector1">
            <a:avLst/>
          </a:prstGeom>
          <a:noFill/>
          <a:ln w="25400">
            <a:solidFill>
              <a:srgbClr val="8A9BB0"/>
            </a:solidFill>
            <a:prstDash val="solid"/>
            <a:headEnd type="none"/>
            <a:tailEnd type="arrow"/>
          </a:ln>
        </p:spPr>
      </p:sp>
      <p:sp>
        <p:nvSpPr>
          <p:cNvPr id="17" name="Shape 15"/>
          <p:cNvSpPr/>
          <p:nvPr/>
        </p:nvSpPr>
        <p:spPr>
          <a:xfrm>
            <a:off x="5778500" y="4191000"/>
            <a:ext cx="1968500" cy="1016000"/>
          </a:xfrm>
          <a:prstGeom prst="rect">
            <a:avLst/>
          </a:prstGeom>
          <a:solidFill>
            <a:srgbClr val="1A4B8C"/>
          </a:solidFill>
          <a:ln/>
        </p:spPr>
      </p:sp>
      <p:sp>
        <p:nvSpPr>
          <p:cNvPr id="18" name="Text 16"/>
          <p:cNvSpPr/>
          <p:nvPr/>
        </p:nvSpPr>
        <p:spPr>
          <a:xfrm>
            <a:off x="5778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问题分类</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13个主题</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主题模型+专家</a:t>
            </a:r>
            <a:endParaRPr lang="en-US" sz="1600" dirty="0"/>
          </a:p>
        </p:txBody>
      </p:sp>
      <p:sp>
        <p:nvSpPr>
          <p:cNvPr id="19" name="Shape 17"/>
          <p:cNvSpPr/>
          <p:nvPr/>
        </p:nvSpPr>
        <p:spPr>
          <a:xfrm>
            <a:off x="7747000" y="4635500"/>
            <a:ext cx="381000" cy="0"/>
          </a:xfrm>
          <a:prstGeom prst="straightConnector1">
            <a:avLst/>
          </a:prstGeom>
          <a:noFill/>
          <a:ln w="25400">
            <a:solidFill>
              <a:srgbClr val="8A9BB0"/>
            </a:solidFill>
            <a:prstDash val="solid"/>
            <a:headEnd type="none"/>
            <a:tailEnd type="arrow"/>
          </a:ln>
        </p:spPr>
      </p:sp>
      <p:sp>
        <p:nvSpPr>
          <p:cNvPr id="20" name="Shape 18"/>
          <p:cNvSpPr/>
          <p:nvPr/>
        </p:nvSpPr>
        <p:spPr>
          <a:xfrm>
            <a:off x="8128000" y="4191000"/>
            <a:ext cx="1968500" cy="1016000"/>
          </a:xfrm>
          <a:prstGeom prst="rect">
            <a:avLst/>
          </a:prstGeom>
          <a:solidFill>
            <a:srgbClr val="1A4B8C"/>
          </a:solidFill>
          <a:ln/>
        </p:spPr>
      </p:sp>
      <p:sp>
        <p:nvSpPr>
          <p:cNvPr id="21" name="Text 19"/>
          <p:cNvSpPr/>
          <p:nvPr/>
        </p:nvSpPr>
        <p:spPr>
          <a:xfrm>
            <a:off x="8128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LLM规范化</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问答生成</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DeepSeek-V3.1</a:t>
            </a:r>
            <a:endParaRPr lang="en-US" sz="1600" dirty="0"/>
          </a:p>
        </p:txBody>
      </p:sp>
      <p:sp>
        <p:nvSpPr>
          <p:cNvPr id="22" name="Shape 20"/>
          <p:cNvSpPr/>
          <p:nvPr/>
        </p:nvSpPr>
        <p:spPr>
          <a:xfrm>
            <a:off x="10096500" y="4635500"/>
            <a:ext cx="381000" cy="0"/>
          </a:xfrm>
          <a:prstGeom prst="straightConnector1">
            <a:avLst/>
          </a:prstGeom>
          <a:noFill/>
          <a:ln w="25400">
            <a:solidFill>
              <a:srgbClr val="8A9BB0"/>
            </a:solidFill>
            <a:prstDash val="solid"/>
            <a:headEnd type="none"/>
            <a:tailEnd type="arrow"/>
          </a:ln>
        </p:spPr>
      </p:sp>
      <p:sp>
        <p:nvSpPr>
          <p:cNvPr id="23" name="Shape 21"/>
          <p:cNvSpPr/>
          <p:nvPr/>
        </p:nvSpPr>
        <p:spPr>
          <a:xfrm>
            <a:off x="10477500" y="4191000"/>
            <a:ext cx="1968500" cy="1016000"/>
          </a:xfrm>
          <a:prstGeom prst="rect">
            <a:avLst/>
          </a:prstGeom>
          <a:solidFill>
            <a:srgbClr val="1A4B8C"/>
          </a:solidFill>
          <a:ln/>
        </p:spPr>
      </p:sp>
      <p:sp>
        <p:nvSpPr>
          <p:cNvPr id="24" name="Text 22"/>
          <p:cNvSpPr/>
          <p:nvPr/>
        </p:nvSpPr>
        <p:spPr>
          <a:xfrm>
            <a:off x="10477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人工审核</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专家审核</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AI自动筛查</a:t>
            </a:r>
            <a:endParaRPr lang="en-US" sz="1600" dirty="0"/>
          </a:p>
        </p:txBody>
      </p:sp>
      <p:sp>
        <p:nvSpPr>
          <p:cNvPr id="25" name="Shape 23"/>
          <p:cNvSpPr/>
          <p:nvPr/>
        </p:nvSpPr>
        <p:spPr>
          <a:xfrm>
            <a:off x="12446000" y="4635500"/>
            <a:ext cx="381000" cy="0"/>
          </a:xfrm>
          <a:prstGeom prst="straightConnector1">
            <a:avLst/>
          </a:prstGeom>
          <a:noFill/>
          <a:ln w="25400">
            <a:solidFill>
              <a:srgbClr val="8A9BB0"/>
            </a:solidFill>
            <a:prstDash val="solid"/>
            <a:headEnd type="none"/>
            <a:tailEnd type="arrow"/>
          </a:ln>
        </p:spPr>
      </p:sp>
      <p:sp>
        <p:nvSpPr>
          <p:cNvPr id="26" name="Shape 24"/>
          <p:cNvSpPr/>
          <p:nvPr/>
        </p:nvSpPr>
        <p:spPr>
          <a:xfrm>
            <a:off x="12827000" y="4191000"/>
            <a:ext cx="1968500" cy="1016000"/>
          </a:xfrm>
          <a:prstGeom prst="rect">
            <a:avLst/>
          </a:prstGeom>
          <a:solidFill>
            <a:srgbClr val="C45C26"/>
          </a:solidFill>
          <a:ln/>
        </p:spPr>
      </p:sp>
      <p:sp>
        <p:nvSpPr>
          <p:cNvPr id="27" name="Text 25"/>
          <p:cNvSpPr/>
          <p:nvPr/>
        </p:nvSpPr>
        <p:spPr>
          <a:xfrm>
            <a:off x="12827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数据集构建</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2767条问答对</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13主题全覆盖</a:t>
            </a:r>
            <a:endParaRPr lang="en-US" sz="1600" dirty="0"/>
          </a:p>
        </p:txBody>
      </p:sp>
      <p:sp>
        <p:nvSpPr>
          <p:cNvPr id="28" name="Shape 26"/>
          <p:cNvSpPr/>
          <p:nvPr/>
        </p:nvSpPr>
        <p:spPr>
          <a:xfrm>
            <a:off x="13804900" y="5207000"/>
            <a:ext cx="0" cy="381000"/>
          </a:xfrm>
          <a:prstGeom prst="straightConnector1">
            <a:avLst/>
          </a:prstGeom>
          <a:noFill/>
          <a:ln w="25400">
            <a:solidFill>
              <a:srgbClr val="8A9BB0"/>
            </a:solidFill>
            <a:prstDash val="solid"/>
            <a:headEnd type="none"/>
            <a:tailEnd type="arrow"/>
          </a:ln>
        </p:spPr>
      </p:sp>
      <p:sp>
        <p:nvSpPr>
          <p:cNvPr id="29" name="Shape 27"/>
          <p:cNvSpPr/>
          <p:nvPr/>
        </p:nvSpPr>
        <p:spPr>
          <a:xfrm>
            <a:off x="10668000" y="5715000"/>
            <a:ext cx="4318000" cy="1016000"/>
          </a:xfrm>
          <a:prstGeom prst="rect">
            <a:avLst/>
          </a:prstGeom>
          <a:solidFill>
            <a:srgbClr val="C45C26"/>
          </a:solidFill>
          <a:ln/>
        </p:spPr>
      </p:sp>
      <p:sp>
        <p:nvSpPr>
          <p:cNvPr id="30" name="Text 28"/>
          <p:cNvSpPr/>
          <p:nvPr/>
        </p:nvSpPr>
        <p:spPr>
          <a:xfrm>
            <a:off x="10668000" y="5715000"/>
            <a:ext cx="43180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模型微调与评估</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Qwen系列 + LoRA微调 + 六维度AI打分评估</a:t>
            </a:r>
            <a:endParaRPr lang="en-US" sz="1600" dirty="0"/>
          </a:p>
        </p:txBody>
      </p:sp>
      <p:sp>
        <p:nvSpPr>
          <p:cNvPr id="31" name="Shape 29"/>
          <p:cNvSpPr/>
          <p:nvPr/>
        </p:nvSpPr>
        <p:spPr>
          <a:xfrm>
            <a:off x="6350000" y="6223000"/>
            <a:ext cx="4318000" cy="0"/>
          </a:xfrm>
          <a:prstGeom prst="straightConnector1">
            <a:avLst/>
          </a:prstGeom>
          <a:noFill/>
          <a:ln w="25400">
            <a:solidFill>
              <a:srgbClr val="8A9BB0"/>
            </a:solidFill>
            <a:prstDash val="solid"/>
            <a:headEnd type="none"/>
            <a:tailEnd type="arrow"/>
          </a:ln>
        </p:spPr>
      </p:sp>
      <p:sp>
        <p:nvSpPr>
          <p:cNvPr id="32" name="Shape 30"/>
          <p:cNvSpPr/>
          <p:nvPr/>
        </p:nvSpPr>
        <p:spPr>
          <a:xfrm>
            <a:off x="1079500" y="5715000"/>
            <a:ext cx="5270500" cy="1016000"/>
          </a:xfrm>
          <a:prstGeom prst="rect">
            <a:avLst/>
          </a:prstGeom>
          <a:solidFill>
            <a:srgbClr val="E8EDF3"/>
          </a:solidFill>
          <a:ln/>
        </p:spPr>
      </p:sp>
      <p:sp>
        <p:nvSpPr>
          <p:cNvPr id="33" name="Text 31"/>
          <p:cNvSpPr/>
          <p:nvPr/>
        </p:nvSpPr>
        <p:spPr>
          <a:xfrm>
            <a:off x="1079500" y="5715000"/>
            <a:ext cx="5270500" cy="1016000"/>
          </a:xfrm>
          <a:prstGeom prst="rect">
            <a:avLst/>
          </a:prstGeom>
          <a:noFill/>
          <a:ln/>
        </p:spPr>
        <p:txBody>
          <a:bodyPr wrap="square" lIns="0" tIns="0" rIns="0" bIns="0" rtlCol="0" anchor="ctr"/>
          <a:lstStyle/>
          <a:p>
            <a:pPr algn="ctr">
              <a:lnSpc>
                <a:spcPct val="140000"/>
              </a:lnSpc>
            </a:pPr>
            <a:r>
              <a:rPr lang="en-US" sz="1400" b="1" dirty="0">
                <a:solidFill>
                  <a:srgbClr val="1A1D21"/>
                </a:solidFill>
                <a:latin typeface="Quattrocento Sans" pitchFamily="34" charset="0"/>
                <a:ea typeface="Quattrocento Sans" pitchFamily="34" charset="-122"/>
                <a:cs typeface="Quattrocento Sans" pitchFamily="34" charset="-120"/>
              </a:rPr>
              <a:t>评估结果反馈</a:t>
            </a:r>
            <a:pPr algn="ctr">
              <a:lnSpc>
                <a:spcPct val="140000"/>
              </a:lnSpc>
            </a:pPr>
            <a:r>
              <a:rPr lang="en-US" sz="1400" dirty="0">
                <a:solidFill>
                  <a:srgbClr val="1A1D21"/>
                </a:solidFill>
                <a:latin typeface="Quattrocento Sans" pitchFamily="34" charset="0"/>
                <a:ea typeface="Quattrocento Sans" pitchFamily="34" charset="-122"/>
                <a:cs typeface="Quattrocento Sans" pitchFamily="34" charset="-120"/>
              </a:rPr>
              <a:t>：准确性、完整性、安全性显著提升</a:t>
            </a:r>
            <a:endParaRPr lang="en-US" sz="1600" dirty="0"/>
          </a:p>
          <a:p>
            <a:pPr algn="ctr">
              <a:lnSpc>
                <a:spcPct val="140000"/>
              </a:lnSpc>
            </a:pPr>
            <a:r>
              <a:rPr lang="en-US" sz="1400" dirty="0">
                <a:solidFill>
                  <a:srgbClr val="1A1D21"/>
                </a:solidFill>
                <a:latin typeface="Quattrocento Sans" pitchFamily="34" charset="0"/>
                <a:ea typeface="Quattrocento Sans" pitchFamily="34" charset="-122"/>
                <a:cs typeface="Quattrocento Sans" pitchFamily="34" charset="-120"/>
              </a:rPr>
              <a:t>高风险议题提升幅度最大，模型幻觉仍待改进</a:t>
            </a:r>
            <a:endParaRPr lang="en-US" sz="1600" dirty="0"/>
          </a:p>
        </p:txBody>
      </p:sp>
      <p:sp>
        <p:nvSpPr>
          <p:cNvPr id="34" name="Shape 32"/>
          <p:cNvSpPr/>
          <p:nvPr/>
        </p:nvSpPr>
        <p:spPr>
          <a:xfrm flipV="1">
            <a:off x="3683000" y="5207000"/>
            <a:ext cx="0" cy="508000"/>
          </a:xfrm>
          <a:prstGeom prst="straightConnector1">
            <a:avLst/>
          </a:prstGeom>
          <a:noFill/>
          <a:ln w="25400">
            <a:solidFill>
              <a:srgbClr val="8A9BB0"/>
            </a:solidFill>
            <a:prstDash val="solid"/>
            <a:headEnd type="none"/>
            <a:tailEnd type="arrow"/>
          </a:ln>
        </p:spPr>
      </p:sp>
      <p:sp>
        <p:nvSpPr>
          <p:cNvPr id="35" name="Text 33"/>
          <p:cNvSpPr/>
          <p:nvPr/>
        </p:nvSpPr>
        <p:spPr>
          <a:xfrm>
            <a:off x="1079500" y="7048500"/>
            <a:ext cx="6350000" cy="508000"/>
          </a:xfrm>
          <a:prstGeom prst="rect">
            <a:avLst/>
          </a:prstGeom>
          <a:noFill/>
          <a:ln/>
        </p:spPr>
        <p:txBody>
          <a:bodyPr wrap="square" lIns="0" tIns="0" rIns="0" bIns="0" rtlCol="0" anchor="ctr"/>
          <a:lstStyle/>
          <a:p>
            <a:pPr>
              <a:lnSpc>
                <a:spcPct val="150000"/>
              </a:lnSpc>
            </a:pPr>
            <a:r>
              <a:rPr lang="en-US" sz="1400" dirty="0">
                <a:solidFill>
                  <a:srgbClr val="8A9BB0"/>
                </a:solidFill>
                <a:latin typeface="Quattrocento Sans" pitchFamily="34" charset="0"/>
                <a:ea typeface="Quattrocento Sans" pitchFamily="34" charset="-122"/>
                <a:cs typeface="Quattrocento Sans" pitchFamily="34" charset="-120"/>
              </a:rPr>
              <a:t>注：蓝色为核心处理环节，橙色为输出成果环节，灰色箭头表示数据流向</a:t>
            </a:r>
            <a:endParaRPr lang="en-US" sz="1600" dirty="0"/>
          </a:p>
        </p:txBody>
      </p:sp>
      <p:sp>
        <p:nvSpPr>
          <p:cNvPr id="36" name="Text 34"/>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37" name="Text 35"/>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数据来源与问题分类</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数据来源与问题分类</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Shape 5"/>
          <p:cNvSpPr/>
          <p:nvPr/>
        </p:nvSpPr>
        <p:spPr>
          <a:xfrm>
            <a:off x="762000" y="1587500"/>
            <a:ext cx="4826000" cy="1397000"/>
          </a:xfrm>
          <a:prstGeom prst="rect">
            <a:avLst/>
          </a:prstGeom>
          <a:solidFill>
            <a:srgbClr val="FFFFFF"/>
          </a:solidFill>
          <a:ln/>
        </p:spPr>
      </p:sp>
      <p:sp>
        <p:nvSpPr>
          <p:cNvPr id="8" name="Text 6"/>
          <p:cNvSpPr/>
          <p:nvPr/>
        </p:nvSpPr>
        <p:spPr>
          <a:xfrm>
            <a:off x="1016000" y="1714500"/>
            <a:ext cx="4318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数据采集范围</a:t>
            </a:r>
            <a:endParaRPr lang="en-US" sz="1600" dirty="0"/>
          </a:p>
        </p:txBody>
      </p:sp>
      <p:sp>
        <p:nvSpPr>
          <p:cNvPr id="9" name="Text 7"/>
          <p:cNvSpPr/>
          <p:nvPr/>
        </p:nvSpPr>
        <p:spPr>
          <a:xfrm>
            <a:off x="1016000" y="2133600"/>
            <a:ext cx="4318000" cy="762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平台：Bilibili | 时间：2016.9-2024.6</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743个视频 | 32.8万评论 + 43.2万弹幕</a:t>
            </a:r>
            <a:endParaRPr lang="en-US" sz="1600" dirty="0"/>
          </a:p>
        </p:txBody>
      </p:sp>
      <p:sp>
        <p:nvSpPr>
          <p:cNvPr id="10" name="Shape 8"/>
          <p:cNvSpPr/>
          <p:nvPr/>
        </p:nvSpPr>
        <p:spPr>
          <a:xfrm>
            <a:off x="5842000" y="1587500"/>
            <a:ext cx="4826000" cy="1397000"/>
          </a:xfrm>
          <a:prstGeom prst="rect">
            <a:avLst/>
          </a:prstGeom>
          <a:solidFill>
            <a:srgbClr val="FFFFFF"/>
          </a:solidFill>
          <a:ln/>
        </p:spPr>
      </p:sp>
      <p:sp>
        <p:nvSpPr>
          <p:cNvPr id="11" name="Text 9"/>
          <p:cNvSpPr/>
          <p:nvPr/>
        </p:nvSpPr>
        <p:spPr>
          <a:xfrm>
            <a:off x="6096000" y="1714500"/>
            <a:ext cx="4318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筛选结果</a:t>
            </a:r>
            <a:endParaRPr lang="en-US" sz="1600" dirty="0"/>
          </a:p>
        </p:txBody>
      </p:sp>
      <p:sp>
        <p:nvSpPr>
          <p:cNvPr id="12" name="Text 10"/>
          <p:cNvSpPr/>
          <p:nvPr/>
        </p:nvSpPr>
        <p:spPr>
          <a:xfrm>
            <a:off x="6096000" y="2133600"/>
            <a:ext cx="4318000" cy="762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29个关键词检索 | 播放量≥10万</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经去重清洗后保留 </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3780条</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有效问题</a:t>
            </a:r>
            <a:endParaRPr lang="en-US" sz="1600" dirty="0"/>
          </a:p>
        </p:txBody>
      </p:sp>
      <p:sp>
        <p:nvSpPr>
          <p:cNvPr id="13" name="Shape 11"/>
          <p:cNvSpPr/>
          <p:nvPr/>
        </p:nvSpPr>
        <p:spPr>
          <a:xfrm>
            <a:off x="10922000" y="1587500"/>
            <a:ext cx="4572000" cy="1397000"/>
          </a:xfrm>
          <a:prstGeom prst="rect">
            <a:avLst/>
          </a:prstGeom>
          <a:solidFill>
            <a:srgbClr val="FFFFFF"/>
          </a:solidFill>
          <a:ln/>
        </p:spPr>
      </p:sp>
      <p:sp>
        <p:nvSpPr>
          <p:cNvPr id="14" name="Text 12"/>
          <p:cNvSpPr/>
          <p:nvPr/>
        </p:nvSpPr>
        <p:spPr>
          <a:xfrm>
            <a:off x="11176000" y="1714500"/>
            <a:ext cx="4064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语料特征</a:t>
            </a:r>
            <a:endParaRPr lang="en-US" sz="1600" dirty="0"/>
          </a:p>
        </p:txBody>
      </p:sp>
      <p:sp>
        <p:nvSpPr>
          <p:cNvPr id="15" name="Text 13"/>
          <p:cNvSpPr/>
          <p:nvPr/>
        </p:nvSpPr>
        <p:spPr>
          <a:xfrm>
            <a:off x="11176000" y="2133600"/>
            <a:ext cx="4064000" cy="762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高度口语化、场景化、匿名性坦诚表达</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意图直接迫切，情感与事实交织</a:t>
            </a:r>
            <a:endParaRPr lang="en-US" sz="1600" dirty="0"/>
          </a:p>
        </p:txBody>
      </p:sp>
      <p:sp>
        <p:nvSpPr>
          <p:cNvPr id="16" name="Text 14"/>
          <p:cNvSpPr/>
          <p:nvPr/>
        </p:nvSpPr>
        <p:spPr>
          <a:xfrm>
            <a:off x="762000" y="3238500"/>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问题主题分类分布（13个类别）</a:t>
            </a:r>
            <a:endParaRPr lang="en-US" sz="1600" dirty="0"/>
          </a:p>
        </p:txBody>
      </p:sp>
      <p:graphicFrame>
        <p:nvGraphicFramePr>
          <p:cNvPr id="17" name="Chart 0" descr=""/>
          <p:cNvGraphicFramePr/>
          <p:nvPr/>
        </p:nvGraphicFramePr>
        <p:xfrm>
          <a:off x="762000" y="3683000"/>
          <a:ext cx="7366000" cy="457200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8382000" y="3238500"/>
            <a:ext cx="0" cy="5016500"/>
          </a:xfrm>
          <a:prstGeom prst="straightConnector1">
            <a:avLst/>
          </a:prstGeom>
          <a:noFill/>
          <a:ln w="12700">
            <a:solidFill>
              <a:srgbClr val="8A9BB0"/>
            </a:solidFill>
            <a:prstDash val="solid"/>
            <a:headEnd type="none"/>
            <a:tailEnd type="none"/>
          </a:ln>
        </p:spPr>
      </p:sp>
      <p:sp>
        <p:nvSpPr>
          <p:cNvPr id="19" name="Text 16"/>
          <p:cNvSpPr/>
          <p:nvPr/>
        </p:nvSpPr>
        <p:spPr>
          <a:xfrm>
            <a:off x="8763000" y="3238500"/>
            <a:ext cx="635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核心发现</a:t>
            </a:r>
            <a:endParaRPr lang="en-US" sz="1600" dirty="0"/>
          </a:p>
        </p:txBody>
      </p:sp>
      <p:sp>
        <p:nvSpPr>
          <p:cNvPr id="20" name="Text 17"/>
          <p:cNvSpPr/>
          <p:nvPr/>
        </p:nvSpPr>
        <p:spPr>
          <a:xfrm>
            <a:off x="8763000" y="3746500"/>
            <a:ext cx="6477000" cy="4318000"/>
          </a:xfrm>
          <a:prstGeom prst="rect">
            <a:avLst/>
          </a:prstGeom>
          <a:noFill/>
          <a:ln/>
        </p:spPr>
        <p:txBody>
          <a:bodyPr wrap="square" lIns="0" tIns="0" rIns="0" bIns="0" rtlCol="0" anchor="t"/>
          <a:lstStyle/>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头部集中</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：生殖健康科普（31.85%）+ 安全套（22.62%）占据半壁江山</a:t>
            </a:r>
            <a:endParaRPr lang="en-US" sz="1600" dirty="0"/>
          </a:p>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认知误区</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：体外排精、安全期避孕等不可靠方法讨论热度高，反映侥幸心理普遍</a:t>
            </a:r>
            <a:endParaRPr lang="en-US" sz="1600" dirty="0"/>
          </a:p>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敏感需求</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：人工流产（4.63%）等高风险话题引发强烈互动，专业供给严重缺位</a:t>
            </a:r>
            <a:endParaRPr lang="en-US" sz="1600" dirty="0"/>
          </a:p>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长尾多元</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：节育器、女用安全套、新型避孕方式等小众话题亦有真实需求</a:t>
            </a:r>
            <a:endParaRPr lang="en-US" sz="1600" dirty="0"/>
          </a:p>
        </p:txBody>
      </p:sp>
      <p:sp>
        <p:nvSpPr>
          <p:cNvPr id="21"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2"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问答数据集构建</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问答数据集构建</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构建流程</a:t>
            </a:r>
            <a:endParaRPr lang="en-US" sz="1600" dirty="0"/>
          </a:p>
        </p:txBody>
      </p:sp>
      <p:sp>
        <p:nvSpPr>
          <p:cNvPr id="8" name="Text 6"/>
          <p:cNvSpPr/>
          <p:nvPr/>
        </p:nvSpPr>
        <p:spPr>
          <a:xfrm>
            <a:off x="762000" y="1968500"/>
            <a:ext cx="14732000" cy="508000"/>
          </a:xfrm>
          <a:prstGeom prst="rect">
            <a:avLst/>
          </a:prstGeom>
          <a:noFill/>
          <a:ln/>
        </p:spPr>
        <p:txBody>
          <a:bodyPr wrap="square" lIns="0" tIns="0" rIns="0" bIns="0" rtlCol="0" anchor="ctr"/>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原始评论 → </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LLM问题规范化</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（DeepSeek-V3.1） → </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LLM答案生成</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 </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人工修订</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 </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专家审核</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（6维度3分制Likert） → </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AI自动化筛查</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（DeepSeek-V3.2）</a:t>
            </a:r>
            <a:endParaRPr lang="en-US" sz="1600" dirty="0"/>
          </a:p>
        </p:txBody>
      </p:sp>
      <p:sp>
        <p:nvSpPr>
          <p:cNvPr id="9" name="Text 7"/>
          <p:cNvSpPr/>
          <p:nvPr/>
        </p:nvSpPr>
        <p:spPr>
          <a:xfrm>
            <a:off x="762000" y="2667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规范化示例</a:t>
            </a:r>
            <a:endParaRPr lang="en-US" sz="1600" dirty="0"/>
          </a:p>
        </p:txBody>
      </p:sp>
      <p:sp>
        <p:nvSpPr>
          <p:cNvPr id="10" name="Shape 8"/>
          <p:cNvSpPr/>
          <p:nvPr/>
        </p:nvSpPr>
        <p:spPr>
          <a:xfrm>
            <a:off x="762000" y="3149600"/>
            <a:ext cx="7112000" cy="1587500"/>
          </a:xfrm>
          <a:prstGeom prst="rect">
            <a:avLst/>
          </a:prstGeom>
          <a:solidFill>
            <a:srgbClr val="FFF5F0"/>
          </a:solidFill>
          <a:ln/>
        </p:spPr>
      </p:sp>
      <p:sp>
        <p:nvSpPr>
          <p:cNvPr id="11" name="Text 9"/>
          <p:cNvSpPr/>
          <p:nvPr/>
        </p:nvSpPr>
        <p:spPr>
          <a:xfrm>
            <a:off x="952500" y="3238500"/>
            <a:ext cx="1270000" cy="304800"/>
          </a:xfrm>
          <a:prstGeom prst="rect">
            <a:avLst/>
          </a:prstGeom>
          <a:noFill/>
          <a:ln/>
        </p:spPr>
        <p:txBody>
          <a:bodyPr wrap="none" lIns="0" tIns="0" rIns="0" bIns="0" rtlCol="0" anchor="ctr"/>
          <a:lstStyle/>
          <a:p>
            <a:pPr>
              <a:lnSpc>
                <a:spcPct val="100000"/>
              </a:lnSpc>
            </a:pPr>
            <a:r>
              <a:rPr lang="en-US" sz="1400" b="1" dirty="0">
                <a:solidFill>
                  <a:srgbClr val="C45C26"/>
                </a:solidFill>
                <a:latin typeface="Quattrocento Sans" pitchFamily="34" charset="0"/>
                <a:ea typeface="Quattrocento Sans" pitchFamily="34" charset="-122"/>
                <a:cs typeface="Quattrocento Sans" pitchFamily="34" charset="-120"/>
              </a:rPr>
              <a:t>原始评论</a:t>
            </a:r>
            <a:endParaRPr lang="en-US" sz="1600" dirty="0"/>
          </a:p>
        </p:txBody>
      </p:sp>
      <p:sp>
        <p:nvSpPr>
          <p:cNvPr id="12" name="Text 10"/>
          <p:cNvSpPr/>
          <p:nvPr/>
        </p:nvSpPr>
        <p:spPr>
          <a:xfrm>
            <a:off x="952500" y="3581400"/>
            <a:ext cx="6731000" cy="1143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"堵住了出口，蝌蚪不会越来越多，爆蛋吗？"</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"我听说男生都有:换蛋期。是真的吗？"</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（网络俚语、错误概念、个人叙事混杂）</a:t>
            </a:r>
            <a:endParaRPr lang="en-US" sz="1600" dirty="0"/>
          </a:p>
        </p:txBody>
      </p:sp>
      <p:sp>
        <p:nvSpPr>
          <p:cNvPr id="13" name="Shape 11"/>
          <p:cNvSpPr/>
          <p:nvPr/>
        </p:nvSpPr>
        <p:spPr>
          <a:xfrm>
            <a:off x="8001000" y="3746500"/>
            <a:ext cx="508000" cy="0"/>
          </a:xfrm>
          <a:prstGeom prst="straightConnector1">
            <a:avLst/>
          </a:prstGeom>
          <a:noFill/>
          <a:ln w="25400">
            <a:solidFill>
              <a:srgbClr val="1A4B8C"/>
            </a:solidFill>
            <a:prstDash val="solid"/>
            <a:headEnd type="none"/>
            <a:tailEnd type="arrow"/>
          </a:ln>
        </p:spPr>
      </p:sp>
      <p:sp>
        <p:nvSpPr>
          <p:cNvPr id="14" name="Shape 12"/>
          <p:cNvSpPr/>
          <p:nvPr/>
        </p:nvSpPr>
        <p:spPr>
          <a:xfrm>
            <a:off x="8636000" y="3149600"/>
            <a:ext cx="6858000" cy="1587500"/>
          </a:xfrm>
          <a:prstGeom prst="rect">
            <a:avLst/>
          </a:prstGeom>
          <a:solidFill>
            <a:srgbClr val="F0F7FF"/>
          </a:solidFill>
          <a:ln/>
        </p:spPr>
      </p:sp>
      <p:sp>
        <p:nvSpPr>
          <p:cNvPr id="15" name="Text 13"/>
          <p:cNvSpPr/>
          <p:nvPr/>
        </p:nvSpPr>
        <p:spPr>
          <a:xfrm>
            <a:off x="8826500" y="3238500"/>
            <a:ext cx="1270000" cy="3048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规范化后</a:t>
            </a:r>
            <a:endParaRPr lang="en-US" sz="1600" dirty="0"/>
          </a:p>
        </p:txBody>
      </p:sp>
      <p:sp>
        <p:nvSpPr>
          <p:cNvPr id="16" name="Text 14"/>
          <p:cNvSpPr/>
          <p:nvPr/>
        </p:nvSpPr>
        <p:spPr>
          <a:xfrm>
            <a:off x="8826500" y="3581400"/>
            <a:ext cx="6477000" cy="1143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"男性输精管结扎术后，精子积聚是否会导致睾丸肿胀？"</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"男性是否存在'换蛋期'这一生理现象？"</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（医学术语、标准表述、保留原始意图）</a:t>
            </a:r>
            <a:endParaRPr lang="en-US" sz="1600" dirty="0"/>
          </a:p>
        </p:txBody>
      </p:sp>
      <p:sp>
        <p:nvSpPr>
          <p:cNvPr id="17" name="Text 15"/>
          <p:cNvSpPr/>
          <p:nvPr/>
        </p:nvSpPr>
        <p:spPr>
          <a:xfrm>
            <a:off x="762000" y="4953000"/>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自动化评估模型遴选</a:t>
            </a:r>
            <a:endParaRPr lang="en-US" sz="1600" dirty="0"/>
          </a:p>
        </p:txBody>
      </p:sp>
      <p:sp>
        <p:nvSpPr>
          <p:cNvPr id="18" name="Text 16"/>
          <p:cNvSpPr/>
          <p:nvPr/>
        </p:nvSpPr>
        <p:spPr>
          <a:xfrm>
            <a:off x="762000" y="5397500"/>
            <a:ext cx="7620000" cy="1270000"/>
          </a:xfrm>
          <a:prstGeom prst="rect">
            <a:avLst/>
          </a:prstGeom>
          <a:noFill/>
          <a:ln/>
        </p:spPr>
        <p:txBody>
          <a:bodyPr wrap="square" lIns="0" tIns="0" rIns="0" bIns="0" rtlCol="0" anchor="t"/>
          <a:lstStyle/>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6款大模型与2名临床专家进行147条样本的评分一致性对比</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DeepSeek-V3.2与专家Kappa系数达 </a:t>
            </a:r>
            <a:pPr>
              <a:lnSpc>
                <a:spcPct val="160000"/>
              </a:lnSpc>
            </a:pPr>
            <a:r>
              <a:rPr lang="en-US" sz="1600" b="1" dirty="0">
                <a:solidFill>
                  <a:srgbClr val="C45C26"/>
                </a:solidFill>
                <a:latin typeface="Quattrocento Sans" pitchFamily="34" charset="0"/>
                <a:ea typeface="Quattrocento Sans" pitchFamily="34" charset="-122"/>
                <a:cs typeface="Quattrocento Sans" pitchFamily="34" charset="-120"/>
              </a:rPr>
              <a:t>0.756-0.909</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，被确立为自动化裁判模型</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AI群体平均与专家总体在"仅提供必要信息"维度Kappa达0.839</a:t>
            </a:r>
            <a:endParaRPr lang="en-US" sz="1600" dirty="0"/>
          </a:p>
        </p:txBody>
      </p:sp>
      <p:sp>
        <p:nvSpPr>
          <p:cNvPr id="19" name="Shape 17"/>
          <p:cNvSpPr/>
          <p:nvPr/>
        </p:nvSpPr>
        <p:spPr>
          <a:xfrm>
            <a:off x="8636000" y="4953000"/>
            <a:ext cx="6858000" cy="1879600"/>
          </a:xfrm>
          <a:prstGeom prst="rect">
            <a:avLst/>
          </a:prstGeom>
          <a:solidFill>
            <a:srgbClr val="1A4B8C"/>
          </a:solidFill>
          <a:ln/>
        </p:spPr>
      </p:sp>
      <p:sp>
        <p:nvSpPr>
          <p:cNvPr id="20" name="Text 18"/>
          <p:cNvSpPr/>
          <p:nvPr/>
        </p:nvSpPr>
        <p:spPr>
          <a:xfrm>
            <a:off x="8890000" y="5080000"/>
            <a:ext cx="63500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最终数据集成果</a:t>
            </a:r>
            <a:endParaRPr lang="en-US" sz="1600" dirty="0"/>
          </a:p>
        </p:txBody>
      </p:sp>
      <p:sp>
        <p:nvSpPr>
          <p:cNvPr id="21" name="Text 19"/>
          <p:cNvSpPr/>
          <p:nvPr/>
        </p:nvSpPr>
        <p:spPr>
          <a:xfrm>
            <a:off x="8890000" y="5524500"/>
            <a:ext cx="6350000" cy="1270000"/>
          </a:xfrm>
          <a:prstGeom prst="rect">
            <a:avLst/>
          </a:prstGeom>
          <a:noFill/>
          <a:ln/>
        </p:spPr>
        <p:txBody>
          <a:bodyPr wrap="square" lIns="0" tIns="0" rIns="0" bIns="0" rtlCol="0" anchor="t"/>
          <a:lstStyle/>
          <a:p>
            <a:pPr>
              <a:lnSpc>
                <a:spcPct val="16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2767条</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高质量问答对 | 覆盖 </a:t>
            </a:r>
            <a:pPr>
              <a:lnSpc>
                <a:spcPct val="16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13个</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主题类别</a:t>
            </a:r>
            <a:endParaRPr lang="en-US" sz="1600" dirty="0"/>
          </a:p>
          <a:p>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六维度综合均分 </a:t>
            </a:r>
            <a:pPr>
              <a:lnSpc>
                <a:spcPct val="16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2.96</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（满分3分）</a:t>
            </a:r>
            <a:endParaRPr lang="en-US" sz="1600" dirty="0"/>
          </a:p>
          <a:p>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国内首个源于社交媒体真实场景的青少年生殖健康问答数据集</a:t>
            </a:r>
            <a:endParaRPr lang="en-US" sz="1600" dirty="0"/>
          </a:p>
        </p:txBody>
      </p:sp>
      <p:sp>
        <p:nvSpPr>
          <p:cNvPr id="22" name="Text 20"/>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3" name="Text 21"/>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模型微调与效果评估</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模型微调与效果评估</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Shape 5"/>
          <p:cNvSpPr/>
          <p:nvPr/>
        </p:nvSpPr>
        <p:spPr>
          <a:xfrm>
            <a:off x="762000" y="1587500"/>
            <a:ext cx="14732000" cy="1016000"/>
          </a:xfrm>
          <a:prstGeom prst="rect">
            <a:avLst/>
          </a:prstGeom>
          <a:solidFill>
            <a:srgbClr val="FFFFFF"/>
          </a:solidFill>
          <a:ln/>
        </p:spPr>
      </p:sp>
      <p:sp>
        <p:nvSpPr>
          <p:cNvPr id="8" name="Text 6"/>
          <p:cNvSpPr/>
          <p:nvPr/>
        </p:nvSpPr>
        <p:spPr>
          <a:xfrm>
            <a:off x="1016000" y="1651000"/>
            <a:ext cx="14224000" cy="889000"/>
          </a:xfrm>
          <a:prstGeom prst="rect">
            <a:avLst/>
          </a:prstGeom>
          <a:noFill/>
          <a:ln/>
        </p:spPr>
        <p:txBody>
          <a:bodyPr wrap="square" lIns="0" tIns="0" rIns="0" bIns="0" rtlCol="0" anchor="ctr"/>
          <a:lstStyle/>
          <a:p>
            <a:pPr>
              <a:lnSpc>
                <a:spcPct val="160000"/>
              </a:lnSpc>
            </a:pPr>
            <a:r>
              <a:rPr lang="en-US" sz="1600" b="1" dirty="0">
                <a:solidFill>
                  <a:srgbClr val="1A1D21"/>
                </a:solidFill>
                <a:latin typeface="Quattrocento Sans" pitchFamily="34" charset="0"/>
                <a:ea typeface="Quattrocento Sans" pitchFamily="34" charset="-122"/>
                <a:cs typeface="Quattrocento Sans" pitchFamily="34" charset="-120"/>
              </a:rPr>
              <a:t>实验设置：</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基座模型 Qwen2.5（1.5B/3B/7B）+ Qwen3（1.7B/4B/8B） | 微调方法 LoRA（rank=8） | 数据集 2204条训练 / 281条验证 / 282条测试 | 评估 DeepSeek-V3.2六维度3分制Likert打分</a:t>
            </a:r>
            <a:endParaRPr lang="en-US" sz="1600" dirty="0"/>
          </a:p>
        </p:txBody>
      </p:sp>
      <p:sp>
        <p:nvSpPr>
          <p:cNvPr id="9" name="Text 7"/>
          <p:cNvSpPr/>
          <p:nvPr/>
        </p:nvSpPr>
        <p:spPr>
          <a:xfrm>
            <a:off x="762000" y="2794000"/>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微调前后六维度综合均分对比</a:t>
            </a:r>
            <a:endParaRPr lang="en-US" sz="1600" dirty="0"/>
          </a:p>
        </p:txBody>
      </p:sp>
      <p:graphicFrame>
        <p:nvGraphicFramePr>
          <p:cNvPr id="10" name="Chart 0" descr=""/>
          <p:cNvGraphicFramePr/>
          <p:nvPr/>
        </p:nvGraphicFramePr>
        <p:xfrm>
          <a:off x="762000" y="3238500"/>
          <a:ext cx="7366000" cy="457200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8382000" y="2794000"/>
            <a:ext cx="0" cy="5016500"/>
          </a:xfrm>
          <a:prstGeom prst="straightConnector1">
            <a:avLst/>
          </a:prstGeom>
          <a:noFill/>
          <a:ln w="12700">
            <a:solidFill>
              <a:srgbClr val="8A9BB0"/>
            </a:solidFill>
            <a:prstDash val="solid"/>
            <a:headEnd type="none"/>
            <a:tailEnd type="none"/>
          </a:ln>
        </p:spPr>
      </p:sp>
      <p:sp>
        <p:nvSpPr>
          <p:cNvPr id="12" name="Text 9"/>
          <p:cNvSpPr/>
          <p:nvPr/>
        </p:nvSpPr>
        <p:spPr>
          <a:xfrm>
            <a:off x="8763000" y="2794000"/>
            <a:ext cx="635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关键发现</a:t>
            </a:r>
            <a:endParaRPr lang="en-US" sz="1600" dirty="0"/>
          </a:p>
        </p:txBody>
      </p:sp>
      <p:sp>
        <p:nvSpPr>
          <p:cNvPr id="13" name="Text 10"/>
          <p:cNvSpPr/>
          <p:nvPr/>
        </p:nvSpPr>
        <p:spPr>
          <a:xfrm>
            <a:off x="8763000" y="3302000"/>
            <a:ext cx="6477000" cy="4318000"/>
          </a:xfrm>
          <a:prstGeom prst="rect">
            <a:avLst/>
          </a:prstGeom>
          <a:noFill/>
          <a:ln/>
        </p:spPr>
        <p:txBody>
          <a:bodyPr wrap="square" lIns="0" tIns="0" rIns="0" bIns="0" rtlCol="0" anchor="t"/>
          <a:lstStyle/>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统计显著性</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：Wilcoxon检验显示绝大多数维度 p&lt;0.001，领域微调效果高度可靠</a:t>
            </a:r>
            <a:endParaRPr lang="en-US" sz="1600" dirty="0"/>
          </a:p>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最大提升维度</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："准确性"与"仅提供必要信息"中位数差异达 </a:t>
            </a:r>
            <a:pPr>
              <a:lnSpc>
                <a:spcPct val="170000"/>
              </a:lnSpc>
            </a:pPr>
            <a:r>
              <a:rPr lang="en-US" sz="1700" b="1" dirty="0">
                <a:solidFill>
                  <a:srgbClr val="1A1D21"/>
                </a:solidFill>
                <a:latin typeface="Quattrocento Sans" pitchFamily="34" charset="0"/>
                <a:ea typeface="Quattrocento Sans" pitchFamily="34" charset="-122"/>
                <a:cs typeface="Quattrocento Sans" pitchFamily="34" charset="-120"/>
              </a:rPr>
              <a:t>1分</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（整档跃升）</a:t>
            </a:r>
            <a:endParaRPr lang="en-US" sz="1600" dirty="0"/>
          </a:p>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最佳模型</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：Qwen3-4B微调后综合均分 2.927，逼近专家级表现</a:t>
            </a:r>
            <a:endParaRPr lang="en-US" sz="1600" dirty="0"/>
          </a:p>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天花板效应</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："易于理解"维度基线已接近满分，微调边际增益有限</a:t>
            </a:r>
            <a:endParaRPr lang="en-US" sz="1600" dirty="0"/>
          </a:p>
          <a:p>
            <a:pPr>
              <a:lnSpc>
                <a:spcPct val="170000"/>
              </a:lnSpc>
            </a:pPr>
            <a:r>
              <a:rPr lang="en-US" sz="1700" b="1" dirty="0">
                <a:solidFill>
                  <a:srgbClr val="C45C26"/>
                </a:solidFill>
                <a:latin typeface="Quattrocento Sans" pitchFamily="34" charset="0"/>
                <a:ea typeface="Quattrocento Sans" pitchFamily="34" charset="-122"/>
                <a:cs typeface="Quattrocento Sans" pitchFamily="34" charset="-120"/>
              </a:rPr>
              <a:t>规模效应</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：Qwen2.5系列中1.5B/3B模型ROUGE-L提升未达显著，提示参数规模存在知识容纳下限</a:t>
            </a:r>
            <a:endParaRPr lang="en-US" sz="1600" dirty="0"/>
          </a:p>
        </p:txBody>
      </p:sp>
      <p:sp>
        <p:nvSpPr>
          <p:cNvPr id="14" name="Text 11"/>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5" name="Text 12"/>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主题级分析与典型案例</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主题级分析与典型案例</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各主题综合均分提升幅度（Qwen3-4B）</a:t>
            </a:r>
            <a:endParaRPr lang="en-US" sz="1600" dirty="0"/>
          </a:p>
        </p:txBody>
      </p:sp>
      <p:graphicFrame>
        <p:nvGraphicFramePr>
          <p:cNvPr id="8" name="Chart 0" descr=""/>
          <p:cNvGraphicFramePr/>
          <p:nvPr/>
        </p:nvGraphicFramePr>
        <p:xfrm>
          <a:off x="762000" y="1968500"/>
          <a:ext cx="7366000" cy="3429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382000" y="1524000"/>
            <a:ext cx="0" cy="3873500"/>
          </a:xfrm>
          <a:prstGeom prst="straightConnector1">
            <a:avLst/>
          </a:prstGeom>
          <a:noFill/>
          <a:ln w="12700">
            <a:solidFill>
              <a:srgbClr val="8A9BB0"/>
            </a:solidFill>
            <a:prstDash val="solid"/>
            <a:headEnd type="none"/>
            <a:tailEnd type="none"/>
          </a:ln>
        </p:spPr>
      </p:sp>
      <p:sp>
        <p:nvSpPr>
          <p:cNvPr id="10" name="Text 7"/>
          <p:cNvSpPr/>
          <p:nvPr/>
        </p:nvSpPr>
        <p:spPr>
          <a:xfrm>
            <a:off x="8763000" y="1524000"/>
            <a:ext cx="635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典型案例对比</a:t>
            </a:r>
            <a:endParaRPr lang="en-US" sz="1600" dirty="0"/>
          </a:p>
        </p:txBody>
      </p:sp>
      <p:sp>
        <p:nvSpPr>
          <p:cNvPr id="11" name="Shape 8"/>
          <p:cNvSpPr/>
          <p:nvPr/>
        </p:nvSpPr>
        <p:spPr>
          <a:xfrm>
            <a:off x="8763000" y="2006600"/>
            <a:ext cx="6731000" cy="1460500"/>
          </a:xfrm>
          <a:prstGeom prst="rect">
            <a:avLst/>
          </a:prstGeom>
          <a:solidFill>
            <a:srgbClr val="F0F7FF"/>
          </a:solidFill>
          <a:ln/>
        </p:spPr>
      </p:sp>
      <p:sp>
        <p:nvSpPr>
          <p:cNvPr id="12" name="Text 9"/>
          <p:cNvSpPr/>
          <p:nvPr/>
        </p:nvSpPr>
        <p:spPr>
          <a:xfrm>
            <a:off x="8953500" y="2070100"/>
            <a:ext cx="1524000" cy="2794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优秀案例</a:t>
            </a:r>
            <a:endParaRPr lang="en-US" sz="1600" dirty="0"/>
          </a:p>
        </p:txBody>
      </p:sp>
      <p:sp>
        <p:nvSpPr>
          <p:cNvPr id="13" name="Text 10"/>
          <p:cNvSpPr/>
          <p:nvPr/>
        </p:nvSpPr>
        <p:spPr>
          <a:xfrm>
            <a:off x="8953500" y="2387600"/>
            <a:ext cx="6350000" cy="10795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人工流产主题：基线模型将"中晚期终止妊娠"错误描述为"医生建议的常规选择"；微调后模型准确指出医学指征（胎儿畸形、母体并发症），信息准确、逻辑清晰</a:t>
            </a:r>
            <a:endParaRPr lang="en-US" sz="1600" dirty="0"/>
          </a:p>
        </p:txBody>
      </p:sp>
      <p:sp>
        <p:nvSpPr>
          <p:cNvPr id="14" name="Shape 11"/>
          <p:cNvSpPr/>
          <p:nvPr/>
        </p:nvSpPr>
        <p:spPr>
          <a:xfrm>
            <a:off x="8763000" y="3594100"/>
            <a:ext cx="6731000" cy="1460500"/>
          </a:xfrm>
          <a:prstGeom prst="rect">
            <a:avLst/>
          </a:prstGeom>
          <a:solidFill>
            <a:srgbClr val="FFF5F0"/>
          </a:solidFill>
          <a:ln/>
        </p:spPr>
      </p:sp>
      <p:sp>
        <p:nvSpPr>
          <p:cNvPr id="15" name="Text 12"/>
          <p:cNvSpPr/>
          <p:nvPr/>
        </p:nvSpPr>
        <p:spPr>
          <a:xfrm>
            <a:off x="8953500" y="3657600"/>
            <a:ext cx="1524000" cy="279400"/>
          </a:xfrm>
          <a:prstGeom prst="rect">
            <a:avLst/>
          </a:prstGeom>
          <a:noFill/>
          <a:ln/>
        </p:spPr>
        <p:txBody>
          <a:bodyPr wrap="none" lIns="0" tIns="0" rIns="0" bIns="0" rtlCol="0" anchor="ctr"/>
          <a:lstStyle/>
          <a:p>
            <a:pPr>
              <a:lnSpc>
                <a:spcPct val="100000"/>
              </a:lnSpc>
            </a:pPr>
            <a:r>
              <a:rPr lang="en-US" sz="1400" b="1" dirty="0">
                <a:solidFill>
                  <a:srgbClr val="C45C26"/>
                </a:solidFill>
                <a:latin typeface="Quattrocento Sans" pitchFamily="34" charset="0"/>
                <a:ea typeface="Quattrocento Sans" pitchFamily="34" charset="-122"/>
                <a:cs typeface="Quattrocento Sans" pitchFamily="34" charset="-120"/>
              </a:rPr>
              <a:t>边界案例</a:t>
            </a:r>
            <a:endParaRPr lang="en-US" sz="1600" dirty="0"/>
          </a:p>
        </p:txBody>
      </p:sp>
      <p:sp>
        <p:nvSpPr>
          <p:cNvPr id="16" name="Text 13"/>
          <p:cNvSpPr/>
          <p:nvPr/>
        </p:nvSpPr>
        <p:spPr>
          <a:xfrm>
            <a:off x="8953500" y="3975100"/>
            <a:ext cx="6350000" cy="10414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男性避孕针：模型将男性避孕针与女性激素避孕针混淆，编造"月经第5-7天注射"等用药规范；二手避孕套：模型认可伪概念并编造获取途径，存在严重安全隐患</a:t>
            </a:r>
            <a:endParaRPr lang="en-US" sz="1600" dirty="0"/>
          </a:p>
        </p:txBody>
      </p:sp>
      <p:sp>
        <p:nvSpPr>
          <p:cNvPr id="17" name="Shape 14"/>
          <p:cNvSpPr/>
          <p:nvPr/>
        </p:nvSpPr>
        <p:spPr>
          <a:xfrm>
            <a:off x="762000" y="5651500"/>
            <a:ext cx="14732000" cy="2667000"/>
          </a:xfrm>
          <a:prstGeom prst="rect">
            <a:avLst/>
          </a:prstGeom>
          <a:solidFill>
            <a:srgbClr val="FFFFFF"/>
          </a:solidFill>
          <a:ln/>
        </p:spPr>
      </p:sp>
      <p:sp>
        <p:nvSpPr>
          <p:cNvPr id="18" name="Text 15"/>
          <p:cNvSpPr/>
          <p:nvPr/>
        </p:nvSpPr>
        <p:spPr>
          <a:xfrm>
            <a:off x="1016000" y="57785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核心结论</a:t>
            </a:r>
            <a:endParaRPr lang="en-US" sz="1600" dirty="0"/>
          </a:p>
        </p:txBody>
      </p:sp>
      <p:sp>
        <p:nvSpPr>
          <p:cNvPr id="19" name="Text 16"/>
          <p:cNvSpPr/>
          <p:nvPr/>
        </p:nvSpPr>
        <p:spPr>
          <a:xfrm>
            <a:off x="1016000" y="6223000"/>
            <a:ext cx="14224000" cy="1905000"/>
          </a:xfrm>
          <a:prstGeom prst="rect">
            <a:avLst/>
          </a:prstGeom>
          <a:noFill/>
          <a:ln/>
        </p:spPr>
        <p:txBody>
          <a:bodyPr wrap="square" lIns="0" tIns="0" rIns="0" bIns="0" rtlCol="0" anchor="t"/>
          <a:lstStyle/>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提升梯度</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：高风险敏感议题（人工流产、体外排精）提升幅度最大，向常规高频议题递减，说明数据集在主题覆盖上较为均衡</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能力盲区</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：①前沿未定论议题——模型易混淆研究进展与既有知识，产生幻觉；②伪概念提问——模型缺乏批判性反驳能力，倾向于迎合式演绎</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改进方向</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：数据集需持续扩充辟谣类样本和前沿进展类样本，以增强模型鲁棒性与安全性</a:t>
            </a:r>
            <a:endParaRPr lang="en-US" sz="1600" dirty="0"/>
          </a:p>
        </p:txBody>
      </p:sp>
      <p:sp>
        <p:nvSpPr>
          <p:cNvPr id="20" name="Text 17"/>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1" name="Text 18"/>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主要结论与创新点</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主要结论与创新点</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四大核心发现</a:t>
            </a:r>
            <a:endParaRPr lang="en-US" sz="1600" dirty="0"/>
          </a:p>
        </p:txBody>
      </p:sp>
      <p:sp>
        <p:nvSpPr>
          <p:cNvPr id="8" name="Text 6"/>
          <p:cNvSpPr/>
          <p:nvPr/>
        </p:nvSpPr>
        <p:spPr>
          <a:xfrm>
            <a:off x="762000" y="1968500"/>
            <a:ext cx="14732000" cy="1778000"/>
          </a:xfrm>
          <a:prstGeom prst="rect">
            <a:avLst/>
          </a:prstGeom>
          <a:noFill/>
          <a:ln/>
        </p:spPr>
        <p:txBody>
          <a:bodyPr wrap="square" lIns="0" tIns="0" rIns="0" bIns="0" rtlCol="0" anchor="t"/>
          <a:lstStyle/>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①</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青少年需求呈"头部集中、长尾分布"——基础科普与安全套使用占54.47%，高风险议题认知误区普遍</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②</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用户评论能有效反映真实需求——口语化表达中蕴含传统问卷难以捕捉的敏感困惑与情感诉求</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③</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LLM配合人工审核可规模化产出高质量问答对——2767条问答对综合均分2.96，达临床应用标准</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④</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领域微调显著提升模型专业性（p&lt;0.001），但面对前沿议题和伪概念时幻觉风险仍需关注</a:t>
            </a:r>
            <a:endParaRPr lang="en-US" sz="1600" dirty="0"/>
          </a:p>
        </p:txBody>
      </p:sp>
      <p:sp>
        <p:nvSpPr>
          <p:cNvPr id="9" name="Shape 7"/>
          <p:cNvSpPr/>
          <p:nvPr/>
        </p:nvSpPr>
        <p:spPr>
          <a:xfrm>
            <a:off x="762000" y="3937000"/>
            <a:ext cx="14732000" cy="0"/>
          </a:xfrm>
          <a:prstGeom prst="straightConnector1">
            <a:avLst/>
          </a:prstGeom>
          <a:noFill/>
          <a:ln w="12700">
            <a:solidFill>
              <a:srgbClr val="8A9BB0"/>
            </a:solidFill>
            <a:prstDash val="solid"/>
            <a:headEnd type="none"/>
            <a:tailEnd type="none"/>
          </a:ln>
        </p:spPr>
      </p:sp>
      <p:sp>
        <p:nvSpPr>
          <p:cNvPr id="10" name="Text 8"/>
          <p:cNvSpPr/>
          <p:nvPr/>
        </p:nvSpPr>
        <p:spPr>
          <a:xfrm>
            <a:off x="762000" y="41275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四大创新点</a:t>
            </a:r>
            <a:endParaRPr lang="en-US" sz="1600" dirty="0"/>
          </a:p>
        </p:txBody>
      </p:sp>
      <p:sp>
        <p:nvSpPr>
          <p:cNvPr id="11" name="Shape 9"/>
          <p:cNvSpPr/>
          <p:nvPr/>
        </p:nvSpPr>
        <p:spPr>
          <a:xfrm>
            <a:off x="762000" y="4635500"/>
            <a:ext cx="3429000" cy="2667000"/>
          </a:xfrm>
          <a:prstGeom prst="rect">
            <a:avLst/>
          </a:prstGeom>
          <a:solidFill>
            <a:srgbClr val="FFFFFF"/>
          </a:solidFill>
          <a:ln/>
        </p:spPr>
      </p:sp>
      <p:sp>
        <p:nvSpPr>
          <p:cNvPr id="12" name="Shape 10"/>
          <p:cNvSpPr/>
          <p:nvPr/>
        </p:nvSpPr>
        <p:spPr>
          <a:xfrm>
            <a:off x="990600" y="4826000"/>
            <a:ext cx="457200" cy="406400"/>
          </a:xfrm>
          <a:custGeom>
            <a:avLst/>
            <a:gdLst/>
            <a:ahLst/>
            <a:cxnLst/>
            <a:rect l="l" t="t" r="r" b="b"/>
            <a:pathLst>
              <a:path w="457200" h="406400">
                <a:moveTo>
                  <a:pt x="304800" y="114300"/>
                </a:moveTo>
                <a:cubicBezTo>
                  <a:pt x="304800" y="191452"/>
                  <a:pt x="236538" y="254000"/>
                  <a:pt x="152400" y="254000"/>
                </a:cubicBezTo>
                <a:cubicBezTo>
                  <a:pt x="131207" y="254000"/>
                  <a:pt x="111046" y="250031"/>
                  <a:pt x="92710" y="242888"/>
                </a:cubicBezTo>
                <a:lnTo>
                  <a:pt x="27940" y="277178"/>
                </a:lnTo>
                <a:cubicBezTo>
                  <a:pt x="20558" y="281067"/>
                  <a:pt x="11509" y="279717"/>
                  <a:pt x="5556" y="273844"/>
                </a:cubicBezTo>
                <a:cubicBezTo>
                  <a:pt x="-397" y="267970"/>
                  <a:pt x="-1746" y="258842"/>
                  <a:pt x="2223" y="251460"/>
                </a:cubicBezTo>
                <a:lnTo>
                  <a:pt x="30480" y="198120"/>
                </a:lnTo>
                <a:cubicBezTo>
                  <a:pt x="11351" y="174784"/>
                  <a:pt x="0" y="145733"/>
                  <a:pt x="0" y="114300"/>
                </a:cubicBezTo>
                <a:cubicBezTo>
                  <a:pt x="0" y="37147"/>
                  <a:pt x="68263" y="-25400"/>
                  <a:pt x="152400" y="-25400"/>
                </a:cubicBezTo>
                <a:cubicBezTo>
                  <a:pt x="236538" y="-25400"/>
                  <a:pt x="304800" y="37147"/>
                  <a:pt x="304800" y="114300"/>
                </a:cubicBezTo>
                <a:close/>
                <a:moveTo>
                  <a:pt x="304800" y="406400"/>
                </a:moveTo>
                <a:cubicBezTo>
                  <a:pt x="230108" y="406400"/>
                  <a:pt x="167958" y="357108"/>
                  <a:pt x="154940" y="292100"/>
                </a:cubicBezTo>
                <a:cubicBezTo>
                  <a:pt x="250190" y="290909"/>
                  <a:pt x="332978" y="223123"/>
                  <a:pt x="342106" y="131207"/>
                </a:cubicBezTo>
                <a:cubicBezTo>
                  <a:pt x="408226" y="146447"/>
                  <a:pt x="457200" y="201295"/>
                  <a:pt x="457200" y="266700"/>
                </a:cubicBezTo>
                <a:cubicBezTo>
                  <a:pt x="457200" y="298133"/>
                  <a:pt x="445849" y="327184"/>
                  <a:pt x="426720" y="350520"/>
                </a:cubicBezTo>
                <a:lnTo>
                  <a:pt x="454978" y="403860"/>
                </a:lnTo>
                <a:cubicBezTo>
                  <a:pt x="458867" y="411242"/>
                  <a:pt x="457518" y="420291"/>
                  <a:pt x="451644" y="426244"/>
                </a:cubicBezTo>
                <a:cubicBezTo>
                  <a:pt x="445770" y="432197"/>
                  <a:pt x="436642" y="433546"/>
                  <a:pt x="429260" y="429578"/>
                </a:cubicBezTo>
                <a:lnTo>
                  <a:pt x="364490" y="395288"/>
                </a:lnTo>
                <a:cubicBezTo>
                  <a:pt x="346154" y="402431"/>
                  <a:pt x="325993" y="406400"/>
                  <a:pt x="304800" y="406400"/>
                </a:cubicBezTo>
                <a:close/>
              </a:path>
            </a:pathLst>
          </a:custGeom>
          <a:solidFill>
            <a:srgbClr val="1A4B8C"/>
          </a:solidFill>
          <a:ln/>
        </p:spPr>
      </p:sp>
      <p:sp>
        <p:nvSpPr>
          <p:cNvPr id="13" name="Text 11"/>
          <p:cNvSpPr/>
          <p:nvPr/>
        </p:nvSpPr>
        <p:spPr>
          <a:xfrm>
            <a:off x="1016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研究对象创新</a:t>
            </a:r>
            <a:endParaRPr lang="en-US" sz="1600" dirty="0"/>
          </a:p>
        </p:txBody>
      </p:sp>
      <p:sp>
        <p:nvSpPr>
          <p:cNvPr id="14" name="Text 12"/>
          <p:cNvSpPr/>
          <p:nvPr/>
        </p:nvSpPr>
        <p:spPr>
          <a:xfrm>
            <a:off x="1016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首次将焦点深入B站青少年用户自发生成的海量真实评论与弹幕文本</a:t>
            </a:r>
            <a:endParaRPr lang="en-US" sz="1600" dirty="0"/>
          </a:p>
        </p:txBody>
      </p:sp>
      <p:sp>
        <p:nvSpPr>
          <p:cNvPr id="15" name="Shape 13"/>
          <p:cNvSpPr/>
          <p:nvPr/>
        </p:nvSpPr>
        <p:spPr>
          <a:xfrm>
            <a:off x="4445000" y="4635500"/>
            <a:ext cx="3429000" cy="2667000"/>
          </a:xfrm>
          <a:prstGeom prst="rect">
            <a:avLst/>
          </a:prstGeom>
          <a:solidFill>
            <a:srgbClr val="FFFFFF"/>
          </a:solidFill>
          <a:ln/>
        </p:spPr>
      </p:sp>
      <p:sp>
        <p:nvSpPr>
          <p:cNvPr id="16" name="Shape 14"/>
          <p:cNvSpPr/>
          <p:nvPr/>
        </p:nvSpPr>
        <p:spPr>
          <a:xfrm>
            <a:off x="4673600" y="4826000"/>
            <a:ext cx="457200" cy="406400"/>
          </a:xfrm>
          <a:custGeom>
            <a:avLst/>
            <a:gdLst/>
            <a:ahLst/>
            <a:cxnLst/>
            <a:rect l="l" t="t" r="r" b="b"/>
            <a:pathLst>
              <a:path w="457200" h="406400">
                <a:moveTo>
                  <a:pt x="332978" y="76200"/>
                </a:moveTo>
                <a:cubicBezTo>
                  <a:pt x="319802" y="76200"/>
                  <a:pt x="307023" y="79772"/>
                  <a:pt x="295831" y="86281"/>
                </a:cubicBezTo>
                <a:cubicBezTo>
                  <a:pt x="283289" y="73581"/>
                  <a:pt x="268684" y="62944"/>
                  <a:pt x="252571" y="54928"/>
                </a:cubicBezTo>
                <a:cubicBezTo>
                  <a:pt x="274955" y="35878"/>
                  <a:pt x="303451" y="25400"/>
                  <a:pt x="332978" y="25400"/>
                </a:cubicBezTo>
                <a:cubicBezTo>
                  <a:pt x="401558" y="25400"/>
                  <a:pt x="457200" y="80963"/>
                  <a:pt x="457200" y="149622"/>
                </a:cubicBezTo>
                <a:cubicBezTo>
                  <a:pt x="457200" y="182563"/>
                  <a:pt x="444103" y="214154"/>
                  <a:pt x="420846" y="237411"/>
                </a:cubicBezTo>
                <a:lnTo>
                  <a:pt x="364411" y="293846"/>
                </a:lnTo>
                <a:cubicBezTo>
                  <a:pt x="341154" y="317103"/>
                  <a:pt x="309563" y="330200"/>
                  <a:pt x="276622" y="330200"/>
                </a:cubicBezTo>
                <a:cubicBezTo>
                  <a:pt x="208042" y="330200"/>
                  <a:pt x="152400" y="274638"/>
                  <a:pt x="152400" y="205978"/>
                </a:cubicBezTo>
                <a:cubicBezTo>
                  <a:pt x="152400" y="204788"/>
                  <a:pt x="152400" y="203597"/>
                  <a:pt x="152479" y="202406"/>
                </a:cubicBezTo>
                <a:cubicBezTo>
                  <a:pt x="152876" y="188357"/>
                  <a:pt x="164544" y="177324"/>
                  <a:pt x="178594" y="177721"/>
                </a:cubicBezTo>
                <a:cubicBezTo>
                  <a:pt x="192643" y="178118"/>
                  <a:pt x="203676" y="189786"/>
                  <a:pt x="203279" y="203835"/>
                </a:cubicBezTo>
                <a:cubicBezTo>
                  <a:pt x="203279" y="204549"/>
                  <a:pt x="203279" y="205264"/>
                  <a:pt x="203279" y="205899"/>
                </a:cubicBezTo>
                <a:cubicBezTo>
                  <a:pt x="203279" y="246459"/>
                  <a:pt x="236141" y="279321"/>
                  <a:pt x="276701" y="279321"/>
                </a:cubicBezTo>
                <a:cubicBezTo>
                  <a:pt x="296148" y="279321"/>
                  <a:pt x="314801" y="271621"/>
                  <a:pt x="328613" y="257810"/>
                </a:cubicBezTo>
                <a:lnTo>
                  <a:pt x="385048" y="201374"/>
                </a:lnTo>
                <a:cubicBezTo>
                  <a:pt x="398780" y="187643"/>
                  <a:pt x="406559" y="168910"/>
                  <a:pt x="406559" y="149463"/>
                </a:cubicBezTo>
                <a:cubicBezTo>
                  <a:pt x="406559" y="108903"/>
                  <a:pt x="373698" y="76041"/>
                  <a:pt x="333137" y="76041"/>
                </a:cubicBezTo>
                <a:close/>
                <a:moveTo>
                  <a:pt x="218440" y="137557"/>
                </a:moveTo>
                <a:cubicBezTo>
                  <a:pt x="216932" y="136922"/>
                  <a:pt x="215424" y="136049"/>
                  <a:pt x="214074" y="135096"/>
                </a:cubicBezTo>
                <a:cubicBezTo>
                  <a:pt x="204073" y="129937"/>
                  <a:pt x="192643" y="127000"/>
                  <a:pt x="180658" y="127000"/>
                </a:cubicBezTo>
                <a:cubicBezTo>
                  <a:pt x="161211" y="127000"/>
                  <a:pt x="142558" y="134699"/>
                  <a:pt x="128746" y="148511"/>
                </a:cubicBezTo>
                <a:lnTo>
                  <a:pt x="72311" y="204946"/>
                </a:lnTo>
                <a:cubicBezTo>
                  <a:pt x="58579" y="218678"/>
                  <a:pt x="50800" y="237411"/>
                  <a:pt x="50800" y="256858"/>
                </a:cubicBezTo>
                <a:cubicBezTo>
                  <a:pt x="50800" y="297418"/>
                  <a:pt x="83661" y="330279"/>
                  <a:pt x="124222" y="330279"/>
                </a:cubicBezTo>
                <a:cubicBezTo>
                  <a:pt x="137319" y="330279"/>
                  <a:pt x="150098" y="326787"/>
                  <a:pt x="161290" y="320278"/>
                </a:cubicBezTo>
                <a:cubicBezTo>
                  <a:pt x="173831" y="332978"/>
                  <a:pt x="188436" y="343614"/>
                  <a:pt x="204629" y="351631"/>
                </a:cubicBezTo>
                <a:cubicBezTo>
                  <a:pt x="182245" y="370602"/>
                  <a:pt x="153829" y="381159"/>
                  <a:pt x="124222" y="381159"/>
                </a:cubicBezTo>
                <a:cubicBezTo>
                  <a:pt x="55642" y="381159"/>
                  <a:pt x="0" y="325596"/>
                  <a:pt x="0" y="256937"/>
                </a:cubicBezTo>
                <a:cubicBezTo>
                  <a:pt x="0" y="223996"/>
                  <a:pt x="13097" y="192405"/>
                  <a:pt x="36354" y="169148"/>
                </a:cubicBezTo>
                <a:lnTo>
                  <a:pt x="92789" y="112713"/>
                </a:lnTo>
                <a:cubicBezTo>
                  <a:pt x="116046" y="89456"/>
                  <a:pt x="147638" y="76359"/>
                  <a:pt x="180578" y="76359"/>
                </a:cubicBezTo>
                <a:cubicBezTo>
                  <a:pt x="249317" y="76359"/>
                  <a:pt x="304800" y="132398"/>
                  <a:pt x="304800" y="200898"/>
                </a:cubicBezTo>
                <a:cubicBezTo>
                  <a:pt x="304800" y="201930"/>
                  <a:pt x="304800" y="202962"/>
                  <a:pt x="304800" y="203994"/>
                </a:cubicBezTo>
                <a:cubicBezTo>
                  <a:pt x="304483" y="218043"/>
                  <a:pt x="292814" y="229076"/>
                  <a:pt x="278765" y="228759"/>
                </a:cubicBezTo>
                <a:cubicBezTo>
                  <a:pt x="264716" y="228441"/>
                  <a:pt x="253682" y="216773"/>
                  <a:pt x="254000" y="202724"/>
                </a:cubicBezTo>
                <a:cubicBezTo>
                  <a:pt x="254000" y="202089"/>
                  <a:pt x="254000" y="201533"/>
                  <a:pt x="254000" y="200898"/>
                </a:cubicBezTo>
                <a:cubicBezTo>
                  <a:pt x="254000" y="174149"/>
                  <a:pt x="239713" y="150654"/>
                  <a:pt x="218440" y="137716"/>
                </a:cubicBezTo>
                <a:close/>
              </a:path>
            </a:pathLst>
          </a:custGeom>
          <a:solidFill>
            <a:srgbClr val="1A4B8C"/>
          </a:solidFill>
          <a:ln/>
        </p:spPr>
      </p:sp>
      <p:sp>
        <p:nvSpPr>
          <p:cNvPr id="17" name="Text 15"/>
          <p:cNvSpPr/>
          <p:nvPr/>
        </p:nvSpPr>
        <p:spPr>
          <a:xfrm>
            <a:off x="4699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方法路径创新</a:t>
            </a:r>
            <a:endParaRPr lang="en-US" sz="1600" dirty="0"/>
          </a:p>
        </p:txBody>
      </p:sp>
      <p:sp>
        <p:nvSpPr>
          <p:cNvPr id="18" name="Text 16"/>
          <p:cNvSpPr/>
          <p:nvPr/>
        </p:nvSpPr>
        <p:spPr>
          <a:xfrm>
            <a:off x="4699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构建并实践从原始数据到优化AI模型的完整技术链路，实现闭环转化</a:t>
            </a:r>
            <a:endParaRPr lang="en-US" sz="1600" dirty="0"/>
          </a:p>
        </p:txBody>
      </p:sp>
      <p:sp>
        <p:nvSpPr>
          <p:cNvPr id="19" name="Shape 17"/>
          <p:cNvSpPr/>
          <p:nvPr/>
        </p:nvSpPr>
        <p:spPr>
          <a:xfrm>
            <a:off x="8128000" y="4635500"/>
            <a:ext cx="3429000" cy="2667000"/>
          </a:xfrm>
          <a:prstGeom prst="rect">
            <a:avLst/>
          </a:prstGeom>
          <a:solidFill>
            <a:srgbClr val="FFFFFF"/>
          </a:solidFill>
          <a:ln/>
        </p:spPr>
      </p:sp>
      <p:sp>
        <p:nvSpPr>
          <p:cNvPr id="20" name="Shape 18"/>
          <p:cNvSpPr/>
          <p:nvPr/>
        </p:nvSpPr>
        <p:spPr>
          <a:xfrm>
            <a:off x="8407400" y="4826000"/>
            <a:ext cx="355600" cy="406400"/>
          </a:xfrm>
          <a:custGeom>
            <a:avLst/>
            <a:gdLst/>
            <a:ahLst/>
            <a:cxnLst/>
            <a:rect l="l" t="t" r="r" b="b"/>
            <a:pathLst>
              <a:path w="355600" h="406400">
                <a:moveTo>
                  <a:pt x="355600" y="163354"/>
                </a:moveTo>
                <a:cubicBezTo>
                  <a:pt x="343853" y="171133"/>
                  <a:pt x="330359" y="177403"/>
                  <a:pt x="316309" y="182404"/>
                </a:cubicBezTo>
                <a:cubicBezTo>
                  <a:pt x="279003" y="195739"/>
                  <a:pt x="230029" y="203200"/>
                  <a:pt x="177800" y="203200"/>
                </a:cubicBezTo>
                <a:cubicBezTo>
                  <a:pt x="125571" y="203200"/>
                  <a:pt x="76518" y="195659"/>
                  <a:pt x="39291" y="182404"/>
                </a:cubicBezTo>
                <a:cubicBezTo>
                  <a:pt x="25321" y="177403"/>
                  <a:pt x="11747" y="171133"/>
                  <a:pt x="0" y="163354"/>
                </a:cubicBezTo>
                <a:lnTo>
                  <a:pt x="0" y="228600"/>
                </a:lnTo>
                <a:cubicBezTo>
                  <a:pt x="0" y="263684"/>
                  <a:pt x="79613" y="292100"/>
                  <a:pt x="177800" y="292100"/>
                </a:cubicBezTo>
                <a:cubicBezTo>
                  <a:pt x="275987" y="292100"/>
                  <a:pt x="355600" y="263684"/>
                  <a:pt x="355600" y="228600"/>
                </a:cubicBezTo>
                <a:lnTo>
                  <a:pt x="355600" y="163354"/>
                </a:lnTo>
                <a:close/>
                <a:moveTo>
                  <a:pt x="355600" y="101600"/>
                </a:moveTo>
                <a:lnTo>
                  <a:pt x="355600" y="63500"/>
                </a:lnTo>
                <a:cubicBezTo>
                  <a:pt x="355600" y="28416"/>
                  <a:pt x="275987" y="0"/>
                  <a:pt x="177800" y="0"/>
                </a:cubicBezTo>
                <a:cubicBezTo>
                  <a:pt x="79613" y="0"/>
                  <a:pt x="0" y="28416"/>
                  <a:pt x="0" y="63500"/>
                </a:cubicBezTo>
                <a:lnTo>
                  <a:pt x="0" y="101600"/>
                </a:lnTo>
                <a:cubicBezTo>
                  <a:pt x="0" y="136684"/>
                  <a:pt x="79613" y="165100"/>
                  <a:pt x="177800" y="165100"/>
                </a:cubicBezTo>
                <a:cubicBezTo>
                  <a:pt x="275987" y="165100"/>
                  <a:pt x="355600" y="136684"/>
                  <a:pt x="355600" y="101600"/>
                </a:cubicBezTo>
                <a:close/>
                <a:moveTo>
                  <a:pt x="316309" y="309404"/>
                </a:moveTo>
                <a:cubicBezTo>
                  <a:pt x="279083" y="322659"/>
                  <a:pt x="230108" y="330200"/>
                  <a:pt x="177800" y="330200"/>
                </a:cubicBezTo>
                <a:cubicBezTo>
                  <a:pt x="125492" y="330200"/>
                  <a:pt x="76518" y="322659"/>
                  <a:pt x="39291" y="309404"/>
                </a:cubicBezTo>
                <a:cubicBezTo>
                  <a:pt x="25321" y="304403"/>
                  <a:pt x="11747" y="298133"/>
                  <a:pt x="0" y="290354"/>
                </a:cubicBezTo>
                <a:lnTo>
                  <a:pt x="0" y="342900"/>
                </a:lnTo>
                <a:cubicBezTo>
                  <a:pt x="0" y="377984"/>
                  <a:pt x="79613" y="406400"/>
                  <a:pt x="177800" y="406400"/>
                </a:cubicBezTo>
                <a:cubicBezTo>
                  <a:pt x="275987" y="406400"/>
                  <a:pt x="355600" y="377984"/>
                  <a:pt x="355600" y="342900"/>
                </a:cubicBezTo>
                <a:lnTo>
                  <a:pt x="355600" y="290354"/>
                </a:lnTo>
                <a:cubicBezTo>
                  <a:pt x="343853" y="298133"/>
                  <a:pt x="330359" y="304403"/>
                  <a:pt x="316309" y="309404"/>
                </a:cubicBezTo>
                <a:close/>
              </a:path>
            </a:pathLst>
          </a:custGeom>
          <a:solidFill>
            <a:srgbClr val="1A4B8C"/>
          </a:solidFill>
          <a:ln/>
        </p:spPr>
      </p:sp>
      <p:sp>
        <p:nvSpPr>
          <p:cNvPr id="21" name="Text 19"/>
          <p:cNvSpPr/>
          <p:nvPr/>
        </p:nvSpPr>
        <p:spPr>
          <a:xfrm>
            <a:off x="8382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数据资源创新</a:t>
            </a:r>
            <a:endParaRPr lang="en-US" sz="1600" dirty="0"/>
          </a:p>
        </p:txBody>
      </p:sp>
      <p:sp>
        <p:nvSpPr>
          <p:cNvPr id="22" name="Text 20"/>
          <p:cNvSpPr/>
          <p:nvPr/>
        </p:nvSpPr>
        <p:spPr>
          <a:xfrm>
            <a:off x="8382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国内首个源于社交媒体真实互动场景的青少年生殖健康标准化问答数据集</a:t>
            </a:r>
            <a:endParaRPr lang="en-US" sz="1600" dirty="0"/>
          </a:p>
        </p:txBody>
      </p:sp>
      <p:sp>
        <p:nvSpPr>
          <p:cNvPr id="23" name="Shape 21"/>
          <p:cNvSpPr/>
          <p:nvPr/>
        </p:nvSpPr>
        <p:spPr>
          <a:xfrm>
            <a:off x="11811000" y="4635500"/>
            <a:ext cx="3683000" cy="2667000"/>
          </a:xfrm>
          <a:prstGeom prst="rect">
            <a:avLst/>
          </a:prstGeom>
          <a:solidFill>
            <a:srgbClr val="FFFFFF"/>
          </a:solidFill>
          <a:ln/>
        </p:spPr>
      </p:sp>
      <p:sp>
        <p:nvSpPr>
          <p:cNvPr id="24" name="Shape 22"/>
          <p:cNvSpPr/>
          <p:nvPr/>
        </p:nvSpPr>
        <p:spPr>
          <a:xfrm>
            <a:off x="12065000" y="4826000"/>
            <a:ext cx="406400" cy="406400"/>
          </a:xfrm>
          <a:custGeom>
            <a:avLst/>
            <a:gdLst/>
            <a:ahLst/>
            <a:cxnLst/>
            <a:rect l="l" t="t" r="r" b="b"/>
            <a:pathLst>
              <a:path w="406400" h="406400">
                <a:moveTo>
                  <a:pt x="139700" y="19050"/>
                </a:moveTo>
                <a:cubicBezTo>
                  <a:pt x="139700" y="8493"/>
                  <a:pt x="131207" y="0"/>
                  <a:pt x="120650" y="0"/>
                </a:cubicBezTo>
                <a:cubicBezTo>
                  <a:pt x="110093" y="0"/>
                  <a:pt x="101600" y="8493"/>
                  <a:pt x="101600" y="19050"/>
                </a:cubicBezTo>
                <a:lnTo>
                  <a:pt x="101600" y="50800"/>
                </a:lnTo>
                <a:cubicBezTo>
                  <a:pt x="73581" y="50800"/>
                  <a:pt x="50800" y="73581"/>
                  <a:pt x="50800" y="101600"/>
                </a:cubicBezTo>
                <a:lnTo>
                  <a:pt x="19050" y="101600"/>
                </a:lnTo>
                <a:cubicBezTo>
                  <a:pt x="8493" y="101600"/>
                  <a:pt x="0" y="110093"/>
                  <a:pt x="0" y="120650"/>
                </a:cubicBezTo>
                <a:cubicBezTo>
                  <a:pt x="0" y="131207"/>
                  <a:pt x="8493" y="139700"/>
                  <a:pt x="19050" y="139700"/>
                </a:cubicBezTo>
                <a:lnTo>
                  <a:pt x="50800" y="139700"/>
                </a:lnTo>
                <a:lnTo>
                  <a:pt x="50800" y="184150"/>
                </a:lnTo>
                <a:lnTo>
                  <a:pt x="19050" y="184150"/>
                </a:lnTo>
                <a:cubicBezTo>
                  <a:pt x="8493" y="184150"/>
                  <a:pt x="0" y="192643"/>
                  <a:pt x="0" y="203200"/>
                </a:cubicBezTo>
                <a:cubicBezTo>
                  <a:pt x="0" y="213757"/>
                  <a:pt x="8493" y="222250"/>
                  <a:pt x="19050" y="222250"/>
                </a:cubicBezTo>
                <a:lnTo>
                  <a:pt x="50800" y="222250"/>
                </a:lnTo>
                <a:lnTo>
                  <a:pt x="50800" y="266700"/>
                </a:lnTo>
                <a:lnTo>
                  <a:pt x="19050" y="266700"/>
                </a:lnTo>
                <a:cubicBezTo>
                  <a:pt x="8493" y="266700"/>
                  <a:pt x="0" y="275193"/>
                  <a:pt x="0" y="285750"/>
                </a:cubicBezTo>
                <a:cubicBezTo>
                  <a:pt x="0" y="296307"/>
                  <a:pt x="8493" y="304800"/>
                  <a:pt x="19050" y="304800"/>
                </a:cubicBezTo>
                <a:lnTo>
                  <a:pt x="50800" y="304800"/>
                </a:lnTo>
                <a:cubicBezTo>
                  <a:pt x="50800" y="332819"/>
                  <a:pt x="73581" y="355600"/>
                  <a:pt x="101600" y="355600"/>
                </a:cubicBezTo>
                <a:lnTo>
                  <a:pt x="101600" y="387350"/>
                </a:lnTo>
                <a:cubicBezTo>
                  <a:pt x="101600" y="397907"/>
                  <a:pt x="110093" y="406400"/>
                  <a:pt x="120650" y="406400"/>
                </a:cubicBezTo>
                <a:cubicBezTo>
                  <a:pt x="131207" y="406400"/>
                  <a:pt x="139700" y="397907"/>
                  <a:pt x="139700" y="387350"/>
                </a:cubicBezTo>
                <a:lnTo>
                  <a:pt x="139700" y="355600"/>
                </a:lnTo>
                <a:lnTo>
                  <a:pt x="184150" y="355600"/>
                </a:lnTo>
                <a:lnTo>
                  <a:pt x="184150" y="387350"/>
                </a:lnTo>
                <a:cubicBezTo>
                  <a:pt x="184150" y="397907"/>
                  <a:pt x="192643" y="406400"/>
                  <a:pt x="203200" y="406400"/>
                </a:cubicBezTo>
                <a:cubicBezTo>
                  <a:pt x="213757" y="406400"/>
                  <a:pt x="222250" y="397907"/>
                  <a:pt x="222250" y="387350"/>
                </a:cubicBezTo>
                <a:lnTo>
                  <a:pt x="222250" y="355600"/>
                </a:lnTo>
                <a:lnTo>
                  <a:pt x="266700" y="355600"/>
                </a:lnTo>
                <a:lnTo>
                  <a:pt x="266700" y="387350"/>
                </a:lnTo>
                <a:cubicBezTo>
                  <a:pt x="266700" y="397907"/>
                  <a:pt x="275193" y="406400"/>
                  <a:pt x="285750" y="406400"/>
                </a:cubicBezTo>
                <a:cubicBezTo>
                  <a:pt x="296307" y="406400"/>
                  <a:pt x="304800" y="397907"/>
                  <a:pt x="304800" y="387350"/>
                </a:cubicBezTo>
                <a:lnTo>
                  <a:pt x="304800" y="355600"/>
                </a:lnTo>
                <a:cubicBezTo>
                  <a:pt x="332819" y="355600"/>
                  <a:pt x="355600" y="332819"/>
                  <a:pt x="355600" y="304800"/>
                </a:cubicBezTo>
                <a:lnTo>
                  <a:pt x="387350" y="304800"/>
                </a:lnTo>
                <a:cubicBezTo>
                  <a:pt x="397907" y="304800"/>
                  <a:pt x="406400" y="296307"/>
                  <a:pt x="406400" y="285750"/>
                </a:cubicBezTo>
                <a:cubicBezTo>
                  <a:pt x="406400" y="275193"/>
                  <a:pt x="397907" y="266700"/>
                  <a:pt x="387350" y="266700"/>
                </a:cubicBezTo>
                <a:lnTo>
                  <a:pt x="355600" y="266700"/>
                </a:lnTo>
                <a:lnTo>
                  <a:pt x="355600" y="222250"/>
                </a:lnTo>
                <a:lnTo>
                  <a:pt x="387350" y="222250"/>
                </a:lnTo>
                <a:cubicBezTo>
                  <a:pt x="397907" y="222250"/>
                  <a:pt x="406400" y="213757"/>
                  <a:pt x="406400" y="203200"/>
                </a:cubicBezTo>
                <a:cubicBezTo>
                  <a:pt x="406400" y="192643"/>
                  <a:pt x="397907" y="184150"/>
                  <a:pt x="387350" y="184150"/>
                </a:cubicBezTo>
                <a:lnTo>
                  <a:pt x="355600" y="184150"/>
                </a:lnTo>
                <a:lnTo>
                  <a:pt x="355600" y="139700"/>
                </a:lnTo>
                <a:lnTo>
                  <a:pt x="387350" y="139700"/>
                </a:lnTo>
                <a:cubicBezTo>
                  <a:pt x="397907" y="139700"/>
                  <a:pt x="406400" y="131207"/>
                  <a:pt x="406400" y="120650"/>
                </a:cubicBezTo>
                <a:cubicBezTo>
                  <a:pt x="406400" y="110093"/>
                  <a:pt x="397907" y="101600"/>
                  <a:pt x="387350" y="101600"/>
                </a:cubicBezTo>
                <a:lnTo>
                  <a:pt x="355600" y="101600"/>
                </a:lnTo>
                <a:cubicBezTo>
                  <a:pt x="355600" y="73581"/>
                  <a:pt x="332819" y="50800"/>
                  <a:pt x="304800" y="50800"/>
                </a:cubicBezTo>
                <a:lnTo>
                  <a:pt x="304800" y="19050"/>
                </a:lnTo>
                <a:cubicBezTo>
                  <a:pt x="304800" y="8493"/>
                  <a:pt x="296307" y="0"/>
                  <a:pt x="285750" y="0"/>
                </a:cubicBezTo>
                <a:cubicBezTo>
                  <a:pt x="275193" y="0"/>
                  <a:pt x="266700" y="8493"/>
                  <a:pt x="266700" y="19050"/>
                </a:cubicBezTo>
                <a:lnTo>
                  <a:pt x="266700" y="50800"/>
                </a:lnTo>
                <a:lnTo>
                  <a:pt x="222250" y="50800"/>
                </a:lnTo>
                <a:lnTo>
                  <a:pt x="222250" y="19050"/>
                </a:lnTo>
                <a:cubicBezTo>
                  <a:pt x="222250" y="8493"/>
                  <a:pt x="213757" y="0"/>
                  <a:pt x="203200" y="0"/>
                </a:cubicBezTo>
                <a:cubicBezTo>
                  <a:pt x="192643" y="0"/>
                  <a:pt x="184150" y="8493"/>
                  <a:pt x="184150" y="19050"/>
                </a:cubicBezTo>
                <a:lnTo>
                  <a:pt x="184150" y="50800"/>
                </a:lnTo>
                <a:lnTo>
                  <a:pt x="139700" y="50800"/>
                </a:lnTo>
                <a:lnTo>
                  <a:pt x="139700" y="19050"/>
                </a:lnTo>
                <a:close/>
                <a:moveTo>
                  <a:pt x="127000" y="101600"/>
                </a:moveTo>
                <a:lnTo>
                  <a:pt x="279400" y="101600"/>
                </a:lnTo>
                <a:cubicBezTo>
                  <a:pt x="293449" y="101600"/>
                  <a:pt x="304800" y="112951"/>
                  <a:pt x="304800" y="127000"/>
                </a:cubicBezTo>
                <a:lnTo>
                  <a:pt x="304800" y="279400"/>
                </a:lnTo>
                <a:cubicBezTo>
                  <a:pt x="304800" y="293449"/>
                  <a:pt x="293449" y="304800"/>
                  <a:pt x="279400" y="304800"/>
                </a:cubicBezTo>
                <a:lnTo>
                  <a:pt x="127000" y="304800"/>
                </a:lnTo>
                <a:cubicBezTo>
                  <a:pt x="112951" y="304800"/>
                  <a:pt x="101600" y="293449"/>
                  <a:pt x="101600" y="279400"/>
                </a:cubicBezTo>
                <a:lnTo>
                  <a:pt x="101600" y="127000"/>
                </a:lnTo>
                <a:cubicBezTo>
                  <a:pt x="101600" y="112951"/>
                  <a:pt x="112951" y="101600"/>
                  <a:pt x="127000" y="101600"/>
                </a:cubicBezTo>
                <a:close/>
                <a:moveTo>
                  <a:pt x="139700" y="139700"/>
                </a:moveTo>
                <a:lnTo>
                  <a:pt x="139700" y="266700"/>
                </a:lnTo>
                <a:lnTo>
                  <a:pt x="266700" y="266700"/>
                </a:lnTo>
                <a:lnTo>
                  <a:pt x="266700" y="139700"/>
                </a:lnTo>
                <a:lnTo>
                  <a:pt x="139700" y="139700"/>
                </a:lnTo>
                <a:close/>
              </a:path>
            </a:pathLst>
          </a:custGeom>
          <a:solidFill>
            <a:srgbClr val="1A4B8C"/>
          </a:solidFill>
          <a:ln/>
        </p:spPr>
      </p:sp>
      <p:sp>
        <p:nvSpPr>
          <p:cNvPr id="25" name="Text 23"/>
          <p:cNvSpPr/>
          <p:nvPr/>
        </p:nvSpPr>
        <p:spPr>
          <a:xfrm>
            <a:off x="12065000" y="5334000"/>
            <a:ext cx="3175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模型应用创新</a:t>
            </a:r>
            <a:endParaRPr lang="en-US" sz="1600" dirty="0"/>
          </a:p>
        </p:txBody>
      </p:sp>
      <p:sp>
        <p:nvSpPr>
          <p:cNvPr id="26" name="Text 24"/>
          <p:cNvSpPr/>
          <p:nvPr/>
        </p:nvSpPr>
        <p:spPr>
          <a:xfrm>
            <a:off x="12065000" y="5715000"/>
            <a:ext cx="3175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探索中文青少年健康教育垂域大模型的数据构建与评估方法论框架</a:t>
            </a:r>
            <a:endParaRPr lang="en-US" sz="1600" dirty="0"/>
          </a:p>
        </p:txBody>
      </p:sp>
      <p:sp>
        <p:nvSpPr>
          <p:cNvPr id="27" name="Shape 25"/>
          <p:cNvSpPr/>
          <p:nvPr/>
        </p:nvSpPr>
        <p:spPr>
          <a:xfrm>
            <a:off x="762000" y="7556500"/>
            <a:ext cx="14732000" cy="889000"/>
          </a:xfrm>
          <a:prstGeom prst="rect">
            <a:avLst/>
          </a:prstGeom>
          <a:solidFill>
            <a:srgbClr val="1A4B8C"/>
          </a:solidFill>
          <a:ln/>
        </p:spPr>
      </p:sp>
      <p:sp>
        <p:nvSpPr>
          <p:cNvPr id="28" name="Text 26"/>
          <p:cNvSpPr/>
          <p:nvPr/>
        </p:nvSpPr>
        <p:spPr>
          <a:xfrm>
            <a:off x="1016000" y="7620000"/>
            <a:ext cx="14224000" cy="762000"/>
          </a:xfrm>
          <a:prstGeom prst="rect">
            <a:avLst/>
          </a:prstGeom>
          <a:noFill/>
          <a:ln/>
        </p:spPr>
        <p:txBody>
          <a:bodyPr wrap="square" lIns="0" tIns="0" rIns="0" bIns="0" rtlCol="0" anchor="ctr"/>
          <a:lstStyle/>
          <a:p>
            <a:pPr>
              <a:lnSpc>
                <a:spcPct val="15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未来展望：</a:t>
            </a:r>
            <a:pPr>
              <a:lnSpc>
                <a:spcPct val="15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拓展至多平台跨平台比较研究 | 引入检索增强生成（RAG）缓解幻觉 | 开展多轮对话与个性化交互探索 | 持续扩充数据集规模与主题覆盖</a:t>
            </a:r>
            <a:endParaRPr lang="en-US" sz="1600" dirty="0"/>
          </a:p>
        </p:txBody>
      </p:sp>
      <p:sp>
        <p:nvSpPr>
          <p:cNvPr id="29" name="Text 27"/>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30" name="Text 28"/>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研究局限与未来展望</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研究局限与未来展望</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7620000" cy="355600"/>
          </a:xfrm>
          <a:prstGeom prst="rect">
            <a:avLst/>
          </a:prstGeom>
          <a:noFill/>
          <a:ln/>
        </p:spPr>
        <p:txBody>
          <a:bodyPr wrap="none" lIns="0" tIns="0" rIns="0" bIns="0" rtlCol="0" anchor="ctr"/>
          <a:lstStyle/>
          <a:p>
            <a:pPr>
              <a:lnSpc>
                <a:spcPct val="100000"/>
              </a:lnSpc>
            </a:pPr>
            <a:r>
              <a:rPr lang="en-US" sz="1800" dirty="0">
                <a:solidFill>
                  <a:srgbClr val="8A9BB0"/>
                </a:solidFill>
                <a:latin typeface="Quattrocento Sans" pitchFamily="34" charset="0"/>
                <a:ea typeface="Quattrocento Sans" pitchFamily="34" charset="-122"/>
                <a:cs typeface="Quattrocento Sans" pitchFamily="34" charset="-120"/>
              </a:rPr>
              <a:t>客观认识边界，明确深化方向</a:t>
            </a:r>
            <a:endParaRPr lang="en-US" sz="1600" dirty="0"/>
          </a:p>
        </p:txBody>
      </p:sp>
      <p:sp>
        <p:nvSpPr>
          <p:cNvPr id="8" name="Shape 6"/>
          <p:cNvSpPr/>
          <p:nvPr/>
        </p:nvSpPr>
        <p:spPr>
          <a:xfrm>
            <a:off x="762000" y="1879600"/>
            <a:ext cx="7112000" cy="6883400"/>
          </a:xfrm>
          <a:prstGeom prst="rect">
            <a:avLst/>
          </a:prstGeom>
          <a:solidFill>
            <a:srgbClr val="FFF5F0"/>
          </a:solidFill>
          <a:ln/>
        </p:spPr>
      </p:sp>
      <p:sp>
        <p:nvSpPr>
          <p:cNvPr id="9" name="Shape 7"/>
          <p:cNvSpPr/>
          <p:nvPr/>
        </p:nvSpPr>
        <p:spPr>
          <a:xfrm>
            <a:off x="1079500" y="2108200"/>
            <a:ext cx="355600" cy="355600"/>
          </a:xfrm>
          <a:custGeom>
            <a:avLst/>
            <a:gdLst/>
            <a:ahLst/>
            <a:cxnLst/>
            <a:rect l="l" t="t" r="r" b="b"/>
            <a:pathLst>
              <a:path w="355600" h="355600">
                <a:moveTo>
                  <a:pt x="177800" y="0"/>
                </a:moveTo>
                <a:cubicBezTo>
                  <a:pt x="188010" y="0"/>
                  <a:pt x="197386" y="5626"/>
                  <a:pt x="202248" y="14585"/>
                </a:cubicBezTo>
                <a:lnTo>
                  <a:pt x="352266" y="292398"/>
                </a:lnTo>
                <a:cubicBezTo>
                  <a:pt x="356920" y="301010"/>
                  <a:pt x="356711" y="311428"/>
                  <a:pt x="351711" y="319832"/>
                </a:cubicBezTo>
                <a:cubicBezTo>
                  <a:pt x="346710" y="328235"/>
                  <a:pt x="337612" y="333375"/>
                  <a:pt x="327819" y="333375"/>
                </a:cubicBezTo>
                <a:lnTo>
                  <a:pt x="27781" y="333375"/>
                </a:lnTo>
                <a:cubicBezTo>
                  <a:pt x="17988" y="333375"/>
                  <a:pt x="8959" y="328235"/>
                  <a:pt x="3889" y="319832"/>
                </a:cubicBezTo>
                <a:cubicBezTo>
                  <a:pt x="-1181" y="311428"/>
                  <a:pt x="-1320" y="301010"/>
                  <a:pt x="3334" y="292398"/>
                </a:cubicBezTo>
                <a:lnTo>
                  <a:pt x="153353" y="14585"/>
                </a:lnTo>
                <a:cubicBezTo>
                  <a:pt x="158214" y="5626"/>
                  <a:pt x="167590" y="0"/>
                  <a:pt x="177800" y="0"/>
                </a:cubicBezTo>
                <a:close/>
                <a:moveTo>
                  <a:pt x="177800" y="116681"/>
                </a:moveTo>
                <a:cubicBezTo>
                  <a:pt x="168563" y="116681"/>
                  <a:pt x="161131" y="124113"/>
                  <a:pt x="161131" y="133350"/>
                </a:cubicBezTo>
                <a:lnTo>
                  <a:pt x="161131" y="211138"/>
                </a:lnTo>
                <a:cubicBezTo>
                  <a:pt x="161131" y="220375"/>
                  <a:pt x="168563" y="227806"/>
                  <a:pt x="177800" y="227806"/>
                </a:cubicBezTo>
                <a:cubicBezTo>
                  <a:pt x="187037" y="227806"/>
                  <a:pt x="194469" y="220375"/>
                  <a:pt x="194469" y="211138"/>
                </a:cubicBezTo>
                <a:lnTo>
                  <a:pt x="194469" y="133350"/>
                </a:lnTo>
                <a:cubicBezTo>
                  <a:pt x="194469" y="124113"/>
                  <a:pt x="187037" y="116681"/>
                  <a:pt x="177800" y="116681"/>
                </a:cubicBezTo>
                <a:close/>
                <a:moveTo>
                  <a:pt x="196344" y="266700"/>
                </a:moveTo>
                <a:cubicBezTo>
                  <a:pt x="196766" y="259817"/>
                  <a:pt x="193333" y="253268"/>
                  <a:pt x="187432" y="249699"/>
                </a:cubicBezTo>
                <a:cubicBezTo>
                  <a:pt x="181532" y="246129"/>
                  <a:pt x="174138" y="246129"/>
                  <a:pt x="168237" y="249699"/>
                </a:cubicBezTo>
                <a:cubicBezTo>
                  <a:pt x="162336" y="253268"/>
                  <a:pt x="158904" y="259817"/>
                  <a:pt x="159325" y="266700"/>
                </a:cubicBezTo>
                <a:cubicBezTo>
                  <a:pt x="158904" y="273583"/>
                  <a:pt x="162336" y="280132"/>
                  <a:pt x="168237" y="283701"/>
                </a:cubicBezTo>
                <a:cubicBezTo>
                  <a:pt x="174138" y="287271"/>
                  <a:pt x="181532" y="287271"/>
                  <a:pt x="187432" y="283701"/>
                </a:cubicBezTo>
                <a:cubicBezTo>
                  <a:pt x="193333" y="280132"/>
                  <a:pt x="196766" y="273583"/>
                  <a:pt x="196344" y="266700"/>
                </a:cubicBezTo>
                <a:close/>
              </a:path>
            </a:pathLst>
          </a:custGeom>
          <a:solidFill>
            <a:srgbClr val="C45C26"/>
          </a:solidFill>
          <a:ln/>
        </p:spPr>
      </p:sp>
      <p:sp>
        <p:nvSpPr>
          <p:cNvPr id="10" name="Text 8"/>
          <p:cNvSpPr/>
          <p:nvPr/>
        </p:nvSpPr>
        <p:spPr>
          <a:xfrm>
            <a:off x="1549400" y="2108200"/>
            <a:ext cx="3810000" cy="355600"/>
          </a:xfrm>
          <a:prstGeom prst="rect">
            <a:avLst/>
          </a:prstGeom>
          <a:noFill/>
          <a:ln/>
        </p:spPr>
        <p:txBody>
          <a:bodyPr wrap="none" lIns="0" tIns="0" rIns="0" bIns="0" rtlCol="0" anchor="ctr"/>
          <a:lstStyle/>
          <a:p>
            <a:pPr>
              <a:lnSpc>
                <a:spcPct val="100000"/>
              </a:lnSpc>
            </a:pPr>
            <a:r>
              <a:rPr lang="en-US" sz="2000" b="1" dirty="0">
                <a:solidFill>
                  <a:srgbClr val="C45C26"/>
                </a:solidFill>
                <a:latin typeface="Quattrocento Sans" pitchFamily="34" charset="0"/>
                <a:ea typeface="Quattrocento Sans" pitchFamily="34" charset="-122"/>
                <a:cs typeface="Quattrocento Sans" pitchFamily="34" charset="-120"/>
              </a:rPr>
              <a:t>当前局限</a:t>
            </a:r>
            <a:endParaRPr lang="en-US" sz="1600" dirty="0"/>
          </a:p>
        </p:txBody>
      </p:sp>
      <p:sp>
        <p:nvSpPr>
          <p:cNvPr id="11" name="Text 9"/>
          <p:cNvSpPr/>
          <p:nvPr/>
        </p:nvSpPr>
        <p:spPr>
          <a:xfrm>
            <a:off x="1079500" y="2641600"/>
            <a:ext cx="6477000" cy="6121400"/>
          </a:xfrm>
          <a:prstGeom prst="rect">
            <a:avLst/>
          </a:prstGeom>
          <a:noFill/>
          <a:ln/>
        </p:spPr>
        <p:txBody>
          <a:bodyPr wrap="square" lIns="0" tIns="0" rIns="0" bIns="0" rtlCol="0" anchor="t"/>
          <a:lstStyle/>
          <a:p>
            <a:pPr>
              <a:lnSpc>
                <a:spcPct val="170000"/>
              </a:lnSpc>
            </a:pPr>
            <a:r>
              <a:rPr lang="en-US" sz="1800" b="1" dirty="0">
                <a:solidFill>
                  <a:srgbClr val="C45C26"/>
                </a:solidFill>
                <a:latin typeface="Quattrocento Sans" pitchFamily="34" charset="0"/>
                <a:ea typeface="Quattrocento Sans" pitchFamily="34" charset="-122"/>
                <a:cs typeface="Quattrocento Sans" pitchFamily="34" charset="-120"/>
              </a:rPr>
              <a:t>① 数据源局限</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限于Bilibili单一平台，且筛选条件偏向高播放量热门视频，可能遗漏小众但重要的声音</a:t>
            </a:r>
            <a:endParaRPr lang="en-US" sz="1600" dirty="0"/>
          </a:p>
          <a:p>
            <a:pPr>
              <a:lnSpc>
                <a:spcPct val="170000"/>
              </a:lnSpc>
              <a:spcBef>
                <a:spcPts val="1200"/>
              </a:spcBef>
            </a:pPr>
            <a:r>
              <a:rPr lang="en-US" sz="1800" b="1" dirty="0">
                <a:solidFill>
                  <a:srgbClr val="C45C26"/>
                </a:solidFill>
                <a:latin typeface="Quattrocento Sans" pitchFamily="34" charset="0"/>
                <a:ea typeface="Quattrocento Sans" pitchFamily="34" charset="-122"/>
                <a:cs typeface="Quattrocento Sans" pitchFamily="34" charset="-120"/>
              </a:rPr>
              <a:t>② 模型幻觉风险</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大语言模型幻觉问题未完全根除，面对前沿未定论议题（如男性避孕针）和伪概念提问时，仍可能产生事实性错误或安全隐患</a:t>
            </a:r>
            <a:endParaRPr lang="en-US" sz="1600" dirty="0"/>
          </a:p>
          <a:p>
            <a:pPr>
              <a:lnSpc>
                <a:spcPct val="170000"/>
              </a:lnSpc>
              <a:spcBef>
                <a:spcPts val="1200"/>
              </a:spcBef>
            </a:pPr>
            <a:r>
              <a:rPr lang="en-US" sz="1800" b="1" dirty="0">
                <a:solidFill>
                  <a:srgbClr val="C45C26"/>
                </a:solidFill>
                <a:latin typeface="Quattrocento Sans" pitchFamily="34" charset="0"/>
                <a:ea typeface="Quattrocento Sans" pitchFamily="34" charset="-122"/>
                <a:cs typeface="Quattrocento Sans" pitchFamily="34" charset="-120"/>
              </a:rPr>
              <a:t>③ 评估样本约束</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人工审核与专家评分受时间与人力资源约束，样本量和覆盖维度仍有进一步扩展空间</a:t>
            </a:r>
            <a:endParaRPr lang="en-US" sz="1600" dirty="0"/>
          </a:p>
        </p:txBody>
      </p:sp>
      <p:sp>
        <p:nvSpPr>
          <p:cNvPr id="12" name="Shape 10"/>
          <p:cNvSpPr/>
          <p:nvPr/>
        </p:nvSpPr>
        <p:spPr>
          <a:xfrm>
            <a:off x="8382000" y="1879600"/>
            <a:ext cx="7112000" cy="6883400"/>
          </a:xfrm>
          <a:prstGeom prst="rect">
            <a:avLst/>
          </a:prstGeom>
          <a:solidFill>
            <a:srgbClr val="F0F7FF"/>
          </a:solidFill>
          <a:ln/>
        </p:spPr>
      </p:sp>
      <p:sp>
        <p:nvSpPr>
          <p:cNvPr id="13" name="Shape 11"/>
          <p:cNvSpPr/>
          <p:nvPr/>
        </p:nvSpPr>
        <p:spPr>
          <a:xfrm>
            <a:off x="8699500" y="2108200"/>
            <a:ext cx="355600" cy="355600"/>
          </a:xfrm>
          <a:custGeom>
            <a:avLst/>
            <a:gdLst/>
            <a:ahLst/>
            <a:cxnLst/>
            <a:rect l="l" t="t" r="r" b="b"/>
            <a:pathLst>
              <a:path w="355600" h="355600">
                <a:moveTo>
                  <a:pt x="88900" y="222250"/>
                </a:moveTo>
                <a:lnTo>
                  <a:pt x="17016" y="222250"/>
                </a:lnTo>
                <a:cubicBezTo>
                  <a:pt x="-278" y="222250"/>
                  <a:pt x="-10904" y="203428"/>
                  <a:pt x="-2014" y="188565"/>
                </a:cubicBezTo>
                <a:lnTo>
                  <a:pt x="34727" y="127308"/>
                </a:lnTo>
                <a:cubicBezTo>
                  <a:pt x="40769" y="117237"/>
                  <a:pt x="51604" y="111125"/>
                  <a:pt x="63341" y="111125"/>
                </a:cubicBezTo>
                <a:lnTo>
                  <a:pt x="129322" y="111125"/>
                </a:lnTo>
                <a:cubicBezTo>
                  <a:pt x="182176" y="21600"/>
                  <a:pt x="261005" y="17085"/>
                  <a:pt x="313720" y="24795"/>
                </a:cubicBezTo>
                <a:cubicBezTo>
                  <a:pt x="322610" y="26114"/>
                  <a:pt x="329555" y="33060"/>
                  <a:pt x="330805" y="41880"/>
                </a:cubicBezTo>
                <a:cubicBezTo>
                  <a:pt x="338515" y="94595"/>
                  <a:pt x="334000" y="173424"/>
                  <a:pt x="244475" y="226278"/>
                </a:cubicBezTo>
                <a:lnTo>
                  <a:pt x="244475" y="292259"/>
                </a:lnTo>
                <a:cubicBezTo>
                  <a:pt x="244475" y="303996"/>
                  <a:pt x="238363" y="314831"/>
                  <a:pt x="228292" y="320873"/>
                </a:cubicBezTo>
                <a:lnTo>
                  <a:pt x="167035" y="357614"/>
                </a:lnTo>
                <a:cubicBezTo>
                  <a:pt x="152241" y="366504"/>
                  <a:pt x="133350" y="355808"/>
                  <a:pt x="133350" y="338584"/>
                </a:cubicBezTo>
                <a:lnTo>
                  <a:pt x="133350" y="266700"/>
                </a:lnTo>
                <a:cubicBezTo>
                  <a:pt x="133350" y="242183"/>
                  <a:pt x="113417" y="222250"/>
                  <a:pt x="88900" y="222250"/>
                </a:cubicBezTo>
                <a:lnTo>
                  <a:pt x="88831" y="222250"/>
                </a:lnTo>
                <a:close/>
                <a:moveTo>
                  <a:pt x="277813" y="111125"/>
                </a:moveTo>
                <a:cubicBezTo>
                  <a:pt x="277813" y="92726"/>
                  <a:pt x="262874" y="77788"/>
                  <a:pt x="244475" y="77788"/>
                </a:cubicBezTo>
                <a:cubicBezTo>
                  <a:pt x="226076" y="77788"/>
                  <a:pt x="211138" y="92726"/>
                  <a:pt x="211138" y="111125"/>
                </a:cubicBezTo>
                <a:cubicBezTo>
                  <a:pt x="211138" y="129524"/>
                  <a:pt x="226076" y="144463"/>
                  <a:pt x="244475" y="144463"/>
                </a:cubicBezTo>
                <a:cubicBezTo>
                  <a:pt x="262874" y="144463"/>
                  <a:pt x="277813" y="129524"/>
                  <a:pt x="277813" y="111125"/>
                </a:cubicBezTo>
                <a:close/>
              </a:path>
            </a:pathLst>
          </a:custGeom>
          <a:solidFill>
            <a:srgbClr val="1A4B8C"/>
          </a:solidFill>
          <a:ln/>
        </p:spPr>
      </p:sp>
      <p:sp>
        <p:nvSpPr>
          <p:cNvPr id="14" name="Text 12"/>
          <p:cNvSpPr/>
          <p:nvPr/>
        </p:nvSpPr>
        <p:spPr>
          <a:xfrm>
            <a:off x="9169400" y="2108200"/>
            <a:ext cx="3810000" cy="355600"/>
          </a:xfrm>
          <a:prstGeom prst="rect">
            <a:avLst/>
          </a:prstGeom>
          <a:noFill/>
          <a:ln/>
        </p:spPr>
        <p:txBody>
          <a:bodyPr wrap="none" lIns="0" tIns="0" rIns="0" bIns="0" rtlCol="0" anchor="ctr"/>
          <a:lstStyle/>
          <a:p>
            <a:pPr>
              <a:lnSpc>
                <a:spcPct val="100000"/>
              </a:lnSpc>
            </a:pPr>
            <a:r>
              <a:rPr lang="en-US" sz="2000" b="1" dirty="0">
                <a:solidFill>
                  <a:srgbClr val="1A4B8C"/>
                </a:solidFill>
                <a:latin typeface="Quattrocento Sans" pitchFamily="34" charset="0"/>
                <a:ea typeface="Quattrocento Sans" pitchFamily="34" charset="-122"/>
                <a:cs typeface="Quattrocento Sans" pitchFamily="34" charset="-120"/>
              </a:rPr>
              <a:t>未来方向</a:t>
            </a:r>
            <a:endParaRPr lang="en-US" sz="1600" dirty="0"/>
          </a:p>
        </p:txBody>
      </p:sp>
      <p:sp>
        <p:nvSpPr>
          <p:cNvPr id="15" name="Text 13"/>
          <p:cNvSpPr/>
          <p:nvPr/>
        </p:nvSpPr>
        <p:spPr>
          <a:xfrm>
            <a:off x="8699500" y="2641600"/>
            <a:ext cx="6477000" cy="6121400"/>
          </a:xfrm>
          <a:prstGeom prst="rect">
            <a:avLst/>
          </a:prstGeom>
          <a:noFill/>
          <a:ln/>
        </p:spPr>
        <p:txBody>
          <a:bodyPr wrap="square" lIns="0" tIns="0" rIns="0" bIns="0" rtlCol="0" anchor="t"/>
          <a:lstStyle/>
          <a:p>
            <a:pPr>
              <a:lnSpc>
                <a:spcPct val="170000"/>
              </a:lnSpc>
            </a:pPr>
            <a:r>
              <a:rPr lang="en-US" sz="1800" b="1" dirty="0">
                <a:solidFill>
                  <a:srgbClr val="1A4B8C"/>
                </a:solidFill>
                <a:latin typeface="Quattrocento Sans" pitchFamily="34" charset="0"/>
                <a:ea typeface="Quattrocento Sans" pitchFamily="34" charset="-122"/>
                <a:cs typeface="Quattrocento Sans" pitchFamily="34" charset="-120"/>
              </a:rPr>
              <a:t>① 跨平台比较研究</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拓展至抖音、微博、小红书等多平台，开展跨平台比较研究，验证发现的普适性或揭示平台生态差异对健康传播的影响</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② 检索增强生成（RAG）</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引入RAG技术，将模型与权威医学知识库动态链接，以缓解幻觉问题并保障答案的时效性与可追溯性</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③ 多轮对话与个性化交互</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探索多轮对话与个性化交互，模拟真实咨询场景中的追问与澄清机制，提升智能问答系统的实用体验</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④ 持续扩充数据集</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扩充数据集规模与主题覆盖，特别强化谣言辟谣及边缘议题的系统性收录，以增强模型的鲁棒性与安全性</a:t>
            </a:r>
            <a:endParaRPr lang="en-US" sz="1600" dirty="0"/>
          </a:p>
        </p:txBody>
      </p:sp>
      <p:sp>
        <p:nvSpPr>
          <p:cNvPr id="16" name="Text 14"/>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7" name="Text 15"/>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4B8C"/>
        </a:solidFill>
      </p:bgPr>
    </p:bg>
    <p:spTree>
      <p:nvGrpSpPr>
        <p:cNvPr id="1" name=""/>
        <p:cNvGrpSpPr/>
        <p:nvPr/>
      </p:nvGrpSpPr>
      <p:grpSpPr>
        <a:xfrm>
          <a:off x="0" y="0"/>
          <a:ext cx="0" cy="0"/>
          <a:chOff x="0" y="0"/>
          <a:chExt cx="0" cy="0"/>
        </a:xfrm>
      </p:grpSpPr>
      <p:sp>
        <p:nvSpPr>
          <p:cNvPr id="2" name="Text 0"/>
          <p:cNvSpPr/>
          <p:nvPr/>
        </p:nvSpPr>
        <p:spPr>
          <a:xfrm>
            <a:off x="3048000" y="2794000"/>
            <a:ext cx="10160000" cy="1016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Quattrocento Sans" pitchFamily="34" charset="0"/>
                <a:ea typeface="Quattrocento Sans" pitchFamily="34" charset="-122"/>
                <a:cs typeface="Quattrocento Sans" pitchFamily="34" charset="-120"/>
              </a:rPr>
              <a:t>致谢</a:t>
            </a:r>
            <a:endParaRPr lang="en-US" sz="1600" dirty="0"/>
          </a:p>
        </p:txBody>
      </p:sp>
      <p:sp>
        <p:nvSpPr>
          <p:cNvPr id="3" name="Shape 1"/>
          <p:cNvSpPr/>
          <p:nvPr/>
        </p:nvSpPr>
        <p:spPr>
          <a:xfrm>
            <a:off x="6858000" y="4064000"/>
            <a:ext cx="2540000" cy="38100"/>
          </a:xfrm>
          <a:prstGeom prst="rect">
            <a:avLst/>
          </a:prstGeom>
          <a:solidFill>
            <a:srgbClr val="C45C26"/>
          </a:solidFill>
          <a:ln/>
        </p:spPr>
      </p:sp>
      <p:sp>
        <p:nvSpPr>
          <p:cNvPr id="4" name="Text 2"/>
          <p:cNvSpPr/>
          <p:nvPr/>
        </p:nvSpPr>
        <p:spPr>
          <a:xfrm>
            <a:off x="3048000" y="4445000"/>
            <a:ext cx="10160000" cy="1905000"/>
          </a:xfrm>
          <a:prstGeom prst="rect">
            <a:avLst/>
          </a:prstGeom>
          <a:noFill/>
          <a:ln/>
        </p:spPr>
        <p:txBody>
          <a:bodyPr wrap="square" lIns="0" tIns="0" rIns="0" bIns="0" rtlCol="0" anchor="t"/>
          <a:lstStyle/>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衷心感谢导师 </a:t>
            </a:r>
            <a:pPr algn="ctr">
              <a:lnSpc>
                <a:spcPct val="180000"/>
              </a:lnSpc>
            </a:pPr>
            <a:r>
              <a:rPr lang="en-US" sz="2000" b="1" dirty="0">
                <a:solidFill>
                  <a:srgbClr val="FFFFFF">
                    <a:alpha val="80000"/>
                  </a:srgbClr>
                </a:solidFill>
                <a:latin typeface="Quattrocento Sans" pitchFamily="34" charset="0"/>
                <a:ea typeface="Quattrocento Sans" pitchFamily="34" charset="-122"/>
                <a:cs typeface="Quattrocento Sans" pitchFamily="34" charset="-120"/>
              </a:rPr>
              <a:t>黄若尘老师</a:t>
            </a:r>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 的悉心指导</a:t>
            </a:r>
            <a:endParaRPr lang="en-US" sz="1600" dirty="0"/>
          </a:p>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感谢各位评审老师的宝贵意见与建议</a:t>
            </a:r>
            <a:endParaRPr lang="en-US" sz="1600" dirty="0"/>
          </a:p>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感谢南京医科大学生物医学工程与信息学院的支持</a:t>
            </a:r>
            <a:endParaRPr lang="en-US" sz="1600" dirty="0"/>
          </a:p>
        </p:txBody>
      </p:sp>
      <p:sp>
        <p:nvSpPr>
          <p:cNvPr id="5" name="Shape 3"/>
          <p:cNvSpPr/>
          <p:nvPr/>
        </p:nvSpPr>
        <p:spPr>
          <a:xfrm>
            <a:off x="635000" y="762000"/>
            <a:ext cx="1905000" cy="1905000"/>
          </a:xfrm>
          <a:prstGeom prst="ellipse">
            <a:avLst/>
          </a:prstGeom>
          <a:solidFill>
            <a:srgbClr val="FFFFFF">
              <a:alpha val="3137"/>
            </a:srgbClr>
          </a:solidFill>
          <a:ln/>
        </p:spPr>
      </p:sp>
      <p:sp>
        <p:nvSpPr>
          <p:cNvPr id="6" name="Shape 4"/>
          <p:cNvSpPr/>
          <p:nvPr/>
        </p:nvSpPr>
        <p:spPr>
          <a:xfrm>
            <a:off x="13335000" y="6096000"/>
            <a:ext cx="1524000" cy="1524000"/>
          </a:xfrm>
          <a:prstGeom prst="ellipse">
            <a:avLst/>
          </a:prstGeom>
          <a:solidFill>
            <a:srgbClr val="FFFFFF">
              <a:alpha val="2353"/>
            </a:srgbClr>
          </a:solidFill>
          <a:ln/>
        </p:spPr>
      </p:sp>
      <p:sp>
        <p:nvSpPr>
          <p:cNvPr id="7" name="Text 5"/>
          <p:cNvSpPr/>
          <p:nvPr/>
        </p:nvSpPr>
        <p:spPr>
          <a:xfrm>
            <a:off x="3048000" y="6858000"/>
            <a:ext cx="10160000" cy="508000"/>
          </a:xfrm>
          <a:prstGeom prst="rect">
            <a:avLst/>
          </a:prstGeom>
          <a:noFill/>
          <a:ln/>
        </p:spPr>
        <p:txBody>
          <a:bodyPr wrap="none" lIns="0" tIns="0" rIns="0" bIns="0" rtlCol="0" anchor="ctr"/>
          <a:lstStyle/>
          <a:p>
            <a:pPr algn="ctr">
              <a:lnSpc>
                <a:spcPct val="100000"/>
              </a:lnSpc>
            </a:pPr>
            <a:r>
              <a:rPr lang="en-US" sz="1600" dirty="0">
                <a:solidFill>
                  <a:srgbClr val="FFFFFF">
                    <a:alpha val="50196"/>
                  </a:srgbClr>
                </a:solidFill>
                <a:latin typeface="Quattrocento Sans" pitchFamily="34" charset="0"/>
                <a:ea typeface="Quattrocento Sans" pitchFamily="34" charset="-122"/>
                <a:cs typeface="Quattrocento Sans" pitchFamily="34" charset="-120"/>
              </a:rPr>
              <a:t>博学至精 · 明德至善</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基于大语言模型的社交媒体青少年生殖健康评论分类分析与问答生成研究</dc:title>
  <dc:subject>基于大语言模型的社交媒体青少年生殖健康评论分类分析与问答生成研究</dc:subject>
  <dc:creator>Kimi</dc:creator>
  <cp:lastModifiedBy>Kimi</cp:lastModifiedBy>
  <cp:revision>1</cp:revision>
  <dcterms:created xsi:type="dcterms:W3CDTF">2026-04-27T03:02:30Z</dcterms:created>
  <dcterms:modified xsi:type="dcterms:W3CDTF">2026-04-27T03:02:30Z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基于大语言模型的社交媒体青少年生殖健康评论分类分析与问答生成研究","ContentProducer":"001191110108MACG2KBH8F10000","ProduceID":"19dccdf3-6d52-87f3-8000-000038815f1d","ReservedCode1":"","ContentPropagator":"001191110108MACG2KBH8F20000","PropagateID":"19dccdf3-6d52-87f3-8000-000038815f1d","ReservedCode2":""}</vt:lpwstr>
  </property>
</Properties>
</file>