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2"/>
  </p:notesMasterIdLst>
  <p:sldIdLst>
    <p:sldId id="330" r:id="rId2"/>
    <p:sldId id="318" r:id="rId3"/>
    <p:sldId id="333" r:id="rId4"/>
    <p:sldId id="401" r:id="rId5"/>
    <p:sldId id="563" r:id="rId6"/>
    <p:sldId id="537" r:id="rId7"/>
    <p:sldId id="525" r:id="rId8"/>
    <p:sldId id="550" r:id="rId9"/>
    <p:sldId id="580" r:id="rId10"/>
    <p:sldId id="594" r:id="rId11"/>
    <p:sldId id="598" r:id="rId12"/>
    <p:sldId id="599" r:id="rId13"/>
    <p:sldId id="595" r:id="rId14"/>
    <p:sldId id="600" r:id="rId15"/>
    <p:sldId id="596" r:id="rId16"/>
    <p:sldId id="592" r:id="rId17"/>
    <p:sldId id="601" r:id="rId18"/>
    <p:sldId id="526" r:id="rId19"/>
    <p:sldId id="582" r:id="rId20"/>
    <p:sldId id="581" r:id="rId21"/>
    <p:sldId id="602" r:id="rId22"/>
    <p:sldId id="597" r:id="rId23"/>
    <p:sldId id="527" r:id="rId24"/>
    <p:sldId id="587" r:id="rId25"/>
    <p:sldId id="588" r:id="rId26"/>
    <p:sldId id="540" r:id="rId27"/>
    <p:sldId id="561" r:id="rId28"/>
    <p:sldId id="562" r:id="rId29"/>
    <p:sldId id="570" r:id="rId30"/>
    <p:sldId id="276" r:id="rId31"/>
  </p:sldIdLst>
  <p:sldSz cx="12192000" cy="6858000"/>
  <p:notesSz cx="6858000" cy="9144000"/>
  <p:custDataLst>
    <p:tags r:id="rId3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3" orient="horz" pos="640" userDrawn="1">
          <p15:clr>
            <a:srgbClr val="A4A3A4"/>
          </p15:clr>
        </p15:guide>
        <p15:guide id="4" orient="horz" pos="709" userDrawn="1">
          <p15:clr>
            <a:srgbClr val="A4A3A4"/>
          </p15:clr>
        </p15:guide>
        <p15:guide id="5" orient="horz" pos="3929" userDrawn="1">
          <p15:clr>
            <a:srgbClr val="A4A3A4"/>
          </p15:clr>
        </p15:guide>
        <p15:guide id="6" orient="horz" pos="3861" userDrawn="1">
          <p15:clr>
            <a:srgbClr val="A4A3A4"/>
          </p15:clr>
        </p15:guide>
        <p15:guide id="7" pos="7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4F8"/>
    <a:srgbClr val="F5F7FA"/>
    <a:srgbClr val="F0AEAC"/>
    <a:srgbClr val="FF5050"/>
    <a:srgbClr val="FF3300"/>
    <a:srgbClr val="CC3300"/>
    <a:srgbClr val="FF9999"/>
    <a:srgbClr val="A4B7D4"/>
    <a:srgbClr val="EDEDED"/>
    <a:srgbClr val="9A57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1" autoAdjust="0"/>
    <p:restoredTop sz="90920" autoAdjust="0"/>
  </p:normalViewPr>
  <p:slideViewPr>
    <p:cSldViewPr snapToGrid="0" showGuides="1">
      <p:cViewPr varScale="1">
        <p:scale>
          <a:sx n="94" d="100"/>
          <a:sy n="94" d="100"/>
        </p:scale>
        <p:origin x="96" y="168"/>
      </p:cViewPr>
      <p:guideLst>
        <p:guide pos="415"/>
        <p:guide orient="horz" pos="640"/>
        <p:guide orient="horz" pos="709"/>
        <p:guide orient="horz" pos="3929"/>
        <p:guide orient="horz" pos="3861"/>
        <p:guide pos="7265"/>
      </p:guideLst>
    </p:cSldViewPr>
  </p:slideViewPr>
  <p:outlineViewPr>
    <p:cViewPr>
      <p:scale>
        <a:sx n="33" d="100"/>
        <a:sy n="33" d="100"/>
      </p:scale>
      <p:origin x="0" y="-960"/>
    </p:cViewPr>
  </p:outlineViewPr>
  <p:notesTextViewPr>
    <p:cViewPr>
      <p:scale>
        <a:sx n="125" d="100"/>
        <a:sy n="125" d="100"/>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117048509436099"/>
          <c:y val="3.7082969228302613E-2"/>
          <c:w val="0.79968808241653333"/>
          <c:h val="0.87718794827390323"/>
        </c:manualLayout>
      </c:layout>
      <c:barChart>
        <c:barDir val="bar"/>
        <c:grouping val="clustered"/>
        <c:varyColors val="0"/>
        <c:ser>
          <c:idx val="0"/>
          <c:order val="0"/>
          <c:tx>
            <c:strRef>
              <c:f>Sheet1!$B$1</c:f>
              <c:strCache>
                <c:ptCount val="1"/>
                <c:pt idx="0">
                  <c:v>评论数</c:v>
                </c:pt>
              </c:strCache>
            </c:strRef>
          </c:tx>
          <c:spPr>
            <a:solidFill>
              <a:srgbClr val="1A4B8C"/>
            </a:solidFill>
            <a:effectLst/>
          </c:spPr>
          <c:invertIfNegative val="0"/>
          <c:dLbls>
            <c:numFmt formatCode="#,##0" sourceLinked="0"/>
            <c:spPr>
              <a:noFill/>
              <a:ln>
                <a:noFill/>
              </a:ln>
              <a:effectLst/>
            </c:spPr>
            <c:txPr>
              <a:bodyPr/>
              <a:lstStyle/>
              <a:p>
                <a:pPr>
                  <a:defRPr sz="11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新型避孕方式</c:v>
                </c:pt>
                <c:pt idx="1">
                  <c:v>避孕失败</c:v>
                </c:pt>
                <c:pt idx="2">
                  <c:v>女用安全套</c:v>
                </c:pt>
                <c:pt idx="3">
                  <c:v>其他内容</c:v>
                </c:pt>
                <c:pt idx="4">
                  <c:v>体外排精</c:v>
                </c:pt>
                <c:pt idx="5">
                  <c:v>避孕科普</c:v>
                </c:pt>
                <c:pt idx="6">
                  <c:v>绝育手术</c:v>
                </c:pt>
                <c:pt idx="7">
                  <c:v>安全期避孕</c:v>
                </c:pt>
                <c:pt idx="8">
                  <c:v>人工流产</c:v>
                </c:pt>
                <c:pt idx="9">
                  <c:v>节育器</c:v>
                </c:pt>
                <c:pt idx="10">
                  <c:v>避孕药</c:v>
                </c:pt>
                <c:pt idx="11">
                  <c:v>安全套</c:v>
                </c:pt>
                <c:pt idx="12">
                  <c:v>生殖健康科普</c:v>
                </c:pt>
              </c:strCache>
            </c:strRef>
          </c:cat>
          <c:val>
            <c:numRef>
              <c:f>Sheet1!$B$2:$B$14</c:f>
              <c:numCache>
                <c:formatCode>General</c:formatCode>
                <c:ptCount val="13"/>
                <c:pt idx="0">
                  <c:v>17</c:v>
                </c:pt>
                <c:pt idx="1">
                  <c:v>25</c:v>
                </c:pt>
                <c:pt idx="2">
                  <c:v>27</c:v>
                </c:pt>
                <c:pt idx="3">
                  <c:v>66</c:v>
                </c:pt>
                <c:pt idx="4">
                  <c:v>69</c:v>
                </c:pt>
                <c:pt idx="5">
                  <c:v>83</c:v>
                </c:pt>
                <c:pt idx="6">
                  <c:v>88</c:v>
                </c:pt>
                <c:pt idx="7">
                  <c:v>89</c:v>
                </c:pt>
                <c:pt idx="8">
                  <c:v>107</c:v>
                </c:pt>
                <c:pt idx="9">
                  <c:v>138</c:v>
                </c:pt>
                <c:pt idx="10">
                  <c:v>226</c:v>
                </c:pt>
                <c:pt idx="11">
                  <c:v>858</c:v>
                </c:pt>
                <c:pt idx="12">
                  <c:v>974</c:v>
                </c:pt>
              </c:numCache>
            </c:numRef>
          </c:val>
          <c:extLst>
            <c:ext xmlns:c16="http://schemas.microsoft.com/office/drawing/2014/chart" uri="{C3380CC4-5D6E-409C-BE32-E72D297353CC}">
              <c16:uniqueId val="{00000000-1684-42DA-B6F3-4745986D478E}"/>
            </c:ext>
          </c:extLst>
        </c:ser>
        <c:dLbls>
          <c:showLegendKey val="0"/>
          <c:showVal val="1"/>
          <c:showCatName val="0"/>
          <c:showSerName val="0"/>
          <c:showPercent val="0"/>
          <c:showBubbleSize val="0"/>
        </c:dLbls>
        <c:gapWidth val="67"/>
        <c:axId val="2094734554"/>
        <c:axId val="2094734552"/>
      </c:barChart>
      <c:catAx>
        <c:axId val="2094734554"/>
        <c:scaling>
          <c:orientation val="minMax"/>
        </c:scaling>
        <c:delete val="0"/>
        <c:axPos val="l"/>
        <c:numFmt formatCode="General" sourceLinked="1"/>
        <c:majorTickMark val="out"/>
        <c:minorTickMark val="none"/>
        <c:tickLblPos val="nextTo"/>
        <c:txPr>
          <a:bodyPr/>
          <a:lstStyle/>
          <a:p>
            <a:pPr>
              <a:defRPr sz="1050"/>
            </a:pPr>
            <a:endParaRPr lang="zh-CN"/>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5E7EB"/>
              </a:solidFill>
              <a:prstDash val="dash"/>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4"/>
        <c:crosses val="autoZero"/>
        <c:crossBetween val="between"/>
      </c:valAx>
      <c:spPr>
        <a:noFill/>
        <a:ln w="25400">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基线</c:v>
                </c:pt>
              </c:strCache>
            </c:strRef>
          </c:tx>
          <c:spPr>
            <a:solidFill>
              <a:srgbClr val="8A9BB0"/>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Qwen2.5-1.5B</c:v>
                </c:pt>
                <c:pt idx="1">
                  <c:v>Qwen2.5-3B</c:v>
                </c:pt>
                <c:pt idx="2">
                  <c:v>Qwen2.5-7B</c:v>
                </c:pt>
                <c:pt idx="3">
                  <c:v>Qwen3-1.7B</c:v>
                </c:pt>
                <c:pt idx="4">
                  <c:v>Qwen3-4B</c:v>
                </c:pt>
                <c:pt idx="5">
                  <c:v>Qwen3-8B</c:v>
                </c:pt>
              </c:strCache>
            </c:strRef>
          </c:cat>
          <c:val>
            <c:numRef>
              <c:f>Sheet1!$B$2:$B$7</c:f>
              <c:numCache>
                <c:formatCode>General</c:formatCode>
                <c:ptCount val="6"/>
                <c:pt idx="0">
                  <c:v>2.1080000000000001</c:v>
                </c:pt>
                <c:pt idx="1">
                  <c:v>2.262</c:v>
                </c:pt>
                <c:pt idx="2">
                  <c:v>2.5950000000000002</c:v>
                </c:pt>
                <c:pt idx="3">
                  <c:v>2.2589999999999999</c:v>
                </c:pt>
                <c:pt idx="4">
                  <c:v>2.5550000000000002</c:v>
                </c:pt>
                <c:pt idx="5">
                  <c:v>2.657</c:v>
                </c:pt>
              </c:numCache>
            </c:numRef>
          </c:val>
          <c:extLst>
            <c:ext xmlns:c16="http://schemas.microsoft.com/office/drawing/2014/chart" uri="{C3380CC4-5D6E-409C-BE32-E72D297353CC}">
              <c16:uniqueId val="{00000000-7DB2-4CEB-9D02-CE3D49EC9659}"/>
            </c:ext>
          </c:extLst>
        </c:ser>
        <c:ser>
          <c:idx val="1"/>
          <c:order val="1"/>
          <c:tx>
            <c:strRef>
              <c:f>Sheet1!$C$1</c:f>
              <c:strCache>
                <c:ptCount val="1"/>
                <c:pt idx="0">
                  <c:v>微调后</c:v>
                </c:pt>
              </c:strCache>
            </c:strRef>
          </c:tx>
          <c:spPr>
            <a:solidFill>
              <a:srgbClr val="1A4B8C"/>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Qwen2.5-1.5B</c:v>
                </c:pt>
                <c:pt idx="1">
                  <c:v>Qwen2.5-3B</c:v>
                </c:pt>
                <c:pt idx="2">
                  <c:v>Qwen2.5-7B</c:v>
                </c:pt>
                <c:pt idx="3">
                  <c:v>Qwen3-1.7B</c:v>
                </c:pt>
                <c:pt idx="4">
                  <c:v>Qwen3-4B</c:v>
                </c:pt>
                <c:pt idx="5">
                  <c:v>Qwen3-8B</c:v>
                </c:pt>
              </c:strCache>
            </c:strRef>
          </c:cat>
          <c:val>
            <c:numRef>
              <c:f>Sheet1!$C$2:$C$7</c:f>
              <c:numCache>
                <c:formatCode>General</c:formatCode>
                <c:ptCount val="6"/>
                <c:pt idx="0">
                  <c:v>2.552</c:v>
                </c:pt>
                <c:pt idx="1">
                  <c:v>2.6989999999999998</c:v>
                </c:pt>
                <c:pt idx="2">
                  <c:v>2.9140000000000001</c:v>
                </c:pt>
                <c:pt idx="3">
                  <c:v>2.8149999999999999</c:v>
                </c:pt>
                <c:pt idx="4">
                  <c:v>2.927</c:v>
                </c:pt>
                <c:pt idx="5">
                  <c:v>2.9220000000000002</c:v>
                </c:pt>
              </c:numCache>
            </c:numRef>
          </c:val>
          <c:extLst>
            <c:ext xmlns:c16="http://schemas.microsoft.com/office/drawing/2014/chart" uri="{C3380CC4-5D6E-409C-BE32-E72D297353CC}">
              <c16:uniqueId val="{00000001-7DB2-4CEB-9D02-CE3D49EC9659}"/>
            </c:ext>
          </c:extLst>
        </c:ser>
        <c:dLbls>
          <c:showLegendKey val="0"/>
          <c:showVal val="1"/>
          <c:showCatName val="0"/>
          <c:showSerName val="0"/>
          <c:showPercent val="0"/>
          <c:showBubbleSize val="0"/>
        </c:dLbls>
        <c:gapWidth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2"/>
        <c:crosses val="autoZero"/>
        <c:auto val="1"/>
        <c:lblAlgn val="ctr"/>
        <c:lblOffset val="100"/>
        <c:noMultiLvlLbl val="1"/>
      </c:catAx>
      <c:valAx>
        <c:axId val="2094734552"/>
        <c:scaling>
          <c:orientation val="minMax"/>
          <c:max val="3.2"/>
          <c:min val="1.5"/>
        </c:scaling>
        <c:delete val="0"/>
        <c:axPos val="l"/>
        <c:majorGridlines>
          <c:spPr>
            <a:ln w="12700" cap="flat">
              <a:solidFill>
                <a:srgbClr val="E5E7EB"/>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提升幅度</c:v>
                </c:pt>
              </c:strCache>
            </c:strRef>
          </c:tx>
          <c:spPr>
            <a:solidFill>
              <a:srgbClr val="C45C26"/>
            </a:solidFill>
            <a:effectLst/>
          </c:spPr>
          <c:invertIfNegative val="0"/>
          <c:dLbls>
            <c:numFmt formatCode="0.000" sourceLinked="0"/>
            <c:spPr>
              <a:noFill/>
              <a:ln>
                <a:noFill/>
              </a:ln>
              <a:effectLst/>
            </c:spPr>
            <c:txPr>
              <a:bodyPr/>
              <a:lstStyle/>
              <a:p>
                <a:pPr>
                  <a:defRPr sz="11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避孕药</c:v>
                </c:pt>
                <c:pt idx="1">
                  <c:v>避孕科普</c:v>
                </c:pt>
                <c:pt idx="2">
                  <c:v>安全套</c:v>
                </c:pt>
                <c:pt idx="3">
                  <c:v>生殖健康科普</c:v>
                </c:pt>
                <c:pt idx="4">
                  <c:v>其他内容</c:v>
                </c:pt>
                <c:pt idx="5">
                  <c:v>绝育手术</c:v>
                </c:pt>
                <c:pt idx="6">
                  <c:v>节育器</c:v>
                </c:pt>
                <c:pt idx="7">
                  <c:v>体外排精</c:v>
                </c:pt>
                <c:pt idx="8">
                  <c:v>人工流产</c:v>
                </c:pt>
              </c:strCache>
            </c:strRef>
          </c:cat>
          <c:val>
            <c:numRef>
              <c:f>Sheet1!$B$2:$B$10</c:f>
              <c:numCache>
                <c:formatCode>General</c:formatCode>
                <c:ptCount val="9"/>
                <c:pt idx="0">
                  <c:v>0.316</c:v>
                </c:pt>
                <c:pt idx="1">
                  <c:v>0.34699999999999998</c:v>
                </c:pt>
                <c:pt idx="2">
                  <c:v>0.34799999999999998</c:v>
                </c:pt>
                <c:pt idx="3">
                  <c:v>0.35499999999999998</c:v>
                </c:pt>
                <c:pt idx="4">
                  <c:v>0.36099999999999999</c:v>
                </c:pt>
                <c:pt idx="5">
                  <c:v>0.375</c:v>
                </c:pt>
                <c:pt idx="6">
                  <c:v>0.43</c:v>
                </c:pt>
                <c:pt idx="7">
                  <c:v>0.47599999999999998</c:v>
                </c:pt>
                <c:pt idx="8">
                  <c:v>0.61899999999999999</c:v>
                </c:pt>
              </c:numCache>
            </c:numRef>
          </c:val>
          <c:extLst>
            <c:ext xmlns:c16="http://schemas.microsoft.com/office/drawing/2014/chart" uri="{C3380CC4-5D6E-409C-BE32-E72D297353CC}">
              <c16:uniqueId val="{00000000-AC09-436F-8383-1DA29D20B05B}"/>
            </c:ext>
          </c:extLst>
        </c:ser>
        <c:dLbls>
          <c:showLegendKey val="0"/>
          <c:showVal val="1"/>
          <c:showCatName val="0"/>
          <c:showSerName val="0"/>
          <c:showPercent val="0"/>
          <c:showBubbleSize val="0"/>
        </c:dLbls>
        <c:gapWidth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0E6F1"/>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D6DE1-5658-4429-AF77-F3D6C82C5589}" type="doc">
      <dgm:prSet loTypeId="urn:microsoft.com/office/officeart/2005/8/layout/cycle8" loCatId="cycle" qsTypeId="urn:microsoft.com/office/officeart/2005/8/quickstyle/simple5" qsCatId="simple" csTypeId="urn:microsoft.com/office/officeart/2005/8/colors/colorful1" csCatId="colorful" phldr="1"/>
      <dgm:spPr/>
    </dgm:pt>
    <dgm:pt modelId="{42E24444-F353-471E-A0A9-43D9146CDFB4}">
      <dgm:prSet phldrT="[文本]" custT="1"/>
      <dgm:spPr/>
      <dgm:t>
        <a:bodyPr/>
        <a:lstStyle/>
        <a:p>
          <a:pPr>
            <a:buNone/>
          </a:pPr>
          <a:r>
            <a:rPr lang="zh-CN" altLang="en-US" sz="1600" b="0" dirty="0">
              <a:latin typeface="华文中宋" panose="02010600040101010101" pitchFamily="2" charset="-122"/>
              <a:ea typeface="华文中宋" panose="02010600040101010101" pitchFamily="2" charset="-122"/>
            </a:rPr>
            <a:t>避孕知识</a:t>
          </a:r>
        </a:p>
      </dgm:t>
    </dgm:pt>
    <dgm:pt modelId="{672CB3C7-2C20-4A5F-AA4B-0CDF2E34043A}" type="parTrans" cxnId="{D406D223-E6F2-4A37-8253-5763D1DE5908}">
      <dgm:prSet/>
      <dgm:spPr/>
      <dgm:t>
        <a:bodyPr/>
        <a:lstStyle/>
        <a:p>
          <a:endParaRPr lang="zh-CN" altLang="en-US"/>
        </a:p>
      </dgm:t>
    </dgm:pt>
    <dgm:pt modelId="{5982AC08-90E2-47F1-BAFF-BE833F1E76C1}" type="sibTrans" cxnId="{D406D223-E6F2-4A37-8253-5763D1DE5908}">
      <dgm:prSet/>
      <dgm:spPr/>
      <dgm:t>
        <a:bodyPr/>
        <a:lstStyle/>
        <a:p>
          <a:endParaRPr lang="zh-CN" altLang="en-US"/>
        </a:p>
      </dgm:t>
    </dgm:pt>
    <dgm:pt modelId="{CDC8F4BC-583C-4EDD-8D41-D76D3638C0E7}">
      <dgm:prSet phldrT="[文本]"/>
      <dgm:spPr/>
      <dgm:t>
        <a:bodyPr/>
        <a:lstStyle/>
        <a:p>
          <a:pPr>
            <a:buNone/>
          </a:pPr>
          <a:r>
            <a:rPr lang="zh-CN" dirty="0">
              <a:latin typeface="华文中宋" panose="02010600040101010101" pitchFamily="2" charset="-122"/>
              <a:ea typeface="华文中宋" panose="02010600040101010101" pitchFamily="2" charset="-122"/>
            </a:rPr>
            <a:t>安全流产服务</a:t>
          </a:r>
          <a:endParaRPr lang="zh-CN" altLang="en-US" dirty="0">
            <a:latin typeface="华文中宋" panose="02010600040101010101" pitchFamily="2" charset="-122"/>
            <a:ea typeface="华文中宋" panose="02010600040101010101" pitchFamily="2" charset="-122"/>
          </a:endParaRPr>
        </a:p>
      </dgm:t>
    </dgm:pt>
    <dgm:pt modelId="{7C8D817E-62E5-4785-A03F-D2EC7DBC5395}" type="parTrans" cxnId="{CC8F3C5D-199E-4293-8428-322302A640C4}">
      <dgm:prSet/>
      <dgm:spPr/>
      <dgm:t>
        <a:bodyPr/>
        <a:lstStyle/>
        <a:p>
          <a:endParaRPr lang="zh-CN" altLang="en-US"/>
        </a:p>
      </dgm:t>
    </dgm:pt>
    <dgm:pt modelId="{90E4B58F-1FF5-4587-B61A-A5DBFDCC394B}" type="sibTrans" cxnId="{CC8F3C5D-199E-4293-8428-322302A640C4}">
      <dgm:prSet/>
      <dgm:spPr/>
      <dgm:t>
        <a:bodyPr/>
        <a:lstStyle/>
        <a:p>
          <a:endParaRPr lang="zh-CN" altLang="en-US"/>
        </a:p>
      </dgm:t>
    </dgm:pt>
    <dgm:pt modelId="{1415AB33-14C5-4161-970A-63C0A7C63E5B}">
      <dgm:prSet phldrT="[文本]"/>
      <dgm:spPr/>
      <dgm:t>
        <a:bodyPr/>
        <a:lstStyle/>
        <a:p>
          <a:r>
            <a:rPr lang="zh-CN" dirty="0">
              <a:latin typeface="华文中宋" panose="02010600040101010101" pitchFamily="2" charset="-122"/>
              <a:ea typeface="华文中宋" panose="02010600040101010101" pitchFamily="2" charset="-122"/>
            </a:rPr>
            <a:t>性传播疾病预防</a:t>
          </a:r>
          <a:endParaRPr lang="zh-CN" altLang="en-US" dirty="0">
            <a:latin typeface="华文中宋" panose="02010600040101010101" pitchFamily="2" charset="-122"/>
            <a:ea typeface="华文中宋" panose="02010600040101010101" pitchFamily="2" charset="-122"/>
          </a:endParaRPr>
        </a:p>
      </dgm:t>
    </dgm:pt>
    <dgm:pt modelId="{6227525E-28F9-438A-A3C0-F162D9F81A71}" type="parTrans" cxnId="{7CA0E31B-96D9-417B-BF83-86FD36F61C68}">
      <dgm:prSet/>
      <dgm:spPr/>
      <dgm:t>
        <a:bodyPr/>
        <a:lstStyle/>
        <a:p>
          <a:endParaRPr lang="zh-CN" altLang="en-US"/>
        </a:p>
      </dgm:t>
    </dgm:pt>
    <dgm:pt modelId="{71583DDD-DCA8-4F6C-80FA-2B92EAF196C5}" type="sibTrans" cxnId="{7CA0E31B-96D9-417B-BF83-86FD36F61C68}">
      <dgm:prSet/>
      <dgm:spPr/>
      <dgm:t>
        <a:bodyPr/>
        <a:lstStyle/>
        <a:p>
          <a:endParaRPr lang="zh-CN" altLang="en-US"/>
        </a:p>
      </dgm:t>
    </dgm:pt>
    <dgm:pt modelId="{EB720F71-A870-499E-8882-54F9B462C965}">
      <dgm:prSet phldrT="[文本]"/>
      <dgm:spPr/>
      <dgm:t>
        <a:bodyPr/>
        <a:lstStyle/>
        <a:p>
          <a:r>
            <a:rPr lang="zh-CN" dirty="0">
              <a:latin typeface="华文中宋" panose="02010600040101010101" pitchFamily="2" charset="-122"/>
              <a:ea typeface="华文中宋" panose="02010600040101010101" pitchFamily="2" charset="-122"/>
            </a:rPr>
            <a:t>情感教育</a:t>
          </a:r>
          <a:endParaRPr lang="zh-CN" altLang="en-US" dirty="0">
            <a:latin typeface="华文中宋" panose="02010600040101010101" pitchFamily="2" charset="-122"/>
            <a:ea typeface="华文中宋" panose="02010600040101010101" pitchFamily="2" charset="-122"/>
          </a:endParaRPr>
        </a:p>
      </dgm:t>
    </dgm:pt>
    <dgm:pt modelId="{5FCE5DC1-3A50-4EA6-B110-3751FDF8AA6E}" type="parTrans" cxnId="{4D9EAEB9-CAD6-46CD-BE5A-432D124C6210}">
      <dgm:prSet/>
      <dgm:spPr/>
      <dgm:t>
        <a:bodyPr/>
        <a:lstStyle/>
        <a:p>
          <a:endParaRPr lang="zh-CN" altLang="en-US"/>
        </a:p>
      </dgm:t>
    </dgm:pt>
    <dgm:pt modelId="{13F9827C-7C17-4556-8697-69E9174C6024}" type="sibTrans" cxnId="{4D9EAEB9-CAD6-46CD-BE5A-432D124C6210}">
      <dgm:prSet/>
      <dgm:spPr/>
      <dgm:t>
        <a:bodyPr/>
        <a:lstStyle/>
        <a:p>
          <a:endParaRPr lang="zh-CN" altLang="en-US"/>
        </a:p>
      </dgm:t>
    </dgm:pt>
    <dgm:pt modelId="{B5B521D3-824E-4857-92CF-C4A918CFD170}">
      <dgm:prSet phldrT="[文本]"/>
      <dgm:spPr/>
      <dgm:t>
        <a:bodyPr/>
        <a:lstStyle/>
        <a:p>
          <a:r>
            <a:rPr lang="zh-CN" dirty="0">
              <a:latin typeface="华文中宋" panose="02010600040101010101" pitchFamily="2" charset="-122"/>
              <a:ea typeface="华文中宋" panose="02010600040101010101" pitchFamily="2" charset="-122"/>
            </a:rPr>
            <a:t>健康意识培养</a:t>
          </a:r>
          <a:endParaRPr lang="zh-CN" altLang="en-US" dirty="0">
            <a:latin typeface="华文中宋" panose="02010600040101010101" pitchFamily="2" charset="-122"/>
            <a:ea typeface="华文中宋" panose="02010600040101010101" pitchFamily="2" charset="-122"/>
          </a:endParaRPr>
        </a:p>
      </dgm:t>
    </dgm:pt>
    <dgm:pt modelId="{11F712F9-E1EA-4633-BDF4-0F49EDE5FEE1}" type="parTrans" cxnId="{1F4DC3C6-5483-4920-A6C4-23C759CD5EAA}">
      <dgm:prSet/>
      <dgm:spPr/>
      <dgm:t>
        <a:bodyPr/>
        <a:lstStyle/>
        <a:p>
          <a:endParaRPr lang="zh-CN" altLang="en-US"/>
        </a:p>
      </dgm:t>
    </dgm:pt>
    <dgm:pt modelId="{A6180D9B-0010-42B5-880D-44D13BA85E87}" type="sibTrans" cxnId="{1F4DC3C6-5483-4920-A6C4-23C759CD5EAA}">
      <dgm:prSet/>
      <dgm:spPr/>
      <dgm:t>
        <a:bodyPr/>
        <a:lstStyle/>
        <a:p>
          <a:endParaRPr lang="zh-CN" altLang="en-US"/>
        </a:p>
      </dgm:t>
    </dgm:pt>
    <dgm:pt modelId="{87826E0B-9EB5-4BCE-B6FA-7E3CC9B858AA}">
      <dgm:prSet phldrT="[文本]"/>
      <dgm:spPr/>
      <dgm:t>
        <a:bodyPr/>
        <a:lstStyle/>
        <a:p>
          <a:r>
            <a:rPr lang="en-US" altLang="zh-CN" dirty="0"/>
            <a:t>…</a:t>
          </a:r>
          <a:endParaRPr lang="zh-CN" altLang="en-US" dirty="0"/>
        </a:p>
      </dgm:t>
    </dgm:pt>
    <dgm:pt modelId="{4129E7FF-D434-4A1C-B4D2-64E660E731E4}" type="parTrans" cxnId="{BD9046A3-E62D-4FFE-B45F-19452561BC74}">
      <dgm:prSet/>
      <dgm:spPr/>
      <dgm:t>
        <a:bodyPr/>
        <a:lstStyle/>
        <a:p>
          <a:endParaRPr lang="zh-CN" altLang="en-US"/>
        </a:p>
      </dgm:t>
    </dgm:pt>
    <dgm:pt modelId="{B648E743-B938-4E4A-AB37-049E0334FAF6}" type="sibTrans" cxnId="{BD9046A3-E62D-4FFE-B45F-19452561BC74}">
      <dgm:prSet/>
      <dgm:spPr/>
      <dgm:t>
        <a:bodyPr/>
        <a:lstStyle/>
        <a:p>
          <a:endParaRPr lang="zh-CN" altLang="en-US"/>
        </a:p>
      </dgm:t>
    </dgm:pt>
    <dgm:pt modelId="{9BACC461-9988-4307-9447-CE00EC11F9B4}" type="pres">
      <dgm:prSet presAssocID="{8AAD6DE1-5658-4429-AF77-F3D6C82C5589}" presName="compositeShape" presStyleCnt="0">
        <dgm:presLayoutVars>
          <dgm:chMax val="7"/>
          <dgm:dir/>
          <dgm:resizeHandles val="exact"/>
        </dgm:presLayoutVars>
      </dgm:prSet>
      <dgm:spPr/>
    </dgm:pt>
    <dgm:pt modelId="{A6E589CE-91EC-44AB-95D7-3DBFE130312F}" type="pres">
      <dgm:prSet presAssocID="{8AAD6DE1-5658-4429-AF77-F3D6C82C5589}" presName="wedge1" presStyleLbl="node1" presStyleIdx="0" presStyleCnt="6"/>
      <dgm:spPr/>
    </dgm:pt>
    <dgm:pt modelId="{81AF51F2-C9EE-4BEA-B699-2A4FE66D63F9}" type="pres">
      <dgm:prSet presAssocID="{8AAD6DE1-5658-4429-AF77-F3D6C82C5589}" presName="dummy1a" presStyleCnt="0"/>
      <dgm:spPr/>
    </dgm:pt>
    <dgm:pt modelId="{FCEFF223-EC58-4906-B5BF-66B3319FBF9A}" type="pres">
      <dgm:prSet presAssocID="{8AAD6DE1-5658-4429-AF77-F3D6C82C5589}" presName="dummy1b" presStyleCnt="0"/>
      <dgm:spPr/>
    </dgm:pt>
    <dgm:pt modelId="{0719E22F-1805-4516-A391-51171EBAC8CC}" type="pres">
      <dgm:prSet presAssocID="{8AAD6DE1-5658-4429-AF77-F3D6C82C5589}" presName="wedge1Tx" presStyleLbl="node1" presStyleIdx="0" presStyleCnt="6">
        <dgm:presLayoutVars>
          <dgm:chMax val="0"/>
          <dgm:chPref val="0"/>
          <dgm:bulletEnabled val="1"/>
        </dgm:presLayoutVars>
      </dgm:prSet>
      <dgm:spPr/>
    </dgm:pt>
    <dgm:pt modelId="{6ED5E37B-C75F-4AF5-9384-08E28D6826A7}" type="pres">
      <dgm:prSet presAssocID="{8AAD6DE1-5658-4429-AF77-F3D6C82C5589}" presName="wedge2" presStyleLbl="node1" presStyleIdx="1" presStyleCnt="6" custLinFactNeighborX="-359" custLinFactNeighborY="36"/>
      <dgm:spPr/>
    </dgm:pt>
    <dgm:pt modelId="{26022B2F-8A36-4F01-8FDF-C4043C2C7BC7}" type="pres">
      <dgm:prSet presAssocID="{8AAD6DE1-5658-4429-AF77-F3D6C82C5589}" presName="dummy2a" presStyleCnt="0"/>
      <dgm:spPr/>
    </dgm:pt>
    <dgm:pt modelId="{37566A81-B6BC-4802-97E8-5E32EEDD5519}" type="pres">
      <dgm:prSet presAssocID="{8AAD6DE1-5658-4429-AF77-F3D6C82C5589}" presName="dummy2b" presStyleCnt="0"/>
      <dgm:spPr/>
    </dgm:pt>
    <dgm:pt modelId="{B5089FA6-5DE8-4521-9ACF-1F95CD5F9C08}" type="pres">
      <dgm:prSet presAssocID="{8AAD6DE1-5658-4429-AF77-F3D6C82C5589}" presName="wedge2Tx" presStyleLbl="node1" presStyleIdx="1" presStyleCnt="6">
        <dgm:presLayoutVars>
          <dgm:chMax val="0"/>
          <dgm:chPref val="0"/>
          <dgm:bulletEnabled val="1"/>
        </dgm:presLayoutVars>
      </dgm:prSet>
      <dgm:spPr/>
    </dgm:pt>
    <dgm:pt modelId="{BD73F72A-A4BD-4DA4-B95A-B015B3A7C69F}" type="pres">
      <dgm:prSet presAssocID="{8AAD6DE1-5658-4429-AF77-F3D6C82C5589}" presName="wedge3" presStyleLbl="node1" presStyleIdx="2" presStyleCnt="6"/>
      <dgm:spPr/>
    </dgm:pt>
    <dgm:pt modelId="{5498FDE3-F16E-4AA1-BCEF-DEF474EEBCFA}" type="pres">
      <dgm:prSet presAssocID="{8AAD6DE1-5658-4429-AF77-F3D6C82C5589}" presName="dummy3a" presStyleCnt="0"/>
      <dgm:spPr/>
    </dgm:pt>
    <dgm:pt modelId="{304B3B6C-4CE5-4EF1-9292-4ED31BC5EC7C}" type="pres">
      <dgm:prSet presAssocID="{8AAD6DE1-5658-4429-AF77-F3D6C82C5589}" presName="dummy3b" presStyleCnt="0"/>
      <dgm:spPr/>
    </dgm:pt>
    <dgm:pt modelId="{A5EE1239-84AA-47E8-A74D-5ADF94EC4725}" type="pres">
      <dgm:prSet presAssocID="{8AAD6DE1-5658-4429-AF77-F3D6C82C5589}" presName="wedge3Tx" presStyleLbl="node1" presStyleIdx="2" presStyleCnt="6">
        <dgm:presLayoutVars>
          <dgm:chMax val="0"/>
          <dgm:chPref val="0"/>
          <dgm:bulletEnabled val="1"/>
        </dgm:presLayoutVars>
      </dgm:prSet>
      <dgm:spPr/>
    </dgm:pt>
    <dgm:pt modelId="{DB40CBFC-3C64-4187-B61E-33DF8C381CD2}" type="pres">
      <dgm:prSet presAssocID="{8AAD6DE1-5658-4429-AF77-F3D6C82C5589}" presName="wedge4" presStyleLbl="node1" presStyleIdx="3" presStyleCnt="6"/>
      <dgm:spPr/>
    </dgm:pt>
    <dgm:pt modelId="{8CA1D398-9F72-402B-9189-5269389D220D}" type="pres">
      <dgm:prSet presAssocID="{8AAD6DE1-5658-4429-AF77-F3D6C82C5589}" presName="dummy4a" presStyleCnt="0"/>
      <dgm:spPr/>
    </dgm:pt>
    <dgm:pt modelId="{59DB5F2D-66E6-496C-8BE0-FCBC64D3BA7C}" type="pres">
      <dgm:prSet presAssocID="{8AAD6DE1-5658-4429-AF77-F3D6C82C5589}" presName="dummy4b" presStyleCnt="0"/>
      <dgm:spPr/>
    </dgm:pt>
    <dgm:pt modelId="{4D5F6D16-42A0-4AFB-9F9D-842C415E6283}" type="pres">
      <dgm:prSet presAssocID="{8AAD6DE1-5658-4429-AF77-F3D6C82C5589}" presName="wedge4Tx" presStyleLbl="node1" presStyleIdx="3" presStyleCnt="6">
        <dgm:presLayoutVars>
          <dgm:chMax val="0"/>
          <dgm:chPref val="0"/>
          <dgm:bulletEnabled val="1"/>
        </dgm:presLayoutVars>
      </dgm:prSet>
      <dgm:spPr/>
    </dgm:pt>
    <dgm:pt modelId="{4D886CDD-9080-4097-879A-A7010D43DD88}" type="pres">
      <dgm:prSet presAssocID="{8AAD6DE1-5658-4429-AF77-F3D6C82C5589}" presName="wedge5" presStyleLbl="node1" presStyleIdx="4" presStyleCnt="6"/>
      <dgm:spPr/>
    </dgm:pt>
    <dgm:pt modelId="{FF9AFE54-0422-4F5F-A90A-334BF6599E57}" type="pres">
      <dgm:prSet presAssocID="{8AAD6DE1-5658-4429-AF77-F3D6C82C5589}" presName="dummy5a" presStyleCnt="0"/>
      <dgm:spPr/>
    </dgm:pt>
    <dgm:pt modelId="{A222467B-E60F-4659-8814-A3085388CE74}" type="pres">
      <dgm:prSet presAssocID="{8AAD6DE1-5658-4429-AF77-F3D6C82C5589}" presName="dummy5b" presStyleCnt="0"/>
      <dgm:spPr/>
    </dgm:pt>
    <dgm:pt modelId="{B5A67973-E297-4B57-AC33-3A28A2816F80}" type="pres">
      <dgm:prSet presAssocID="{8AAD6DE1-5658-4429-AF77-F3D6C82C5589}" presName="wedge5Tx" presStyleLbl="node1" presStyleIdx="4" presStyleCnt="6">
        <dgm:presLayoutVars>
          <dgm:chMax val="0"/>
          <dgm:chPref val="0"/>
          <dgm:bulletEnabled val="1"/>
        </dgm:presLayoutVars>
      </dgm:prSet>
      <dgm:spPr/>
    </dgm:pt>
    <dgm:pt modelId="{2077BC4C-0330-47B5-A6D1-A173AEA8B950}" type="pres">
      <dgm:prSet presAssocID="{8AAD6DE1-5658-4429-AF77-F3D6C82C5589}" presName="wedge6" presStyleLbl="node1" presStyleIdx="5" presStyleCnt="6" custLinFactNeighborX="1191" custLinFactNeighborY="-239"/>
      <dgm:spPr/>
    </dgm:pt>
    <dgm:pt modelId="{B9040667-F62A-45BF-80E7-EA844CF99DCB}" type="pres">
      <dgm:prSet presAssocID="{8AAD6DE1-5658-4429-AF77-F3D6C82C5589}" presName="dummy6a" presStyleCnt="0"/>
      <dgm:spPr/>
    </dgm:pt>
    <dgm:pt modelId="{1EA875AE-E098-40E7-9A45-72427C588E28}" type="pres">
      <dgm:prSet presAssocID="{8AAD6DE1-5658-4429-AF77-F3D6C82C5589}" presName="dummy6b" presStyleCnt="0"/>
      <dgm:spPr/>
    </dgm:pt>
    <dgm:pt modelId="{4855EFB4-6339-450C-9DBD-11B79E8C0A3E}" type="pres">
      <dgm:prSet presAssocID="{8AAD6DE1-5658-4429-AF77-F3D6C82C5589}" presName="wedge6Tx" presStyleLbl="node1" presStyleIdx="5" presStyleCnt="6">
        <dgm:presLayoutVars>
          <dgm:chMax val="0"/>
          <dgm:chPref val="0"/>
          <dgm:bulletEnabled val="1"/>
        </dgm:presLayoutVars>
      </dgm:prSet>
      <dgm:spPr/>
    </dgm:pt>
    <dgm:pt modelId="{3F270E1E-C17A-4C96-9C34-0CE19CB53F3D}" type="pres">
      <dgm:prSet presAssocID="{5982AC08-90E2-47F1-BAFF-BE833F1E76C1}" presName="arrowWedge1" presStyleLbl="fgSibTrans2D1" presStyleIdx="0" presStyleCnt="6"/>
      <dgm:spPr/>
    </dgm:pt>
    <dgm:pt modelId="{EA4BD369-777C-427A-B28F-79FDE9010739}" type="pres">
      <dgm:prSet presAssocID="{90E4B58F-1FF5-4587-B61A-A5DBFDCC394B}" presName="arrowWedge2" presStyleLbl="fgSibTrans2D1" presStyleIdx="1" presStyleCnt="6"/>
      <dgm:spPr/>
    </dgm:pt>
    <dgm:pt modelId="{048A60B1-6940-480F-8113-1D8292199455}" type="pres">
      <dgm:prSet presAssocID="{71583DDD-DCA8-4F6C-80FA-2B92EAF196C5}" presName="arrowWedge3" presStyleLbl="fgSibTrans2D1" presStyleIdx="2" presStyleCnt="6"/>
      <dgm:spPr/>
    </dgm:pt>
    <dgm:pt modelId="{2BCC7011-6BAA-47A0-840A-0702E428FF3E}" type="pres">
      <dgm:prSet presAssocID="{13F9827C-7C17-4556-8697-69E9174C6024}" presName="arrowWedge4" presStyleLbl="fgSibTrans2D1" presStyleIdx="3" presStyleCnt="6"/>
      <dgm:spPr/>
    </dgm:pt>
    <dgm:pt modelId="{03AD93FC-A440-483A-81E9-FE35E8C83112}" type="pres">
      <dgm:prSet presAssocID="{A6180D9B-0010-42B5-880D-44D13BA85E87}" presName="arrowWedge5" presStyleLbl="fgSibTrans2D1" presStyleIdx="4" presStyleCnt="6"/>
      <dgm:spPr/>
    </dgm:pt>
    <dgm:pt modelId="{B7F83677-A4BC-47E8-866F-99C84A6DDBC5}" type="pres">
      <dgm:prSet presAssocID="{B648E743-B938-4E4A-AB37-049E0334FAF6}" presName="arrowWedge6" presStyleLbl="fgSibTrans2D1" presStyleIdx="5" presStyleCnt="6"/>
      <dgm:spPr/>
    </dgm:pt>
  </dgm:ptLst>
  <dgm:cxnLst>
    <dgm:cxn modelId="{9FFCDF0B-DFA8-4614-8A05-F3AFF8073DD4}" type="presOf" srcId="{87826E0B-9EB5-4BCE-B6FA-7E3CC9B858AA}" destId="{2077BC4C-0330-47B5-A6D1-A173AEA8B950}" srcOrd="0" destOrd="0" presId="urn:microsoft.com/office/officeart/2005/8/layout/cycle8"/>
    <dgm:cxn modelId="{7CA0E31B-96D9-417B-BF83-86FD36F61C68}" srcId="{8AAD6DE1-5658-4429-AF77-F3D6C82C5589}" destId="{1415AB33-14C5-4161-970A-63C0A7C63E5B}" srcOrd="2" destOrd="0" parTransId="{6227525E-28F9-438A-A3C0-F162D9F81A71}" sibTransId="{71583DDD-DCA8-4F6C-80FA-2B92EAF196C5}"/>
    <dgm:cxn modelId="{D406D223-E6F2-4A37-8253-5763D1DE5908}" srcId="{8AAD6DE1-5658-4429-AF77-F3D6C82C5589}" destId="{42E24444-F353-471E-A0A9-43D9146CDFB4}" srcOrd="0" destOrd="0" parTransId="{672CB3C7-2C20-4A5F-AA4B-0CDF2E34043A}" sibTransId="{5982AC08-90E2-47F1-BAFF-BE833F1E76C1}"/>
    <dgm:cxn modelId="{19B73F32-8B78-491B-B942-D415FEDC906D}" type="presOf" srcId="{CDC8F4BC-583C-4EDD-8D41-D76D3638C0E7}" destId="{B5089FA6-5DE8-4521-9ACF-1F95CD5F9C08}" srcOrd="1" destOrd="0" presId="urn:microsoft.com/office/officeart/2005/8/layout/cycle8"/>
    <dgm:cxn modelId="{E2256C3A-29E2-4FC5-82C3-C718614C9F1E}" type="presOf" srcId="{1415AB33-14C5-4161-970A-63C0A7C63E5B}" destId="{BD73F72A-A4BD-4DA4-B95A-B015B3A7C69F}" srcOrd="0" destOrd="0" presId="urn:microsoft.com/office/officeart/2005/8/layout/cycle8"/>
    <dgm:cxn modelId="{8013A73D-032D-40DF-9445-4FEDCC68704C}" type="presOf" srcId="{EB720F71-A870-499E-8882-54F9B462C965}" destId="{4D5F6D16-42A0-4AFB-9F9D-842C415E6283}" srcOrd="1" destOrd="0" presId="urn:microsoft.com/office/officeart/2005/8/layout/cycle8"/>
    <dgm:cxn modelId="{CC8F3C5D-199E-4293-8428-322302A640C4}" srcId="{8AAD6DE1-5658-4429-AF77-F3D6C82C5589}" destId="{CDC8F4BC-583C-4EDD-8D41-D76D3638C0E7}" srcOrd="1" destOrd="0" parTransId="{7C8D817E-62E5-4785-A03F-D2EC7DBC5395}" sibTransId="{90E4B58F-1FF5-4587-B61A-A5DBFDCC394B}"/>
    <dgm:cxn modelId="{BD89F55F-EF1F-450B-8268-A440E295A12C}" type="presOf" srcId="{B5B521D3-824E-4857-92CF-C4A918CFD170}" destId="{B5A67973-E297-4B57-AC33-3A28A2816F80}" srcOrd="1" destOrd="0" presId="urn:microsoft.com/office/officeart/2005/8/layout/cycle8"/>
    <dgm:cxn modelId="{E6E3634B-50E8-425A-904D-57161DA5487E}" type="presOf" srcId="{42E24444-F353-471E-A0A9-43D9146CDFB4}" destId="{A6E589CE-91EC-44AB-95D7-3DBFE130312F}" srcOrd="0" destOrd="0" presId="urn:microsoft.com/office/officeart/2005/8/layout/cycle8"/>
    <dgm:cxn modelId="{B680E94C-9D09-4555-9BB0-6B6262F9FD8C}" type="presOf" srcId="{B5B521D3-824E-4857-92CF-C4A918CFD170}" destId="{4D886CDD-9080-4097-879A-A7010D43DD88}" srcOrd="0" destOrd="0" presId="urn:microsoft.com/office/officeart/2005/8/layout/cycle8"/>
    <dgm:cxn modelId="{F62F667E-6097-44CC-A9C3-F0954F7DB550}" type="presOf" srcId="{87826E0B-9EB5-4BCE-B6FA-7E3CC9B858AA}" destId="{4855EFB4-6339-450C-9DBD-11B79E8C0A3E}" srcOrd="1" destOrd="0" presId="urn:microsoft.com/office/officeart/2005/8/layout/cycle8"/>
    <dgm:cxn modelId="{BD9046A3-E62D-4FFE-B45F-19452561BC74}" srcId="{8AAD6DE1-5658-4429-AF77-F3D6C82C5589}" destId="{87826E0B-9EB5-4BCE-B6FA-7E3CC9B858AA}" srcOrd="5" destOrd="0" parTransId="{4129E7FF-D434-4A1C-B4D2-64E660E731E4}" sibTransId="{B648E743-B938-4E4A-AB37-049E0334FAF6}"/>
    <dgm:cxn modelId="{D20986B1-9AB4-49ED-A3AA-9786C6FE408E}" type="presOf" srcId="{EB720F71-A870-499E-8882-54F9B462C965}" destId="{DB40CBFC-3C64-4187-B61E-33DF8C381CD2}" srcOrd="0" destOrd="0" presId="urn:microsoft.com/office/officeart/2005/8/layout/cycle8"/>
    <dgm:cxn modelId="{4D9EAEB9-CAD6-46CD-BE5A-432D124C6210}" srcId="{8AAD6DE1-5658-4429-AF77-F3D6C82C5589}" destId="{EB720F71-A870-499E-8882-54F9B462C965}" srcOrd="3" destOrd="0" parTransId="{5FCE5DC1-3A50-4EA6-B110-3751FDF8AA6E}" sibTransId="{13F9827C-7C17-4556-8697-69E9174C6024}"/>
    <dgm:cxn modelId="{1F4DC3C6-5483-4920-A6C4-23C759CD5EAA}" srcId="{8AAD6DE1-5658-4429-AF77-F3D6C82C5589}" destId="{B5B521D3-824E-4857-92CF-C4A918CFD170}" srcOrd="4" destOrd="0" parTransId="{11F712F9-E1EA-4633-BDF4-0F49EDE5FEE1}" sibTransId="{A6180D9B-0010-42B5-880D-44D13BA85E87}"/>
    <dgm:cxn modelId="{F9775ED0-A19D-49C5-B54B-63E6118893A4}" type="presOf" srcId="{42E24444-F353-471E-A0A9-43D9146CDFB4}" destId="{0719E22F-1805-4516-A391-51171EBAC8CC}" srcOrd="1" destOrd="0" presId="urn:microsoft.com/office/officeart/2005/8/layout/cycle8"/>
    <dgm:cxn modelId="{632A24E3-6149-438C-B879-D72698BB3BE3}" type="presOf" srcId="{CDC8F4BC-583C-4EDD-8D41-D76D3638C0E7}" destId="{6ED5E37B-C75F-4AF5-9384-08E28D6826A7}" srcOrd="0" destOrd="0" presId="urn:microsoft.com/office/officeart/2005/8/layout/cycle8"/>
    <dgm:cxn modelId="{4974DFE3-AA53-422A-8A91-4DDD0F19483C}" type="presOf" srcId="{8AAD6DE1-5658-4429-AF77-F3D6C82C5589}" destId="{9BACC461-9988-4307-9447-CE00EC11F9B4}" srcOrd="0" destOrd="0" presId="urn:microsoft.com/office/officeart/2005/8/layout/cycle8"/>
    <dgm:cxn modelId="{12A444FB-82C3-4370-9497-05D5FB69D6FA}" type="presOf" srcId="{1415AB33-14C5-4161-970A-63C0A7C63E5B}" destId="{A5EE1239-84AA-47E8-A74D-5ADF94EC4725}" srcOrd="1" destOrd="0" presId="urn:microsoft.com/office/officeart/2005/8/layout/cycle8"/>
    <dgm:cxn modelId="{6CCDE5C7-F7A0-43F3-A3E8-8D4D65A8C424}" type="presParOf" srcId="{9BACC461-9988-4307-9447-CE00EC11F9B4}" destId="{A6E589CE-91EC-44AB-95D7-3DBFE130312F}" srcOrd="0" destOrd="0" presId="urn:microsoft.com/office/officeart/2005/8/layout/cycle8"/>
    <dgm:cxn modelId="{47791DB9-61EE-4C28-B7DA-47A82AF20129}" type="presParOf" srcId="{9BACC461-9988-4307-9447-CE00EC11F9B4}" destId="{81AF51F2-C9EE-4BEA-B699-2A4FE66D63F9}" srcOrd="1" destOrd="0" presId="urn:microsoft.com/office/officeart/2005/8/layout/cycle8"/>
    <dgm:cxn modelId="{5A08CF05-DDAD-4FED-98BD-4FA551F3D815}" type="presParOf" srcId="{9BACC461-9988-4307-9447-CE00EC11F9B4}" destId="{FCEFF223-EC58-4906-B5BF-66B3319FBF9A}" srcOrd="2" destOrd="0" presId="urn:microsoft.com/office/officeart/2005/8/layout/cycle8"/>
    <dgm:cxn modelId="{9DEF3320-6E52-46EB-9CFE-E7EAE51D9AF4}" type="presParOf" srcId="{9BACC461-9988-4307-9447-CE00EC11F9B4}" destId="{0719E22F-1805-4516-A391-51171EBAC8CC}" srcOrd="3" destOrd="0" presId="urn:microsoft.com/office/officeart/2005/8/layout/cycle8"/>
    <dgm:cxn modelId="{E91728EC-E08E-4905-9E14-585A2C17504C}" type="presParOf" srcId="{9BACC461-9988-4307-9447-CE00EC11F9B4}" destId="{6ED5E37B-C75F-4AF5-9384-08E28D6826A7}" srcOrd="4" destOrd="0" presId="urn:microsoft.com/office/officeart/2005/8/layout/cycle8"/>
    <dgm:cxn modelId="{299C597F-E3E3-441C-B676-E626AB9E5B47}" type="presParOf" srcId="{9BACC461-9988-4307-9447-CE00EC11F9B4}" destId="{26022B2F-8A36-4F01-8FDF-C4043C2C7BC7}" srcOrd="5" destOrd="0" presId="urn:microsoft.com/office/officeart/2005/8/layout/cycle8"/>
    <dgm:cxn modelId="{5F17E1D3-AF7E-4A37-95F9-A96FEDE2981A}" type="presParOf" srcId="{9BACC461-9988-4307-9447-CE00EC11F9B4}" destId="{37566A81-B6BC-4802-97E8-5E32EEDD5519}" srcOrd="6" destOrd="0" presId="urn:microsoft.com/office/officeart/2005/8/layout/cycle8"/>
    <dgm:cxn modelId="{BFA2A62F-04F6-4FAF-A84E-71D69DB09FF2}" type="presParOf" srcId="{9BACC461-9988-4307-9447-CE00EC11F9B4}" destId="{B5089FA6-5DE8-4521-9ACF-1F95CD5F9C08}" srcOrd="7" destOrd="0" presId="urn:microsoft.com/office/officeart/2005/8/layout/cycle8"/>
    <dgm:cxn modelId="{25CA020A-D124-4E88-9102-431BBE3DAE4D}" type="presParOf" srcId="{9BACC461-9988-4307-9447-CE00EC11F9B4}" destId="{BD73F72A-A4BD-4DA4-B95A-B015B3A7C69F}" srcOrd="8" destOrd="0" presId="urn:microsoft.com/office/officeart/2005/8/layout/cycle8"/>
    <dgm:cxn modelId="{6CA9C9B1-95A7-442B-AE43-99EF17592513}" type="presParOf" srcId="{9BACC461-9988-4307-9447-CE00EC11F9B4}" destId="{5498FDE3-F16E-4AA1-BCEF-DEF474EEBCFA}" srcOrd="9" destOrd="0" presId="urn:microsoft.com/office/officeart/2005/8/layout/cycle8"/>
    <dgm:cxn modelId="{391FB03B-9ADB-4424-ADEB-7EA5C6D26E5C}" type="presParOf" srcId="{9BACC461-9988-4307-9447-CE00EC11F9B4}" destId="{304B3B6C-4CE5-4EF1-9292-4ED31BC5EC7C}" srcOrd="10" destOrd="0" presId="urn:microsoft.com/office/officeart/2005/8/layout/cycle8"/>
    <dgm:cxn modelId="{4E08F6B1-B2F0-4048-A137-1802D1E95AF1}" type="presParOf" srcId="{9BACC461-9988-4307-9447-CE00EC11F9B4}" destId="{A5EE1239-84AA-47E8-A74D-5ADF94EC4725}" srcOrd="11" destOrd="0" presId="urn:microsoft.com/office/officeart/2005/8/layout/cycle8"/>
    <dgm:cxn modelId="{73CE168D-5B74-4A2A-AF0E-D96EAA572679}" type="presParOf" srcId="{9BACC461-9988-4307-9447-CE00EC11F9B4}" destId="{DB40CBFC-3C64-4187-B61E-33DF8C381CD2}" srcOrd="12" destOrd="0" presId="urn:microsoft.com/office/officeart/2005/8/layout/cycle8"/>
    <dgm:cxn modelId="{7F23EE92-42F5-48C4-907D-3011BF2C68D9}" type="presParOf" srcId="{9BACC461-9988-4307-9447-CE00EC11F9B4}" destId="{8CA1D398-9F72-402B-9189-5269389D220D}" srcOrd="13" destOrd="0" presId="urn:microsoft.com/office/officeart/2005/8/layout/cycle8"/>
    <dgm:cxn modelId="{AD06EAA6-53E4-42F5-8BB1-97433756220D}" type="presParOf" srcId="{9BACC461-9988-4307-9447-CE00EC11F9B4}" destId="{59DB5F2D-66E6-496C-8BE0-FCBC64D3BA7C}" srcOrd="14" destOrd="0" presId="urn:microsoft.com/office/officeart/2005/8/layout/cycle8"/>
    <dgm:cxn modelId="{69C4EA6E-5CAB-475D-B1BC-451138E496BF}" type="presParOf" srcId="{9BACC461-9988-4307-9447-CE00EC11F9B4}" destId="{4D5F6D16-42A0-4AFB-9F9D-842C415E6283}" srcOrd="15" destOrd="0" presId="urn:microsoft.com/office/officeart/2005/8/layout/cycle8"/>
    <dgm:cxn modelId="{C95D3C70-658E-4DDF-B494-34AA5D6C4B8F}" type="presParOf" srcId="{9BACC461-9988-4307-9447-CE00EC11F9B4}" destId="{4D886CDD-9080-4097-879A-A7010D43DD88}" srcOrd="16" destOrd="0" presId="urn:microsoft.com/office/officeart/2005/8/layout/cycle8"/>
    <dgm:cxn modelId="{047583E0-BE31-46C6-A298-7830E8E5B08D}" type="presParOf" srcId="{9BACC461-9988-4307-9447-CE00EC11F9B4}" destId="{FF9AFE54-0422-4F5F-A90A-334BF6599E57}" srcOrd="17" destOrd="0" presId="urn:microsoft.com/office/officeart/2005/8/layout/cycle8"/>
    <dgm:cxn modelId="{4D6938FD-A5F4-4F76-9E0E-DD15D6359FAC}" type="presParOf" srcId="{9BACC461-9988-4307-9447-CE00EC11F9B4}" destId="{A222467B-E60F-4659-8814-A3085388CE74}" srcOrd="18" destOrd="0" presId="urn:microsoft.com/office/officeart/2005/8/layout/cycle8"/>
    <dgm:cxn modelId="{96BE1F17-B570-4B44-B02C-046EDDC8793B}" type="presParOf" srcId="{9BACC461-9988-4307-9447-CE00EC11F9B4}" destId="{B5A67973-E297-4B57-AC33-3A28A2816F80}" srcOrd="19" destOrd="0" presId="urn:microsoft.com/office/officeart/2005/8/layout/cycle8"/>
    <dgm:cxn modelId="{44E45526-CAD7-485E-B581-837FEF63B334}" type="presParOf" srcId="{9BACC461-9988-4307-9447-CE00EC11F9B4}" destId="{2077BC4C-0330-47B5-A6D1-A173AEA8B950}" srcOrd="20" destOrd="0" presId="urn:microsoft.com/office/officeart/2005/8/layout/cycle8"/>
    <dgm:cxn modelId="{E9F20303-52BE-4BD5-89C2-A32CE2A974B0}" type="presParOf" srcId="{9BACC461-9988-4307-9447-CE00EC11F9B4}" destId="{B9040667-F62A-45BF-80E7-EA844CF99DCB}" srcOrd="21" destOrd="0" presId="urn:microsoft.com/office/officeart/2005/8/layout/cycle8"/>
    <dgm:cxn modelId="{F1BA4D78-44BD-4DD7-8E53-3824D6EEC87A}" type="presParOf" srcId="{9BACC461-9988-4307-9447-CE00EC11F9B4}" destId="{1EA875AE-E098-40E7-9A45-72427C588E28}" srcOrd="22" destOrd="0" presId="urn:microsoft.com/office/officeart/2005/8/layout/cycle8"/>
    <dgm:cxn modelId="{622FF974-0A60-4C2E-8470-E1D5D7DCFCC3}" type="presParOf" srcId="{9BACC461-9988-4307-9447-CE00EC11F9B4}" destId="{4855EFB4-6339-450C-9DBD-11B79E8C0A3E}" srcOrd="23" destOrd="0" presId="urn:microsoft.com/office/officeart/2005/8/layout/cycle8"/>
    <dgm:cxn modelId="{98A2B02F-DA3D-4F79-A72B-B6238EA0B3F0}" type="presParOf" srcId="{9BACC461-9988-4307-9447-CE00EC11F9B4}" destId="{3F270E1E-C17A-4C96-9C34-0CE19CB53F3D}" srcOrd="24" destOrd="0" presId="urn:microsoft.com/office/officeart/2005/8/layout/cycle8"/>
    <dgm:cxn modelId="{5E164E90-F6B6-4C99-AC47-DF2DC1AEAD6F}" type="presParOf" srcId="{9BACC461-9988-4307-9447-CE00EC11F9B4}" destId="{EA4BD369-777C-427A-B28F-79FDE9010739}" srcOrd="25" destOrd="0" presId="urn:microsoft.com/office/officeart/2005/8/layout/cycle8"/>
    <dgm:cxn modelId="{7655ADAE-6ADF-4150-9637-3CACC11EE270}" type="presParOf" srcId="{9BACC461-9988-4307-9447-CE00EC11F9B4}" destId="{048A60B1-6940-480F-8113-1D8292199455}" srcOrd="26" destOrd="0" presId="urn:microsoft.com/office/officeart/2005/8/layout/cycle8"/>
    <dgm:cxn modelId="{5ADF3688-E9AF-4502-A822-550D22A8C5D5}" type="presParOf" srcId="{9BACC461-9988-4307-9447-CE00EC11F9B4}" destId="{2BCC7011-6BAA-47A0-840A-0702E428FF3E}" srcOrd="27" destOrd="0" presId="urn:microsoft.com/office/officeart/2005/8/layout/cycle8"/>
    <dgm:cxn modelId="{7CE9585C-ECE1-4B02-9F32-2220EC915CF3}" type="presParOf" srcId="{9BACC461-9988-4307-9447-CE00EC11F9B4}" destId="{03AD93FC-A440-483A-81E9-FE35E8C83112}" srcOrd="28" destOrd="0" presId="urn:microsoft.com/office/officeart/2005/8/layout/cycle8"/>
    <dgm:cxn modelId="{6D601C89-F8A4-4E2B-AEA2-2A07AD1B7DA3}" type="presParOf" srcId="{9BACC461-9988-4307-9447-CE00EC11F9B4}" destId="{B7F83677-A4BC-47E8-866F-99C84A6DDBC5}" srcOrd="2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016E6A-E545-4E93-B5C4-EA411C4B4D31}"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zh-CN" altLang="en-US"/>
        </a:p>
      </dgm:t>
    </dgm:pt>
    <dgm:pt modelId="{CD4E1C4C-A7C9-43CB-AF66-21F986A7F06D}">
      <dgm:prSet phldrT="[文本]" custT="1"/>
      <dgm:spPr/>
      <dgm:t>
        <a:bodyPr/>
        <a:lstStyle/>
        <a:p>
          <a:r>
            <a:rPr lang="zh-CN" altLang="en-US" sz="1800" dirty="0">
              <a:latin typeface="+mn-ea"/>
              <a:ea typeface="+mn-ea"/>
            </a:rPr>
            <a:t>评论与问题提取</a:t>
          </a:r>
        </a:p>
      </dgm:t>
    </dgm:pt>
    <dgm:pt modelId="{CA1A525F-3E35-4D22-8637-0B4D2307E4CD}" type="parTrans" cxnId="{6EB2276F-0B2F-4BC4-9A32-5D1B44422744}">
      <dgm:prSet/>
      <dgm:spPr/>
      <dgm:t>
        <a:bodyPr/>
        <a:lstStyle/>
        <a:p>
          <a:endParaRPr lang="zh-CN" altLang="en-US"/>
        </a:p>
      </dgm:t>
    </dgm:pt>
    <dgm:pt modelId="{DA71FACB-62AE-465A-AD7A-5BAD5550E9DF}" type="sibTrans" cxnId="{6EB2276F-0B2F-4BC4-9A32-5D1B44422744}">
      <dgm:prSet/>
      <dgm:spPr/>
      <dgm:t>
        <a:bodyPr/>
        <a:lstStyle/>
        <a:p>
          <a:endParaRPr lang="zh-CN" altLang="en-US"/>
        </a:p>
      </dgm:t>
    </dgm:pt>
    <dgm:pt modelId="{944D8BBB-9F1C-44F1-94DD-87B6689B4CE3}">
      <dgm:prSet phldrT="[文本]" custT="1"/>
      <dgm:spPr/>
      <dgm:t>
        <a:bodyPr anchor="t"/>
        <a:lstStyle/>
        <a:p>
          <a:pPr algn="just">
            <a:buFont typeface="Wingdings" panose="05000000000000000000" pitchFamily="2" charset="2"/>
            <a:buNone/>
          </a:pPr>
          <a:r>
            <a:rPr lang="zh-CN" altLang="en-US" sz="1600" dirty="0">
              <a:latin typeface="微软雅黑" panose="020B0503020204020204" pitchFamily="34" charset="-122"/>
              <a:ea typeface="微软雅黑" panose="020B0503020204020204" pitchFamily="34" charset="-122"/>
            </a:rPr>
            <a:t>系统采集</a:t>
          </a:r>
          <a:r>
            <a:rPr lang="en-US" altLang="en-US"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站相关视频的评论、弹幕及回复，建立语义识别与编码机制，结合人工复核，从非结构化文本中初步筛选出具有“问题型”特征的内容。</a:t>
          </a:r>
        </a:p>
      </dgm:t>
    </dgm:pt>
    <dgm:pt modelId="{7B05CBA3-F16D-4DA1-B249-033DAC388A66}" type="parTrans" cxnId="{49797271-B9D6-419D-A4D0-310B8C31286B}">
      <dgm:prSet/>
      <dgm:spPr/>
      <dgm:t>
        <a:bodyPr/>
        <a:lstStyle/>
        <a:p>
          <a:endParaRPr lang="zh-CN" altLang="en-US"/>
        </a:p>
      </dgm:t>
    </dgm:pt>
    <dgm:pt modelId="{5F029276-1B01-49CB-9A82-D26595EFEEB8}" type="sibTrans" cxnId="{49797271-B9D6-419D-A4D0-310B8C31286B}">
      <dgm:prSet/>
      <dgm:spPr/>
      <dgm:t>
        <a:bodyPr/>
        <a:lstStyle/>
        <a:p>
          <a:endParaRPr lang="zh-CN" altLang="en-US"/>
        </a:p>
      </dgm:t>
    </dgm:pt>
    <dgm:pt modelId="{1C6145F7-9EE9-4886-B984-6679C4657DFF}">
      <dgm:prSet phldrT="[文本]" custT="1"/>
      <dgm:spPr/>
      <dgm:t>
        <a:bodyPr anchor="t"/>
        <a:lstStyle/>
        <a:p>
          <a:pPr algn="just">
            <a:lnSpc>
              <a:spcPts val="2300"/>
            </a:lnSpc>
            <a:spcAft>
              <a:spcPts val="1800"/>
            </a:spcAft>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利用主题建模、语义聚类等方法，对问题进行系统分类。定量分析各类问题的分布情况和特点，揭示青少年的关注重点与知识缺口。</a:t>
          </a:r>
        </a:p>
      </dgm:t>
    </dgm:pt>
    <dgm:pt modelId="{38DA1895-7817-40AC-93E9-736B596BBFF7}" type="parTrans" cxnId="{564D73B8-228B-407A-BC0A-097FB4927DF9}">
      <dgm:prSet/>
      <dgm:spPr/>
      <dgm:t>
        <a:bodyPr/>
        <a:lstStyle/>
        <a:p>
          <a:endParaRPr lang="zh-CN" altLang="en-US"/>
        </a:p>
      </dgm:t>
    </dgm:pt>
    <dgm:pt modelId="{24098516-73AE-4E79-8F74-F53BBE7D6DE2}" type="sibTrans" cxnId="{564D73B8-228B-407A-BC0A-097FB4927DF9}">
      <dgm:prSet/>
      <dgm:spPr/>
      <dgm:t>
        <a:bodyPr/>
        <a:lstStyle/>
        <a:p>
          <a:endParaRPr lang="zh-CN" altLang="en-US"/>
        </a:p>
      </dgm:t>
    </dgm:pt>
    <dgm:pt modelId="{066CF3CC-E057-46EF-99DA-3C1B141FFE66}">
      <dgm:prSet phldrT="[文本]"/>
      <dgm:spPr/>
      <dgm:t>
        <a:bodyPr/>
        <a:lstStyle/>
        <a:p>
          <a:r>
            <a:rPr lang="zh-CN" altLang="en-US" dirty="0">
              <a:latin typeface="+mn-ea"/>
              <a:ea typeface="+mn-ea"/>
            </a:rPr>
            <a:t>问题规范化与问答生成</a:t>
          </a:r>
        </a:p>
      </dgm:t>
    </dgm:pt>
    <dgm:pt modelId="{A8E99EE3-5577-43A2-A379-89153278D733}" type="parTrans" cxnId="{C684C340-760D-4682-9D84-31B2EF03F31B}">
      <dgm:prSet/>
      <dgm:spPr/>
      <dgm:t>
        <a:bodyPr/>
        <a:lstStyle/>
        <a:p>
          <a:endParaRPr lang="zh-CN" altLang="en-US"/>
        </a:p>
      </dgm:t>
    </dgm:pt>
    <dgm:pt modelId="{39823A3A-9DBE-472D-8B9F-DA97DA4FF4F8}" type="sibTrans" cxnId="{C684C340-760D-4682-9D84-31B2EF03F31B}">
      <dgm:prSet/>
      <dgm:spPr/>
      <dgm:t>
        <a:bodyPr/>
        <a:lstStyle/>
        <a:p>
          <a:endParaRPr lang="zh-CN" altLang="en-US"/>
        </a:p>
      </dgm:t>
    </dgm:pt>
    <dgm:pt modelId="{DFA4C51F-42D3-4A24-AA28-868DB40076DF}">
      <dgm:prSet phldrT="[文本]" custT="1"/>
      <dgm:spPr/>
      <dgm:t>
        <a:bodyPr/>
        <a:lstStyle/>
        <a:p>
          <a:pPr>
            <a:lnSpc>
              <a:spcPts val="2600"/>
            </a:lnSpc>
            <a:spcAft>
              <a:spcPts val="0"/>
            </a:spcAft>
          </a:pPr>
          <a:r>
            <a:rPr lang="zh-CN" altLang="en-US" sz="1800" dirty="0">
              <a:latin typeface="+mn-ea"/>
              <a:ea typeface="+mn-ea"/>
            </a:rPr>
            <a:t>青少年生殖健康问题</a:t>
          </a:r>
          <a:br>
            <a:rPr lang="en-US" altLang="zh-CN" sz="1800" dirty="0">
              <a:latin typeface="+mn-ea"/>
              <a:ea typeface="+mn-ea"/>
            </a:rPr>
          </a:br>
          <a:r>
            <a:rPr lang="zh-CN" altLang="en-US" sz="1800" dirty="0">
              <a:latin typeface="+mn-ea"/>
              <a:ea typeface="+mn-ea"/>
            </a:rPr>
            <a:t>分类分析</a:t>
          </a:r>
        </a:p>
      </dgm:t>
    </dgm:pt>
    <dgm:pt modelId="{3D810663-FB29-4557-85C4-8578B5FB64FD}" type="sibTrans" cxnId="{E0312B65-EE98-4667-90EF-BD053C32BDB8}">
      <dgm:prSet/>
      <dgm:spPr/>
      <dgm:t>
        <a:bodyPr/>
        <a:lstStyle/>
        <a:p>
          <a:endParaRPr lang="zh-CN" altLang="en-US"/>
        </a:p>
      </dgm:t>
    </dgm:pt>
    <dgm:pt modelId="{CC5D36AD-809F-452D-9A4E-6C0852D3F09A}" type="parTrans" cxnId="{E0312B65-EE98-4667-90EF-BD053C32BDB8}">
      <dgm:prSet/>
      <dgm:spPr/>
      <dgm:t>
        <a:bodyPr/>
        <a:lstStyle/>
        <a:p>
          <a:endParaRPr lang="zh-CN" altLang="en-US"/>
        </a:p>
      </dgm:t>
    </dgm:pt>
    <dgm:pt modelId="{CA224C61-21B6-483E-A0F1-54F26B76FD49}">
      <dgm:prSet phldrT="[文本]" custT="1"/>
      <dgm:spPr/>
      <dgm:t>
        <a:bodyPr anchor="t"/>
        <a:lstStyle/>
        <a:p>
          <a:pPr algn="just">
            <a:lnSpc>
              <a:spcPts val="2300"/>
            </a:lnSpc>
            <a:spcAft>
              <a:spcPts val="1800"/>
            </a:spcAft>
          </a:pPr>
          <a:r>
            <a:rPr lang="zh-CN" altLang="en-US" sz="1600" dirty="0">
              <a:latin typeface="微软雅黑" panose="020B0503020204020204" pitchFamily="34" charset="-122"/>
              <a:ea typeface="微软雅黑" panose="020B0503020204020204" pitchFamily="34" charset="-122"/>
            </a:rPr>
            <a:t>借助大语言模型对用户问题进行正式化、科学化改写。利用大语言模型生成对应答案，结合人工审核与修订，形成高质量的问答对，构建标准化问答数据集。</a:t>
          </a:r>
        </a:p>
      </dgm:t>
    </dgm:pt>
    <dgm:pt modelId="{C62ED9B6-67D7-4BAF-8BA7-53E14D1B45EF}" type="parTrans" cxnId="{7A9E409D-CDD0-4C90-9EA7-D50CC878F352}">
      <dgm:prSet/>
      <dgm:spPr/>
      <dgm:t>
        <a:bodyPr/>
        <a:lstStyle/>
        <a:p>
          <a:endParaRPr lang="zh-CN" altLang="en-US"/>
        </a:p>
      </dgm:t>
    </dgm:pt>
    <dgm:pt modelId="{C67F100B-668F-4149-8BF2-CEA1721C262C}" type="sibTrans" cxnId="{7A9E409D-CDD0-4C90-9EA7-D50CC878F352}">
      <dgm:prSet/>
      <dgm:spPr/>
      <dgm:t>
        <a:bodyPr/>
        <a:lstStyle/>
        <a:p>
          <a:endParaRPr lang="zh-CN" altLang="en-US"/>
        </a:p>
      </dgm:t>
    </dgm:pt>
    <dgm:pt modelId="{EC8856B6-3E06-4D5A-9A28-8A5EE1F70DDD}">
      <dgm:prSet phldrT="[文本]"/>
      <dgm:spPr/>
      <dgm:t>
        <a:bodyPr/>
        <a:lstStyle/>
        <a:p>
          <a:r>
            <a:rPr lang="zh-CN" altLang="en-US" dirty="0">
              <a:latin typeface="+mn-ea"/>
              <a:ea typeface="+mn-ea"/>
            </a:rPr>
            <a:t>模型微调与效果评估</a:t>
          </a:r>
        </a:p>
      </dgm:t>
    </dgm:pt>
    <dgm:pt modelId="{D1B95F6E-334A-4A81-B9FC-CF0E76940258}" type="parTrans" cxnId="{EFE86690-1B67-4FA4-B4DD-83F08D27E9E6}">
      <dgm:prSet/>
      <dgm:spPr/>
      <dgm:t>
        <a:bodyPr/>
        <a:lstStyle/>
        <a:p>
          <a:endParaRPr lang="zh-CN" altLang="en-US"/>
        </a:p>
      </dgm:t>
    </dgm:pt>
    <dgm:pt modelId="{0A537186-654F-43B2-9608-D3DC4742398C}" type="sibTrans" cxnId="{EFE86690-1B67-4FA4-B4DD-83F08D27E9E6}">
      <dgm:prSet/>
      <dgm:spPr/>
      <dgm:t>
        <a:bodyPr/>
        <a:lstStyle/>
        <a:p>
          <a:endParaRPr lang="zh-CN" altLang="en-US"/>
        </a:p>
      </dgm:t>
    </dgm:pt>
    <dgm:pt modelId="{60CF22D5-8960-49D0-8EDE-B2071F802B97}">
      <dgm:prSet phldrT="[文本]" custT="1"/>
      <dgm:spPr/>
      <dgm:t>
        <a:bodyPr anchor="t"/>
        <a:lstStyle/>
        <a:p>
          <a:pPr algn="just">
            <a:lnSpc>
              <a:spcPts val="2300"/>
            </a:lnSpc>
          </a:pPr>
          <a:r>
            <a:rPr lang="zh-CN" altLang="en-US" sz="1600" dirty="0">
              <a:latin typeface="微软雅黑" panose="020B0503020204020204" pitchFamily="34" charset="-122"/>
              <a:ea typeface="微软雅黑" panose="020B0503020204020204" pitchFamily="34" charset="-122"/>
            </a:rPr>
            <a:t>选择合适的开源大模型进行指令微调实验，通过自动化指标与人工评估，从指导性、准确性、完整性等维度综合对比微调前后的模型性能。</a:t>
          </a:r>
        </a:p>
      </dgm:t>
    </dgm:pt>
    <dgm:pt modelId="{0505CCAB-6DE6-42BA-8610-5CBC5CA9B897}" type="parTrans" cxnId="{40DB129C-810A-4DFB-9663-248943E21F88}">
      <dgm:prSet/>
      <dgm:spPr/>
      <dgm:t>
        <a:bodyPr/>
        <a:lstStyle/>
        <a:p>
          <a:endParaRPr lang="zh-CN" altLang="en-US"/>
        </a:p>
      </dgm:t>
    </dgm:pt>
    <dgm:pt modelId="{E5B401BE-094E-4782-A438-447E02DA189C}" type="sibTrans" cxnId="{40DB129C-810A-4DFB-9663-248943E21F88}">
      <dgm:prSet/>
      <dgm:spPr/>
      <dgm:t>
        <a:bodyPr/>
        <a:lstStyle/>
        <a:p>
          <a:endParaRPr lang="zh-CN" altLang="en-US"/>
        </a:p>
      </dgm:t>
    </dgm:pt>
    <dgm:pt modelId="{E5E8156F-83BB-4A64-80C5-CE36549C7BF5}" type="pres">
      <dgm:prSet presAssocID="{22016E6A-E545-4E93-B5C4-EA411C4B4D31}" presName="diagram" presStyleCnt="0">
        <dgm:presLayoutVars>
          <dgm:chPref val="1"/>
          <dgm:dir/>
          <dgm:animOne val="branch"/>
          <dgm:animLvl val="lvl"/>
          <dgm:resizeHandles/>
        </dgm:presLayoutVars>
      </dgm:prSet>
      <dgm:spPr/>
    </dgm:pt>
    <dgm:pt modelId="{A6FF449C-5024-47F9-9EF2-1155E734806E}" type="pres">
      <dgm:prSet presAssocID="{CD4E1C4C-A7C9-43CB-AF66-21F986A7F06D}" presName="root" presStyleCnt="0"/>
      <dgm:spPr/>
    </dgm:pt>
    <dgm:pt modelId="{8A1E31E2-D3C8-4517-9E30-E347A3F25E4E}" type="pres">
      <dgm:prSet presAssocID="{CD4E1C4C-A7C9-43CB-AF66-21F986A7F06D}" presName="rootComposite" presStyleCnt="0"/>
      <dgm:spPr/>
    </dgm:pt>
    <dgm:pt modelId="{0B6AB308-CEE6-4110-91CA-4D0A58CBFA60}" type="pres">
      <dgm:prSet presAssocID="{CD4E1C4C-A7C9-43CB-AF66-21F986A7F06D}" presName="rootText" presStyleLbl="node1" presStyleIdx="0" presStyleCnt="4" custScaleX="123466" custScaleY="79197"/>
      <dgm:spPr/>
    </dgm:pt>
    <dgm:pt modelId="{DB7C9197-BC94-4336-BDCC-164361E275F6}" type="pres">
      <dgm:prSet presAssocID="{CD4E1C4C-A7C9-43CB-AF66-21F986A7F06D}" presName="rootConnector" presStyleLbl="node1" presStyleIdx="0" presStyleCnt="4"/>
      <dgm:spPr/>
    </dgm:pt>
    <dgm:pt modelId="{99EA3EFA-42B8-4A54-9789-AC312107375D}" type="pres">
      <dgm:prSet presAssocID="{CD4E1C4C-A7C9-43CB-AF66-21F986A7F06D}" presName="childShape" presStyleCnt="0"/>
      <dgm:spPr/>
    </dgm:pt>
    <dgm:pt modelId="{4FEB6F5D-707F-4E50-BD26-6F8255F394D0}" type="pres">
      <dgm:prSet presAssocID="{7B05CBA3-F16D-4DA1-B249-033DAC388A66}" presName="Name13" presStyleLbl="parChTrans1D2" presStyleIdx="0" presStyleCnt="4"/>
      <dgm:spPr/>
    </dgm:pt>
    <dgm:pt modelId="{C29D635D-24F2-48AA-9EA4-1BC8FB1D3059}" type="pres">
      <dgm:prSet presAssocID="{944D8BBB-9F1C-44F1-94DD-87B6689B4CE3}" presName="childText" presStyleLbl="bgAcc1" presStyleIdx="0" presStyleCnt="4" custScaleX="139119" custScaleY="274782">
        <dgm:presLayoutVars>
          <dgm:bulletEnabled val="1"/>
        </dgm:presLayoutVars>
      </dgm:prSet>
      <dgm:spPr/>
    </dgm:pt>
    <dgm:pt modelId="{AA414E20-E4F8-4C21-90CB-EC6CC7FD1C77}" type="pres">
      <dgm:prSet presAssocID="{DFA4C51F-42D3-4A24-AA28-868DB40076DF}" presName="root" presStyleCnt="0"/>
      <dgm:spPr/>
    </dgm:pt>
    <dgm:pt modelId="{33918747-338A-4AD3-AAE4-96F69B992A25}" type="pres">
      <dgm:prSet presAssocID="{DFA4C51F-42D3-4A24-AA28-868DB40076DF}" presName="rootComposite" presStyleCnt="0"/>
      <dgm:spPr/>
    </dgm:pt>
    <dgm:pt modelId="{20D7BB91-8AFB-469F-96F5-F39191EC5416}" type="pres">
      <dgm:prSet presAssocID="{DFA4C51F-42D3-4A24-AA28-868DB40076DF}" presName="rootText" presStyleLbl="node1" presStyleIdx="1" presStyleCnt="4" custScaleX="123466" custScaleY="79197"/>
      <dgm:spPr/>
    </dgm:pt>
    <dgm:pt modelId="{88D9C99B-12E2-455D-85ED-C831FE272A70}" type="pres">
      <dgm:prSet presAssocID="{DFA4C51F-42D3-4A24-AA28-868DB40076DF}" presName="rootConnector" presStyleLbl="node1" presStyleIdx="1" presStyleCnt="4"/>
      <dgm:spPr/>
    </dgm:pt>
    <dgm:pt modelId="{5EBF345A-2138-4ADA-93A7-C58555224E14}" type="pres">
      <dgm:prSet presAssocID="{DFA4C51F-42D3-4A24-AA28-868DB40076DF}" presName="childShape" presStyleCnt="0"/>
      <dgm:spPr/>
    </dgm:pt>
    <dgm:pt modelId="{2256FACA-8AD8-429C-A486-BF8DAC0BB0FA}" type="pres">
      <dgm:prSet presAssocID="{38DA1895-7817-40AC-93E9-736B596BBFF7}" presName="Name13" presStyleLbl="parChTrans1D2" presStyleIdx="1" presStyleCnt="4"/>
      <dgm:spPr/>
    </dgm:pt>
    <dgm:pt modelId="{7872BFDF-98D5-48A5-8D8E-5752CEE03170}" type="pres">
      <dgm:prSet presAssocID="{1C6145F7-9EE9-4886-B984-6679C4657DFF}" presName="childText" presStyleLbl="bgAcc1" presStyleIdx="1" presStyleCnt="4" custScaleX="139119" custScaleY="274782">
        <dgm:presLayoutVars>
          <dgm:bulletEnabled val="1"/>
        </dgm:presLayoutVars>
      </dgm:prSet>
      <dgm:spPr/>
    </dgm:pt>
    <dgm:pt modelId="{9E66AB41-BA5D-472A-B35B-F43548B7BF11}" type="pres">
      <dgm:prSet presAssocID="{066CF3CC-E057-46EF-99DA-3C1B141FFE66}" presName="root" presStyleCnt="0"/>
      <dgm:spPr/>
    </dgm:pt>
    <dgm:pt modelId="{44BB5F39-25CF-4AD4-BAD3-B39C13D5AA8E}" type="pres">
      <dgm:prSet presAssocID="{066CF3CC-E057-46EF-99DA-3C1B141FFE66}" presName="rootComposite" presStyleCnt="0"/>
      <dgm:spPr/>
    </dgm:pt>
    <dgm:pt modelId="{2C9673B4-92DB-48FE-BDE5-CBAF1CDB053C}" type="pres">
      <dgm:prSet presAssocID="{066CF3CC-E057-46EF-99DA-3C1B141FFE66}" presName="rootText" presStyleLbl="node1" presStyleIdx="2" presStyleCnt="4" custScaleX="123466" custScaleY="79197"/>
      <dgm:spPr/>
    </dgm:pt>
    <dgm:pt modelId="{73A4DCA1-FDCC-4043-8726-C628105470F6}" type="pres">
      <dgm:prSet presAssocID="{066CF3CC-E057-46EF-99DA-3C1B141FFE66}" presName="rootConnector" presStyleLbl="node1" presStyleIdx="2" presStyleCnt="4"/>
      <dgm:spPr/>
    </dgm:pt>
    <dgm:pt modelId="{845F9D47-D3ED-40B6-9EFF-0AEEED0AFE80}" type="pres">
      <dgm:prSet presAssocID="{066CF3CC-E057-46EF-99DA-3C1B141FFE66}" presName="childShape" presStyleCnt="0"/>
      <dgm:spPr/>
    </dgm:pt>
    <dgm:pt modelId="{04D9F8EF-6AFF-42F1-8ED5-BB0CDC18CB72}" type="pres">
      <dgm:prSet presAssocID="{C62ED9B6-67D7-4BAF-8BA7-53E14D1B45EF}" presName="Name13" presStyleLbl="parChTrans1D2" presStyleIdx="2" presStyleCnt="4"/>
      <dgm:spPr/>
    </dgm:pt>
    <dgm:pt modelId="{AADE6347-C73E-4901-83CA-E9C369B5D932}" type="pres">
      <dgm:prSet presAssocID="{CA224C61-21B6-483E-A0F1-54F26B76FD49}" presName="childText" presStyleLbl="bgAcc1" presStyleIdx="2" presStyleCnt="4" custScaleX="139119" custScaleY="274782">
        <dgm:presLayoutVars>
          <dgm:bulletEnabled val="1"/>
        </dgm:presLayoutVars>
      </dgm:prSet>
      <dgm:spPr/>
    </dgm:pt>
    <dgm:pt modelId="{D4AB3DC1-ABEF-4BF2-9C05-A54CD2193948}" type="pres">
      <dgm:prSet presAssocID="{EC8856B6-3E06-4D5A-9A28-8A5EE1F70DDD}" presName="root" presStyleCnt="0"/>
      <dgm:spPr/>
    </dgm:pt>
    <dgm:pt modelId="{D5B896A3-23E7-4E78-8B62-64B77A778707}" type="pres">
      <dgm:prSet presAssocID="{EC8856B6-3E06-4D5A-9A28-8A5EE1F70DDD}" presName="rootComposite" presStyleCnt="0"/>
      <dgm:spPr/>
    </dgm:pt>
    <dgm:pt modelId="{5A4AA555-41A6-419E-9E76-E158766E41C9}" type="pres">
      <dgm:prSet presAssocID="{EC8856B6-3E06-4D5A-9A28-8A5EE1F70DDD}" presName="rootText" presStyleLbl="node1" presStyleIdx="3" presStyleCnt="4" custScaleX="123466" custScaleY="79197"/>
      <dgm:spPr/>
    </dgm:pt>
    <dgm:pt modelId="{B88F9EC8-15E6-4340-B15E-708731A46427}" type="pres">
      <dgm:prSet presAssocID="{EC8856B6-3E06-4D5A-9A28-8A5EE1F70DDD}" presName="rootConnector" presStyleLbl="node1" presStyleIdx="3" presStyleCnt="4"/>
      <dgm:spPr/>
    </dgm:pt>
    <dgm:pt modelId="{9038457B-F066-462C-90E1-20FD2D32B493}" type="pres">
      <dgm:prSet presAssocID="{EC8856B6-3E06-4D5A-9A28-8A5EE1F70DDD}" presName="childShape" presStyleCnt="0"/>
      <dgm:spPr/>
    </dgm:pt>
    <dgm:pt modelId="{D672CE27-A8DE-41B7-98B1-91D3D1BBD3C8}" type="pres">
      <dgm:prSet presAssocID="{0505CCAB-6DE6-42BA-8610-5CBC5CA9B897}" presName="Name13" presStyleLbl="parChTrans1D2" presStyleIdx="3" presStyleCnt="4"/>
      <dgm:spPr/>
    </dgm:pt>
    <dgm:pt modelId="{2E022D22-C01C-4B3E-A384-8CD07E5CC568}" type="pres">
      <dgm:prSet presAssocID="{60CF22D5-8960-49D0-8EDE-B2071F802B97}" presName="childText" presStyleLbl="bgAcc1" presStyleIdx="3" presStyleCnt="4" custScaleX="139119" custScaleY="274782">
        <dgm:presLayoutVars>
          <dgm:bulletEnabled val="1"/>
        </dgm:presLayoutVars>
      </dgm:prSet>
      <dgm:spPr/>
    </dgm:pt>
  </dgm:ptLst>
  <dgm:cxnLst>
    <dgm:cxn modelId="{3EA2B30F-AEF2-4E2D-900E-31A93EA108BE}" type="presOf" srcId="{60CF22D5-8960-49D0-8EDE-B2071F802B97}" destId="{2E022D22-C01C-4B3E-A384-8CD07E5CC568}" srcOrd="0" destOrd="0" presId="urn:microsoft.com/office/officeart/2005/8/layout/hierarchy3"/>
    <dgm:cxn modelId="{AA400923-CCD1-48B6-8D10-65DD095ECEAC}" type="presOf" srcId="{DFA4C51F-42D3-4A24-AA28-868DB40076DF}" destId="{20D7BB91-8AFB-469F-96F5-F39191EC5416}" srcOrd="0" destOrd="0" presId="urn:microsoft.com/office/officeart/2005/8/layout/hierarchy3"/>
    <dgm:cxn modelId="{84F48B28-382C-4DAE-A2F5-A6D73CF4399A}" type="presOf" srcId="{22016E6A-E545-4E93-B5C4-EA411C4B4D31}" destId="{E5E8156F-83BB-4A64-80C5-CE36549C7BF5}" srcOrd="0" destOrd="0" presId="urn:microsoft.com/office/officeart/2005/8/layout/hierarchy3"/>
    <dgm:cxn modelId="{8734E138-A486-4330-8A9B-BB99415AB38C}" type="presOf" srcId="{CD4E1C4C-A7C9-43CB-AF66-21F986A7F06D}" destId="{0B6AB308-CEE6-4110-91CA-4D0A58CBFA60}" srcOrd="0" destOrd="0" presId="urn:microsoft.com/office/officeart/2005/8/layout/hierarchy3"/>
    <dgm:cxn modelId="{11243940-DF4C-4D6A-B2E2-F37D36A0A27A}" type="presOf" srcId="{EC8856B6-3E06-4D5A-9A28-8A5EE1F70DDD}" destId="{B88F9EC8-15E6-4340-B15E-708731A46427}" srcOrd="1" destOrd="0" presId="urn:microsoft.com/office/officeart/2005/8/layout/hierarchy3"/>
    <dgm:cxn modelId="{C684C340-760D-4682-9D84-31B2EF03F31B}" srcId="{22016E6A-E545-4E93-B5C4-EA411C4B4D31}" destId="{066CF3CC-E057-46EF-99DA-3C1B141FFE66}" srcOrd="2" destOrd="0" parTransId="{A8E99EE3-5577-43A2-A379-89153278D733}" sibTransId="{39823A3A-9DBE-472D-8B9F-DA97DA4FF4F8}"/>
    <dgm:cxn modelId="{FF34385B-85FA-4C7C-B5FE-07E02D893541}" type="presOf" srcId="{C62ED9B6-67D7-4BAF-8BA7-53E14D1B45EF}" destId="{04D9F8EF-6AFF-42F1-8ED5-BB0CDC18CB72}" srcOrd="0" destOrd="0" presId="urn:microsoft.com/office/officeart/2005/8/layout/hierarchy3"/>
    <dgm:cxn modelId="{E0312B65-EE98-4667-90EF-BD053C32BDB8}" srcId="{22016E6A-E545-4E93-B5C4-EA411C4B4D31}" destId="{DFA4C51F-42D3-4A24-AA28-868DB40076DF}" srcOrd="1" destOrd="0" parTransId="{CC5D36AD-809F-452D-9A4E-6C0852D3F09A}" sibTransId="{3D810663-FB29-4557-85C4-8578B5FB64FD}"/>
    <dgm:cxn modelId="{00E9B94B-2037-4E1E-8BB4-5043E45D8389}" type="presOf" srcId="{066CF3CC-E057-46EF-99DA-3C1B141FFE66}" destId="{73A4DCA1-FDCC-4043-8726-C628105470F6}" srcOrd="1" destOrd="0" presId="urn:microsoft.com/office/officeart/2005/8/layout/hierarchy3"/>
    <dgm:cxn modelId="{6EB2276F-0B2F-4BC4-9A32-5D1B44422744}" srcId="{22016E6A-E545-4E93-B5C4-EA411C4B4D31}" destId="{CD4E1C4C-A7C9-43CB-AF66-21F986A7F06D}" srcOrd="0" destOrd="0" parTransId="{CA1A525F-3E35-4D22-8637-0B4D2307E4CD}" sibTransId="{DA71FACB-62AE-465A-AD7A-5BAD5550E9DF}"/>
    <dgm:cxn modelId="{49797271-B9D6-419D-A4D0-310B8C31286B}" srcId="{CD4E1C4C-A7C9-43CB-AF66-21F986A7F06D}" destId="{944D8BBB-9F1C-44F1-94DD-87B6689B4CE3}" srcOrd="0" destOrd="0" parTransId="{7B05CBA3-F16D-4DA1-B249-033DAC388A66}" sibTransId="{5F029276-1B01-49CB-9A82-D26595EFEEB8}"/>
    <dgm:cxn modelId="{515C1582-4FAD-48C3-8183-A068775A3BBA}" type="presOf" srcId="{38DA1895-7817-40AC-93E9-736B596BBFF7}" destId="{2256FACA-8AD8-429C-A486-BF8DAC0BB0FA}" srcOrd="0" destOrd="0" presId="urn:microsoft.com/office/officeart/2005/8/layout/hierarchy3"/>
    <dgm:cxn modelId="{EFE86690-1B67-4FA4-B4DD-83F08D27E9E6}" srcId="{22016E6A-E545-4E93-B5C4-EA411C4B4D31}" destId="{EC8856B6-3E06-4D5A-9A28-8A5EE1F70DDD}" srcOrd="3" destOrd="0" parTransId="{D1B95F6E-334A-4A81-B9FC-CF0E76940258}" sibTransId="{0A537186-654F-43B2-9608-D3DC4742398C}"/>
    <dgm:cxn modelId="{D1182394-DA90-417D-8E95-529EEDFAF13D}" type="presOf" srcId="{DFA4C51F-42D3-4A24-AA28-868DB40076DF}" destId="{88D9C99B-12E2-455D-85ED-C831FE272A70}" srcOrd="1" destOrd="0" presId="urn:microsoft.com/office/officeart/2005/8/layout/hierarchy3"/>
    <dgm:cxn modelId="{E1747E99-630B-4076-B9C0-C78BC00BE09E}" type="presOf" srcId="{0505CCAB-6DE6-42BA-8610-5CBC5CA9B897}" destId="{D672CE27-A8DE-41B7-98B1-91D3D1BBD3C8}" srcOrd="0" destOrd="0" presId="urn:microsoft.com/office/officeart/2005/8/layout/hierarchy3"/>
    <dgm:cxn modelId="{40DB129C-810A-4DFB-9663-248943E21F88}" srcId="{EC8856B6-3E06-4D5A-9A28-8A5EE1F70DDD}" destId="{60CF22D5-8960-49D0-8EDE-B2071F802B97}" srcOrd="0" destOrd="0" parTransId="{0505CCAB-6DE6-42BA-8610-5CBC5CA9B897}" sibTransId="{E5B401BE-094E-4782-A438-447E02DA189C}"/>
    <dgm:cxn modelId="{7A9E409D-CDD0-4C90-9EA7-D50CC878F352}" srcId="{066CF3CC-E057-46EF-99DA-3C1B141FFE66}" destId="{CA224C61-21B6-483E-A0F1-54F26B76FD49}" srcOrd="0" destOrd="0" parTransId="{C62ED9B6-67D7-4BAF-8BA7-53E14D1B45EF}" sibTransId="{C67F100B-668F-4149-8BF2-CEA1721C262C}"/>
    <dgm:cxn modelId="{93A9EC9D-7151-4CE4-BACB-48BD94745992}" type="presOf" srcId="{066CF3CC-E057-46EF-99DA-3C1B141FFE66}" destId="{2C9673B4-92DB-48FE-BDE5-CBAF1CDB053C}" srcOrd="0" destOrd="0" presId="urn:microsoft.com/office/officeart/2005/8/layout/hierarchy3"/>
    <dgm:cxn modelId="{6E74A89F-CE2C-49DA-A42D-342489FE2A84}" type="presOf" srcId="{CD4E1C4C-A7C9-43CB-AF66-21F986A7F06D}" destId="{DB7C9197-BC94-4336-BDCC-164361E275F6}" srcOrd="1" destOrd="0" presId="urn:microsoft.com/office/officeart/2005/8/layout/hierarchy3"/>
    <dgm:cxn modelId="{564D73B8-228B-407A-BC0A-097FB4927DF9}" srcId="{DFA4C51F-42D3-4A24-AA28-868DB40076DF}" destId="{1C6145F7-9EE9-4886-B984-6679C4657DFF}" srcOrd="0" destOrd="0" parTransId="{38DA1895-7817-40AC-93E9-736B596BBFF7}" sibTransId="{24098516-73AE-4E79-8F74-F53BBE7D6DE2}"/>
    <dgm:cxn modelId="{95622DBA-4640-4350-A3FD-0C60ED01B60B}" type="presOf" srcId="{CA224C61-21B6-483E-A0F1-54F26B76FD49}" destId="{AADE6347-C73E-4901-83CA-E9C369B5D932}" srcOrd="0" destOrd="0" presId="urn:microsoft.com/office/officeart/2005/8/layout/hierarchy3"/>
    <dgm:cxn modelId="{768344C4-FB3C-4910-A399-4B7B17617693}" type="presOf" srcId="{1C6145F7-9EE9-4886-B984-6679C4657DFF}" destId="{7872BFDF-98D5-48A5-8D8E-5752CEE03170}" srcOrd="0" destOrd="0" presId="urn:microsoft.com/office/officeart/2005/8/layout/hierarchy3"/>
    <dgm:cxn modelId="{58832CD3-10F9-4DC3-98B3-344503CACD88}" type="presOf" srcId="{944D8BBB-9F1C-44F1-94DD-87B6689B4CE3}" destId="{C29D635D-24F2-48AA-9EA4-1BC8FB1D3059}" srcOrd="0" destOrd="0" presId="urn:microsoft.com/office/officeart/2005/8/layout/hierarchy3"/>
    <dgm:cxn modelId="{54ED95D3-9502-427B-A0FA-474DCF707E23}" type="presOf" srcId="{EC8856B6-3E06-4D5A-9A28-8A5EE1F70DDD}" destId="{5A4AA555-41A6-419E-9E76-E158766E41C9}" srcOrd="0" destOrd="0" presId="urn:microsoft.com/office/officeart/2005/8/layout/hierarchy3"/>
    <dgm:cxn modelId="{1E299EFF-3B11-47AB-81FB-577D514012AE}" type="presOf" srcId="{7B05CBA3-F16D-4DA1-B249-033DAC388A66}" destId="{4FEB6F5D-707F-4E50-BD26-6F8255F394D0}" srcOrd="0" destOrd="0" presId="urn:microsoft.com/office/officeart/2005/8/layout/hierarchy3"/>
    <dgm:cxn modelId="{E225FA2D-8E39-417E-9AAD-9B1CE12746A9}" type="presParOf" srcId="{E5E8156F-83BB-4A64-80C5-CE36549C7BF5}" destId="{A6FF449C-5024-47F9-9EF2-1155E734806E}" srcOrd="0" destOrd="0" presId="urn:microsoft.com/office/officeart/2005/8/layout/hierarchy3"/>
    <dgm:cxn modelId="{4C48AE49-014F-4486-94C7-5AD7615164D0}" type="presParOf" srcId="{A6FF449C-5024-47F9-9EF2-1155E734806E}" destId="{8A1E31E2-D3C8-4517-9E30-E347A3F25E4E}" srcOrd="0" destOrd="0" presId="urn:microsoft.com/office/officeart/2005/8/layout/hierarchy3"/>
    <dgm:cxn modelId="{EC9B0E47-8B1C-4069-AD5C-5416CEDA55FB}" type="presParOf" srcId="{8A1E31E2-D3C8-4517-9E30-E347A3F25E4E}" destId="{0B6AB308-CEE6-4110-91CA-4D0A58CBFA60}" srcOrd="0" destOrd="0" presId="urn:microsoft.com/office/officeart/2005/8/layout/hierarchy3"/>
    <dgm:cxn modelId="{7E19B90E-48E7-40D8-A57E-8F7F233FE45C}" type="presParOf" srcId="{8A1E31E2-D3C8-4517-9E30-E347A3F25E4E}" destId="{DB7C9197-BC94-4336-BDCC-164361E275F6}" srcOrd="1" destOrd="0" presId="urn:microsoft.com/office/officeart/2005/8/layout/hierarchy3"/>
    <dgm:cxn modelId="{99F1AE29-35CC-42E8-97CD-571900F22E47}" type="presParOf" srcId="{A6FF449C-5024-47F9-9EF2-1155E734806E}" destId="{99EA3EFA-42B8-4A54-9789-AC312107375D}" srcOrd="1" destOrd="0" presId="urn:microsoft.com/office/officeart/2005/8/layout/hierarchy3"/>
    <dgm:cxn modelId="{DE6E829B-C26C-46F7-BC19-6BED135B0AD5}" type="presParOf" srcId="{99EA3EFA-42B8-4A54-9789-AC312107375D}" destId="{4FEB6F5D-707F-4E50-BD26-6F8255F394D0}" srcOrd="0" destOrd="0" presId="urn:microsoft.com/office/officeart/2005/8/layout/hierarchy3"/>
    <dgm:cxn modelId="{34A4035C-D09D-4EA2-88B9-A97A22EA600A}" type="presParOf" srcId="{99EA3EFA-42B8-4A54-9789-AC312107375D}" destId="{C29D635D-24F2-48AA-9EA4-1BC8FB1D3059}" srcOrd="1" destOrd="0" presId="urn:microsoft.com/office/officeart/2005/8/layout/hierarchy3"/>
    <dgm:cxn modelId="{DD0DFCEF-92A8-426F-98F6-26BF3B622EDE}" type="presParOf" srcId="{E5E8156F-83BB-4A64-80C5-CE36549C7BF5}" destId="{AA414E20-E4F8-4C21-90CB-EC6CC7FD1C77}" srcOrd="1" destOrd="0" presId="urn:microsoft.com/office/officeart/2005/8/layout/hierarchy3"/>
    <dgm:cxn modelId="{EFBFD463-E038-4490-BE04-6971879F7BD8}" type="presParOf" srcId="{AA414E20-E4F8-4C21-90CB-EC6CC7FD1C77}" destId="{33918747-338A-4AD3-AAE4-96F69B992A25}" srcOrd="0" destOrd="0" presId="urn:microsoft.com/office/officeart/2005/8/layout/hierarchy3"/>
    <dgm:cxn modelId="{81E8694A-AB8A-41BB-99BC-00DCB79C1EFA}" type="presParOf" srcId="{33918747-338A-4AD3-AAE4-96F69B992A25}" destId="{20D7BB91-8AFB-469F-96F5-F39191EC5416}" srcOrd="0" destOrd="0" presId="urn:microsoft.com/office/officeart/2005/8/layout/hierarchy3"/>
    <dgm:cxn modelId="{C117F9DB-A636-4690-8BDE-30F83854E209}" type="presParOf" srcId="{33918747-338A-4AD3-AAE4-96F69B992A25}" destId="{88D9C99B-12E2-455D-85ED-C831FE272A70}" srcOrd="1" destOrd="0" presId="urn:microsoft.com/office/officeart/2005/8/layout/hierarchy3"/>
    <dgm:cxn modelId="{4CE5A528-E053-434E-8004-6C259AFBCCD8}" type="presParOf" srcId="{AA414E20-E4F8-4C21-90CB-EC6CC7FD1C77}" destId="{5EBF345A-2138-4ADA-93A7-C58555224E14}" srcOrd="1" destOrd="0" presId="urn:microsoft.com/office/officeart/2005/8/layout/hierarchy3"/>
    <dgm:cxn modelId="{F69E0439-63E7-46E2-9E8A-C73BB89BED1A}" type="presParOf" srcId="{5EBF345A-2138-4ADA-93A7-C58555224E14}" destId="{2256FACA-8AD8-429C-A486-BF8DAC0BB0FA}" srcOrd="0" destOrd="0" presId="urn:microsoft.com/office/officeart/2005/8/layout/hierarchy3"/>
    <dgm:cxn modelId="{5DE8F56D-A70A-4148-A4A2-DE669C3BBD95}" type="presParOf" srcId="{5EBF345A-2138-4ADA-93A7-C58555224E14}" destId="{7872BFDF-98D5-48A5-8D8E-5752CEE03170}" srcOrd="1" destOrd="0" presId="urn:microsoft.com/office/officeart/2005/8/layout/hierarchy3"/>
    <dgm:cxn modelId="{9AD2CB59-25C5-4BDA-B0BF-BA92B7F10B5E}" type="presParOf" srcId="{E5E8156F-83BB-4A64-80C5-CE36549C7BF5}" destId="{9E66AB41-BA5D-472A-B35B-F43548B7BF11}" srcOrd="2" destOrd="0" presId="urn:microsoft.com/office/officeart/2005/8/layout/hierarchy3"/>
    <dgm:cxn modelId="{5D6A1174-120A-4A2D-A674-3EED86466A5A}" type="presParOf" srcId="{9E66AB41-BA5D-472A-B35B-F43548B7BF11}" destId="{44BB5F39-25CF-4AD4-BAD3-B39C13D5AA8E}" srcOrd="0" destOrd="0" presId="urn:microsoft.com/office/officeart/2005/8/layout/hierarchy3"/>
    <dgm:cxn modelId="{53D19345-9C96-444A-8080-9D5C8D8AE43E}" type="presParOf" srcId="{44BB5F39-25CF-4AD4-BAD3-B39C13D5AA8E}" destId="{2C9673B4-92DB-48FE-BDE5-CBAF1CDB053C}" srcOrd="0" destOrd="0" presId="urn:microsoft.com/office/officeart/2005/8/layout/hierarchy3"/>
    <dgm:cxn modelId="{2AD8D306-20F7-4088-A46C-97095D598BB5}" type="presParOf" srcId="{44BB5F39-25CF-4AD4-BAD3-B39C13D5AA8E}" destId="{73A4DCA1-FDCC-4043-8726-C628105470F6}" srcOrd="1" destOrd="0" presId="urn:microsoft.com/office/officeart/2005/8/layout/hierarchy3"/>
    <dgm:cxn modelId="{B16BECE1-6595-4F1C-9EB6-D96C8A25F779}" type="presParOf" srcId="{9E66AB41-BA5D-472A-B35B-F43548B7BF11}" destId="{845F9D47-D3ED-40B6-9EFF-0AEEED0AFE80}" srcOrd="1" destOrd="0" presId="urn:microsoft.com/office/officeart/2005/8/layout/hierarchy3"/>
    <dgm:cxn modelId="{D2C74946-7823-4B03-9B3D-EF5E5565BB78}" type="presParOf" srcId="{845F9D47-D3ED-40B6-9EFF-0AEEED0AFE80}" destId="{04D9F8EF-6AFF-42F1-8ED5-BB0CDC18CB72}" srcOrd="0" destOrd="0" presId="urn:microsoft.com/office/officeart/2005/8/layout/hierarchy3"/>
    <dgm:cxn modelId="{2768279F-F934-4D88-B606-04E410ABDB3A}" type="presParOf" srcId="{845F9D47-D3ED-40B6-9EFF-0AEEED0AFE80}" destId="{AADE6347-C73E-4901-83CA-E9C369B5D932}" srcOrd="1" destOrd="0" presId="urn:microsoft.com/office/officeart/2005/8/layout/hierarchy3"/>
    <dgm:cxn modelId="{4CFA0DB9-DCF3-4D15-A921-3F98FED8DF61}" type="presParOf" srcId="{E5E8156F-83BB-4A64-80C5-CE36549C7BF5}" destId="{D4AB3DC1-ABEF-4BF2-9C05-A54CD2193948}" srcOrd="3" destOrd="0" presId="urn:microsoft.com/office/officeart/2005/8/layout/hierarchy3"/>
    <dgm:cxn modelId="{49ACB309-3596-4940-8BD7-D50BBF4AA0C1}" type="presParOf" srcId="{D4AB3DC1-ABEF-4BF2-9C05-A54CD2193948}" destId="{D5B896A3-23E7-4E78-8B62-64B77A778707}" srcOrd="0" destOrd="0" presId="urn:microsoft.com/office/officeart/2005/8/layout/hierarchy3"/>
    <dgm:cxn modelId="{4FD202B1-51A7-49DA-A8B9-17520219708F}" type="presParOf" srcId="{D5B896A3-23E7-4E78-8B62-64B77A778707}" destId="{5A4AA555-41A6-419E-9E76-E158766E41C9}" srcOrd="0" destOrd="0" presId="urn:microsoft.com/office/officeart/2005/8/layout/hierarchy3"/>
    <dgm:cxn modelId="{58CC79EE-EF50-4855-9561-63152F49EE10}" type="presParOf" srcId="{D5B896A3-23E7-4E78-8B62-64B77A778707}" destId="{B88F9EC8-15E6-4340-B15E-708731A46427}" srcOrd="1" destOrd="0" presId="urn:microsoft.com/office/officeart/2005/8/layout/hierarchy3"/>
    <dgm:cxn modelId="{70CF538B-12E0-4B4B-AD8E-A12882020A49}" type="presParOf" srcId="{D4AB3DC1-ABEF-4BF2-9C05-A54CD2193948}" destId="{9038457B-F066-462C-90E1-20FD2D32B493}" srcOrd="1" destOrd="0" presId="urn:microsoft.com/office/officeart/2005/8/layout/hierarchy3"/>
    <dgm:cxn modelId="{C5838AA7-FAF1-479B-83BC-7A3FE3BA52E4}" type="presParOf" srcId="{9038457B-F066-462C-90E1-20FD2D32B493}" destId="{D672CE27-A8DE-41B7-98B1-91D3D1BBD3C8}" srcOrd="0" destOrd="0" presId="urn:microsoft.com/office/officeart/2005/8/layout/hierarchy3"/>
    <dgm:cxn modelId="{D9F4501B-76C8-4645-97DA-B1D7F50D59E2}" type="presParOf" srcId="{9038457B-F066-462C-90E1-20FD2D32B493}" destId="{2E022D22-C01C-4B3E-A384-8CD07E5CC568}"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589CE-91EC-44AB-95D7-3DBFE130312F}">
      <dsp:nvSpPr>
        <dsp:cNvPr id="0" name=""/>
        <dsp:cNvSpPr/>
      </dsp:nvSpPr>
      <dsp:spPr>
        <a:xfrm>
          <a:off x="386264" y="216634"/>
          <a:ext cx="3143434" cy="3143434"/>
        </a:xfrm>
        <a:prstGeom prst="pie">
          <a:avLst>
            <a:gd name="adj1" fmla="val 16200000"/>
            <a:gd name="adj2" fmla="val 198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华文中宋" panose="02010600040101010101" pitchFamily="2" charset="-122"/>
              <a:ea typeface="华文中宋" panose="02010600040101010101" pitchFamily="2" charset="-122"/>
            </a:rPr>
            <a:t>避孕知识</a:t>
          </a:r>
        </a:p>
      </dsp:txBody>
      <dsp:txXfrm>
        <a:off x="2032825" y="618171"/>
        <a:ext cx="823280" cy="636171"/>
      </dsp:txXfrm>
    </dsp:sp>
    <dsp:sp modelId="{6ED5E37B-C75F-4AF5-9384-08E28D6826A7}">
      <dsp:nvSpPr>
        <dsp:cNvPr id="0" name=""/>
        <dsp:cNvSpPr/>
      </dsp:nvSpPr>
      <dsp:spPr>
        <a:xfrm>
          <a:off x="412400" y="282506"/>
          <a:ext cx="3143434" cy="3143434"/>
        </a:xfrm>
        <a:prstGeom prst="pie">
          <a:avLst>
            <a:gd name="adj1" fmla="val 19800000"/>
            <a:gd name="adj2" fmla="val 180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安全流产服务</a:t>
          </a:r>
          <a:endParaRPr lang="zh-CN" altLang="en-US" sz="1500" kern="1200" dirty="0">
            <a:latin typeface="华文中宋" panose="02010600040101010101" pitchFamily="2" charset="-122"/>
            <a:ea typeface="华文中宋" panose="02010600040101010101" pitchFamily="2" charset="-122"/>
          </a:endParaRPr>
        </a:p>
      </dsp:txBody>
      <dsp:txXfrm>
        <a:off x="2545445" y="1554848"/>
        <a:ext cx="860702" cy="617460"/>
      </dsp:txXfrm>
    </dsp:sp>
    <dsp:sp modelId="{BD73F72A-A4BD-4DA4-B95A-B015B3A7C69F}">
      <dsp:nvSpPr>
        <dsp:cNvPr id="0" name=""/>
        <dsp:cNvSpPr/>
      </dsp:nvSpPr>
      <dsp:spPr>
        <a:xfrm>
          <a:off x="386264" y="346114"/>
          <a:ext cx="3143434" cy="3143434"/>
        </a:xfrm>
        <a:prstGeom prst="pie">
          <a:avLst>
            <a:gd name="adj1" fmla="val 1800000"/>
            <a:gd name="adj2" fmla="val 540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性传播疾病预防</a:t>
          </a:r>
          <a:endParaRPr lang="zh-CN" altLang="en-US" sz="1500" kern="1200" dirty="0">
            <a:latin typeface="华文中宋" panose="02010600040101010101" pitchFamily="2" charset="-122"/>
            <a:ea typeface="华文中宋" panose="02010600040101010101" pitchFamily="2" charset="-122"/>
          </a:endParaRPr>
        </a:p>
      </dsp:txBody>
      <dsp:txXfrm>
        <a:off x="2032825" y="2470552"/>
        <a:ext cx="823280" cy="636171"/>
      </dsp:txXfrm>
    </dsp:sp>
    <dsp:sp modelId="{DB40CBFC-3C64-4187-B61E-33DF8C381CD2}">
      <dsp:nvSpPr>
        <dsp:cNvPr id="0" name=""/>
        <dsp:cNvSpPr/>
      </dsp:nvSpPr>
      <dsp:spPr>
        <a:xfrm>
          <a:off x="311420" y="346114"/>
          <a:ext cx="3143434" cy="3143434"/>
        </a:xfrm>
        <a:prstGeom prst="pie">
          <a:avLst>
            <a:gd name="adj1" fmla="val 5400000"/>
            <a:gd name="adj2" fmla="val 900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情感教育</a:t>
          </a:r>
          <a:endParaRPr lang="zh-CN" altLang="en-US" sz="1500" kern="1200" dirty="0">
            <a:latin typeface="华文中宋" panose="02010600040101010101" pitchFamily="2" charset="-122"/>
            <a:ea typeface="华文中宋" panose="02010600040101010101" pitchFamily="2" charset="-122"/>
          </a:endParaRPr>
        </a:p>
      </dsp:txBody>
      <dsp:txXfrm>
        <a:off x="985013" y="2470552"/>
        <a:ext cx="823280" cy="636171"/>
      </dsp:txXfrm>
    </dsp:sp>
    <dsp:sp modelId="{4D886CDD-9080-4097-879A-A7010D43DD88}">
      <dsp:nvSpPr>
        <dsp:cNvPr id="0" name=""/>
        <dsp:cNvSpPr/>
      </dsp:nvSpPr>
      <dsp:spPr>
        <a:xfrm>
          <a:off x="273998" y="281374"/>
          <a:ext cx="3143434" cy="3143434"/>
        </a:xfrm>
        <a:prstGeom prst="pie">
          <a:avLst>
            <a:gd name="adj1" fmla="val 9000000"/>
            <a:gd name="adj2" fmla="val 1260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健康意识培养</a:t>
          </a:r>
          <a:endParaRPr lang="zh-CN" altLang="en-US" sz="1500" kern="1200" dirty="0">
            <a:latin typeface="华文中宋" panose="02010600040101010101" pitchFamily="2" charset="-122"/>
            <a:ea typeface="华文中宋" panose="02010600040101010101" pitchFamily="2" charset="-122"/>
          </a:endParaRPr>
        </a:p>
      </dsp:txBody>
      <dsp:txXfrm>
        <a:off x="423685" y="1553717"/>
        <a:ext cx="860702" cy="617460"/>
      </dsp:txXfrm>
    </dsp:sp>
    <dsp:sp modelId="{2077BC4C-0330-47B5-A6D1-A173AEA8B950}">
      <dsp:nvSpPr>
        <dsp:cNvPr id="0" name=""/>
        <dsp:cNvSpPr/>
      </dsp:nvSpPr>
      <dsp:spPr>
        <a:xfrm>
          <a:off x="348858" y="209122"/>
          <a:ext cx="3143434" cy="3143434"/>
        </a:xfrm>
        <a:prstGeom prst="pie">
          <a:avLst>
            <a:gd name="adj1" fmla="val 126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zh-CN" sz="1500" kern="1200" dirty="0"/>
            <a:t>…</a:t>
          </a:r>
          <a:endParaRPr lang="zh-CN" altLang="en-US" sz="1500" kern="1200" dirty="0"/>
        </a:p>
      </dsp:txBody>
      <dsp:txXfrm>
        <a:off x="1022451" y="610658"/>
        <a:ext cx="823280" cy="636171"/>
      </dsp:txXfrm>
    </dsp:sp>
    <dsp:sp modelId="{3F270E1E-C17A-4C96-9C34-0CE19CB53F3D}">
      <dsp:nvSpPr>
        <dsp:cNvPr id="0" name=""/>
        <dsp:cNvSpPr/>
      </dsp:nvSpPr>
      <dsp:spPr>
        <a:xfrm>
          <a:off x="191555" y="22041"/>
          <a:ext cx="3532621" cy="3532621"/>
        </a:xfrm>
        <a:prstGeom prst="circularArrow">
          <a:avLst>
            <a:gd name="adj1" fmla="val 5085"/>
            <a:gd name="adj2" fmla="val 327528"/>
            <a:gd name="adj3" fmla="val 19472472"/>
            <a:gd name="adj4" fmla="val 16200251"/>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A4BD369-777C-427A-B28F-79FDE9010739}">
      <dsp:nvSpPr>
        <dsp:cNvPr id="0" name=""/>
        <dsp:cNvSpPr/>
      </dsp:nvSpPr>
      <dsp:spPr>
        <a:xfrm>
          <a:off x="217692" y="87912"/>
          <a:ext cx="3532621" cy="3532621"/>
        </a:xfrm>
        <a:prstGeom prst="circularArrow">
          <a:avLst>
            <a:gd name="adj1" fmla="val 5085"/>
            <a:gd name="adj2" fmla="val 327528"/>
            <a:gd name="adj3" fmla="val 1472472"/>
            <a:gd name="adj4" fmla="val 19800000"/>
            <a:gd name="adj5" fmla="val 5932"/>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48A60B1-6940-480F-8113-1D8292199455}">
      <dsp:nvSpPr>
        <dsp:cNvPr id="0" name=""/>
        <dsp:cNvSpPr/>
      </dsp:nvSpPr>
      <dsp:spPr>
        <a:xfrm>
          <a:off x="191555" y="151520"/>
          <a:ext cx="3532621" cy="3532621"/>
        </a:xfrm>
        <a:prstGeom prst="circularArrow">
          <a:avLst>
            <a:gd name="adj1" fmla="val 5085"/>
            <a:gd name="adj2" fmla="val 327528"/>
            <a:gd name="adj3" fmla="val 5072221"/>
            <a:gd name="adj4" fmla="val 1800000"/>
            <a:gd name="adj5" fmla="val 5932"/>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BCC7011-6BAA-47A0-840A-0702E428FF3E}">
      <dsp:nvSpPr>
        <dsp:cNvPr id="0" name=""/>
        <dsp:cNvSpPr/>
      </dsp:nvSpPr>
      <dsp:spPr>
        <a:xfrm>
          <a:off x="116941" y="151520"/>
          <a:ext cx="3532621" cy="3532621"/>
        </a:xfrm>
        <a:prstGeom prst="circularArrow">
          <a:avLst>
            <a:gd name="adj1" fmla="val 5085"/>
            <a:gd name="adj2" fmla="val 327528"/>
            <a:gd name="adj3" fmla="val 8672472"/>
            <a:gd name="adj4" fmla="val 5400251"/>
            <a:gd name="adj5" fmla="val 5932"/>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3AD93FC-A440-483A-81E9-FE35E8C83112}">
      <dsp:nvSpPr>
        <dsp:cNvPr id="0" name=""/>
        <dsp:cNvSpPr/>
      </dsp:nvSpPr>
      <dsp:spPr>
        <a:xfrm>
          <a:off x="79519" y="86781"/>
          <a:ext cx="3532621" cy="3532621"/>
        </a:xfrm>
        <a:prstGeom prst="circularArrow">
          <a:avLst>
            <a:gd name="adj1" fmla="val 5085"/>
            <a:gd name="adj2" fmla="val 327528"/>
            <a:gd name="adj3" fmla="val 12272472"/>
            <a:gd name="adj4" fmla="val 9000000"/>
            <a:gd name="adj5" fmla="val 5932"/>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7F83677-A4BC-47E8-866F-99C84A6DDBC5}">
      <dsp:nvSpPr>
        <dsp:cNvPr id="0" name=""/>
        <dsp:cNvSpPr/>
      </dsp:nvSpPr>
      <dsp:spPr>
        <a:xfrm>
          <a:off x="154379" y="14528"/>
          <a:ext cx="3532621" cy="3532621"/>
        </a:xfrm>
        <a:prstGeom prst="circularArrow">
          <a:avLst>
            <a:gd name="adj1" fmla="val 5085"/>
            <a:gd name="adj2" fmla="val 327528"/>
            <a:gd name="adj3" fmla="val 15872221"/>
            <a:gd name="adj4" fmla="val 12600000"/>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AB308-CEE6-4110-91CA-4D0A58CBFA60}">
      <dsp:nvSpPr>
        <dsp:cNvPr id="0" name=""/>
        <dsp:cNvSpPr/>
      </dsp:nvSpPr>
      <dsp:spPr>
        <a:xfrm>
          <a:off x="4317" y="700895"/>
          <a:ext cx="2469418" cy="7920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ea"/>
              <a:ea typeface="+mn-ea"/>
            </a:rPr>
            <a:t>评论与问题提取</a:t>
          </a:r>
        </a:p>
      </dsp:txBody>
      <dsp:txXfrm>
        <a:off x="27514" y="724092"/>
        <a:ext cx="2423024" cy="745607"/>
      </dsp:txXfrm>
    </dsp:sp>
    <dsp:sp modelId="{4FEB6F5D-707F-4E50-BD26-6F8255F394D0}">
      <dsp:nvSpPr>
        <dsp:cNvPr id="0" name=""/>
        <dsp:cNvSpPr/>
      </dsp:nvSpPr>
      <dsp:spPr>
        <a:xfrm>
          <a:off x="251259" y="1492896"/>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9D635D-24F2-48AA-9EA4-1BC8FB1D3059}">
      <dsp:nvSpPr>
        <dsp:cNvPr id="0" name=""/>
        <dsp:cNvSpPr/>
      </dsp:nvSpPr>
      <dsp:spPr>
        <a:xfrm>
          <a:off x="498201" y="1742906"/>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ct val="90000"/>
            </a:lnSpc>
            <a:spcBef>
              <a:spcPct val="0"/>
            </a:spcBef>
            <a:spcAft>
              <a:spcPct val="35000"/>
            </a:spcAft>
            <a:buFont typeface="Wingdings" panose="05000000000000000000" pitchFamily="2" charset="2"/>
            <a:buNone/>
          </a:pPr>
          <a:r>
            <a:rPr lang="zh-CN" altLang="en-US" sz="1600" kern="1200" dirty="0">
              <a:latin typeface="微软雅黑" panose="020B0503020204020204" pitchFamily="34" charset="-122"/>
              <a:ea typeface="微软雅黑" panose="020B0503020204020204" pitchFamily="34" charset="-122"/>
            </a:rPr>
            <a:t>系统采集</a:t>
          </a:r>
          <a:r>
            <a:rPr lang="en-US" altLang="en-US" sz="1600" kern="1200" dirty="0">
              <a:latin typeface="微软雅黑" panose="020B0503020204020204" pitchFamily="34" charset="-122"/>
              <a:ea typeface="微软雅黑" panose="020B0503020204020204" pitchFamily="34" charset="-122"/>
            </a:rPr>
            <a:t>B</a:t>
          </a:r>
          <a:r>
            <a:rPr lang="zh-CN" altLang="en-US" sz="1600" kern="1200" dirty="0">
              <a:latin typeface="微软雅黑" panose="020B0503020204020204" pitchFamily="34" charset="-122"/>
              <a:ea typeface="微软雅黑" panose="020B0503020204020204" pitchFamily="34" charset="-122"/>
            </a:rPr>
            <a:t>站相关视频的评论、弹幕及回复，建立语义识别与编码机制，结合人工复核，从非结构化文本中初步筛选出具有“问题型”特征的内容。</a:t>
          </a:r>
        </a:p>
      </dsp:txBody>
      <dsp:txXfrm>
        <a:off x="563398" y="1808103"/>
        <a:ext cx="2095599" cy="2617535"/>
      </dsp:txXfrm>
    </dsp:sp>
    <dsp:sp modelId="{20D7BB91-8AFB-469F-96F5-F39191EC5416}">
      <dsp:nvSpPr>
        <dsp:cNvPr id="0" name=""/>
        <dsp:cNvSpPr/>
      </dsp:nvSpPr>
      <dsp:spPr>
        <a:xfrm>
          <a:off x="2973756" y="700895"/>
          <a:ext cx="2469418" cy="7920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ts val="2600"/>
            </a:lnSpc>
            <a:spcBef>
              <a:spcPct val="0"/>
            </a:spcBef>
            <a:spcAft>
              <a:spcPts val="0"/>
            </a:spcAft>
            <a:buNone/>
          </a:pPr>
          <a:r>
            <a:rPr lang="zh-CN" altLang="en-US" sz="1800" kern="1200" dirty="0">
              <a:latin typeface="+mn-ea"/>
              <a:ea typeface="+mn-ea"/>
            </a:rPr>
            <a:t>青少年生殖健康问题</a:t>
          </a:r>
          <a:br>
            <a:rPr lang="en-US" altLang="zh-CN" sz="1800" kern="1200" dirty="0">
              <a:latin typeface="+mn-ea"/>
              <a:ea typeface="+mn-ea"/>
            </a:rPr>
          </a:br>
          <a:r>
            <a:rPr lang="zh-CN" altLang="en-US" sz="1800" kern="1200" dirty="0">
              <a:latin typeface="+mn-ea"/>
              <a:ea typeface="+mn-ea"/>
            </a:rPr>
            <a:t>分类分析</a:t>
          </a:r>
        </a:p>
      </dsp:txBody>
      <dsp:txXfrm>
        <a:off x="2996953" y="724092"/>
        <a:ext cx="2423024" cy="745607"/>
      </dsp:txXfrm>
    </dsp:sp>
    <dsp:sp modelId="{2256FACA-8AD8-429C-A486-BF8DAC0BB0FA}">
      <dsp:nvSpPr>
        <dsp:cNvPr id="0" name=""/>
        <dsp:cNvSpPr/>
      </dsp:nvSpPr>
      <dsp:spPr>
        <a:xfrm>
          <a:off x="3220698" y="1492896"/>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72BFDF-98D5-48A5-8D8E-5752CEE03170}">
      <dsp:nvSpPr>
        <dsp:cNvPr id="0" name=""/>
        <dsp:cNvSpPr/>
      </dsp:nvSpPr>
      <dsp:spPr>
        <a:xfrm>
          <a:off x="3467640" y="1742906"/>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ts val="1800"/>
            </a:spcAft>
            <a:buFont typeface="Arial" panose="020B0604020202020204" pitchFamily="34" charset="0"/>
            <a:buNone/>
          </a:pPr>
          <a:r>
            <a:rPr lang="zh-CN" altLang="en-US" sz="1600" kern="1200" dirty="0">
              <a:latin typeface="微软雅黑" panose="020B0503020204020204" pitchFamily="34" charset="-122"/>
              <a:ea typeface="微软雅黑" panose="020B0503020204020204" pitchFamily="34" charset="-122"/>
            </a:rPr>
            <a:t>利用主题建模、语义聚类等方法，对问题进行系统分类。定量分析各类问题的分布情况和特点，揭示青少年的关注重点与知识缺口。</a:t>
          </a:r>
        </a:p>
      </dsp:txBody>
      <dsp:txXfrm>
        <a:off x="3532837" y="1808103"/>
        <a:ext cx="2095599" cy="2617535"/>
      </dsp:txXfrm>
    </dsp:sp>
    <dsp:sp modelId="{2C9673B4-92DB-48FE-BDE5-CBAF1CDB053C}">
      <dsp:nvSpPr>
        <dsp:cNvPr id="0" name=""/>
        <dsp:cNvSpPr/>
      </dsp:nvSpPr>
      <dsp:spPr>
        <a:xfrm>
          <a:off x="5943195" y="700895"/>
          <a:ext cx="2469418" cy="7920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ea"/>
              <a:ea typeface="+mn-ea"/>
            </a:rPr>
            <a:t>问题规范化与问答生成</a:t>
          </a:r>
        </a:p>
      </dsp:txBody>
      <dsp:txXfrm>
        <a:off x="5966392" y="724092"/>
        <a:ext cx="2423024" cy="745607"/>
      </dsp:txXfrm>
    </dsp:sp>
    <dsp:sp modelId="{04D9F8EF-6AFF-42F1-8ED5-BB0CDC18CB72}">
      <dsp:nvSpPr>
        <dsp:cNvPr id="0" name=""/>
        <dsp:cNvSpPr/>
      </dsp:nvSpPr>
      <dsp:spPr>
        <a:xfrm>
          <a:off x="6190137" y="1492896"/>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DE6347-C73E-4901-83CA-E9C369B5D932}">
      <dsp:nvSpPr>
        <dsp:cNvPr id="0" name=""/>
        <dsp:cNvSpPr/>
      </dsp:nvSpPr>
      <dsp:spPr>
        <a:xfrm>
          <a:off x="6437079" y="1742906"/>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ts val="1800"/>
            </a:spcAft>
            <a:buNone/>
          </a:pPr>
          <a:r>
            <a:rPr lang="zh-CN" altLang="en-US" sz="1600" kern="1200" dirty="0">
              <a:latin typeface="微软雅黑" panose="020B0503020204020204" pitchFamily="34" charset="-122"/>
              <a:ea typeface="微软雅黑" panose="020B0503020204020204" pitchFamily="34" charset="-122"/>
            </a:rPr>
            <a:t>借助大语言模型对用户问题进行正式化、科学化改写。利用大语言模型生成对应答案，结合人工审核与修订，形成高质量的问答对，构建标准化问答数据集。</a:t>
          </a:r>
        </a:p>
      </dsp:txBody>
      <dsp:txXfrm>
        <a:off x="6502276" y="1808103"/>
        <a:ext cx="2095599" cy="2617535"/>
      </dsp:txXfrm>
    </dsp:sp>
    <dsp:sp modelId="{5A4AA555-41A6-419E-9E76-E158766E41C9}">
      <dsp:nvSpPr>
        <dsp:cNvPr id="0" name=""/>
        <dsp:cNvSpPr/>
      </dsp:nvSpPr>
      <dsp:spPr>
        <a:xfrm>
          <a:off x="8912634" y="700895"/>
          <a:ext cx="2469418" cy="7920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latin typeface="+mn-ea"/>
              <a:ea typeface="+mn-ea"/>
            </a:rPr>
            <a:t>模型微调与效果评估</a:t>
          </a:r>
        </a:p>
      </dsp:txBody>
      <dsp:txXfrm>
        <a:off x="8935831" y="724092"/>
        <a:ext cx="2423024" cy="745607"/>
      </dsp:txXfrm>
    </dsp:sp>
    <dsp:sp modelId="{D672CE27-A8DE-41B7-98B1-91D3D1BBD3C8}">
      <dsp:nvSpPr>
        <dsp:cNvPr id="0" name=""/>
        <dsp:cNvSpPr/>
      </dsp:nvSpPr>
      <dsp:spPr>
        <a:xfrm>
          <a:off x="9159576" y="1492896"/>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022D22-C01C-4B3E-A384-8CD07E5CC568}">
      <dsp:nvSpPr>
        <dsp:cNvPr id="0" name=""/>
        <dsp:cNvSpPr/>
      </dsp:nvSpPr>
      <dsp:spPr>
        <a:xfrm>
          <a:off x="9406517" y="1742906"/>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选择合适的开源大模型进行指令微调实验，通过自动化指标与人工评估，从指导性、准确性、完整性等维度综合对比微调前后的模型性能。</a:t>
          </a:r>
        </a:p>
      </dsp:txBody>
      <dsp:txXfrm>
        <a:off x="9471714" y="1808103"/>
        <a:ext cx="2095599" cy="2617535"/>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0F783F24-5C15-4D68-A484-913DE326CD9A}" type="datetimeFigureOut">
              <a:rPr lang="zh-CN" altLang="en-US" smtClean="0"/>
              <a:pPr/>
              <a:t>2026/5/13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8F332AE-CF90-437C-9F1F-BE6050743CDA}" type="slidenum">
              <a:rPr lang="zh-CN" altLang="en-US" smtClean="0"/>
              <a:pPr/>
              <a:t>‹#›</a:t>
            </a:fld>
            <a:endParaRPr lang="zh-CN" altLang="en-US" dirty="0"/>
          </a:p>
        </p:txBody>
      </p:sp>
    </p:spTree>
    <p:extLst>
      <p:ext uri="{BB962C8B-B14F-4D97-AF65-F5344CB8AC3E}">
        <p14:creationId xmlns:p14="http://schemas.microsoft.com/office/powerpoint/2010/main" val="397381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各位老师好，我是周子轩，我的毕业设计题目是“基于大语言模型的社交媒体青少年生殖健康评论分类分析与问答生成研究”。指导老师是黄若尘老师。</a:t>
            </a:r>
            <a:endParaRPr lang="en-US" altLang="zh-CN"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1</a:t>
            </a:fld>
            <a:endParaRPr lang="zh-CN" altLang="en-US" dirty="0"/>
          </a:p>
        </p:txBody>
      </p:sp>
    </p:spTree>
    <p:extLst>
      <p:ext uri="{BB962C8B-B14F-4D97-AF65-F5344CB8AC3E}">
        <p14:creationId xmlns:p14="http://schemas.microsoft.com/office/powerpoint/2010/main" val="2046701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我的报告将通过以下四部分展开。</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2</a:t>
            </a:fld>
            <a:endParaRPr lang="zh-CN" altLang="en-US" dirty="0"/>
          </a:p>
        </p:txBody>
      </p:sp>
    </p:spTree>
    <p:extLst>
      <p:ext uri="{BB962C8B-B14F-4D97-AF65-F5344CB8AC3E}">
        <p14:creationId xmlns:p14="http://schemas.microsoft.com/office/powerpoint/2010/main" val="145740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第一部分 研究背景与意义</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3</a:t>
            </a:fld>
            <a:endParaRPr lang="zh-CN" altLang="en-US" dirty="0"/>
          </a:p>
        </p:txBody>
      </p:sp>
    </p:spTree>
    <p:extLst>
      <p:ext uri="{BB962C8B-B14F-4D97-AF65-F5344CB8AC3E}">
        <p14:creationId xmlns:p14="http://schemas.microsoft.com/office/powerpoint/2010/main" val="2822420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u="sng" dirty="0"/>
              <a:t>首先，关于本研究的背景。青少年生殖健康问题在全球范围内都十分严峻。</a:t>
            </a:r>
            <a:r>
              <a:rPr lang="zh-CN" altLang="en-US" dirty="0"/>
              <a:t>世界卫生组织和</a:t>
            </a:r>
            <a:r>
              <a:rPr lang="en-US" altLang="zh-CN" dirty="0"/>
              <a:t>《</a:t>
            </a:r>
            <a:r>
              <a:rPr lang="zh-CN" altLang="en-US" dirty="0"/>
              <a:t>柳叶刀</a:t>
            </a:r>
            <a:r>
              <a:rPr lang="en-US" altLang="zh-CN" dirty="0"/>
              <a:t>》</a:t>
            </a:r>
            <a:r>
              <a:rPr lang="zh-CN" altLang="en-US" dirty="0"/>
              <a:t>的报告都明确指出，相关问题存在被长期忽视的情况 。</a:t>
            </a:r>
            <a:endParaRPr lang="en-US" altLang="zh-CN" u="sng" strike="sngStrike" dirty="0"/>
          </a:p>
          <a:p>
            <a:r>
              <a:rPr lang="zh-CN" altLang="en-US" dirty="0"/>
              <a:t>中国也面临同样的挑战，包括青少年非意愿妊娠、人工流产及性病感染率持续上升的严峻现状。</a:t>
            </a:r>
            <a:endParaRPr lang="en-US" altLang="zh-CN" u="sng" dirty="0"/>
          </a:p>
          <a:p>
            <a:r>
              <a:rPr lang="zh-CN" altLang="en-US" u="sng" dirty="0"/>
              <a:t>不论是全球视角还是中国的现状，都反映出一个核心矛盾：那就是青少年日益严峻的健康风险与当前亟需加强的生殖健康教育之间的鸿沟。</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4</a:t>
            </a:fld>
            <a:endParaRPr lang="zh-CN" altLang="en-US" dirty="0"/>
          </a:p>
        </p:txBody>
      </p:sp>
    </p:spTree>
    <p:extLst>
      <p:ext uri="{BB962C8B-B14F-4D97-AF65-F5344CB8AC3E}">
        <p14:creationId xmlns:p14="http://schemas.microsoft.com/office/powerpoint/2010/main" val="1259462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u="sng" dirty="0"/>
              <a:t>传统教育面临文化</a:t>
            </a:r>
            <a:r>
              <a:rPr lang="zh-CN" altLang="en-US" sz="1200" u="sng" kern="1200" dirty="0">
                <a:latin typeface="+mn-ea"/>
              </a:rPr>
              <a:t>敏感性</a:t>
            </a:r>
            <a:r>
              <a:rPr lang="zh-CN" altLang="en-US" u="sng" dirty="0"/>
              <a:t>高、覆盖面不足和效果不佳的困境，于是青少年转向了</a:t>
            </a:r>
            <a:r>
              <a:rPr lang="en-US" altLang="zh-CN" u="sng" dirty="0"/>
              <a:t>B</a:t>
            </a:r>
            <a:r>
              <a:rPr lang="zh-CN" altLang="en-US" u="sng" dirty="0"/>
              <a:t>站这类更便捷、匿名的社交平台，为我们提供了一个洞察他们真实困惑的天然“问题语料库”。</a:t>
            </a:r>
          </a:p>
          <a:p>
            <a:r>
              <a:rPr lang="zh-CN" altLang="en-US" u="sng" dirty="0"/>
              <a:t>但这个库藏的内容良莠不齐，因此，</a:t>
            </a:r>
            <a:r>
              <a:rPr lang="zh-CN" altLang="en-US" sz="1200" u="sng" dirty="0">
                <a:latin typeface="微软雅黑" panose="020B0503020204020204" pitchFamily="34" charset="-122"/>
                <a:ea typeface="微软雅黑" panose="020B0503020204020204" pitchFamily="34" charset="-122"/>
              </a:rPr>
              <a:t>如何从海量、非结构化的文本中挖掘价值，并转化为科学、规范的知识资源，成为关键挑战</a:t>
            </a:r>
            <a:endParaRPr lang="zh-CN" altLang="en-US" u="sng"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5</a:t>
            </a:fld>
            <a:endParaRPr lang="zh-CN" altLang="en-US" dirty="0"/>
          </a:p>
        </p:txBody>
      </p:sp>
    </p:spTree>
    <p:extLst>
      <p:ext uri="{BB962C8B-B14F-4D97-AF65-F5344CB8AC3E}">
        <p14:creationId xmlns:p14="http://schemas.microsoft.com/office/powerpoint/2010/main" val="2536188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10501-3BDF-4D53-230E-B5886F4521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D5A98E-E107-5D47-C959-E8046D5F04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3EE4E7-5B49-6AAE-2B9F-0998744760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sng" spc="0" baseline="0" dirty="0">
                <a:latin typeface="华文中宋" panose="02010600040101010101" pitchFamily="2" charset="-122"/>
                <a:ea typeface="华文中宋" panose="02010600040101010101" pitchFamily="2" charset="-122"/>
              </a:rPr>
              <a:t>能为开发智能问答机器人、优化平台内容推荐提供科学的依据和实践基础</a:t>
            </a:r>
            <a:endParaRPr lang="zh-CN" altLang="en-US" u="sng" dirty="0"/>
          </a:p>
          <a:p>
            <a:endParaRPr lang="zh-CN" altLang="en-US" dirty="0"/>
          </a:p>
        </p:txBody>
      </p:sp>
      <p:sp>
        <p:nvSpPr>
          <p:cNvPr id="4" name="灯片编号占位符 3">
            <a:extLst>
              <a:ext uri="{FF2B5EF4-FFF2-40B4-BE49-F238E27FC236}">
                <a16:creationId xmlns:a16="http://schemas.microsoft.com/office/drawing/2014/main" id="{86573301-64D5-7264-8221-CE182AD84F07}"/>
              </a:ext>
            </a:extLst>
          </p:cNvPr>
          <p:cNvSpPr>
            <a:spLocks noGrp="1"/>
          </p:cNvSpPr>
          <p:nvPr>
            <p:ph type="sldNum" sz="quarter" idx="5"/>
          </p:nvPr>
        </p:nvSpPr>
        <p:spPr/>
        <p:txBody>
          <a:bodyPr/>
          <a:lstStyle/>
          <a:p>
            <a:fld id="{78F332AE-CF90-437C-9F1F-BE6050743CDA}" type="slidenum">
              <a:rPr lang="zh-CN" altLang="en-US" smtClean="0"/>
              <a:pPr/>
              <a:t>6</a:t>
            </a:fld>
            <a:endParaRPr lang="zh-CN" altLang="en-US" dirty="0"/>
          </a:p>
        </p:txBody>
      </p:sp>
    </p:spTree>
    <p:extLst>
      <p:ext uri="{BB962C8B-B14F-4D97-AF65-F5344CB8AC3E}">
        <p14:creationId xmlns:p14="http://schemas.microsoft.com/office/powerpoint/2010/main" val="3674951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F1B8A-8A96-35E1-CD4F-E46D5F08BA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D4A3E4-703B-7DFF-F02D-B0D4C848BC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EC1D3D-F301-618D-FF3E-DC2F79E9D958}"/>
              </a:ext>
            </a:extLst>
          </p:cNvPr>
          <p:cNvSpPr>
            <a:spLocks noGrp="1"/>
          </p:cNvSpPr>
          <p:nvPr>
            <p:ph type="body" idx="1"/>
          </p:nvPr>
        </p:nvSpPr>
        <p:spPr/>
        <p:txBody>
          <a:bodyPr/>
          <a:lstStyle/>
          <a:p>
            <a:r>
              <a:rPr lang="zh-CN" altLang="en-US" dirty="0"/>
              <a:t>第二部分 研究内容与方法</a:t>
            </a:r>
          </a:p>
        </p:txBody>
      </p:sp>
      <p:sp>
        <p:nvSpPr>
          <p:cNvPr id="4" name="灯片编号占位符 3">
            <a:extLst>
              <a:ext uri="{FF2B5EF4-FFF2-40B4-BE49-F238E27FC236}">
                <a16:creationId xmlns:a16="http://schemas.microsoft.com/office/drawing/2014/main" id="{CE39B927-37AC-6EA6-B679-739A26B23B66}"/>
              </a:ext>
            </a:extLst>
          </p:cNvPr>
          <p:cNvSpPr>
            <a:spLocks noGrp="1"/>
          </p:cNvSpPr>
          <p:nvPr>
            <p:ph type="sldNum" sz="quarter" idx="5"/>
          </p:nvPr>
        </p:nvSpPr>
        <p:spPr/>
        <p:txBody>
          <a:bodyPr/>
          <a:lstStyle/>
          <a:p>
            <a:fld id="{78F332AE-CF90-437C-9F1F-BE6050743CDA}" type="slidenum">
              <a:rPr lang="zh-CN" altLang="en-US" smtClean="0"/>
              <a:pPr/>
              <a:t>7</a:t>
            </a:fld>
            <a:endParaRPr lang="zh-CN" altLang="en-US" dirty="0"/>
          </a:p>
        </p:txBody>
      </p:sp>
    </p:spTree>
    <p:extLst>
      <p:ext uri="{BB962C8B-B14F-4D97-AF65-F5344CB8AC3E}">
        <p14:creationId xmlns:p14="http://schemas.microsoft.com/office/powerpoint/2010/main" val="1825566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22C1F-0D6F-D951-1ACF-3C5AC50213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434F1E-31D6-E595-247E-8E2245422E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0717C9-D127-33BF-004C-481749CF72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sng" dirty="0">
                <a:latin typeface="华文中宋" panose="02010600040101010101" pitchFamily="2" charset="-122"/>
                <a:ea typeface="华文中宋" panose="02010600040101010101" pitchFamily="2" charset="-122"/>
              </a:rPr>
              <a:t>第一是：</a:t>
            </a:r>
            <a:endParaRPr lang="en-US" altLang="zh-CN" sz="1200" u="sng" dirty="0">
              <a:latin typeface="华文中宋" panose="02010600040101010101" pitchFamily="2" charset="-122"/>
              <a:ea typeface="华文中宋"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华文中宋" panose="02010600040101010101" pitchFamily="2" charset="-122"/>
                <a:ea typeface="华文中宋" panose="02010600040101010101" pitchFamily="2" charset="-122"/>
              </a:rPr>
              <a:t>系统采集</a:t>
            </a:r>
            <a:r>
              <a:rPr lang="en-US" altLang="en-US" sz="1200" dirty="0">
                <a:latin typeface="华文中宋" panose="02010600040101010101" pitchFamily="2" charset="-122"/>
                <a:ea typeface="华文中宋" panose="02010600040101010101" pitchFamily="2" charset="-122"/>
              </a:rPr>
              <a:t>B</a:t>
            </a:r>
            <a:r>
              <a:rPr lang="zh-CN" altLang="en-US" sz="1200" dirty="0">
                <a:latin typeface="华文中宋" panose="02010600040101010101" pitchFamily="2" charset="-122"/>
                <a:ea typeface="华文中宋" panose="02010600040101010101" pitchFamily="2" charset="-122"/>
              </a:rPr>
              <a:t>站相关视频的评论、弹幕及回复，初步筛选出具有“问题型”特征的内容。</a:t>
            </a:r>
          </a:p>
          <a:p>
            <a:pPr lvl="0" algn="just">
              <a:buFont typeface="Arial" panose="020B0604020202020204" pitchFamily="34" charset="0"/>
              <a:buNone/>
            </a:pPr>
            <a:r>
              <a:rPr lang="zh-CN" altLang="en-US" sz="1200" dirty="0">
                <a:latin typeface="华文中宋" panose="02010600040101010101" pitchFamily="2" charset="-122"/>
                <a:ea typeface="华文中宋" panose="02010600040101010101" pitchFamily="2" charset="-122"/>
              </a:rPr>
              <a:t>利用主题建模、语义聚类等方法，对问题进行系统分类，并定量分析各类问题的分布情况和特点。</a:t>
            </a:r>
            <a:endParaRPr lang="en-US" altLang="zh-CN" sz="1200" dirty="0">
              <a:latin typeface="华文中宋" panose="02010600040101010101" pitchFamily="2" charset="-122"/>
              <a:ea typeface="华文中宋" panose="02010600040101010101" pitchFamily="2" charset="-122"/>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dirty="0">
                <a:latin typeface="华文中宋" panose="02010600040101010101" pitchFamily="2" charset="-122"/>
                <a:ea typeface="华文中宋" panose="02010600040101010101" pitchFamily="2" charset="-122"/>
              </a:rPr>
              <a:t>借助大语言模型行正式化改写用户问题并生成对应答案，构建标准化问答数据集。</a:t>
            </a:r>
          </a:p>
          <a:p>
            <a:pPr lvl="0" algn="just">
              <a:buFont typeface="Arial" panose="020B0604020202020204" pitchFamily="34" charset="0"/>
              <a:buNone/>
            </a:pPr>
            <a:r>
              <a:rPr lang="zh-CN" altLang="en-US" dirty="0"/>
              <a:t>微调大模型并对比评估模型微调前后的性能。</a:t>
            </a:r>
          </a:p>
          <a:p>
            <a:endParaRPr lang="zh-CN" altLang="en-US" dirty="0"/>
          </a:p>
        </p:txBody>
      </p:sp>
      <p:sp>
        <p:nvSpPr>
          <p:cNvPr id="4" name="灯片编号占位符 3">
            <a:extLst>
              <a:ext uri="{FF2B5EF4-FFF2-40B4-BE49-F238E27FC236}">
                <a16:creationId xmlns:a16="http://schemas.microsoft.com/office/drawing/2014/main" id="{C580C07A-B5E2-F1A1-412D-49A91E98A90D}"/>
              </a:ext>
            </a:extLst>
          </p:cNvPr>
          <p:cNvSpPr>
            <a:spLocks noGrp="1"/>
          </p:cNvSpPr>
          <p:nvPr>
            <p:ph type="sldNum" sz="quarter" idx="5"/>
          </p:nvPr>
        </p:nvSpPr>
        <p:spPr/>
        <p:txBody>
          <a:bodyPr/>
          <a:lstStyle/>
          <a:p>
            <a:fld id="{78F332AE-CF90-437C-9F1F-BE6050743CDA}" type="slidenum">
              <a:rPr lang="zh-CN" altLang="en-US" smtClean="0"/>
              <a:pPr/>
              <a:t>8</a:t>
            </a:fld>
            <a:endParaRPr lang="zh-CN" altLang="en-US" dirty="0"/>
          </a:p>
        </p:txBody>
      </p:sp>
    </p:spTree>
    <p:extLst>
      <p:ext uri="{BB962C8B-B14F-4D97-AF65-F5344CB8AC3E}">
        <p14:creationId xmlns:p14="http://schemas.microsoft.com/office/powerpoint/2010/main" val="2198006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91C1-83CB-77CB-7631-379880F12F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5706E8-1A0E-D2DD-FC8D-BB744C5C6C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949426-DFCE-54CD-D72E-D5A0D00DF0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微软雅黑" panose="020B0503020204020204" pitchFamily="34" charset="-122"/>
                <a:ea typeface="微软雅黑" panose="020B0503020204020204" pitchFamily="34" charset="-122"/>
                <a:cs typeface="+mn-cs"/>
              </a:rPr>
              <a:t>技术路线共六层，包括利用分布式爬虫框架进行数据采集，利用</a:t>
            </a:r>
            <a:r>
              <a:rPr lang="en-US" altLang="en-US" sz="1200" dirty="0" err="1">
                <a:latin typeface="华文中宋" panose="02010600040101010101" pitchFamily="2" charset="-122"/>
                <a:ea typeface="华文中宋" panose="02010600040101010101" pitchFamily="2" charset="-122"/>
              </a:rPr>
              <a:t>jieba</a:t>
            </a:r>
            <a:r>
              <a:rPr lang="zh-CN" altLang="en-US" sz="1200" dirty="0">
                <a:latin typeface="华文中宋" panose="02010600040101010101" pitchFamily="2" charset="-122"/>
                <a:ea typeface="华文中宋" panose="02010600040101010101" pitchFamily="2" charset="-122"/>
              </a:rPr>
              <a:t>等中文分词工具结合语义检索方法进行数据处理和问题识别，结合主题建模、语义聚类与人工修订进行问题分类与专题分析，再到利用大语言模型进行问题规范化和问答生成，然后是问答数据集的构建，并以此为基础进行模型微调与效果评估。</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华文中宋" panose="02010600040101010101" pitchFamily="2" charset="-122"/>
              <a:ea typeface="华文中宋"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br>
            <a:b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b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问题分类与专题分析</a:t>
            </a:r>
          </a:p>
          <a:p>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在候选问题集合的基础上，结合主题建模、语义聚类与人工修订建立分类体系，涵盖多个核心生殖健康主题，提取显性或隐性问题，并对各类问题的比例、表述方式和需求特征进行统计和专题分析。</a:t>
            </a: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问题规范化与问答生成</a:t>
            </a:r>
          </a:p>
          <a:p>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利用大语言模型（如</a:t>
            </a:r>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Qwen2.5-32B</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）对提取出的问题进行正式化重写，</a:t>
            </a:r>
            <a:r>
              <a:rPr lang="zh-CN" altLang="zh-CN" sz="1200" u="sng" kern="1200" dirty="0">
                <a:solidFill>
                  <a:schemeClr val="tx1"/>
                </a:solidFill>
                <a:effectLst/>
                <a:latin typeface="微软雅黑" panose="020B0503020204020204" pitchFamily="34" charset="-122"/>
                <a:ea typeface="微软雅黑" panose="020B0503020204020204" pitchFamily="34" charset="-122"/>
                <a:cs typeface="+mn-cs"/>
              </a:rPr>
              <a:t>确保其语义清晰、科学规范；在此基础上</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自动生成答案，并通过人工修订保障内容的准确性与完整性。</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模型微调与效果评估</a:t>
            </a: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zh-CN" sz="1200" u="sng" kern="1200" dirty="0">
                <a:solidFill>
                  <a:schemeClr val="tx1"/>
                </a:solidFill>
                <a:effectLst/>
                <a:latin typeface="微软雅黑" panose="020B0503020204020204" pitchFamily="34" charset="-122"/>
                <a:ea typeface="微软雅黑" panose="020B0503020204020204" pitchFamily="34" charset="-122"/>
                <a:cs typeface="+mn-cs"/>
              </a:rPr>
              <a:t>在选定的开源大语言模型基础上进行指令微调</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zh-CN" sz="1200" u="sng" kern="1200" dirty="0">
                <a:solidFill>
                  <a:schemeClr val="tx1"/>
                </a:solidFill>
                <a:effectLst/>
                <a:latin typeface="微软雅黑" panose="020B0503020204020204" pitchFamily="34" charset="-122"/>
                <a:ea typeface="微软雅黑" panose="020B0503020204020204" pitchFamily="34" charset="-122"/>
                <a:cs typeface="+mn-cs"/>
              </a:rPr>
              <a:t>提升其对生殖健康教育类问题的适应性</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，并通过自动化与人工评估相结合的方法，验证微调前后模型在青少年生殖健康教育任务中的改进效果</a:t>
            </a:r>
          </a:p>
        </p:txBody>
      </p:sp>
      <p:sp>
        <p:nvSpPr>
          <p:cNvPr id="4" name="灯片编号占位符 3">
            <a:extLst>
              <a:ext uri="{FF2B5EF4-FFF2-40B4-BE49-F238E27FC236}">
                <a16:creationId xmlns:a16="http://schemas.microsoft.com/office/drawing/2014/main" id="{27C69B8C-59AB-524F-1613-8D67A573A168}"/>
              </a:ext>
            </a:extLst>
          </p:cNvPr>
          <p:cNvSpPr>
            <a:spLocks noGrp="1"/>
          </p:cNvSpPr>
          <p:nvPr>
            <p:ph type="sldNum" sz="quarter" idx="5"/>
          </p:nvPr>
        </p:nvSpPr>
        <p:spPr/>
        <p:txBody>
          <a:bodyPr/>
          <a:lstStyle/>
          <a:p>
            <a:fld id="{78F332AE-CF90-437C-9F1F-BE6050743CDA}" type="slidenum">
              <a:rPr lang="zh-CN" altLang="en-US" smtClean="0"/>
              <a:pPr/>
              <a:t>9</a:t>
            </a:fld>
            <a:endParaRPr lang="zh-CN" altLang="en-US" dirty="0"/>
          </a:p>
        </p:txBody>
      </p:sp>
    </p:spTree>
    <p:extLst>
      <p:ext uri="{BB962C8B-B14F-4D97-AF65-F5344CB8AC3E}">
        <p14:creationId xmlns:p14="http://schemas.microsoft.com/office/powerpoint/2010/main" val="1414968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BB5FB-883B-7962-20D2-9981A666BA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1D32B3-E4C4-7419-A50C-1CB3D45042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5CED9-BC9A-FAAF-FF63-5808E4B9CB54}"/>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E7624116-0D30-A770-DAF2-B61D981D368E}"/>
              </a:ext>
            </a:extLst>
          </p:cNvPr>
          <p:cNvSpPr>
            <a:spLocks noGrp="1"/>
          </p:cNvSpPr>
          <p:nvPr>
            <p:ph type="sldNum" sz="quarter" idx="5"/>
          </p:nvPr>
        </p:nvSpPr>
        <p:spPr/>
        <p:txBody>
          <a:bodyPr/>
          <a:lstStyle/>
          <a:p>
            <a:fld id="{78F332AE-CF90-437C-9F1F-BE6050743CDA}" type="slidenum">
              <a:rPr lang="zh-CN" altLang="en-US" smtClean="0"/>
              <a:pPr/>
              <a:t>10</a:t>
            </a:fld>
            <a:endParaRPr lang="zh-CN" altLang="en-US" dirty="0"/>
          </a:p>
        </p:txBody>
      </p:sp>
    </p:spTree>
    <p:extLst>
      <p:ext uri="{BB962C8B-B14F-4D97-AF65-F5344CB8AC3E}">
        <p14:creationId xmlns:p14="http://schemas.microsoft.com/office/powerpoint/2010/main" val="392368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62AAD-8222-1197-1C1A-FF10D908CC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A4B895-2B89-5B42-ED9F-03D129B09D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872FA2-AF50-484D-FDB0-4C01D44B7A4E}"/>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9D8416DC-ECF4-8080-90ED-98626AB07450}"/>
              </a:ext>
            </a:extLst>
          </p:cNvPr>
          <p:cNvSpPr>
            <a:spLocks noGrp="1"/>
          </p:cNvSpPr>
          <p:nvPr>
            <p:ph type="sldNum" sz="quarter" idx="5"/>
          </p:nvPr>
        </p:nvSpPr>
        <p:spPr/>
        <p:txBody>
          <a:bodyPr/>
          <a:lstStyle/>
          <a:p>
            <a:fld id="{78F332AE-CF90-437C-9F1F-BE6050743CDA}" type="slidenum">
              <a:rPr lang="zh-CN" altLang="en-US" smtClean="0"/>
              <a:pPr/>
              <a:t>11</a:t>
            </a:fld>
            <a:endParaRPr lang="zh-CN" altLang="en-US" dirty="0"/>
          </a:p>
        </p:txBody>
      </p:sp>
    </p:spTree>
    <p:extLst>
      <p:ext uri="{BB962C8B-B14F-4D97-AF65-F5344CB8AC3E}">
        <p14:creationId xmlns:p14="http://schemas.microsoft.com/office/powerpoint/2010/main" val="3324114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40BB4-A9CF-FC06-194B-0AA47AC8EC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30B608-3E9D-E41B-4ED8-8EC1AA417D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31B14A-224F-B719-D69C-3480E69B64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8A9BB0"/>
                </a:solidFill>
                <a:latin typeface="Quattrocento Sans" pitchFamily="34" charset="0"/>
                <a:ea typeface="Quattrocento Sans" pitchFamily="34" charset="-122"/>
                <a:cs typeface="Quattrocento Sans" pitchFamily="34" charset="-120"/>
              </a:rPr>
              <a:t>注：模型生成答案仅作为初版，所有问答对须经人工修订和专家审核方可纳入数据集；六维度评分均≥2分视为合格（详见下页）</a:t>
            </a:r>
            <a:endParaRPr lang="en-US" altLang="zh-CN" sz="1400" dirty="0"/>
          </a:p>
          <a:p>
            <a:endParaRPr lang="zh-CN" altLang="en-US" u="sng" dirty="0"/>
          </a:p>
        </p:txBody>
      </p:sp>
      <p:sp>
        <p:nvSpPr>
          <p:cNvPr id="4" name="灯片编号占位符 3">
            <a:extLst>
              <a:ext uri="{FF2B5EF4-FFF2-40B4-BE49-F238E27FC236}">
                <a16:creationId xmlns:a16="http://schemas.microsoft.com/office/drawing/2014/main" id="{8A701F03-8408-2C3C-01F9-BA5BCCBBD452}"/>
              </a:ext>
            </a:extLst>
          </p:cNvPr>
          <p:cNvSpPr>
            <a:spLocks noGrp="1"/>
          </p:cNvSpPr>
          <p:nvPr>
            <p:ph type="sldNum" sz="quarter" idx="5"/>
          </p:nvPr>
        </p:nvSpPr>
        <p:spPr/>
        <p:txBody>
          <a:bodyPr/>
          <a:lstStyle/>
          <a:p>
            <a:fld id="{78F332AE-CF90-437C-9F1F-BE6050743CDA}" type="slidenum">
              <a:rPr lang="zh-CN" altLang="en-US" smtClean="0"/>
              <a:pPr/>
              <a:t>12</a:t>
            </a:fld>
            <a:endParaRPr lang="zh-CN" altLang="en-US" dirty="0"/>
          </a:p>
        </p:txBody>
      </p:sp>
    </p:spTree>
    <p:extLst>
      <p:ext uri="{BB962C8B-B14F-4D97-AF65-F5344CB8AC3E}">
        <p14:creationId xmlns:p14="http://schemas.microsoft.com/office/powerpoint/2010/main" val="2533069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43B1-F2F7-7561-F74A-1C68EF54E6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24031B-5D47-3C71-1745-D4FDE325C2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FC8239-F638-2C2B-2BAA-D86445477680}"/>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B9D87BD4-6645-BEBD-5CF2-5297135A0B92}"/>
              </a:ext>
            </a:extLst>
          </p:cNvPr>
          <p:cNvSpPr>
            <a:spLocks noGrp="1"/>
          </p:cNvSpPr>
          <p:nvPr>
            <p:ph type="sldNum" sz="quarter" idx="5"/>
          </p:nvPr>
        </p:nvSpPr>
        <p:spPr/>
        <p:txBody>
          <a:bodyPr/>
          <a:lstStyle/>
          <a:p>
            <a:fld id="{78F332AE-CF90-437C-9F1F-BE6050743CDA}" type="slidenum">
              <a:rPr lang="zh-CN" altLang="en-US" smtClean="0"/>
              <a:pPr/>
              <a:t>13</a:t>
            </a:fld>
            <a:endParaRPr lang="zh-CN" altLang="en-US" dirty="0"/>
          </a:p>
        </p:txBody>
      </p:sp>
    </p:spTree>
    <p:extLst>
      <p:ext uri="{BB962C8B-B14F-4D97-AF65-F5344CB8AC3E}">
        <p14:creationId xmlns:p14="http://schemas.microsoft.com/office/powerpoint/2010/main" val="2539017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DCCF-F9FE-DB51-7206-66AE7B0BB9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87B84F-AD32-2826-6D47-819D51984D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D8CF92-3E67-4529-AB9A-1883B9B7137B}"/>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4E7DB17B-0536-8B0C-EA1F-DF914277EBB0}"/>
              </a:ext>
            </a:extLst>
          </p:cNvPr>
          <p:cNvSpPr>
            <a:spLocks noGrp="1"/>
          </p:cNvSpPr>
          <p:nvPr>
            <p:ph type="sldNum" sz="quarter" idx="5"/>
          </p:nvPr>
        </p:nvSpPr>
        <p:spPr/>
        <p:txBody>
          <a:bodyPr/>
          <a:lstStyle/>
          <a:p>
            <a:fld id="{78F332AE-CF90-437C-9F1F-BE6050743CDA}" type="slidenum">
              <a:rPr lang="zh-CN" altLang="en-US" smtClean="0"/>
              <a:pPr/>
              <a:t>14</a:t>
            </a:fld>
            <a:endParaRPr lang="zh-CN" altLang="en-US" dirty="0"/>
          </a:p>
        </p:txBody>
      </p:sp>
    </p:spTree>
    <p:extLst>
      <p:ext uri="{BB962C8B-B14F-4D97-AF65-F5344CB8AC3E}">
        <p14:creationId xmlns:p14="http://schemas.microsoft.com/office/powerpoint/2010/main" val="894218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391C9-F286-6C45-D542-C8D5FBFFA1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40D88A-EFA0-75FE-8ABD-160966E7B2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EBD15B-EFE3-19EA-DFC9-B863101BE7CE}"/>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1430C226-D3EB-9948-E4A9-36923BDEADA7}"/>
              </a:ext>
            </a:extLst>
          </p:cNvPr>
          <p:cNvSpPr>
            <a:spLocks noGrp="1"/>
          </p:cNvSpPr>
          <p:nvPr>
            <p:ph type="sldNum" sz="quarter" idx="5"/>
          </p:nvPr>
        </p:nvSpPr>
        <p:spPr/>
        <p:txBody>
          <a:bodyPr/>
          <a:lstStyle/>
          <a:p>
            <a:fld id="{78F332AE-CF90-437C-9F1F-BE6050743CDA}" type="slidenum">
              <a:rPr lang="zh-CN" altLang="en-US" smtClean="0"/>
              <a:pPr/>
              <a:t>15</a:t>
            </a:fld>
            <a:endParaRPr lang="zh-CN" altLang="en-US" dirty="0"/>
          </a:p>
        </p:txBody>
      </p:sp>
    </p:spTree>
    <p:extLst>
      <p:ext uri="{BB962C8B-B14F-4D97-AF65-F5344CB8AC3E}">
        <p14:creationId xmlns:p14="http://schemas.microsoft.com/office/powerpoint/2010/main" val="3159428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A275B-A401-F2E4-7D18-17805A7436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53046B-68C6-0B1C-5546-925FE224E4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EACEC7-9F61-E392-4912-366D2AF33AB6}"/>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82629804-5779-8C1E-24E7-D18A104BAF31}"/>
              </a:ext>
            </a:extLst>
          </p:cNvPr>
          <p:cNvSpPr>
            <a:spLocks noGrp="1"/>
          </p:cNvSpPr>
          <p:nvPr>
            <p:ph type="sldNum" sz="quarter" idx="5"/>
          </p:nvPr>
        </p:nvSpPr>
        <p:spPr/>
        <p:txBody>
          <a:bodyPr/>
          <a:lstStyle/>
          <a:p>
            <a:fld id="{78F332AE-CF90-437C-9F1F-BE6050743CDA}" type="slidenum">
              <a:rPr lang="zh-CN" altLang="en-US" smtClean="0"/>
              <a:pPr/>
              <a:t>16</a:t>
            </a:fld>
            <a:endParaRPr lang="zh-CN" altLang="en-US" dirty="0"/>
          </a:p>
        </p:txBody>
      </p:sp>
    </p:spTree>
    <p:extLst>
      <p:ext uri="{BB962C8B-B14F-4D97-AF65-F5344CB8AC3E}">
        <p14:creationId xmlns:p14="http://schemas.microsoft.com/office/powerpoint/2010/main" val="3937555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ABC98-4CB9-59C8-1BE6-2BECCB5C95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BF6BCB-8B74-B324-4F45-E563EB8B6A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626B6C-B12E-EC33-5C85-6DF93CED2E6E}"/>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FAE75F47-491E-AD3E-C85F-16238577DA08}"/>
              </a:ext>
            </a:extLst>
          </p:cNvPr>
          <p:cNvSpPr>
            <a:spLocks noGrp="1"/>
          </p:cNvSpPr>
          <p:nvPr>
            <p:ph type="sldNum" sz="quarter" idx="5"/>
          </p:nvPr>
        </p:nvSpPr>
        <p:spPr/>
        <p:txBody>
          <a:bodyPr/>
          <a:lstStyle/>
          <a:p>
            <a:fld id="{78F332AE-CF90-437C-9F1F-BE6050743CDA}" type="slidenum">
              <a:rPr lang="zh-CN" altLang="en-US" smtClean="0"/>
              <a:pPr/>
              <a:t>17</a:t>
            </a:fld>
            <a:endParaRPr lang="zh-CN" altLang="en-US" dirty="0"/>
          </a:p>
        </p:txBody>
      </p:sp>
    </p:spTree>
    <p:extLst>
      <p:ext uri="{BB962C8B-B14F-4D97-AF65-F5344CB8AC3E}">
        <p14:creationId xmlns:p14="http://schemas.microsoft.com/office/powerpoint/2010/main" val="3426090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15FE-A716-4F12-A18F-5B5489A514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1591A5-C862-CBB9-CEC0-65A96711AA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2AEF7B-9D24-9AB5-F8A0-A508FB1EBE97}"/>
              </a:ext>
            </a:extLst>
          </p:cNvPr>
          <p:cNvSpPr>
            <a:spLocks noGrp="1"/>
          </p:cNvSpPr>
          <p:nvPr>
            <p:ph type="body" idx="1"/>
          </p:nvPr>
        </p:nvSpPr>
        <p:spPr/>
        <p:txBody>
          <a:bodyPr/>
          <a:lstStyle/>
          <a:p>
            <a:r>
              <a:rPr lang="zh-CN" altLang="en-US" dirty="0"/>
              <a:t>第三部分 研究成果与创新</a:t>
            </a:r>
          </a:p>
        </p:txBody>
      </p:sp>
      <p:sp>
        <p:nvSpPr>
          <p:cNvPr id="4" name="灯片编号占位符 3">
            <a:extLst>
              <a:ext uri="{FF2B5EF4-FFF2-40B4-BE49-F238E27FC236}">
                <a16:creationId xmlns:a16="http://schemas.microsoft.com/office/drawing/2014/main" id="{7FD7756E-9808-86C3-0FCF-A75D091220DC}"/>
              </a:ext>
            </a:extLst>
          </p:cNvPr>
          <p:cNvSpPr>
            <a:spLocks noGrp="1"/>
          </p:cNvSpPr>
          <p:nvPr>
            <p:ph type="sldNum" sz="quarter" idx="5"/>
          </p:nvPr>
        </p:nvSpPr>
        <p:spPr/>
        <p:txBody>
          <a:bodyPr/>
          <a:lstStyle/>
          <a:p>
            <a:fld id="{78F332AE-CF90-437C-9F1F-BE6050743CDA}" type="slidenum">
              <a:rPr lang="zh-CN" altLang="en-US" smtClean="0"/>
              <a:pPr/>
              <a:t>18</a:t>
            </a:fld>
            <a:endParaRPr lang="zh-CN" altLang="en-US" dirty="0"/>
          </a:p>
        </p:txBody>
      </p:sp>
    </p:spTree>
    <p:extLst>
      <p:ext uri="{BB962C8B-B14F-4D97-AF65-F5344CB8AC3E}">
        <p14:creationId xmlns:p14="http://schemas.microsoft.com/office/powerpoint/2010/main" val="2835714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19</a:t>
            </a:fld>
            <a:endParaRPr lang="zh-CN" altLang="en-US" dirty="0"/>
          </a:p>
        </p:txBody>
      </p:sp>
    </p:spTree>
    <p:extLst>
      <p:ext uri="{BB962C8B-B14F-4D97-AF65-F5344CB8AC3E}">
        <p14:creationId xmlns:p14="http://schemas.microsoft.com/office/powerpoint/2010/main" val="2251399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9F788-F06F-55E2-2F55-64C8EE4CF4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D3911F-29A1-C851-6338-688FE4814C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C6367E-43CA-C9A3-6030-DFA7AA25A3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210E8E-5F5B-B5E2-14FF-1C7E0F5588B5}"/>
              </a:ext>
            </a:extLst>
          </p:cNvPr>
          <p:cNvSpPr>
            <a:spLocks noGrp="1"/>
          </p:cNvSpPr>
          <p:nvPr>
            <p:ph type="sldNum" sz="quarter" idx="5"/>
          </p:nvPr>
        </p:nvSpPr>
        <p:spPr/>
        <p:txBody>
          <a:bodyPr/>
          <a:lstStyle/>
          <a:p>
            <a:fld id="{78F332AE-CF90-437C-9F1F-BE6050743CDA}" type="slidenum">
              <a:rPr lang="zh-CN" altLang="en-US" smtClean="0"/>
              <a:pPr/>
              <a:t>23</a:t>
            </a:fld>
            <a:endParaRPr lang="zh-CN" altLang="en-US" dirty="0"/>
          </a:p>
        </p:txBody>
      </p:sp>
    </p:spTree>
    <p:extLst>
      <p:ext uri="{BB962C8B-B14F-4D97-AF65-F5344CB8AC3E}">
        <p14:creationId xmlns:p14="http://schemas.microsoft.com/office/powerpoint/2010/main" val="2402147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49491-CA8C-C9DF-619F-DCCE723570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726CA2-B079-B532-AF5E-E2AA532A02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F5880F-5620-223D-0DAB-1A1753526A8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21D3731-0681-76DC-7834-500099550E3C}"/>
              </a:ext>
            </a:extLst>
          </p:cNvPr>
          <p:cNvSpPr>
            <a:spLocks noGrp="1"/>
          </p:cNvSpPr>
          <p:nvPr>
            <p:ph type="sldNum" sz="quarter" idx="5"/>
          </p:nvPr>
        </p:nvSpPr>
        <p:spPr/>
        <p:txBody>
          <a:bodyPr/>
          <a:lstStyle/>
          <a:p>
            <a:fld id="{78F332AE-CF90-437C-9F1F-BE6050743CDA}" type="slidenum">
              <a:rPr lang="zh-CN" altLang="en-US" smtClean="0"/>
              <a:pPr/>
              <a:t>26</a:t>
            </a:fld>
            <a:endParaRPr lang="zh-CN" altLang="en-US" dirty="0"/>
          </a:p>
        </p:txBody>
      </p:sp>
    </p:spTree>
    <p:extLst>
      <p:ext uri="{BB962C8B-B14F-4D97-AF65-F5344CB8AC3E}">
        <p14:creationId xmlns:p14="http://schemas.microsoft.com/office/powerpoint/2010/main" val="701153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61E27-616C-364B-AD06-578EA7112C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437BA3-681D-5A6F-7899-9676E53699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1A69B2-A238-B51E-1ECC-EC746BA6506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7E3DF0C-669C-677A-15AF-3E46CFF31B8D}"/>
              </a:ext>
            </a:extLst>
          </p:cNvPr>
          <p:cNvSpPr>
            <a:spLocks noGrp="1"/>
          </p:cNvSpPr>
          <p:nvPr>
            <p:ph type="sldNum" sz="quarter" idx="5"/>
          </p:nvPr>
        </p:nvSpPr>
        <p:spPr/>
        <p:txBody>
          <a:bodyPr/>
          <a:lstStyle/>
          <a:p>
            <a:fld id="{78F332AE-CF90-437C-9F1F-BE6050743CDA}" type="slidenum">
              <a:rPr lang="zh-CN" altLang="en-US" smtClean="0"/>
              <a:pPr/>
              <a:t>27</a:t>
            </a:fld>
            <a:endParaRPr lang="zh-CN" altLang="en-US" dirty="0"/>
          </a:p>
        </p:txBody>
      </p:sp>
    </p:spTree>
    <p:extLst>
      <p:ext uri="{BB962C8B-B14F-4D97-AF65-F5344CB8AC3E}">
        <p14:creationId xmlns:p14="http://schemas.microsoft.com/office/powerpoint/2010/main" val="559367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B1580-A2C7-B9F8-1365-FFDF6257EC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38A697-D5ED-4CDA-2F50-83657502E5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F99DBF-95AB-E048-29E8-743B2851B78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1CBEAE-093C-EDDE-93D2-57D8A0AED1CF}"/>
              </a:ext>
            </a:extLst>
          </p:cNvPr>
          <p:cNvSpPr>
            <a:spLocks noGrp="1"/>
          </p:cNvSpPr>
          <p:nvPr>
            <p:ph type="sldNum" sz="quarter" idx="5"/>
          </p:nvPr>
        </p:nvSpPr>
        <p:spPr/>
        <p:txBody>
          <a:bodyPr/>
          <a:lstStyle/>
          <a:p>
            <a:fld id="{78F332AE-CF90-437C-9F1F-BE6050743CDA}" type="slidenum">
              <a:rPr lang="zh-CN" altLang="en-US" smtClean="0"/>
              <a:pPr/>
              <a:t>28</a:t>
            </a:fld>
            <a:endParaRPr lang="zh-CN" altLang="en-US" dirty="0"/>
          </a:p>
        </p:txBody>
      </p:sp>
    </p:spTree>
    <p:extLst>
      <p:ext uri="{BB962C8B-B14F-4D97-AF65-F5344CB8AC3E}">
        <p14:creationId xmlns:p14="http://schemas.microsoft.com/office/powerpoint/2010/main" val="178380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D4DDC-1276-E397-BED1-DB3324F1ED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519AE0-B2DA-9338-7BA2-23DEBC1919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187A27-ECFE-B4F8-E38B-D345D2CBB8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A8169A4-7275-9CAF-A1A1-62C03095274F}"/>
              </a:ext>
            </a:extLst>
          </p:cNvPr>
          <p:cNvSpPr>
            <a:spLocks noGrp="1"/>
          </p:cNvSpPr>
          <p:nvPr>
            <p:ph type="sldNum" sz="quarter" idx="5"/>
          </p:nvPr>
        </p:nvSpPr>
        <p:spPr/>
        <p:txBody>
          <a:bodyPr/>
          <a:lstStyle/>
          <a:p>
            <a:fld id="{78F332AE-CF90-437C-9F1F-BE6050743CDA}" type="slidenum">
              <a:rPr lang="zh-CN" altLang="en-US" smtClean="0"/>
              <a:pPr/>
              <a:t>29</a:t>
            </a:fld>
            <a:endParaRPr lang="zh-CN" altLang="en-US" dirty="0"/>
          </a:p>
        </p:txBody>
      </p:sp>
    </p:spTree>
    <p:extLst>
      <p:ext uri="{BB962C8B-B14F-4D97-AF65-F5344CB8AC3E}">
        <p14:creationId xmlns:p14="http://schemas.microsoft.com/office/powerpoint/2010/main" val="54113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30</a:t>
            </a:fld>
            <a:endParaRPr lang="zh-CN" altLang="en-US" dirty="0"/>
          </a:p>
        </p:txBody>
      </p:sp>
    </p:spTree>
    <p:extLst>
      <p:ext uri="{BB962C8B-B14F-4D97-AF65-F5344CB8AC3E}">
        <p14:creationId xmlns:p14="http://schemas.microsoft.com/office/powerpoint/2010/main" val="86758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37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3CB205BA-4361-4E5B-9711-477C74B88BC8}"/>
              </a:ext>
            </a:extLst>
          </p:cNvPr>
          <p:cNvSpPr/>
          <p:nvPr userDrawn="1"/>
        </p:nvSpPr>
        <p:spPr>
          <a:xfrm>
            <a:off x="0" y="1766854"/>
            <a:ext cx="12192000" cy="3138975"/>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343D4712-A0D4-4270-BD1B-32C0AAAFBF42}"/>
              </a:ext>
            </a:extLst>
          </p:cNvPr>
          <p:cNvGrpSpPr/>
          <p:nvPr userDrawn="1"/>
        </p:nvGrpSpPr>
        <p:grpSpPr>
          <a:xfrm>
            <a:off x="4833184" y="812181"/>
            <a:ext cx="2525633" cy="669707"/>
            <a:chOff x="4424897" y="1351534"/>
            <a:chExt cx="3151707" cy="835719"/>
          </a:xfrm>
        </p:grpSpPr>
        <p:sp>
          <p:nvSpPr>
            <p:cNvPr id="58" name="Freeform 270">
              <a:extLst>
                <a:ext uri="{FF2B5EF4-FFF2-40B4-BE49-F238E27FC236}">
                  <a16:creationId xmlns:a16="http://schemas.microsoft.com/office/drawing/2014/main" id="{F5D3F871-3D3C-4A7C-B260-73533E6A0159}"/>
                </a:ext>
              </a:extLst>
            </p:cNvPr>
            <p:cNvSpPr>
              <a:spLocks/>
            </p:cNvSpPr>
            <p:nvPr/>
          </p:nvSpPr>
          <p:spPr bwMode="auto">
            <a:xfrm>
              <a:off x="5319209" y="1444684"/>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271">
              <a:extLst>
                <a:ext uri="{FF2B5EF4-FFF2-40B4-BE49-F238E27FC236}">
                  <a16:creationId xmlns:a16="http://schemas.microsoft.com/office/drawing/2014/main" id="{523A590D-DEF0-4134-89FF-D28008F8693E}"/>
                </a:ext>
              </a:extLst>
            </p:cNvPr>
            <p:cNvSpPr>
              <a:spLocks/>
            </p:cNvSpPr>
            <p:nvPr/>
          </p:nvSpPr>
          <p:spPr bwMode="auto">
            <a:xfrm>
              <a:off x="6145958" y="1472744"/>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2">
              <a:extLst>
                <a:ext uri="{FF2B5EF4-FFF2-40B4-BE49-F238E27FC236}">
                  <a16:creationId xmlns:a16="http://schemas.microsoft.com/office/drawing/2014/main" id="{6528A2E4-AFA3-4F27-96DC-5381298E58E5}"/>
                </a:ext>
              </a:extLst>
            </p:cNvPr>
            <p:cNvSpPr>
              <a:spLocks/>
            </p:cNvSpPr>
            <p:nvPr/>
          </p:nvSpPr>
          <p:spPr bwMode="auto">
            <a:xfrm>
              <a:off x="6895440" y="1517477"/>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73">
              <a:extLst>
                <a:ext uri="{FF2B5EF4-FFF2-40B4-BE49-F238E27FC236}">
                  <a16:creationId xmlns:a16="http://schemas.microsoft.com/office/drawing/2014/main" id="{44722B21-200A-4D64-B07D-2FE06AEC124D}"/>
                </a:ext>
              </a:extLst>
            </p:cNvPr>
            <p:cNvSpPr>
              <a:spLocks noEditPoints="1"/>
            </p:cNvSpPr>
            <p:nvPr/>
          </p:nvSpPr>
          <p:spPr bwMode="auto">
            <a:xfrm>
              <a:off x="7227279" y="1441431"/>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74">
              <a:extLst>
                <a:ext uri="{FF2B5EF4-FFF2-40B4-BE49-F238E27FC236}">
                  <a16:creationId xmlns:a16="http://schemas.microsoft.com/office/drawing/2014/main" id="{4DBCBBAC-1A09-46F2-BBBC-DE045CE61BEB}"/>
                </a:ext>
              </a:extLst>
            </p:cNvPr>
            <p:cNvSpPr>
              <a:spLocks noEditPoints="1"/>
            </p:cNvSpPr>
            <p:nvPr/>
          </p:nvSpPr>
          <p:spPr bwMode="auto">
            <a:xfrm>
              <a:off x="7246392" y="1617110"/>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75">
              <a:extLst>
                <a:ext uri="{FF2B5EF4-FFF2-40B4-BE49-F238E27FC236}">
                  <a16:creationId xmlns:a16="http://schemas.microsoft.com/office/drawing/2014/main" id="{0CC41383-F4AD-4B74-BA07-3269B9512135}"/>
                </a:ext>
              </a:extLst>
            </p:cNvPr>
            <p:cNvSpPr>
              <a:spLocks/>
            </p:cNvSpPr>
            <p:nvPr/>
          </p:nvSpPr>
          <p:spPr bwMode="auto">
            <a:xfrm>
              <a:off x="6437944" y="1456070"/>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76">
              <a:extLst>
                <a:ext uri="{FF2B5EF4-FFF2-40B4-BE49-F238E27FC236}">
                  <a16:creationId xmlns:a16="http://schemas.microsoft.com/office/drawing/2014/main" id="{5ACC20D8-CFDE-4533-B8B5-C586B2C14BCC}"/>
                </a:ext>
              </a:extLst>
            </p:cNvPr>
            <p:cNvSpPr>
              <a:spLocks/>
            </p:cNvSpPr>
            <p:nvPr/>
          </p:nvSpPr>
          <p:spPr bwMode="auto">
            <a:xfrm>
              <a:off x="6513176" y="1474370"/>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77">
              <a:extLst>
                <a:ext uri="{FF2B5EF4-FFF2-40B4-BE49-F238E27FC236}">
                  <a16:creationId xmlns:a16="http://schemas.microsoft.com/office/drawing/2014/main" id="{668CE9AC-0F6C-4B6D-81E1-ED496B6D9069}"/>
                </a:ext>
              </a:extLst>
            </p:cNvPr>
            <p:cNvSpPr>
              <a:spLocks/>
            </p:cNvSpPr>
            <p:nvPr/>
          </p:nvSpPr>
          <p:spPr bwMode="auto">
            <a:xfrm>
              <a:off x="5833640" y="1597590"/>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Freeform 278">
              <a:extLst>
                <a:ext uri="{FF2B5EF4-FFF2-40B4-BE49-F238E27FC236}">
                  <a16:creationId xmlns:a16="http://schemas.microsoft.com/office/drawing/2014/main" id="{1F94FD3B-DF75-422F-9D13-9CAA27026E0A}"/>
                </a:ext>
              </a:extLst>
            </p:cNvPr>
            <p:cNvSpPr>
              <a:spLocks/>
            </p:cNvSpPr>
            <p:nvPr/>
          </p:nvSpPr>
          <p:spPr bwMode="auto">
            <a:xfrm>
              <a:off x="5773860" y="1451190"/>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79">
              <a:extLst>
                <a:ext uri="{FF2B5EF4-FFF2-40B4-BE49-F238E27FC236}">
                  <a16:creationId xmlns:a16="http://schemas.microsoft.com/office/drawing/2014/main" id="{0B61ED16-37EE-40AE-AA1D-7B3B29625734}"/>
                </a:ext>
              </a:extLst>
            </p:cNvPr>
            <p:cNvSpPr>
              <a:spLocks/>
            </p:cNvSpPr>
            <p:nvPr/>
          </p:nvSpPr>
          <p:spPr bwMode="auto">
            <a:xfrm>
              <a:off x="5971091" y="1729350"/>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0">
              <a:extLst>
                <a:ext uri="{FF2B5EF4-FFF2-40B4-BE49-F238E27FC236}">
                  <a16:creationId xmlns:a16="http://schemas.microsoft.com/office/drawing/2014/main" id="{F4EBBEBC-BA33-419F-B27F-2F55F96FCC56}"/>
                </a:ext>
              </a:extLst>
            </p:cNvPr>
            <p:cNvSpPr>
              <a:spLocks/>
            </p:cNvSpPr>
            <p:nvPr/>
          </p:nvSpPr>
          <p:spPr bwMode="auto">
            <a:xfrm>
              <a:off x="5784433" y="1791569"/>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1">
              <a:extLst>
                <a:ext uri="{FF2B5EF4-FFF2-40B4-BE49-F238E27FC236}">
                  <a16:creationId xmlns:a16="http://schemas.microsoft.com/office/drawing/2014/main" id="{B2D7E6CF-EC06-4BF6-869B-BB700BA8BEAD}"/>
                </a:ext>
              </a:extLst>
            </p:cNvPr>
            <p:cNvSpPr>
              <a:spLocks/>
            </p:cNvSpPr>
            <p:nvPr/>
          </p:nvSpPr>
          <p:spPr bwMode="auto">
            <a:xfrm>
              <a:off x="5338322" y="2027840"/>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2">
              <a:extLst>
                <a:ext uri="{FF2B5EF4-FFF2-40B4-BE49-F238E27FC236}">
                  <a16:creationId xmlns:a16="http://schemas.microsoft.com/office/drawing/2014/main" id="{4198F2DC-B7D5-4B35-92B7-3A4E79381FCD}"/>
                </a:ext>
              </a:extLst>
            </p:cNvPr>
            <p:cNvSpPr>
              <a:spLocks noEditPoints="1"/>
            </p:cNvSpPr>
            <p:nvPr/>
          </p:nvSpPr>
          <p:spPr bwMode="auto">
            <a:xfrm>
              <a:off x="5437549" y="2026621"/>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83">
              <a:extLst>
                <a:ext uri="{FF2B5EF4-FFF2-40B4-BE49-F238E27FC236}">
                  <a16:creationId xmlns:a16="http://schemas.microsoft.com/office/drawing/2014/main" id="{D4DFDD69-88FD-4170-9629-41633ED728BF}"/>
                </a:ext>
              </a:extLst>
            </p:cNvPr>
            <p:cNvSpPr>
              <a:spLocks/>
            </p:cNvSpPr>
            <p:nvPr/>
          </p:nvSpPr>
          <p:spPr bwMode="auto">
            <a:xfrm>
              <a:off x="5544500" y="2027840"/>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84">
              <a:extLst>
                <a:ext uri="{FF2B5EF4-FFF2-40B4-BE49-F238E27FC236}">
                  <a16:creationId xmlns:a16="http://schemas.microsoft.com/office/drawing/2014/main" id="{B67B4723-34AB-4591-8C87-AB2264CC8F59}"/>
                </a:ext>
              </a:extLst>
            </p:cNvPr>
            <p:cNvSpPr>
              <a:spLocks/>
            </p:cNvSpPr>
            <p:nvPr/>
          </p:nvSpPr>
          <p:spPr bwMode="auto">
            <a:xfrm>
              <a:off x="5644947" y="2027840"/>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85">
              <a:extLst>
                <a:ext uri="{FF2B5EF4-FFF2-40B4-BE49-F238E27FC236}">
                  <a16:creationId xmlns:a16="http://schemas.microsoft.com/office/drawing/2014/main" id="{462F08D4-D839-4D63-A537-7D80E0BDF47D}"/>
                </a:ext>
              </a:extLst>
            </p:cNvPr>
            <p:cNvSpPr>
              <a:spLocks/>
            </p:cNvSpPr>
            <p:nvPr/>
          </p:nvSpPr>
          <p:spPr bwMode="auto">
            <a:xfrm>
              <a:off x="5700661" y="2027840"/>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86">
              <a:extLst>
                <a:ext uri="{FF2B5EF4-FFF2-40B4-BE49-F238E27FC236}">
                  <a16:creationId xmlns:a16="http://schemas.microsoft.com/office/drawing/2014/main" id="{FAEE5A52-2829-4EFA-9BAB-635D05FED1A2}"/>
                </a:ext>
              </a:extLst>
            </p:cNvPr>
            <p:cNvSpPr>
              <a:spLocks/>
            </p:cNvSpPr>
            <p:nvPr/>
          </p:nvSpPr>
          <p:spPr bwMode="auto">
            <a:xfrm>
              <a:off x="5751900"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87">
              <a:extLst>
                <a:ext uri="{FF2B5EF4-FFF2-40B4-BE49-F238E27FC236}">
                  <a16:creationId xmlns:a16="http://schemas.microsoft.com/office/drawing/2014/main" id="{63CCAD2F-0AC5-4D33-BDB2-81E353E41DD2}"/>
                </a:ext>
              </a:extLst>
            </p:cNvPr>
            <p:cNvSpPr>
              <a:spLocks/>
            </p:cNvSpPr>
            <p:nvPr/>
          </p:nvSpPr>
          <p:spPr bwMode="auto">
            <a:xfrm>
              <a:off x="5859260" y="2026621"/>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88">
              <a:extLst>
                <a:ext uri="{FF2B5EF4-FFF2-40B4-BE49-F238E27FC236}">
                  <a16:creationId xmlns:a16="http://schemas.microsoft.com/office/drawing/2014/main" id="{F37C69F8-5D22-4A3B-A7DB-13D396755B7D}"/>
                </a:ext>
              </a:extLst>
            </p:cNvPr>
            <p:cNvSpPr>
              <a:spLocks/>
            </p:cNvSpPr>
            <p:nvPr/>
          </p:nvSpPr>
          <p:spPr bwMode="auto">
            <a:xfrm>
              <a:off x="6003219" y="2027840"/>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89">
              <a:extLst>
                <a:ext uri="{FF2B5EF4-FFF2-40B4-BE49-F238E27FC236}">
                  <a16:creationId xmlns:a16="http://schemas.microsoft.com/office/drawing/2014/main" id="{71A8CED6-8122-4C26-81B7-A78D7F6D277D}"/>
                </a:ext>
              </a:extLst>
            </p:cNvPr>
            <p:cNvSpPr>
              <a:spLocks/>
            </p:cNvSpPr>
            <p:nvPr/>
          </p:nvSpPr>
          <p:spPr bwMode="auto">
            <a:xfrm>
              <a:off x="6132538"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0">
              <a:extLst>
                <a:ext uri="{FF2B5EF4-FFF2-40B4-BE49-F238E27FC236}">
                  <a16:creationId xmlns:a16="http://schemas.microsoft.com/office/drawing/2014/main" id="{0902FC1B-FD82-49AC-A7AD-2BF427120A3D}"/>
                </a:ext>
              </a:extLst>
            </p:cNvPr>
            <p:cNvSpPr>
              <a:spLocks noEditPoints="1"/>
            </p:cNvSpPr>
            <p:nvPr/>
          </p:nvSpPr>
          <p:spPr bwMode="auto">
            <a:xfrm>
              <a:off x="6223224" y="2027840"/>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1">
              <a:extLst>
                <a:ext uri="{FF2B5EF4-FFF2-40B4-BE49-F238E27FC236}">
                  <a16:creationId xmlns:a16="http://schemas.microsoft.com/office/drawing/2014/main" id="{A3F74B0F-ABDF-4D6B-8B90-05E3EE88D80E}"/>
                </a:ext>
              </a:extLst>
            </p:cNvPr>
            <p:cNvSpPr>
              <a:spLocks/>
            </p:cNvSpPr>
            <p:nvPr/>
          </p:nvSpPr>
          <p:spPr bwMode="auto">
            <a:xfrm>
              <a:off x="6328143" y="2027840"/>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2">
              <a:extLst>
                <a:ext uri="{FF2B5EF4-FFF2-40B4-BE49-F238E27FC236}">
                  <a16:creationId xmlns:a16="http://schemas.microsoft.com/office/drawing/2014/main" id="{3E13307B-C2B7-490B-B39B-064208C73EE4}"/>
                </a:ext>
              </a:extLst>
            </p:cNvPr>
            <p:cNvSpPr>
              <a:spLocks/>
            </p:cNvSpPr>
            <p:nvPr/>
          </p:nvSpPr>
          <p:spPr bwMode="auto">
            <a:xfrm>
              <a:off x="6378977" y="2026621"/>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93">
              <a:extLst>
                <a:ext uri="{FF2B5EF4-FFF2-40B4-BE49-F238E27FC236}">
                  <a16:creationId xmlns:a16="http://schemas.microsoft.com/office/drawing/2014/main" id="{91DDCDAD-EFCC-4EE5-A904-071DCE9F6E26}"/>
                </a:ext>
              </a:extLst>
            </p:cNvPr>
            <p:cNvSpPr>
              <a:spLocks noEditPoints="1"/>
            </p:cNvSpPr>
            <p:nvPr/>
          </p:nvSpPr>
          <p:spPr bwMode="auto">
            <a:xfrm>
              <a:off x="6459090" y="2026621"/>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94">
              <a:extLst>
                <a:ext uri="{FF2B5EF4-FFF2-40B4-BE49-F238E27FC236}">
                  <a16:creationId xmlns:a16="http://schemas.microsoft.com/office/drawing/2014/main" id="{FA1735C3-F778-416D-B74F-A188FBE981F5}"/>
                </a:ext>
              </a:extLst>
            </p:cNvPr>
            <p:cNvSpPr>
              <a:spLocks/>
            </p:cNvSpPr>
            <p:nvPr/>
          </p:nvSpPr>
          <p:spPr bwMode="auto">
            <a:xfrm>
              <a:off x="6566450" y="2027840"/>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95">
              <a:extLst>
                <a:ext uri="{FF2B5EF4-FFF2-40B4-BE49-F238E27FC236}">
                  <a16:creationId xmlns:a16="http://schemas.microsoft.com/office/drawing/2014/main" id="{CE113ABA-21AD-44F3-B24B-52E030D2853D}"/>
                </a:ext>
              </a:extLst>
            </p:cNvPr>
            <p:cNvSpPr>
              <a:spLocks/>
            </p:cNvSpPr>
            <p:nvPr/>
          </p:nvSpPr>
          <p:spPr bwMode="auto">
            <a:xfrm>
              <a:off x="6696174" y="2027840"/>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96">
              <a:extLst>
                <a:ext uri="{FF2B5EF4-FFF2-40B4-BE49-F238E27FC236}">
                  <a16:creationId xmlns:a16="http://schemas.microsoft.com/office/drawing/2014/main" id="{B1AC567D-E3DA-4AAB-B583-B7BE37EF92A7}"/>
                </a:ext>
              </a:extLst>
            </p:cNvPr>
            <p:cNvSpPr>
              <a:spLocks/>
            </p:cNvSpPr>
            <p:nvPr/>
          </p:nvSpPr>
          <p:spPr bwMode="auto">
            <a:xfrm>
              <a:off x="6801094"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97">
              <a:extLst>
                <a:ext uri="{FF2B5EF4-FFF2-40B4-BE49-F238E27FC236}">
                  <a16:creationId xmlns:a16="http://schemas.microsoft.com/office/drawing/2014/main" id="{65232F45-822E-4971-BD54-946A92EB6BCC}"/>
                </a:ext>
              </a:extLst>
            </p:cNvPr>
            <p:cNvSpPr>
              <a:spLocks/>
            </p:cNvSpPr>
            <p:nvPr/>
          </p:nvSpPr>
          <p:spPr bwMode="auto">
            <a:xfrm>
              <a:off x="6908860" y="2027840"/>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98">
              <a:extLst>
                <a:ext uri="{FF2B5EF4-FFF2-40B4-BE49-F238E27FC236}">
                  <a16:creationId xmlns:a16="http://schemas.microsoft.com/office/drawing/2014/main" id="{26C8E8D8-D821-4DC8-BFB7-7CF8A64173E1}"/>
                </a:ext>
              </a:extLst>
            </p:cNvPr>
            <p:cNvSpPr>
              <a:spLocks/>
            </p:cNvSpPr>
            <p:nvPr/>
          </p:nvSpPr>
          <p:spPr bwMode="auto">
            <a:xfrm>
              <a:off x="6951967" y="2027840"/>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99">
              <a:extLst>
                <a:ext uri="{FF2B5EF4-FFF2-40B4-BE49-F238E27FC236}">
                  <a16:creationId xmlns:a16="http://schemas.microsoft.com/office/drawing/2014/main" id="{0CA78744-87AD-4EDF-A262-12EBEA46D1D7}"/>
                </a:ext>
              </a:extLst>
            </p:cNvPr>
            <p:cNvSpPr>
              <a:spLocks/>
            </p:cNvSpPr>
            <p:nvPr/>
          </p:nvSpPr>
          <p:spPr bwMode="auto">
            <a:xfrm>
              <a:off x="7055260"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9" name="Freeform 300">
              <a:extLst>
                <a:ext uri="{FF2B5EF4-FFF2-40B4-BE49-F238E27FC236}">
                  <a16:creationId xmlns:a16="http://schemas.microsoft.com/office/drawing/2014/main" id="{7D5A925F-28C3-4D76-86D4-E238B0943102}"/>
                </a:ext>
              </a:extLst>
            </p:cNvPr>
            <p:cNvSpPr>
              <a:spLocks noEditPoints="1"/>
            </p:cNvSpPr>
            <p:nvPr/>
          </p:nvSpPr>
          <p:spPr bwMode="auto">
            <a:xfrm>
              <a:off x="7146353" y="2027840"/>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0" name="Freeform 301">
              <a:extLst>
                <a:ext uri="{FF2B5EF4-FFF2-40B4-BE49-F238E27FC236}">
                  <a16:creationId xmlns:a16="http://schemas.microsoft.com/office/drawing/2014/main" id="{2A001DD7-F173-4464-A636-AB59C3D972BF}"/>
                </a:ext>
              </a:extLst>
            </p:cNvPr>
            <p:cNvSpPr>
              <a:spLocks/>
            </p:cNvSpPr>
            <p:nvPr/>
          </p:nvSpPr>
          <p:spPr bwMode="auto">
            <a:xfrm>
              <a:off x="7243546" y="2026621"/>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1" name="Freeform 302">
              <a:extLst>
                <a:ext uri="{FF2B5EF4-FFF2-40B4-BE49-F238E27FC236}">
                  <a16:creationId xmlns:a16="http://schemas.microsoft.com/office/drawing/2014/main" id="{196EC8C2-341F-45E3-9DEE-3DE387B6A500}"/>
                </a:ext>
              </a:extLst>
            </p:cNvPr>
            <p:cNvSpPr>
              <a:spLocks/>
            </p:cNvSpPr>
            <p:nvPr/>
          </p:nvSpPr>
          <p:spPr bwMode="auto">
            <a:xfrm>
              <a:off x="7322438" y="2027840"/>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 name="Freeform 303">
              <a:extLst>
                <a:ext uri="{FF2B5EF4-FFF2-40B4-BE49-F238E27FC236}">
                  <a16:creationId xmlns:a16="http://schemas.microsoft.com/office/drawing/2014/main" id="{A6A8B491-5795-4B97-A608-F7B6C307B3DD}"/>
                </a:ext>
              </a:extLst>
            </p:cNvPr>
            <p:cNvSpPr>
              <a:spLocks/>
            </p:cNvSpPr>
            <p:nvPr/>
          </p:nvSpPr>
          <p:spPr bwMode="auto">
            <a:xfrm>
              <a:off x="7369611" y="2027840"/>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5" name="Freeform 304">
              <a:extLst>
                <a:ext uri="{FF2B5EF4-FFF2-40B4-BE49-F238E27FC236}">
                  <a16:creationId xmlns:a16="http://schemas.microsoft.com/office/drawing/2014/main" id="{E9B3EB32-529C-4025-BCCF-59271AAFFFB9}"/>
                </a:ext>
              </a:extLst>
            </p:cNvPr>
            <p:cNvSpPr>
              <a:spLocks/>
            </p:cNvSpPr>
            <p:nvPr/>
          </p:nvSpPr>
          <p:spPr bwMode="auto">
            <a:xfrm>
              <a:off x="7459485" y="2027840"/>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36" name="图片 135">
              <a:extLst>
                <a:ext uri="{FF2B5EF4-FFF2-40B4-BE49-F238E27FC236}">
                  <a16:creationId xmlns:a16="http://schemas.microsoft.com/office/drawing/2014/main" id="{24E98A7E-0E16-4B23-84C2-B6AA084F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4897" y="1351534"/>
              <a:ext cx="630731" cy="835719"/>
            </a:xfrm>
            <a:prstGeom prst="rect">
              <a:avLst/>
            </a:prstGeom>
          </p:spPr>
        </p:pic>
      </p:grpSp>
      <p:sp>
        <p:nvSpPr>
          <p:cNvPr id="138" name="标题 1">
            <a:extLst>
              <a:ext uri="{FF2B5EF4-FFF2-40B4-BE49-F238E27FC236}">
                <a16:creationId xmlns:a16="http://schemas.microsoft.com/office/drawing/2014/main" id="{2E9CF270-6682-4938-B3BE-17A2AF0AF81E}"/>
              </a:ext>
            </a:extLst>
          </p:cNvPr>
          <p:cNvSpPr>
            <a:spLocks noGrp="1"/>
          </p:cNvSpPr>
          <p:nvPr>
            <p:ph type="title" hasCustomPrompt="1"/>
          </p:nvPr>
        </p:nvSpPr>
        <p:spPr>
          <a:xfrm>
            <a:off x="1567548" y="2336785"/>
            <a:ext cx="9056905" cy="707886"/>
          </a:xfrm>
        </p:spPr>
        <p:txBody>
          <a:bodyPr wrap="square">
            <a:spAutoFit/>
          </a:bodyPr>
          <a:lstStyle>
            <a:lvl1pPr algn="ctr">
              <a:lnSpc>
                <a:spcPct val="100000"/>
              </a:lnSpc>
              <a:defRPr sz="4000" b="1" spc="600">
                <a:solidFill>
                  <a:schemeClr val="bg1"/>
                </a:solidFill>
              </a:defRPr>
            </a:lvl1pPr>
          </a:lstStyle>
          <a:p>
            <a:r>
              <a:rPr lang="zh-CN" altLang="en-US" dirty="0"/>
              <a:t>南京医科大学</a:t>
            </a:r>
          </a:p>
        </p:txBody>
      </p:sp>
      <p:sp>
        <p:nvSpPr>
          <p:cNvPr id="141" name="文本占位符 14">
            <a:extLst>
              <a:ext uri="{FF2B5EF4-FFF2-40B4-BE49-F238E27FC236}">
                <a16:creationId xmlns:a16="http://schemas.microsoft.com/office/drawing/2014/main" id="{8F6339E7-DE35-4CD6-A778-2CA5D8E08267}"/>
              </a:ext>
            </a:extLst>
          </p:cNvPr>
          <p:cNvSpPr>
            <a:spLocks noGrp="1"/>
          </p:cNvSpPr>
          <p:nvPr>
            <p:ph type="body" sz="quarter" idx="13" hasCustomPrompt="1"/>
          </p:nvPr>
        </p:nvSpPr>
        <p:spPr>
          <a:xfrm>
            <a:off x="2977286" y="5423909"/>
            <a:ext cx="6237428" cy="424732"/>
          </a:xfrm>
        </p:spPr>
        <p:txBody>
          <a:bodyPr wrap="square" anchor="ctr">
            <a:spAutoFit/>
          </a:bodyPr>
          <a:lstStyle>
            <a:lvl1pPr marL="0" indent="0" algn="ctr">
              <a:buFontTx/>
              <a:buNone/>
              <a:defRPr sz="2400">
                <a:solidFill>
                  <a:schemeClr val="accent1"/>
                </a:solidFill>
              </a:defRPr>
            </a:lvl1pPr>
          </a:lstStyle>
          <a:p>
            <a:pPr lvl="0"/>
            <a:r>
              <a:rPr lang="zh-CN" altLang="en-US" dirty="0"/>
              <a:t>汇报人：南小医  丨  导师：南大医</a:t>
            </a:r>
          </a:p>
        </p:txBody>
      </p:sp>
    </p:spTree>
    <p:extLst>
      <p:ext uri="{BB962C8B-B14F-4D97-AF65-F5344CB8AC3E}">
        <p14:creationId xmlns:p14="http://schemas.microsoft.com/office/powerpoint/2010/main" val="3508632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F6A3EB8-05C4-4D56-9B73-A1DDD3BACC21}"/>
              </a:ext>
            </a:extLst>
          </p:cNvPr>
          <p:cNvSpPr/>
          <p:nvPr userDrawn="1"/>
        </p:nvSpPr>
        <p:spPr>
          <a:xfrm>
            <a:off x="-4345" y="6629400"/>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58813" y="310998"/>
            <a:ext cx="10874375" cy="814540"/>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4A181727-A34B-4640-B93E-0686B6355DC9}" type="datetime1">
              <a:rPr lang="zh-CN" altLang="en-US" smtClean="0"/>
              <a:t>2026/5/13</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58813" y="10160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A181BE-0F13-4C34-876E-20512F2BFB5C}"/>
              </a:ext>
            </a:extLst>
          </p:cNvPr>
          <p:cNvSpPr/>
          <p:nvPr userDrawn="1"/>
        </p:nvSpPr>
        <p:spPr>
          <a:xfrm>
            <a:off x="403225" y="379193"/>
            <a:ext cx="1016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E98DE255-12A0-4D4E-A70B-0DE18D49ECC7}"/>
              </a:ext>
            </a:extLst>
          </p:cNvPr>
          <p:cNvGrpSpPr/>
          <p:nvPr userDrawn="1"/>
        </p:nvGrpSpPr>
        <p:grpSpPr>
          <a:xfrm>
            <a:off x="9987330" y="467575"/>
            <a:ext cx="1391400" cy="432133"/>
            <a:chOff x="9987330" y="467575"/>
            <a:chExt cx="1391400" cy="432133"/>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9987330" y="469580"/>
              <a:ext cx="262188" cy="277227"/>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10496917" y="486876"/>
              <a:ext cx="185988" cy="242637"/>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10958878" y="514448"/>
              <a:ext cx="180724" cy="205539"/>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11163415" y="467575"/>
              <a:ext cx="215315" cy="162928"/>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11175196" y="575859"/>
              <a:ext cx="143627" cy="172703"/>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10676889" y="476598"/>
              <a:ext cx="275222" cy="317583"/>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10723260" y="487878"/>
              <a:ext cx="84973" cy="57401"/>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10304412" y="563828"/>
              <a:ext cx="117558" cy="179220"/>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10267565" y="473590"/>
              <a:ext cx="188746" cy="91490"/>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10389133" y="645041"/>
              <a:ext cx="62414" cy="58152"/>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10274082" y="683391"/>
              <a:ext cx="46623" cy="33839"/>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9999111" y="829023"/>
              <a:ext cx="55646" cy="55145"/>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0060272" y="828272"/>
              <a:ext cx="59406" cy="55646"/>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0126193" y="829023"/>
              <a:ext cx="55395" cy="55145"/>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0188106" y="829023"/>
              <a:ext cx="23562" cy="70685"/>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0222447" y="829023"/>
              <a:ext cx="20053"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10254029"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10320203" y="828272"/>
              <a:ext cx="50382" cy="56398"/>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10408936" y="829023"/>
              <a:ext cx="68179" cy="54894"/>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10488645"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10544541" y="829023"/>
              <a:ext cx="53139" cy="54894"/>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10609211" y="829023"/>
              <a:ext cx="20053" cy="54894"/>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10640544" y="828272"/>
              <a:ext cx="43866" cy="56398"/>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10689923" y="828272"/>
              <a:ext cx="59656" cy="55646"/>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10756097" y="829023"/>
              <a:ext cx="43615" cy="54894"/>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10836056" y="829023"/>
              <a:ext cx="54894" cy="55646"/>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10900726"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10967150" y="829023"/>
              <a:ext cx="19802"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10993720" y="829023"/>
              <a:ext cx="57902" cy="55646"/>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11057387"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11113534" y="829023"/>
              <a:ext cx="54393" cy="54894"/>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11173442" y="828272"/>
              <a:ext cx="38350" cy="56398"/>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11222069" y="829023"/>
              <a:ext cx="20303" cy="54894"/>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11251145" y="829023"/>
              <a:ext cx="51385" cy="54894"/>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11306541" y="829023"/>
              <a:ext cx="55145" cy="54894"/>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6099" y="412165"/>
            <a:ext cx="388766" cy="515116"/>
          </a:xfrm>
          <a:prstGeom prst="rect">
            <a:avLst/>
          </a:prstGeom>
        </p:spPr>
      </p:pic>
      <p:sp>
        <p:nvSpPr>
          <p:cNvPr id="48" name="矩形 47">
            <a:extLst>
              <a:ext uri="{FF2B5EF4-FFF2-40B4-BE49-F238E27FC236}">
                <a16:creationId xmlns:a16="http://schemas.microsoft.com/office/drawing/2014/main" id="{F5C78A11-1F5B-46F5-BC90-5E6C749BA02B}"/>
              </a:ext>
            </a:extLst>
          </p:cNvPr>
          <p:cNvSpPr/>
          <p:nvPr userDrawn="1"/>
        </p:nvSpPr>
        <p:spPr>
          <a:xfrm>
            <a:off x="-4345" y="368000"/>
            <a:ext cx="3048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25C14E2F-DF08-C46D-8425-D2ACE75C1741}"/>
              </a:ext>
            </a:extLst>
          </p:cNvPr>
          <p:cNvSpPr/>
          <p:nvPr userDrawn="1"/>
        </p:nvSpPr>
        <p:spPr>
          <a:xfrm>
            <a:off x="-4345" y="-7467"/>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8">
            <a:extLst>
              <a:ext uri="{FF2B5EF4-FFF2-40B4-BE49-F238E27FC236}">
                <a16:creationId xmlns:a16="http://schemas.microsoft.com/office/drawing/2014/main" id="{CD1B2E32-38F4-5CC8-1D79-D5229B2FE5E3}"/>
              </a:ext>
            </a:extLst>
          </p:cNvPr>
          <p:cNvSpPr>
            <a:spLocks noGrp="1"/>
          </p:cNvSpPr>
          <p:nvPr>
            <p:ph type="body" sz="quarter" idx="13" hasCustomPrompt="1"/>
          </p:nvPr>
        </p:nvSpPr>
        <p:spPr>
          <a:xfrm>
            <a:off x="4038600" y="-7467"/>
            <a:ext cx="4114800" cy="216775"/>
          </a:xfrm>
        </p:spPr>
        <p:txBody>
          <a:bodyPr>
            <a:noAutofit/>
          </a:bodyPr>
          <a:lstStyle>
            <a:lvl1pPr marL="0" indent="0" algn="ctr">
              <a:buNone/>
              <a:defRPr sz="1200">
                <a:solidFill>
                  <a:schemeClr val="bg1"/>
                </a:solidFill>
              </a:defRPr>
            </a:lvl1pPr>
          </a:lstStyle>
          <a:p>
            <a:pPr lvl="0"/>
            <a:r>
              <a:rPr lang="zh-CN" altLang="en-US" dirty="0"/>
              <a:t>当前节</a:t>
            </a:r>
          </a:p>
        </p:txBody>
      </p:sp>
    </p:spTree>
    <p:extLst>
      <p:ext uri="{BB962C8B-B14F-4D97-AF65-F5344CB8AC3E}">
        <p14:creationId xmlns:p14="http://schemas.microsoft.com/office/powerpoint/2010/main" val="2189555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空白">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B042D6F3-DD5F-4B4A-BD44-0244D60A549F}"/>
              </a:ext>
            </a:extLst>
          </p:cNvPr>
          <p:cNvSpPr/>
          <p:nvPr userDrawn="1"/>
        </p:nvSpPr>
        <p:spPr>
          <a:xfrm>
            <a:off x="1161142" y="1746404"/>
            <a:ext cx="2307771" cy="4082896"/>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F6A3EB8-05C4-4D56-9B73-A1DDD3BACC21}"/>
              </a:ext>
            </a:extLst>
          </p:cNvPr>
          <p:cNvSpPr/>
          <p:nvPr userDrawn="1"/>
        </p:nvSpPr>
        <p:spPr>
          <a:xfrm>
            <a:off x="0" y="6629400"/>
            <a:ext cx="12192000"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90364" y="310997"/>
            <a:ext cx="10858500" cy="825807"/>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ED571DAC-6D93-4750-B1A6-7CD54D2E0F20}" type="datetime1">
              <a:rPr lang="zh-CN" altLang="en-US" smtClean="0"/>
              <a:t>2026/5/13</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60400" y="10287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EF74D780-D67C-4810-A2B2-FEFCEBBE1586}"/>
              </a:ext>
            </a:extLst>
          </p:cNvPr>
          <p:cNvSpPr/>
          <p:nvPr userDrawn="1"/>
        </p:nvSpPr>
        <p:spPr>
          <a:xfrm>
            <a:off x="0" y="365164"/>
            <a:ext cx="3048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9FA181BE-0F13-4C34-876E-20512F2BFB5C}"/>
              </a:ext>
            </a:extLst>
          </p:cNvPr>
          <p:cNvSpPr/>
          <p:nvPr userDrawn="1"/>
        </p:nvSpPr>
        <p:spPr>
          <a:xfrm>
            <a:off x="403225" y="365164"/>
            <a:ext cx="1016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a:extLst>
              <a:ext uri="{FF2B5EF4-FFF2-40B4-BE49-F238E27FC236}">
                <a16:creationId xmlns:a16="http://schemas.microsoft.com/office/drawing/2014/main" id="{4E42D22D-EEBF-4BC4-B9E1-6263857A89F5}"/>
              </a:ext>
            </a:extLst>
          </p:cNvPr>
          <p:cNvGrpSpPr/>
          <p:nvPr userDrawn="1"/>
        </p:nvGrpSpPr>
        <p:grpSpPr>
          <a:xfrm>
            <a:off x="9436099" y="412165"/>
            <a:ext cx="1942631" cy="515116"/>
            <a:chOff x="713386" y="1446438"/>
            <a:chExt cx="3151707" cy="835719"/>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
        <p:nvSpPr>
          <p:cNvPr id="10" name="图片占位符 9">
            <a:extLst>
              <a:ext uri="{FF2B5EF4-FFF2-40B4-BE49-F238E27FC236}">
                <a16:creationId xmlns:a16="http://schemas.microsoft.com/office/drawing/2014/main" id="{3DAC64D1-314E-4BCE-9FC6-4824083A1CD7}"/>
              </a:ext>
            </a:extLst>
          </p:cNvPr>
          <p:cNvSpPr>
            <a:spLocks noGrp="1"/>
          </p:cNvSpPr>
          <p:nvPr>
            <p:ph type="pic" sz="quarter" idx="13"/>
          </p:nvPr>
        </p:nvSpPr>
        <p:spPr>
          <a:xfrm>
            <a:off x="1241425" y="1854507"/>
            <a:ext cx="2159000" cy="3822393"/>
          </a:xfrm>
          <a:prstGeom prst="roundRect">
            <a:avLst>
              <a:gd name="adj" fmla="val 431"/>
            </a:avLst>
          </a:prstGeom>
        </p:spPr>
        <p:txBody>
          <a:bodyPr/>
          <a:lstStyle/>
          <a:p>
            <a:endParaRPr lang="zh-CN" altLang="en-US" dirty="0"/>
          </a:p>
        </p:txBody>
      </p:sp>
      <p:pic>
        <p:nvPicPr>
          <p:cNvPr id="89" name="Picture 4">
            <a:extLst>
              <a:ext uri="{FF2B5EF4-FFF2-40B4-BE49-F238E27FC236}">
                <a16:creationId xmlns:a16="http://schemas.microsoft.com/office/drawing/2014/main" id="{8E33CCEA-9E77-4A0C-845F-2B1214CA778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8100" y1="5979" x2="97938" y2="5979"/>
                        <a14:foregroundMark x1="5155" y1="93871" x2="99558" y2="95665"/>
                        <a14:foregroundMark x1="9867" y1="93572" x2="0" y2="87145"/>
                        <a14:foregroundMark x1="2946" y1="82810" x2="4124" y2="10912"/>
                        <a14:foregroundMark x1="96760" y1="10613" x2="97938" y2="92152"/>
                        <a14:foregroundMark x1="12371" y1="97534" x2="6775" y2="99701"/>
                        <a14:foregroundMark x1="6038" y1="8819" x2="295" y2="8595"/>
                        <a14:foregroundMark x1="94404" y1="7848" x2="99705" y2="4783"/>
                        <a14:foregroundMark x1="86745" y1="4559" x2="92931" y2="149"/>
                        <a14:backgroundMark x1="38586" y1="11211" x2="73638" y2="83109"/>
                        <a14:backgroundMark x1="17231" y1="15919" x2="44919" y2="80194"/>
                        <a14:backgroundMark x1="63034" y1="20703" x2="67894" y2="41779"/>
                      </a14:backgroundRemoval>
                    </a14:imgEffect>
                  </a14:imgLayer>
                </a14:imgProps>
              </a:ext>
              <a:ext uri="{28A0092B-C50C-407E-A947-70E740481C1C}">
                <a14:useLocalDpi xmlns:a14="http://schemas.microsoft.com/office/drawing/2010/main" val="0"/>
              </a:ext>
            </a:extLst>
          </a:blip>
          <a:stretch>
            <a:fillRect/>
          </a:stretch>
        </p:blipFill>
        <p:spPr>
          <a:xfrm>
            <a:off x="1058744" y="1280834"/>
            <a:ext cx="2521688" cy="503161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47875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80E99-CFCF-43B0-B784-147975B12AB5}" type="datetime1">
              <a:rPr lang="zh-CN" altLang="en-US" smtClean="0"/>
              <a:t>2026/5/13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   </a:t>
            </a:r>
            <a:r>
              <a:rPr lang="zh-CN" altLang="en-US"/>
              <a:t>博学至精  明德至善   </a:t>
            </a:r>
            <a:r>
              <a:rPr lang="en-US" altLang="zh-CN"/>
              <a:t>——</a:t>
            </a:r>
            <a:endParaRPr lang="zh-CN"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335CC-B077-4EFF-BFF9-2EFEE3F838E2}" type="slidenum">
              <a:rPr lang="zh-CN" altLang="en-US" smtClean="0"/>
              <a:pPr/>
              <a:t>‹#›</a:t>
            </a:fld>
            <a:endParaRPr lang="zh-CN" altLang="en-US"/>
          </a:p>
        </p:txBody>
      </p:sp>
      <p:pic>
        <p:nvPicPr>
          <p:cNvPr id="7" name="图片 6">
            <a:extLst>
              <a:ext uri="{FF2B5EF4-FFF2-40B4-BE49-F238E27FC236}">
                <a16:creationId xmlns:a16="http://schemas.microsoft.com/office/drawing/2014/main" id="{2B8B85F6-51F7-EDC1-5A07-0A33FD784EE4}"/>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51" r="351" b="16216"/>
          <a:stretch/>
        </p:blipFill>
        <p:spPr>
          <a:xfrm>
            <a:off x="0" y="0"/>
            <a:ext cx="12192000" cy="6858000"/>
          </a:xfrm>
          <a:prstGeom prst="rect">
            <a:avLst/>
          </a:prstGeom>
        </p:spPr>
      </p:pic>
      <p:sp>
        <p:nvSpPr>
          <p:cNvPr id="8" name="矩形 7">
            <a:extLst>
              <a:ext uri="{FF2B5EF4-FFF2-40B4-BE49-F238E27FC236}">
                <a16:creationId xmlns:a16="http://schemas.microsoft.com/office/drawing/2014/main" id="{085DC24B-1042-135C-FD3C-7752A2B19A3F}"/>
              </a:ext>
            </a:extLst>
          </p:cNvPr>
          <p:cNvSpPr/>
          <p:nvPr userDrawn="1"/>
        </p:nvSpPr>
        <p:spPr>
          <a:xfrm>
            <a:off x="0" y="0"/>
            <a:ext cx="12192000" cy="6858000"/>
          </a:xfrm>
          <a:prstGeom prst="rect">
            <a:avLst/>
          </a:prstGeom>
          <a:solidFill>
            <a:schemeClr val="bg1">
              <a:alpha val="92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Tree>
    <p:extLst>
      <p:ext uri="{BB962C8B-B14F-4D97-AF65-F5344CB8AC3E}">
        <p14:creationId xmlns:p14="http://schemas.microsoft.com/office/powerpoint/2010/main" val="424178428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5" r:id="rId3"/>
    <p:sldLayoutId id="2147483672"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640" userDrawn="1">
          <p15:clr>
            <a:srgbClr val="F26B43"/>
          </p15:clr>
        </p15:guide>
        <p15:guide id="4" orient="horz" pos="709" userDrawn="1">
          <p15:clr>
            <a:srgbClr val="F26B43"/>
          </p15:clr>
        </p15:guide>
        <p15:guide id="5" orient="horz" pos="3929"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标题 1">
            <a:extLst>
              <a:ext uri="{FF2B5EF4-FFF2-40B4-BE49-F238E27FC236}">
                <a16:creationId xmlns:a16="http://schemas.microsoft.com/office/drawing/2014/main" id="{C6B3EA26-E452-4E7D-8C5F-EA642BED2248}"/>
              </a:ext>
            </a:extLst>
          </p:cNvPr>
          <p:cNvSpPr txBox="1">
            <a:spLocks/>
          </p:cNvSpPr>
          <p:nvPr/>
        </p:nvSpPr>
        <p:spPr>
          <a:xfrm>
            <a:off x="666750" y="2429150"/>
            <a:ext cx="10858500" cy="1655453"/>
          </a:xfrm>
          <a:prstGeom prst="rect">
            <a:avLst/>
          </a:prstGeom>
        </p:spPr>
        <p:txBody>
          <a:bodyPr vert="horz" wrap="square" lIns="91440" tIns="45720" rIns="91440" bIns="45720" rtlCol="0" anchor="ctr">
            <a:spAutoFit/>
          </a:bodyPr>
          <a:lstStyle>
            <a:lvl1pPr algn="ctr" defTabSz="914400" rtl="0" eaLnBrk="1" latinLnBrk="0" hangingPunct="1">
              <a:lnSpc>
                <a:spcPct val="100000"/>
              </a:lnSpc>
              <a:spcBef>
                <a:spcPct val="0"/>
              </a:spcBef>
              <a:buNone/>
              <a:defRPr sz="4000" b="1" kern="1200" spc="600">
                <a:solidFill>
                  <a:schemeClr val="bg1"/>
                </a:solidFill>
                <a:latin typeface="+mj-lt"/>
                <a:ea typeface="+mj-ea"/>
                <a:cs typeface="+mj-cs"/>
              </a:defRPr>
            </a:lvl1pPr>
          </a:lstStyle>
          <a:p>
            <a:pPr>
              <a:lnSpc>
                <a:spcPct val="150000"/>
              </a:lnSpc>
            </a:pPr>
            <a:r>
              <a:rPr lang="zh-CN" altLang="zh-CN" sz="3600" dirty="0"/>
              <a:t>基于大语言模型的社交媒体青少年生殖健康</a:t>
            </a:r>
            <a:br>
              <a:rPr lang="en-US" altLang="zh-CN" sz="3600" dirty="0"/>
            </a:br>
            <a:r>
              <a:rPr lang="zh-CN" altLang="zh-CN" sz="3600" dirty="0"/>
              <a:t>评论分类分析与问答生成研究</a:t>
            </a:r>
            <a:endParaRPr lang="zh-CN" altLang="en-US" sz="3600" spc="600" dirty="0"/>
          </a:p>
        </p:txBody>
      </p:sp>
      <p:sp>
        <p:nvSpPr>
          <p:cNvPr id="9" name="等腰三角形 8">
            <a:extLst>
              <a:ext uri="{FF2B5EF4-FFF2-40B4-BE49-F238E27FC236}">
                <a16:creationId xmlns:a16="http://schemas.microsoft.com/office/drawing/2014/main" id="{840A8DA7-8FF0-4E4C-BA04-BA833EF3BCF5}"/>
              </a:ext>
            </a:extLst>
          </p:cNvPr>
          <p:cNvSpPr/>
          <p:nvPr/>
        </p:nvSpPr>
        <p:spPr>
          <a:xfrm rot="10800000">
            <a:off x="5903763" y="4664140"/>
            <a:ext cx="653762" cy="56358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文本占位符 5">
            <a:extLst>
              <a:ext uri="{FF2B5EF4-FFF2-40B4-BE49-F238E27FC236}">
                <a16:creationId xmlns:a16="http://schemas.microsoft.com/office/drawing/2014/main" id="{13A5A2E5-FFA1-4A32-A67F-0FA7FD143D2C}"/>
              </a:ext>
            </a:extLst>
          </p:cNvPr>
          <p:cNvSpPr>
            <a:spLocks noGrp="1"/>
          </p:cNvSpPr>
          <p:nvPr>
            <p:ph type="body" sz="quarter" idx="13"/>
          </p:nvPr>
        </p:nvSpPr>
        <p:spPr/>
        <p:txBody>
          <a:bodyPr/>
          <a:lstStyle/>
          <a:p>
            <a:r>
              <a:rPr lang="zh-CN" altLang="en-US" dirty="0"/>
              <a:t>汇报人：周子轩 </a:t>
            </a:r>
            <a:r>
              <a:rPr lang="en-US" altLang="zh-CN" dirty="0"/>
              <a:t>| </a:t>
            </a:r>
            <a:r>
              <a:rPr lang="zh-CN" altLang="en-US" dirty="0"/>
              <a:t>导师：黄若尘</a:t>
            </a:r>
          </a:p>
        </p:txBody>
      </p:sp>
    </p:spTree>
    <p:extLst>
      <p:ext uri="{BB962C8B-B14F-4D97-AF65-F5344CB8AC3E}">
        <p14:creationId xmlns:p14="http://schemas.microsoft.com/office/powerpoint/2010/main" val="2464015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4154C12F-C00F-46E1-8B19-F18333913578}"/>
              </a:ext>
            </a:extLst>
          </p:cNvPr>
          <p:cNvPicPr>
            <a:picLocks noChangeAspect="1"/>
          </p:cNvPicPr>
          <p:nvPr/>
        </p:nvPicPr>
        <p:blipFill rotWithShape="1">
          <a:blip r:embed="rId3">
            <a:extLst>
              <a:ext uri="{28A0092B-C50C-407E-A947-70E740481C1C}">
                <a14:useLocalDpi xmlns:a14="http://schemas.microsoft.com/office/drawing/2010/main" val="0"/>
              </a:ext>
            </a:extLst>
          </a:blip>
          <a:srcRect l="88" t="35784" r="-88" b="35298"/>
          <a:stretch/>
        </p:blipFill>
        <p:spPr>
          <a:xfrm>
            <a:off x="0" y="0"/>
            <a:ext cx="12192000" cy="2350434"/>
          </a:xfrm>
          <a:prstGeom prst="rect">
            <a:avLst/>
          </a:prstGeom>
        </p:spPr>
      </p:pic>
      <p:sp>
        <p:nvSpPr>
          <p:cNvPr id="54" name="矩形 53">
            <a:extLst>
              <a:ext uri="{FF2B5EF4-FFF2-40B4-BE49-F238E27FC236}">
                <a16:creationId xmlns:a16="http://schemas.microsoft.com/office/drawing/2014/main" id="{D6021900-FA18-4C27-8B37-ADBC9FE76AB7}"/>
              </a:ext>
            </a:extLst>
          </p:cNvPr>
          <p:cNvSpPr/>
          <p:nvPr/>
        </p:nvSpPr>
        <p:spPr>
          <a:xfrm>
            <a:off x="0" y="1"/>
            <a:ext cx="12192000" cy="235043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39B8F1BE-B6FA-47F8-97B0-4DF37A700491}"/>
              </a:ext>
            </a:extLst>
          </p:cNvPr>
          <p:cNvSpPr txBox="1"/>
          <p:nvPr/>
        </p:nvSpPr>
        <p:spPr>
          <a:xfrm>
            <a:off x="5080338" y="377620"/>
            <a:ext cx="2031325" cy="1350819"/>
          </a:xfrm>
          <a:prstGeom prst="rect">
            <a:avLst/>
          </a:prstGeom>
          <a:noFill/>
        </p:spPr>
        <p:txBody>
          <a:bodyPr wrap="none" rtlCol="0">
            <a:spAutoFit/>
          </a:bodyPr>
          <a:lstStyle/>
          <a:p>
            <a:pPr algn="ctr">
              <a:lnSpc>
                <a:spcPct val="125000"/>
              </a:lnSpc>
            </a:pPr>
            <a:r>
              <a:rPr lang="zh-CN" altLang="en-US" sz="7200" dirty="0">
                <a:solidFill>
                  <a:schemeClr val="bg1"/>
                </a:solidFill>
                <a:latin typeface="+mj-ea"/>
                <a:ea typeface="+mj-ea"/>
              </a:rPr>
              <a:t>目录</a:t>
            </a:r>
          </a:p>
        </p:txBody>
      </p:sp>
      <p:grpSp>
        <p:nvGrpSpPr>
          <p:cNvPr id="60" name="组合 59">
            <a:extLst>
              <a:ext uri="{FF2B5EF4-FFF2-40B4-BE49-F238E27FC236}">
                <a16:creationId xmlns:a16="http://schemas.microsoft.com/office/drawing/2014/main" id="{0E8B1032-F139-4929-A621-75DD8E0F93C1}"/>
              </a:ext>
            </a:extLst>
          </p:cNvPr>
          <p:cNvGrpSpPr/>
          <p:nvPr/>
        </p:nvGrpSpPr>
        <p:grpSpPr>
          <a:xfrm>
            <a:off x="1903280" y="1175217"/>
            <a:ext cx="8385440" cy="0"/>
            <a:chOff x="1804330" y="1175217"/>
            <a:chExt cx="8385440" cy="0"/>
          </a:xfrm>
        </p:grpSpPr>
        <p:cxnSp>
          <p:nvCxnSpPr>
            <p:cNvPr id="57" name="直接连接符 56">
              <a:extLst>
                <a:ext uri="{FF2B5EF4-FFF2-40B4-BE49-F238E27FC236}">
                  <a16:creationId xmlns:a16="http://schemas.microsoft.com/office/drawing/2014/main" id="{4C8FD4FB-B394-4911-BDDF-391BC191E1F1}"/>
                </a:ext>
              </a:extLst>
            </p:cNvPr>
            <p:cNvCxnSpPr>
              <a:cxnSpLocks/>
            </p:cNvCxnSpPr>
            <p:nvPr/>
          </p:nvCxnSpPr>
          <p:spPr>
            <a:xfrm>
              <a:off x="1804330"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B51537C-62E0-4965-A85E-E63E3B4BE76F}"/>
                </a:ext>
              </a:extLst>
            </p:cNvPr>
            <p:cNvCxnSpPr>
              <a:cxnSpLocks/>
            </p:cNvCxnSpPr>
            <p:nvPr/>
          </p:nvCxnSpPr>
          <p:spPr>
            <a:xfrm>
              <a:off x="7518353"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2230861-893C-E880-E622-54E5ED891E9F}"/>
              </a:ext>
            </a:extLst>
          </p:cNvPr>
          <p:cNvGrpSpPr/>
          <p:nvPr/>
        </p:nvGrpSpPr>
        <p:grpSpPr>
          <a:xfrm>
            <a:off x="451834" y="3758144"/>
            <a:ext cx="2334614" cy="1408967"/>
            <a:chOff x="451834" y="3909694"/>
            <a:chExt cx="2334614" cy="1408967"/>
          </a:xfrm>
        </p:grpSpPr>
        <p:sp>
          <p:nvSpPr>
            <p:cNvPr id="17" name="矩形 16">
              <a:extLst>
                <a:ext uri="{FF2B5EF4-FFF2-40B4-BE49-F238E27FC236}">
                  <a16:creationId xmlns:a16="http://schemas.microsoft.com/office/drawing/2014/main" id="{2739079D-C84E-907B-DFBB-569CA24EA7D5}"/>
                </a:ext>
              </a:extLst>
            </p:cNvPr>
            <p:cNvSpPr/>
            <p:nvPr/>
          </p:nvSpPr>
          <p:spPr>
            <a:xfrm>
              <a:off x="451834" y="4856996"/>
              <a:ext cx="2334614"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研究背景与意义</a:t>
              </a:r>
            </a:p>
          </p:txBody>
        </p:sp>
        <p:cxnSp>
          <p:nvCxnSpPr>
            <p:cNvPr id="18" name="直接连接符 17">
              <a:extLst>
                <a:ext uri="{FF2B5EF4-FFF2-40B4-BE49-F238E27FC236}">
                  <a16:creationId xmlns:a16="http://schemas.microsoft.com/office/drawing/2014/main" id="{5465996A-3758-B394-B75D-B30846809EF9}"/>
                </a:ext>
              </a:extLst>
            </p:cNvPr>
            <p:cNvCxnSpPr>
              <a:cxnSpLocks/>
            </p:cNvCxnSpPr>
            <p:nvPr/>
          </p:nvCxnSpPr>
          <p:spPr>
            <a:xfrm>
              <a:off x="660400" y="4750166"/>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FB539261-CD3F-3C80-5D75-B14191648A1E}"/>
                </a:ext>
              </a:extLst>
            </p:cNvPr>
            <p:cNvSpPr/>
            <p:nvPr/>
          </p:nvSpPr>
          <p:spPr>
            <a:xfrm>
              <a:off x="1268621" y="390969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01</a:t>
              </a:r>
              <a:endParaRPr lang="zh-CN" altLang="en-US" sz="2800" b="1" dirty="0">
                <a:latin typeface="+mj-lt"/>
              </a:endParaRPr>
            </a:p>
          </p:txBody>
        </p:sp>
      </p:grpSp>
      <p:grpSp>
        <p:nvGrpSpPr>
          <p:cNvPr id="20" name="组合 19">
            <a:extLst>
              <a:ext uri="{FF2B5EF4-FFF2-40B4-BE49-F238E27FC236}">
                <a16:creationId xmlns:a16="http://schemas.microsoft.com/office/drawing/2014/main" id="{5CA2007F-FCED-7926-9289-C423DC30E980}"/>
              </a:ext>
            </a:extLst>
          </p:cNvPr>
          <p:cNvGrpSpPr/>
          <p:nvPr/>
        </p:nvGrpSpPr>
        <p:grpSpPr>
          <a:xfrm>
            <a:off x="3345284" y="3758144"/>
            <a:ext cx="2334614" cy="1408967"/>
            <a:chOff x="2947493" y="3933287"/>
            <a:chExt cx="2334614" cy="1408967"/>
          </a:xfrm>
        </p:grpSpPr>
        <p:sp>
          <p:nvSpPr>
            <p:cNvPr id="21" name="矩形 20">
              <a:extLst>
                <a:ext uri="{FF2B5EF4-FFF2-40B4-BE49-F238E27FC236}">
                  <a16:creationId xmlns:a16="http://schemas.microsoft.com/office/drawing/2014/main" id="{70C15502-9F2F-8DDF-E5F9-2C16AE1372AE}"/>
                </a:ext>
              </a:extLst>
            </p:cNvPr>
            <p:cNvSpPr/>
            <p:nvPr/>
          </p:nvSpPr>
          <p:spPr>
            <a:xfrm>
              <a:off x="2947493" y="4880589"/>
              <a:ext cx="2334614"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研究内容与方法</a:t>
              </a:r>
            </a:p>
          </p:txBody>
        </p:sp>
        <p:cxnSp>
          <p:nvCxnSpPr>
            <p:cNvPr id="22" name="直接连接符 21">
              <a:extLst>
                <a:ext uri="{FF2B5EF4-FFF2-40B4-BE49-F238E27FC236}">
                  <a16:creationId xmlns:a16="http://schemas.microsoft.com/office/drawing/2014/main" id="{231140F5-1D89-382E-4A04-A04492BFEB32}"/>
                </a:ext>
              </a:extLst>
            </p:cNvPr>
            <p:cNvCxnSpPr>
              <a:cxnSpLocks/>
            </p:cNvCxnSpPr>
            <p:nvPr/>
          </p:nvCxnSpPr>
          <p:spPr>
            <a:xfrm>
              <a:off x="315605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21436998-73D1-EA22-0B7B-CD9FF9187A71}"/>
                </a:ext>
              </a:extLst>
            </p:cNvPr>
            <p:cNvSpPr/>
            <p:nvPr/>
          </p:nvSpPr>
          <p:spPr>
            <a:xfrm>
              <a:off x="377498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02</a:t>
              </a:r>
              <a:endParaRPr lang="zh-CN" altLang="en-US" sz="2800" b="1" dirty="0">
                <a:latin typeface="+mj-lt"/>
              </a:endParaRPr>
            </a:p>
          </p:txBody>
        </p:sp>
      </p:grpSp>
      <p:grpSp>
        <p:nvGrpSpPr>
          <p:cNvPr id="24" name="组合 23">
            <a:extLst>
              <a:ext uri="{FF2B5EF4-FFF2-40B4-BE49-F238E27FC236}">
                <a16:creationId xmlns:a16="http://schemas.microsoft.com/office/drawing/2014/main" id="{295109D5-2B25-071E-664F-89CBDDE254CB}"/>
              </a:ext>
            </a:extLst>
          </p:cNvPr>
          <p:cNvGrpSpPr/>
          <p:nvPr/>
        </p:nvGrpSpPr>
        <p:grpSpPr>
          <a:xfrm>
            <a:off x="6447300" y="3758144"/>
            <a:ext cx="1917482" cy="1408967"/>
            <a:chOff x="5905139" y="3933287"/>
            <a:chExt cx="1917482" cy="1408967"/>
          </a:xfrm>
        </p:grpSpPr>
        <p:sp>
          <p:nvSpPr>
            <p:cNvPr id="25" name="矩形 24">
              <a:extLst>
                <a:ext uri="{FF2B5EF4-FFF2-40B4-BE49-F238E27FC236}">
                  <a16:creationId xmlns:a16="http://schemas.microsoft.com/office/drawing/2014/main" id="{283718A1-9565-F160-82EE-415E199CD309}"/>
                </a:ext>
              </a:extLst>
            </p:cNvPr>
            <p:cNvSpPr/>
            <p:nvPr/>
          </p:nvSpPr>
          <p:spPr>
            <a:xfrm>
              <a:off x="6155995" y="4880589"/>
              <a:ext cx="1415772" cy="461665"/>
            </a:xfrm>
            <a:prstGeom prst="rect">
              <a:avLst/>
            </a:prstGeom>
          </p:spPr>
          <p:txBody>
            <a:bodyPr wrap="none">
              <a:spAutoFit/>
            </a:bodyPr>
            <a:lstStyle/>
            <a:p>
              <a:pPr algn="ctr">
                <a:lnSpc>
                  <a:spcPct val="100000"/>
                </a:lnSpc>
              </a:pPr>
              <a:r>
                <a:rPr lang="zh-CN" altLang="en-US" sz="2400" b="1" dirty="0">
                  <a:solidFill>
                    <a:schemeClr val="accent1"/>
                  </a:solidFill>
                  <a:latin typeface="+mj-ea"/>
                  <a:ea typeface="+mj-ea"/>
                  <a:cs typeface="微软雅黑" panose="020B0503020204020204" pitchFamily="34" charset="-122"/>
                </a:rPr>
                <a:t>研究结果</a:t>
              </a:r>
            </a:p>
          </p:txBody>
        </p:sp>
        <p:cxnSp>
          <p:nvCxnSpPr>
            <p:cNvPr id="26" name="直接连接符 25">
              <a:extLst>
                <a:ext uri="{FF2B5EF4-FFF2-40B4-BE49-F238E27FC236}">
                  <a16:creationId xmlns:a16="http://schemas.microsoft.com/office/drawing/2014/main" id="{A9FC4E80-786E-3BD5-FE39-83ABC01F171F}"/>
                </a:ext>
              </a:extLst>
            </p:cNvPr>
            <p:cNvCxnSpPr>
              <a:cxnSpLocks/>
            </p:cNvCxnSpPr>
            <p:nvPr/>
          </p:nvCxnSpPr>
          <p:spPr>
            <a:xfrm>
              <a:off x="590513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5C798EF6-A092-07C0-5540-E3489EB1E748}"/>
                </a:ext>
              </a:extLst>
            </p:cNvPr>
            <p:cNvSpPr/>
            <p:nvPr/>
          </p:nvSpPr>
          <p:spPr>
            <a:xfrm>
              <a:off x="651336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03</a:t>
              </a:r>
              <a:endParaRPr lang="zh-CN" altLang="en-US" sz="2800" b="1" dirty="0">
                <a:latin typeface="+mj-lt"/>
              </a:endParaRPr>
            </a:p>
          </p:txBody>
        </p:sp>
      </p:grpSp>
      <p:grpSp>
        <p:nvGrpSpPr>
          <p:cNvPr id="28" name="组合 27">
            <a:extLst>
              <a:ext uri="{FF2B5EF4-FFF2-40B4-BE49-F238E27FC236}">
                <a16:creationId xmlns:a16="http://schemas.microsoft.com/office/drawing/2014/main" id="{5AB0F6E4-22F6-FF7D-3A8C-F0A69131D7D3}"/>
              </a:ext>
            </a:extLst>
          </p:cNvPr>
          <p:cNvGrpSpPr/>
          <p:nvPr/>
        </p:nvGrpSpPr>
        <p:grpSpPr>
          <a:xfrm>
            <a:off x="9170293" y="3729708"/>
            <a:ext cx="2334613" cy="1443849"/>
            <a:chOff x="851633" y="4765934"/>
            <a:chExt cx="2334613" cy="1443849"/>
          </a:xfrm>
        </p:grpSpPr>
        <p:sp>
          <p:nvSpPr>
            <p:cNvPr id="29" name="矩形 28">
              <a:extLst>
                <a:ext uri="{FF2B5EF4-FFF2-40B4-BE49-F238E27FC236}">
                  <a16:creationId xmlns:a16="http://schemas.microsoft.com/office/drawing/2014/main" id="{4192297B-5892-43CE-A07A-EB0AEAD8112B}"/>
                </a:ext>
              </a:extLst>
            </p:cNvPr>
            <p:cNvSpPr/>
            <p:nvPr/>
          </p:nvSpPr>
          <p:spPr>
            <a:xfrm>
              <a:off x="851633" y="5748118"/>
              <a:ext cx="2334613"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研究总结与展望</a:t>
              </a:r>
            </a:p>
          </p:txBody>
        </p:sp>
        <p:cxnSp>
          <p:nvCxnSpPr>
            <p:cNvPr id="30" name="直接连接符 29">
              <a:extLst>
                <a:ext uri="{FF2B5EF4-FFF2-40B4-BE49-F238E27FC236}">
                  <a16:creationId xmlns:a16="http://schemas.microsoft.com/office/drawing/2014/main" id="{4DD55869-38D4-E350-5F42-50E88448AA20}"/>
                </a:ext>
              </a:extLst>
            </p:cNvPr>
            <p:cNvCxnSpPr>
              <a:cxnSpLocks/>
            </p:cNvCxnSpPr>
            <p:nvPr/>
          </p:nvCxnSpPr>
          <p:spPr>
            <a:xfrm>
              <a:off x="1022089" y="5657444"/>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2287FE05-B2E2-BF24-53E6-70817B058197}"/>
                </a:ext>
              </a:extLst>
            </p:cNvPr>
            <p:cNvSpPr/>
            <p:nvPr/>
          </p:nvSpPr>
          <p:spPr>
            <a:xfrm>
              <a:off x="1630310" y="476593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04</a:t>
              </a:r>
              <a:endParaRPr lang="zh-CN" altLang="en-US" sz="2800" b="1" dirty="0">
                <a:latin typeface="+mj-lt"/>
              </a:endParaRPr>
            </a:p>
          </p:txBody>
        </p:sp>
      </p:grpSp>
    </p:spTree>
    <p:extLst>
      <p:ext uri="{BB962C8B-B14F-4D97-AF65-F5344CB8AC3E}">
        <p14:creationId xmlns:p14="http://schemas.microsoft.com/office/powerpoint/2010/main" val="3854735689"/>
      </p:ext>
    </p:extLst>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8B7E39DD-90CA-4DEA-81BA-5D2BC52B566C}"/>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B2B5E86-8289-457A-BA77-283C7FE632EE}"/>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848C8CBA-C060-4219-A864-D2EFE5E6339E}"/>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C62725B-59B3-46DA-A09F-CC7933E09E7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465BA2A1-5AA3-4462-8923-92D719EDDE6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44551824-628B-4AE7-8C54-15C23EC578F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9BDE5A-C6C1-4BE9-9AA5-39AA99931BD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CFFE499D-1CAE-4A71-9EA4-BBA4381C3B7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7DBBF0FA-2436-4E86-8214-51E02E37E28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1C56CD22-3049-4940-80AF-BC4411748867}"/>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11612C97-67DC-497C-A7E0-0624FE277E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CD0FB03-355B-42FF-B78A-15227377DCD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F46AECDB-A982-4207-8A52-C0C4AC6AF89D}"/>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D6D8FD02-751C-47A5-A7CF-88040CAD5C1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430E9514-B568-4AA9-B9D1-BCC870E7AC3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2E62BCA1-0943-4E11-832D-C27B592A4A0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9D1CB5E-2A9A-4DDD-B333-2BC658C03081}"/>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05135DB6-8D27-4195-A4BC-88BB8264A357}"/>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7E3BC780-DEE9-49FD-A276-CAB22D1CC97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5804DB85-4D9F-4322-A594-80FBCCFA75D6}"/>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7B0BCA21-6B30-4EAE-B77D-1D78E8ACC065}"/>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61B8B40-6836-415A-A2C3-0561312D077A}"/>
              </a:ext>
            </a:extLst>
          </p:cNvPr>
          <p:cNvSpPr txBox="1"/>
          <p:nvPr/>
        </p:nvSpPr>
        <p:spPr>
          <a:xfrm>
            <a:off x="1873071" y="2105561"/>
            <a:ext cx="2137124"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01</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0317F167-8B43-43E5-9025-4259C3621979}"/>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研究背景与意义</a:t>
            </a:r>
          </a:p>
        </p:txBody>
      </p:sp>
      <p:sp>
        <p:nvSpPr>
          <p:cNvPr id="13" name="文本占位符 1">
            <a:extLst>
              <a:ext uri="{FF2B5EF4-FFF2-40B4-BE49-F238E27FC236}">
                <a16:creationId xmlns:a16="http://schemas.microsoft.com/office/drawing/2014/main" id="{8856A669-ABCB-4676-9B58-DABDF5B44BB8}"/>
              </a:ext>
            </a:extLst>
          </p:cNvPr>
          <p:cNvSpPr txBox="1">
            <a:spLocks/>
          </p:cNvSpPr>
          <p:nvPr/>
        </p:nvSpPr>
        <p:spPr>
          <a:xfrm>
            <a:off x="5222839" y="3617144"/>
            <a:ext cx="4039567"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Background and Significance</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947FBFA7-3C0F-44EA-95D9-5946A0B64346}"/>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E8E066F-9D33-42A2-80B7-FDAA58AE691A}"/>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A9B04132-E049-48F9-96DF-25D5CDF90525}"/>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50F648D7-0E47-4328-8BB3-70C273ACC3F4}"/>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9AB844E3-9B82-4C00-96ED-208FF56B0F33}"/>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420507CE-CE24-4CEF-B09E-D42A8A40ADBF}"/>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8826AAF2-13E8-491A-9702-3E3D4584CA05}"/>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C450ED-FA8F-4DF2-BC13-FD87A8078ABC}"/>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F1BF9A0D-D52C-45E4-93D9-656B079FB498}"/>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2A13F31C-4422-4A7E-839C-C3AFD0EFF55F}"/>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87F3E934-9AB1-4966-B50D-FF99511AF48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59B46D8B-D343-46A8-B9C9-D70D66A11EDD}"/>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E3CC980-B5F0-478D-B13C-D92ADE9063F7}"/>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94B42153-3792-414B-B2C4-2DC7194B6081}"/>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FA66A65-DEED-439F-A1B9-4B818136F313}"/>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FC2937D8-C107-4D1C-B0DB-F87751DC049E}"/>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24564F21-29CF-4CED-9473-5CC189B8580B}"/>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5D6FD35C-DAB5-409F-8548-01E5A800A59D}"/>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1C41633E-7000-4057-8BD6-3487CA68C4E8}"/>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101CF5-044C-4248-B48D-90FEFB66B221}"/>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09B38121-CFA2-47DD-902E-B284AB4E97B9}"/>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89ED8038-E182-4BC2-8AD2-6758C69659C6}"/>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B88CBCD2-328B-47BD-8C6E-2D76DC322983}"/>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0FB64A4F-C439-4EFC-9C03-A5AD7DCA110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75F33F7-8D48-4FC7-9B58-8693F81E22F1}"/>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748098E3-6349-45E9-9AFC-1CE0D4EAB2C8}"/>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83960F9F-4F34-4126-89B2-B6EF10F56FBB}"/>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3CBCA414-296F-4BFC-85EF-455252AA1577}"/>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BDAB498B-6EC5-4875-9ABD-FFAACA054CE8}"/>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5CB87C1-69FD-4BA2-BD17-FF760BABC7DA}"/>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84E6371E-59F4-4DBF-90A4-16B6E62DE31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9C39FB3D-82D1-428D-A857-5F23D934786B}"/>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6E4485C-0E2B-461A-B401-AE07EE5D7E0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51F590F9-13DF-4408-9CC1-01D8D7D493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922FE52D-881D-49A6-9EAE-AE2E12553635}"/>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84646460-C04D-4240-9BCD-9C193663A124}"/>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3A2D808B-3684-483A-9D8A-8822CB71718D}"/>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DF1FD2F-0E50-4286-834E-6D431CF837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322526059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B40DAF-97C5-4E20-8B5C-64B37B0B74DD}"/>
              </a:ext>
            </a:extLst>
          </p:cNvPr>
          <p:cNvSpPr>
            <a:spLocks noGrp="1"/>
          </p:cNvSpPr>
          <p:nvPr>
            <p:ph type="title"/>
          </p:nvPr>
        </p:nvSpPr>
        <p:spPr>
          <a:xfrm>
            <a:off x="690364" y="310997"/>
            <a:ext cx="10858500" cy="825807"/>
          </a:xfrm>
        </p:spPr>
        <p:txBody>
          <a:bodyPr/>
          <a:lstStyle/>
          <a:p>
            <a:r>
              <a:rPr lang="zh-CN" altLang="en-US" dirty="0"/>
              <a:t>研究背景 </a:t>
            </a:r>
            <a:r>
              <a:rPr lang="en-US" altLang="zh-CN" dirty="0"/>
              <a:t>- </a:t>
            </a:r>
            <a:r>
              <a:rPr lang="zh-CN" altLang="en-US" dirty="0"/>
              <a:t>严峻的现实挑战</a:t>
            </a:r>
          </a:p>
        </p:txBody>
      </p:sp>
      <p:sp>
        <p:nvSpPr>
          <p:cNvPr id="3" name="日期占位符 2">
            <a:extLst>
              <a:ext uri="{FF2B5EF4-FFF2-40B4-BE49-F238E27FC236}">
                <a16:creationId xmlns:a16="http://schemas.microsoft.com/office/drawing/2014/main" id="{82F5FD81-874C-41AE-A71D-9D53856CD377}"/>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81BEA6C7-924E-4715-85F3-D2ABC564E500}"/>
              </a:ext>
            </a:extLst>
          </p:cNvPr>
          <p:cNvSpPr>
            <a:spLocks noGrp="1"/>
          </p:cNvSpPr>
          <p:nvPr>
            <p:ph type="ftr" sz="quarter" idx="11"/>
          </p:nvPr>
        </p:nvSpPr>
        <p:spPr>
          <a:xfrm>
            <a:off x="4038600" y="6657422"/>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D49663E3-01DF-42E4-8913-46D2F8152D6C}"/>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4</a:t>
            </a:fld>
            <a:endParaRPr lang="zh-CN" altLang="en-US"/>
          </a:p>
        </p:txBody>
      </p:sp>
      <p:sp>
        <p:nvSpPr>
          <p:cNvPr id="17" name="文本占位符 16">
            <a:extLst>
              <a:ext uri="{FF2B5EF4-FFF2-40B4-BE49-F238E27FC236}">
                <a16:creationId xmlns:a16="http://schemas.microsoft.com/office/drawing/2014/main" id="{8755A330-BCA2-6E42-0905-6592BACDE45F}"/>
              </a:ext>
            </a:extLst>
          </p:cNvPr>
          <p:cNvSpPr>
            <a:spLocks noGrp="1"/>
          </p:cNvSpPr>
          <p:nvPr>
            <p:ph type="body" sz="quarter" idx="13"/>
          </p:nvPr>
        </p:nvSpPr>
        <p:spPr/>
        <p:txBody>
          <a:bodyPr/>
          <a:lstStyle/>
          <a:p>
            <a:r>
              <a:rPr lang="zh-CN" altLang="en-US" dirty="0"/>
              <a:t>研究背景与意义</a:t>
            </a:r>
          </a:p>
        </p:txBody>
      </p:sp>
      <p:sp>
        <p:nvSpPr>
          <p:cNvPr id="7" name="矩形: 圆角 6">
            <a:extLst>
              <a:ext uri="{FF2B5EF4-FFF2-40B4-BE49-F238E27FC236}">
                <a16:creationId xmlns:a16="http://schemas.microsoft.com/office/drawing/2014/main" id="{A8BC1F0A-EC34-4828-82CE-FD1917CCA3F3}"/>
              </a:ext>
            </a:extLst>
          </p:cNvPr>
          <p:cNvSpPr/>
          <p:nvPr/>
        </p:nvSpPr>
        <p:spPr>
          <a:xfrm>
            <a:off x="187775" y="1637141"/>
            <a:ext cx="11761315" cy="487741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95FC5FFD-9C29-4E22-97E9-9900D69440FE}"/>
              </a:ext>
            </a:extLst>
          </p:cNvPr>
          <p:cNvSpPr/>
          <p:nvPr/>
        </p:nvSpPr>
        <p:spPr>
          <a:xfrm>
            <a:off x="570690" y="1174057"/>
            <a:ext cx="4603458" cy="647941"/>
          </a:xfrm>
          <a:prstGeom prst="roundRect">
            <a:avLst>
              <a:gd name="adj" fmla="val 1209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mn-ea"/>
              </a:rPr>
              <a:t>青少年生殖健康问题的严峻性</a:t>
            </a:r>
          </a:p>
        </p:txBody>
      </p:sp>
      <p:sp>
        <p:nvSpPr>
          <p:cNvPr id="10" name="文本框 9">
            <a:extLst>
              <a:ext uri="{FF2B5EF4-FFF2-40B4-BE49-F238E27FC236}">
                <a16:creationId xmlns:a16="http://schemas.microsoft.com/office/drawing/2014/main" id="{A3914D99-AAB4-41E8-9EBC-BE7DD6E3A26B}"/>
              </a:ext>
            </a:extLst>
          </p:cNvPr>
          <p:cNvSpPr txBox="1"/>
          <p:nvPr/>
        </p:nvSpPr>
        <p:spPr>
          <a:xfrm>
            <a:off x="374458" y="1875436"/>
            <a:ext cx="7871091" cy="4093428"/>
          </a:xfrm>
          <a:prstGeom prst="rect">
            <a:avLst/>
          </a:prstGeom>
          <a:noFill/>
        </p:spPr>
        <p:txBody>
          <a:bodyPr wrap="square" rtlCol="0">
            <a:spAutoFit/>
          </a:bodyPr>
          <a:lstStyle/>
          <a:p>
            <a:pPr marL="285750" lvl="0" indent="-285750" latinLnBrk="1">
              <a:lnSpc>
                <a:spcPts val="3100"/>
              </a:lnSpc>
              <a:spcAft>
                <a:spcPts val="1200"/>
              </a:spcAft>
              <a:buFont typeface="Wingdings" panose="05000000000000000000" pitchFamily="2" charset="2"/>
              <a:buChar char="l"/>
              <a:defRPr/>
            </a:pPr>
            <a:r>
              <a:rPr lang="zh-CN" altLang="en-US" sz="2000" dirty="0">
                <a:solidFill>
                  <a:schemeClr val="tx1">
                    <a:lumMod val="85000"/>
                    <a:lumOff val="15000"/>
                  </a:schemeClr>
                </a:solidFill>
                <a:latin typeface="+mn-ea"/>
              </a:rPr>
              <a:t>全球视角：</a:t>
            </a:r>
            <a:endParaRPr lang="en-US" altLang="zh-CN" sz="2000" dirty="0">
              <a:solidFill>
                <a:schemeClr val="tx1">
                  <a:lumMod val="85000"/>
                  <a:lumOff val="15000"/>
                </a:schemeClr>
              </a:solidFill>
              <a:latin typeface="+mn-ea"/>
            </a:endParaRPr>
          </a:p>
          <a:p>
            <a:pPr lvl="2" indent="-360000" algn="just" latinLnBrk="1">
              <a:lnSpc>
                <a:spcPts val="2300"/>
              </a:lnSpc>
              <a:spcAft>
                <a:spcPts val="600"/>
              </a:spcAft>
              <a:buFont typeface="Wingdings" panose="05000000000000000000" pitchFamily="2" charset="2"/>
              <a:buChar char="Ø"/>
              <a:defRPr/>
            </a:pPr>
            <a:r>
              <a:rPr lang="zh-CN" altLang="en-US" dirty="0">
                <a:latin typeface="+mn-ea"/>
              </a:rPr>
              <a:t>世界卫生组织数据：仅</a:t>
            </a:r>
            <a:r>
              <a:rPr lang="en-US" altLang="zh-CN" dirty="0">
                <a:latin typeface="+mn-ea"/>
              </a:rPr>
              <a:t>2019</a:t>
            </a:r>
            <a:r>
              <a:rPr lang="zh-CN" altLang="en-US" dirty="0">
                <a:latin typeface="+mn-ea"/>
              </a:rPr>
              <a:t>年，中低收入国家</a:t>
            </a:r>
            <a:r>
              <a:rPr lang="en-US" altLang="zh-CN" dirty="0">
                <a:latin typeface="+mn-ea"/>
              </a:rPr>
              <a:t>15-19</a:t>
            </a:r>
            <a:r>
              <a:rPr lang="zh-CN" altLang="en-US" dirty="0">
                <a:latin typeface="+mn-ea"/>
              </a:rPr>
              <a:t>岁女性中估计有</a:t>
            </a:r>
            <a:r>
              <a:rPr lang="en-US" altLang="zh-CN" dirty="0">
                <a:latin typeface="+mn-ea"/>
              </a:rPr>
              <a:t>2100</a:t>
            </a:r>
            <a:r>
              <a:rPr lang="zh-CN" altLang="en-US" dirty="0">
                <a:latin typeface="+mn-ea"/>
              </a:rPr>
              <a:t>万例怀孕，约半数为非意愿妊娠。</a:t>
            </a:r>
            <a:endParaRPr lang="en-US" altLang="zh-CN" dirty="0">
              <a:latin typeface="+mn-ea"/>
            </a:endParaRPr>
          </a:p>
          <a:p>
            <a:pPr lvl="2" indent="-360000" algn="just" latinLnBrk="1">
              <a:lnSpc>
                <a:spcPts val="2300"/>
              </a:lnSpc>
              <a:spcAft>
                <a:spcPts val="600"/>
              </a:spcAft>
              <a:buFont typeface="Wingdings" panose="05000000000000000000" pitchFamily="2" charset="2"/>
              <a:buChar char="Ø"/>
              <a:defRPr/>
            </a:pPr>
            <a:r>
              <a:rPr lang="en-US" altLang="zh-CN" dirty="0">
                <a:latin typeface="+mn-ea"/>
              </a:rPr>
              <a:t>《</a:t>
            </a:r>
            <a:r>
              <a:rPr lang="zh-CN" altLang="en-US" dirty="0">
                <a:latin typeface="+mn-ea"/>
              </a:rPr>
              <a:t>柳叶刀</a:t>
            </a:r>
            <a:r>
              <a:rPr lang="en-US" altLang="zh-CN" dirty="0">
                <a:latin typeface="+mn-ea"/>
              </a:rPr>
              <a:t>》</a:t>
            </a:r>
            <a:r>
              <a:rPr lang="zh-CN" altLang="en-US" dirty="0">
                <a:latin typeface="+mn-ea"/>
              </a:rPr>
              <a:t>研究报告：全球青少年生殖健康长期未得到足够重视，多国在性教育、避孕服务等方面存在显著缺口。</a:t>
            </a:r>
            <a:r>
              <a:rPr lang="en-US" altLang="zh-CN" baseline="30000" dirty="0">
                <a:latin typeface="+mn-ea"/>
              </a:rPr>
              <a:t>[1]</a:t>
            </a:r>
            <a:endParaRPr lang="en-US" altLang="zh-CN" baseline="30000" dirty="0">
              <a:solidFill>
                <a:schemeClr val="tx1">
                  <a:lumMod val="85000"/>
                  <a:lumOff val="15000"/>
                </a:schemeClr>
              </a:solidFill>
              <a:latin typeface="+mn-ea"/>
            </a:endParaRPr>
          </a:p>
          <a:p>
            <a:pPr marL="285750" lvl="0" indent="-285750">
              <a:lnSpc>
                <a:spcPts val="3100"/>
              </a:lnSpc>
              <a:spcAft>
                <a:spcPts val="600"/>
              </a:spcAft>
              <a:buFont typeface="Wingdings" panose="05000000000000000000" pitchFamily="2" charset="2"/>
              <a:buChar char="l"/>
              <a:defRPr/>
            </a:pPr>
            <a:r>
              <a:rPr lang="zh-CN" altLang="en-US" sz="2000" dirty="0">
                <a:solidFill>
                  <a:schemeClr val="tx1">
                    <a:lumMod val="85000"/>
                    <a:lumOff val="15000"/>
                  </a:schemeClr>
                </a:solidFill>
                <a:latin typeface="+mn-ea"/>
              </a:rPr>
              <a:t>中国现状：</a:t>
            </a:r>
            <a:endParaRPr lang="en-US" altLang="zh-CN" sz="2000" dirty="0">
              <a:solidFill>
                <a:schemeClr val="tx1">
                  <a:lumMod val="85000"/>
                  <a:lumOff val="15000"/>
                </a:schemeClr>
              </a:solidFill>
              <a:latin typeface="+mn-ea"/>
            </a:endParaRPr>
          </a:p>
          <a:p>
            <a:pPr lvl="2" indent="-360000" algn="just" latinLnBrk="1">
              <a:lnSpc>
                <a:spcPts val="2300"/>
              </a:lnSpc>
              <a:spcAft>
                <a:spcPts val="600"/>
              </a:spcAft>
              <a:buFont typeface="Wingdings" panose="05000000000000000000" pitchFamily="2" charset="2"/>
              <a:buChar char="Ø"/>
              <a:defRPr/>
            </a:pPr>
            <a:r>
              <a:rPr lang="zh-CN" altLang="en-US" dirty="0">
                <a:latin typeface="+mn-ea"/>
              </a:rPr>
              <a:t>青少年青春期提前，婚前性行为增多。</a:t>
            </a:r>
            <a:endParaRPr lang="en-US" altLang="zh-CN" dirty="0">
              <a:latin typeface="+mn-ea"/>
            </a:endParaRPr>
          </a:p>
          <a:p>
            <a:pPr lvl="2" indent="-360000" algn="just" latinLnBrk="1">
              <a:lnSpc>
                <a:spcPts val="2300"/>
              </a:lnSpc>
              <a:spcAft>
                <a:spcPts val="600"/>
              </a:spcAft>
              <a:buFont typeface="Wingdings" panose="05000000000000000000" pitchFamily="2" charset="2"/>
              <a:buChar char="Ø"/>
              <a:defRPr/>
            </a:pPr>
            <a:r>
              <a:rPr lang="zh-CN" altLang="en-US" dirty="0">
                <a:latin typeface="+mn-ea"/>
              </a:rPr>
              <a:t>非意愿妊娠、人工流产及性传播疾病感染率呈上升趋势。</a:t>
            </a:r>
            <a:endParaRPr lang="en-US" altLang="zh-CN" dirty="0">
              <a:latin typeface="+mn-ea"/>
            </a:endParaRPr>
          </a:p>
          <a:p>
            <a:pPr lvl="2" indent="-360000" algn="just" latinLnBrk="1">
              <a:lnSpc>
                <a:spcPts val="2300"/>
              </a:lnSpc>
              <a:spcAft>
                <a:spcPts val="600"/>
              </a:spcAft>
              <a:buFont typeface="Wingdings" panose="05000000000000000000" pitchFamily="2" charset="2"/>
              <a:buChar char="Ø"/>
              <a:defRPr/>
            </a:pPr>
            <a:r>
              <a:rPr lang="en-US" altLang="zh-CN" dirty="0">
                <a:latin typeface="+mn-ea"/>
              </a:rPr>
              <a:t>15-24</a:t>
            </a:r>
            <a:r>
              <a:rPr lang="zh-CN" altLang="en-US" dirty="0">
                <a:latin typeface="+mn-ea"/>
              </a:rPr>
              <a:t>岁青少年人群的</a:t>
            </a:r>
            <a:r>
              <a:rPr lang="en-US" altLang="zh-CN" dirty="0">
                <a:latin typeface="+mn-ea"/>
              </a:rPr>
              <a:t>HIV</a:t>
            </a:r>
            <a:r>
              <a:rPr lang="zh-CN" altLang="en-US" dirty="0">
                <a:latin typeface="+mn-ea"/>
              </a:rPr>
              <a:t>发病率在</a:t>
            </a:r>
            <a:r>
              <a:rPr lang="en-US" altLang="zh-CN" dirty="0">
                <a:latin typeface="+mn-ea"/>
              </a:rPr>
              <a:t>2008</a:t>
            </a:r>
            <a:r>
              <a:rPr lang="zh-CN" altLang="en-US" dirty="0">
                <a:latin typeface="+mn-ea"/>
              </a:rPr>
              <a:t>至</a:t>
            </a:r>
            <a:r>
              <a:rPr lang="en-US" altLang="zh-CN" dirty="0">
                <a:latin typeface="+mn-ea"/>
              </a:rPr>
              <a:t>2017</a:t>
            </a:r>
            <a:r>
              <a:rPr lang="zh-CN" altLang="en-US" dirty="0">
                <a:latin typeface="+mn-ea"/>
              </a:rPr>
              <a:t>年间增加了约五倍。</a:t>
            </a:r>
            <a:endParaRPr lang="en-US" altLang="zh-CN" dirty="0">
              <a:latin typeface="+mn-ea"/>
            </a:endParaRPr>
          </a:p>
          <a:p>
            <a:pPr marL="0" lvl="2" algn="just" latinLnBrk="1">
              <a:lnSpc>
                <a:spcPts val="2300"/>
              </a:lnSpc>
              <a:spcBef>
                <a:spcPts val="1800"/>
              </a:spcBef>
              <a:defRPr/>
            </a:pPr>
            <a:r>
              <a:rPr lang="en-US" altLang="zh-CN" sz="2000" b="1" dirty="0">
                <a:latin typeface="+mn-ea"/>
              </a:rPr>
              <a:t>	</a:t>
            </a:r>
            <a:r>
              <a:rPr lang="zh-CN" altLang="en-US" sz="2000" b="1" dirty="0">
                <a:latin typeface="+mn-ea"/>
              </a:rPr>
              <a:t>核心矛盾：</a:t>
            </a:r>
            <a:r>
              <a:rPr lang="zh-CN" altLang="en-US" sz="2000" dirty="0">
                <a:latin typeface="+mn-ea"/>
              </a:rPr>
              <a:t> </a:t>
            </a:r>
            <a:r>
              <a:rPr lang="zh-CN" altLang="en-US" sz="2000" b="1" dirty="0">
                <a:latin typeface="+mn-ea"/>
              </a:rPr>
              <a:t>日益严峻的健康问题</a:t>
            </a:r>
            <a:r>
              <a:rPr lang="zh-CN" altLang="en-US" sz="2000" dirty="0">
                <a:latin typeface="+mn-ea"/>
              </a:rPr>
              <a:t> </a:t>
            </a:r>
            <a:r>
              <a:rPr lang="en-US" altLang="zh-CN" sz="2000" dirty="0">
                <a:latin typeface="+mn-ea"/>
              </a:rPr>
              <a:t>vs </a:t>
            </a:r>
            <a:r>
              <a:rPr lang="zh-CN" altLang="en-US" sz="2000" b="1" dirty="0">
                <a:latin typeface="+mn-ea"/>
              </a:rPr>
              <a:t>亟待加强的健康教育</a:t>
            </a:r>
            <a:endParaRPr lang="en-US" altLang="zh-CN" sz="2000" dirty="0">
              <a:solidFill>
                <a:schemeClr val="tx1">
                  <a:lumMod val="85000"/>
                  <a:lumOff val="15000"/>
                </a:schemeClr>
              </a:solidFill>
              <a:latin typeface="+mn-ea"/>
            </a:endParaRPr>
          </a:p>
        </p:txBody>
      </p:sp>
      <p:grpSp>
        <p:nvGrpSpPr>
          <p:cNvPr id="9" name="组合 8">
            <a:extLst>
              <a:ext uri="{FF2B5EF4-FFF2-40B4-BE49-F238E27FC236}">
                <a16:creationId xmlns:a16="http://schemas.microsoft.com/office/drawing/2014/main" id="{F00A7A28-D1AD-4B56-A95B-8074EB7A8E88}"/>
              </a:ext>
            </a:extLst>
          </p:cNvPr>
          <p:cNvGrpSpPr/>
          <p:nvPr/>
        </p:nvGrpSpPr>
        <p:grpSpPr>
          <a:xfrm rot="10800000" flipH="1" flipV="1">
            <a:off x="10609380" y="1266221"/>
            <a:ext cx="744420" cy="685405"/>
            <a:chOff x="4175617" y="1897018"/>
            <a:chExt cx="1673027" cy="845333"/>
          </a:xfrm>
          <a:solidFill>
            <a:schemeClr val="bg1">
              <a:lumMod val="75000"/>
            </a:schemeClr>
          </a:solidFill>
        </p:grpSpPr>
        <p:sp>
          <p:nvSpPr>
            <p:cNvPr id="11" name="文本框 10">
              <a:extLst>
                <a:ext uri="{FF2B5EF4-FFF2-40B4-BE49-F238E27FC236}">
                  <a16:creationId xmlns:a16="http://schemas.microsoft.com/office/drawing/2014/main" id="{F66A7108-526C-4A06-A039-316129D55A33}"/>
                </a:ext>
              </a:extLst>
            </p:cNvPr>
            <p:cNvSpPr txBox="1"/>
            <p:nvPr/>
          </p:nvSpPr>
          <p:spPr>
            <a:xfrm>
              <a:off x="5025438" y="1897018"/>
              <a:ext cx="823206" cy="845333"/>
            </a:xfrm>
            <a:custGeom>
              <a:avLst/>
              <a:gdLst>
                <a:gd name="connsiteX0" fmla="*/ 58041 w 758147"/>
                <a:gd name="connsiteY0" fmla="*/ 0 h 1741200"/>
                <a:gd name="connsiteX1" fmla="*/ 758147 w 758147"/>
                <a:gd name="connsiteY1" fmla="*/ 0 h 1741200"/>
                <a:gd name="connsiteX2" fmla="*/ 758147 w 758147"/>
                <a:gd name="connsiteY2" fmla="*/ 598538 h 1741200"/>
                <a:gd name="connsiteX3" fmla="*/ 645694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4 w 758147"/>
                <a:gd name="connsiteY7" fmla="*/ 758148 h 1741200"/>
                <a:gd name="connsiteX8" fmla="*/ 58041 w 758147"/>
                <a:gd name="connsiteY8" fmla="*/ 758148 h 1741200"/>
                <a:gd name="connsiteX9" fmla="*/ 58041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1" y="0"/>
                  </a:moveTo>
                  <a:lnTo>
                    <a:pt x="758147" y="0"/>
                  </a:lnTo>
                  <a:lnTo>
                    <a:pt x="758147" y="598538"/>
                  </a:lnTo>
                  <a:cubicBezTo>
                    <a:pt x="758147" y="922594"/>
                    <a:pt x="720663" y="1155964"/>
                    <a:pt x="645694" y="1298645"/>
                  </a:cubicBezTo>
                  <a:cubicBezTo>
                    <a:pt x="541706" y="1494530"/>
                    <a:pt x="379678" y="1642048"/>
                    <a:pt x="159610" y="1741200"/>
                  </a:cubicBezTo>
                  <a:lnTo>
                    <a:pt x="0" y="1483647"/>
                  </a:lnTo>
                  <a:cubicBezTo>
                    <a:pt x="130591" y="1430445"/>
                    <a:pt x="227928" y="1346407"/>
                    <a:pt x="292014" y="1231536"/>
                  </a:cubicBezTo>
                  <a:cubicBezTo>
                    <a:pt x="356099" y="1116666"/>
                    <a:pt x="391770" y="958870"/>
                    <a:pt x="399024" y="758148"/>
                  </a:cubicBezTo>
                  <a:lnTo>
                    <a:pt x="58041" y="758148"/>
                  </a:lnTo>
                  <a:lnTo>
                    <a:pt x="58041"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0314C485-BB0A-4A78-BF7D-CD8F22FC7EF0}"/>
                </a:ext>
              </a:extLst>
            </p:cNvPr>
            <p:cNvSpPr txBox="1"/>
            <p:nvPr/>
          </p:nvSpPr>
          <p:spPr>
            <a:xfrm>
              <a:off x="4175617" y="1897018"/>
              <a:ext cx="823206" cy="845333"/>
            </a:xfrm>
            <a:custGeom>
              <a:avLst/>
              <a:gdLst>
                <a:gd name="connsiteX0" fmla="*/ 58040 w 758147"/>
                <a:gd name="connsiteY0" fmla="*/ 0 h 1741200"/>
                <a:gd name="connsiteX1" fmla="*/ 758147 w 758147"/>
                <a:gd name="connsiteY1" fmla="*/ 0 h 1741200"/>
                <a:gd name="connsiteX2" fmla="*/ 758147 w 758147"/>
                <a:gd name="connsiteY2" fmla="*/ 598538 h 1741200"/>
                <a:gd name="connsiteX3" fmla="*/ 645695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5 w 758147"/>
                <a:gd name="connsiteY7" fmla="*/ 758148 h 1741200"/>
                <a:gd name="connsiteX8" fmla="*/ 58040 w 758147"/>
                <a:gd name="connsiteY8" fmla="*/ 758148 h 1741200"/>
                <a:gd name="connsiteX9" fmla="*/ 58040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0" y="0"/>
                  </a:moveTo>
                  <a:lnTo>
                    <a:pt x="758147" y="0"/>
                  </a:lnTo>
                  <a:lnTo>
                    <a:pt x="758147" y="598538"/>
                  </a:lnTo>
                  <a:cubicBezTo>
                    <a:pt x="758147" y="922594"/>
                    <a:pt x="720662" y="1155964"/>
                    <a:pt x="645695" y="1298645"/>
                  </a:cubicBezTo>
                  <a:cubicBezTo>
                    <a:pt x="541706" y="1494530"/>
                    <a:pt x="379678" y="1642048"/>
                    <a:pt x="159610" y="1741200"/>
                  </a:cubicBezTo>
                  <a:lnTo>
                    <a:pt x="0" y="1483647"/>
                  </a:lnTo>
                  <a:cubicBezTo>
                    <a:pt x="130590" y="1430445"/>
                    <a:pt x="227927" y="1346407"/>
                    <a:pt x="292014" y="1231536"/>
                  </a:cubicBezTo>
                  <a:cubicBezTo>
                    <a:pt x="356099" y="1116666"/>
                    <a:pt x="391770" y="958870"/>
                    <a:pt x="399025" y="758148"/>
                  </a:cubicBezTo>
                  <a:lnTo>
                    <a:pt x="58040" y="758148"/>
                  </a:lnTo>
                  <a:lnTo>
                    <a:pt x="5804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grpSp>
      <p:graphicFrame>
        <p:nvGraphicFramePr>
          <p:cNvPr id="15" name="图示 14">
            <a:extLst>
              <a:ext uri="{FF2B5EF4-FFF2-40B4-BE49-F238E27FC236}">
                <a16:creationId xmlns:a16="http://schemas.microsoft.com/office/drawing/2014/main" id="{EC29F2DD-B1D0-ED72-AA56-B73F2D46A7AC}"/>
              </a:ext>
            </a:extLst>
          </p:cNvPr>
          <p:cNvGraphicFramePr/>
          <p:nvPr>
            <p:extLst>
              <p:ext uri="{D42A27DB-BD31-4B8C-83A1-F6EECF244321}">
                <p14:modId xmlns:p14="http://schemas.microsoft.com/office/powerpoint/2010/main" val="2726823268"/>
              </p:ext>
            </p:extLst>
          </p:nvPr>
        </p:nvGraphicFramePr>
        <p:xfrm>
          <a:off x="8107971" y="2117714"/>
          <a:ext cx="3841119" cy="3742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文本框 12">
            <a:extLst>
              <a:ext uri="{FF2B5EF4-FFF2-40B4-BE49-F238E27FC236}">
                <a16:creationId xmlns:a16="http://schemas.microsoft.com/office/drawing/2014/main" id="{FED1EC30-16EA-0105-A64D-70FBD4243E57}"/>
              </a:ext>
            </a:extLst>
          </p:cNvPr>
          <p:cNvSpPr txBox="1"/>
          <p:nvPr/>
        </p:nvSpPr>
        <p:spPr>
          <a:xfrm>
            <a:off x="838200" y="6149583"/>
            <a:ext cx="10710664" cy="400110"/>
          </a:xfrm>
          <a:prstGeom prst="rect">
            <a:avLst/>
          </a:prstGeom>
          <a:noFill/>
        </p:spPr>
        <p:txBody>
          <a:bodyPr wrap="square">
            <a:spAutoFit/>
          </a:bodyPr>
          <a:lstStyle/>
          <a:p>
            <a:pPr indent="-457200">
              <a:lnSpc>
                <a:spcPts val="1200"/>
              </a:lnSpc>
            </a:pPr>
            <a:r>
              <a:rPr lang="en-US" altLang="zh-CN" sz="1100" dirty="0">
                <a:latin typeface="+mn-ea"/>
              </a:rPr>
              <a:t>[1] ZOU Z, DONG Y, SONG Y, </a:t>
            </a:r>
            <a:r>
              <a:rPr lang="zh-CN" altLang="en-US" sz="1100" dirty="0">
                <a:latin typeface="+mn-ea"/>
              </a:rPr>
              <a:t>等</a:t>
            </a:r>
            <a:r>
              <a:rPr lang="en-US" altLang="zh-CN" sz="1100" dirty="0">
                <a:latin typeface="+mn-ea"/>
              </a:rPr>
              <a:t>. Strengthening sexual and reproductive health education for children and adolescents in China[J]. The Lancet Child &amp; Adolescent Health, 2023, 7(9): 603-605.</a:t>
            </a:r>
          </a:p>
        </p:txBody>
      </p:sp>
    </p:spTree>
    <p:extLst>
      <p:ext uri="{BB962C8B-B14F-4D97-AF65-F5344CB8AC3E}">
        <p14:creationId xmlns:p14="http://schemas.microsoft.com/office/powerpoint/2010/main" val="1180264634"/>
      </p:ext>
    </p:extLst>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C9A68-3F23-A857-6C85-94D9823125BA}"/>
              </a:ext>
            </a:extLst>
          </p:cNvPr>
          <p:cNvSpPr>
            <a:spLocks noGrp="1"/>
          </p:cNvSpPr>
          <p:nvPr>
            <p:ph type="title"/>
          </p:nvPr>
        </p:nvSpPr>
        <p:spPr/>
        <p:txBody>
          <a:bodyPr/>
          <a:lstStyle/>
          <a:p>
            <a:r>
              <a:rPr lang="zh-CN" altLang="en-US" dirty="0"/>
              <a:t>研究背景 </a:t>
            </a:r>
            <a:r>
              <a:rPr lang="en-US" altLang="zh-CN" dirty="0"/>
              <a:t>- </a:t>
            </a:r>
            <a:r>
              <a:rPr lang="zh-CN" altLang="en-US" dirty="0"/>
              <a:t>传统教育的局限与新渠道的兴起</a:t>
            </a:r>
          </a:p>
        </p:txBody>
      </p:sp>
      <p:sp>
        <p:nvSpPr>
          <p:cNvPr id="3" name="日期占位符 2">
            <a:extLst>
              <a:ext uri="{FF2B5EF4-FFF2-40B4-BE49-F238E27FC236}">
                <a16:creationId xmlns:a16="http://schemas.microsoft.com/office/drawing/2014/main" id="{0D4C269D-9DBC-78E7-003A-66D924C2FB62}"/>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B67FD95E-C016-3F22-4F85-A87A54F74595}"/>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547D493A-F236-5D58-EB53-75E82B57D8E6}"/>
              </a:ext>
            </a:extLst>
          </p:cNvPr>
          <p:cNvSpPr>
            <a:spLocks noGrp="1"/>
          </p:cNvSpPr>
          <p:nvPr>
            <p:ph type="sldNum" sz="quarter" idx="12"/>
          </p:nvPr>
        </p:nvSpPr>
        <p:spPr/>
        <p:txBody>
          <a:bodyPr/>
          <a:lstStyle/>
          <a:p>
            <a:fld id="{054335CC-B077-4EFF-BFF9-2EFEE3F838E2}" type="slidenum">
              <a:rPr lang="zh-CN" altLang="en-US" smtClean="0"/>
              <a:pPr/>
              <a:t>5</a:t>
            </a:fld>
            <a:endParaRPr lang="zh-CN" altLang="en-US" dirty="0"/>
          </a:p>
        </p:txBody>
      </p:sp>
      <p:sp>
        <p:nvSpPr>
          <p:cNvPr id="13" name="任意多边形: 形状 12">
            <a:extLst>
              <a:ext uri="{FF2B5EF4-FFF2-40B4-BE49-F238E27FC236}">
                <a16:creationId xmlns:a16="http://schemas.microsoft.com/office/drawing/2014/main" id="{1CDCFE03-774E-6D2C-5132-9A996E38A53C}"/>
              </a:ext>
            </a:extLst>
          </p:cNvPr>
          <p:cNvSpPr/>
          <p:nvPr/>
        </p:nvSpPr>
        <p:spPr>
          <a:xfrm>
            <a:off x="146771" y="1465823"/>
            <a:ext cx="11825489" cy="1738316"/>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defTabSz="1022350">
              <a:lnSpc>
                <a:spcPts val="2800"/>
              </a:lnSpc>
              <a:spcBef>
                <a:spcPct val="0"/>
              </a:spcBef>
              <a:buFont typeface="Arial" panose="020B0604020202020204" pitchFamily="34" charset="0"/>
              <a:buChar char="•"/>
            </a:pPr>
            <a:r>
              <a:rPr lang="zh-CN" altLang="en-US" sz="2000" kern="1200" dirty="0">
                <a:latin typeface="+mn-ea"/>
              </a:rPr>
              <a:t>文化敏感性：受传统观念影响，学校教育对</a:t>
            </a:r>
            <a:r>
              <a:rPr lang="zh-CN" altLang="en-US" sz="2000" dirty="0">
                <a:latin typeface="+mn-ea"/>
              </a:rPr>
              <a:t>生殖健康话题</a:t>
            </a:r>
            <a:r>
              <a:rPr lang="zh-CN" altLang="en-US" sz="2000" kern="1200" dirty="0">
                <a:latin typeface="+mn-ea"/>
              </a:rPr>
              <a:t>常避而不谈。</a:t>
            </a:r>
            <a:endParaRPr lang="en-US" altLang="zh-CN" sz="2000" kern="1200" dirty="0">
              <a:latin typeface="+mn-ea"/>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mn-ea"/>
              </a:rPr>
              <a:t>覆盖面不足：课程体系不完善，存在显著的知识缺口。</a:t>
            </a:r>
            <a:endParaRPr lang="en-US" altLang="zh-CN" sz="2000" kern="1200" dirty="0">
              <a:latin typeface="+mn-ea"/>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mn-ea"/>
              </a:rPr>
              <a:t>效果不佳：全国调查显示，青少年生殖健康知识及格率普遍偏低。</a:t>
            </a:r>
          </a:p>
        </p:txBody>
      </p:sp>
      <p:sp>
        <p:nvSpPr>
          <p:cNvPr id="14" name="任意多边形: 形状 13">
            <a:extLst>
              <a:ext uri="{FF2B5EF4-FFF2-40B4-BE49-F238E27FC236}">
                <a16:creationId xmlns:a16="http://schemas.microsoft.com/office/drawing/2014/main" id="{A532D225-5B98-11C3-E746-E24B29130584}"/>
              </a:ext>
            </a:extLst>
          </p:cNvPr>
          <p:cNvSpPr/>
          <p:nvPr/>
        </p:nvSpPr>
        <p:spPr>
          <a:xfrm>
            <a:off x="455428" y="1167390"/>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kern="1200" dirty="0">
                <a:latin typeface="+mn-ea"/>
              </a:rPr>
              <a:t>传统教育的困境</a:t>
            </a:r>
          </a:p>
        </p:txBody>
      </p:sp>
      <p:sp>
        <p:nvSpPr>
          <p:cNvPr id="20" name="任意多边形: 形状 19">
            <a:extLst>
              <a:ext uri="{FF2B5EF4-FFF2-40B4-BE49-F238E27FC236}">
                <a16:creationId xmlns:a16="http://schemas.microsoft.com/office/drawing/2014/main" id="{38EC4077-96F5-7266-878A-69D4921AAF14}"/>
              </a:ext>
            </a:extLst>
          </p:cNvPr>
          <p:cNvSpPr/>
          <p:nvPr/>
        </p:nvSpPr>
        <p:spPr>
          <a:xfrm>
            <a:off x="146771" y="3711484"/>
            <a:ext cx="11825490" cy="2763744"/>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algn="just" defTabSz="1022350">
              <a:lnSpc>
                <a:spcPts val="2600"/>
              </a:lnSpc>
              <a:spcBef>
                <a:spcPct val="0"/>
              </a:spcBef>
              <a:spcAft>
                <a:spcPct val="15000"/>
              </a:spcAft>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Z</a:t>
            </a:r>
            <a:r>
              <a:rPr lang="zh-CN" altLang="en-US" sz="2000" dirty="0">
                <a:latin typeface="微软雅黑" panose="020B0503020204020204" pitchFamily="34" charset="-122"/>
                <a:ea typeface="微软雅黑" panose="020B0503020204020204" pitchFamily="34" charset="-122"/>
              </a:rPr>
              <a:t>世代的信息新入口：</a:t>
            </a:r>
            <a:r>
              <a:rPr lang="en-US" altLang="zh-CN" sz="2000" dirty="0">
                <a:latin typeface="微软雅黑" panose="020B0503020204020204" pitchFamily="34" charset="-122"/>
                <a:ea typeface="微软雅黑" panose="020B0503020204020204" pitchFamily="34" charset="-122"/>
              </a:rPr>
              <a:t>Bilibili</a:t>
            </a:r>
            <a:r>
              <a:rPr lang="zh-CN" altLang="en-US" sz="2000" dirty="0">
                <a:latin typeface="微软雅黑" panose="020B0503020204020204" pitchFamily="34" charset="-122"/>
                <a:ea typeface="微软雅黑" panose="020B0503020204020204" pitchFamily="34" charset="-122"/>
              </a:rPr>
              <a:t>等社交媒体平台因其匿名性、便捷性，成为青少年探寻敏感话题的首选渠道。</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14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天然的“问题语料库”：海量、真实的评论和弹幕，构成了自发的“问答社区”，反映了青少年最真实的困惑与诉求。</a:t>
            </a:r>
            <a:endParaRPr lang="en-US" altLang="zh-CN" sz="2000" dirty="0">
              <a:latin typeface="微软雅黑" panose="020B0503020204020204" pitchFamily="34" charset="-122"/>
              <a:ea typeface="微软雅黑" panose="020B0503020204020204" pitchFamily="34" charset="-122"/>
            </a:endParaRPr>
          </a:p>
          <a:p>
            <a:pPr marL="0" lvl="1" algn="just" defTabSz="1022350">
              <a:lnSpc>
                <a:spcPts val="2600"/>
              </a:lnSpc>
              <a:spcBef>
                <a:spcPct val="0"/>
              </a:spcBef>
              <a:spcAft>
                <a:spcPct val="15000"/>
              </a:spcAft>
            </a:pPr>
            <a:r>
              <a:rPr lang="zh-CN" altLang="en-US" sz="2000" b="1" dirty="0">
                <a:latin typeface="微软雅黑" panose="020B0503020204020204" pitchFamily="34" charset="-122"/>
                <a:ea typeface="微软雅黑" panose="020B0503020204020204" pitchFamily="34" charset="-122"/>
              </a:rPr>
              <a:t>核心挑战</a:t>
            </a:r>
            <a:r>
              <a:rPr lang="zh-CN" altLang="en-US" sz="2000" dirty="0">
                <a:latin typeface="微软雅黑" panose="020B0503020204020204" pitchFamily="34" charset="-122"/>
                <a:ea typeface="微软雅黑" panose="020B0503020204020204" pitchFamily="34" charset="-122"/>
              </a:rPr>
              <a:t>：用户生成内容 </a:t>
            </a:r>
            <a:r>
              <a:rPr lang="en-US" altLang="zh-CN" dirty="0">
                <a:latin typeface="微软雅黑" panose="020B0503020204020204" pitchFamily="34" charset="-122"/>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User-Generated Content, UGC</a:t>
            </a:r>
            <a:r>
              <a:rPr lang="en-US" altLang="zh-CN"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质量参差不齐，充斥着大量信息。如何从海量、非结构化的文本中挖掘价值，并转化为科学、规范的知识资源，成为关键挑战。</a:t>
            </a:r>
          </a:p>
        </p:txBody>
      </p:sp>
      <p:sp>
        <p:nvSpPr>
          <p:cNvPr id="21" name="任意多边形: 形状 20">
            <a:extLst>
              <a:ext uri="{FF2B5EF4-FFF2-40B4-BE49-F238E27FC236}">
                <a16:creationId xmlns:a16="http://schemas.microsoft.com/office/drawing/2014/main" id="{E4FD4AED-AE53-EB6C-5DF0-88D117E1498C}"/>
              </a:ext>
            </a:extLst>
          </p:cNvPr>
          <p:cNvSpPr/>
          <p:nvPr/>
        </p:nvSpPr>
        <p:spPr>
          <a:xfrm>
            <a:off x="455429" y="3413051"/>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dirty="0">
                <a:latin typeface="+mn-ea"/>
              </a:rPr>
              <a:t>社交媒体的机遇</a:t>
            </a:r>
            <a:endParaRPr lang="zh-CN" altLang="en-US" sz="2400" kern="1200" dirty="0">
              <a:latin typeface="+mn-ea"/>
            </a:endParaRPr>
          </a:p>
        </p:txBody>
      </p:sp>
      <p:sp>
        <p:nvSpPr>
          <p:cNvPr id="24" name="文本占位符 16">
            <a:extLst>
              <a:ext uri="{FF2B5EF4-FFF2-40B4-BE49-F238E27FC236}">
                <a16:creationId xmlns:a16="http://schemas.microsoft.com/office/drawing/2014/main" id="{80EEA9EA-5E80-D260-F506-D8FEDB53E63E}"/>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Tree>
    <p:extLst>
      <p:ext uri="{BB962C8B-B14F-4D97-AF65-F5344CB8AC3E}">
        <p14:creationId xmlns:p14="http://schemas.microsoft.com/office/powerpoint/2010/main" val="3093219217"/>
      </p:ext>
    </p:extLst>
  </p:cSld>
  <p:clrMapOvr>
    <a:masterClrMapping/>
  </p:clrMapOvr>
  <p:transition>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AB573-953D-DE8B-EB35-EC9A70DBE5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E40093-4C0C-645D-1332-67C2030F3456}"/>
              </a:ext>
            </a:extLst>
          </p:cNvPr>
          <p:cNvSpPr>
            <a:spLocks noGrp="1"/>
          </p:cNvSpPr>
          <p:nvPr>
            <p:ph type="title"/>
          </p:nvPr>
        </p:nvSpPr>
        <p:spPr>
          <a:xfrm>
            <a:off x="690364" y="310997"/>
            <a:ext cx="10858500" cy="825807"/>
          </a:xfrm>
        </p:spPr>
        <p:txBody>
          <a:bodyPr/>
          <a:lstStyle/>
          <a:p>
            <a:r>
              <a:rPr lang="zh-CN" altLang="en-US" dirty="0"/>
              <a:t>研究意义</a:t>
            </a:r>
          </a:p>
        </p:txBody>
      </p:sp>
      <p:sp>
        <p:nvSpPr>
          <p:cNvPr id="3" name="日期占位符 2">
            <a:extLst>
              <a:ext uri="{FF2B5EF4-FFF2-40B4-BE49-F238E27FC236}">
                <a16:creationId xmlns:a16="http://schemas.microsoft.com/office/drawing/2014/main" id="{D899937B-DF3A-A038-EB75-B65332EF4101}"/>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7DF11DDB-1EEE-9204-4980-FB923A7C18AC}"/>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9F01B778-EC48-5955-8BC8-DA5961D22D0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6</a:t>
            </a:fld>
            <a:endParaRPr lang="zh-CN" altLang="en-US" dirty="0"/>
          </a:p>
        </p:txBody>
      </p:sp>
      <p:sp>
        <p:nvSpPr>
          <p:cNvPr id="17" name="文本占位符 16">
            <a:extLst>
              <a:ext uri="{FF2B5EF4-FFF2-40B4-BE49-F238E27FC236}">
                <a16:creationId xmlns:a16="http://schemas.microsoft.com/office/drawing/2014/main" id="{9A4D8B8E-B995-BFA8-53DB-D1182E9E89B0}"/>
              </a:ext>
            </a:extLst>
          </p:cNvPr>
          <p:cNvSpPr>
            <a:spLocks noGrp="1"/>
          </p:cNvSpPr>
          <p:nvPr>
            <p:ph type="body" sz="quarter" idx="13"/>
          </p:nvPr>
        </p:nvSpPr>
        <p:spPr/>
        <p:txBody>
          <a:bodyPr/>
          <a:lstStyle/>
          <a:p>
            <a:r>
              <a:rPr lang="zh-CN" altLang="en-US" dirty="0"/>
              <a:t>研究背景与意义</a:t>
            </a:r>
          </a:p>
        </p:txBody>
      </p:sp>
      <p:sp>
        <p:nvSpPr>
          <p:cNvPr id="7" name="任意多边形: 形状 6">
            <a:extLst>
              <a:ext uri="{FF2B5EF4-FFF2-40B4-BE49-F238E27FC236}">
                <a16:creationId xmlns:a16="http://schemas.microsoft.com/office/drawing/2014/main" id="{1E81E56A-B7EE-1FA7-F50C-2FD835CEA247}"/>
              </a:ext>
            </a:extLst>
          </p:cNvPr>
          <p:cNvSpPr/>
          <p:nvPr/>
        </p:nvSpPr>
        <p:spPr>
          <a:xfrm>
            <a:off x="343887" y="1402844"/>
            <a:ext cx="5531726" cy="668099"/>
          </a:xfrm>
          <a:custGeom>
            <a:avLst/>
            <a:gdLst>
              <a:gd name="connsiteX0" fmla="*/ 0 w 5531726"/>
              <a:gd name="connsiteY0" fmla="*/ 0 h 668099"/>
              <a:gd name="connsiteX1" fmla="*/ 5531726 w 5531726"/>
              <a:gd name="connsiteY1" fmla="*/ 0 h 668099"/>
              <a:gd name="connsiteX2" fmla="*/ 5531726 w 5531726"/>
              <a:gd name="connsiteY2" fmla="*/ 668099 h 668099"/>
              <a:gd name="connsiteX3" fmla="*/ 0 w 5531726"/>
              <a:gd name="connsiteY3" fmla="*/ 668099 h 668099"/>
              <a:gd name="connsiteX4" fmla="*/ 0 w 5531726"/>
              <a:gd name="connsiteY4" fmla="*/ 0 h 668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1726" h="668099">
                <a:moveTo>
                  <a:pt x="0" y="0"/>
                </a:moveTo>
                <a:lnTo>
                  <a:pt x="5531726" y="0"/>
                </a:lnTo>
                <a:lnTo>
                  <a:pt x="5531726" y="668099"/>
                </a:lnTo>
                <a:lnTo>
                  <a:pt x="0" y="668099"/>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理论意义</a:t>
            </a:r>
          </a:p>
        </p:txBody>
      </p:sp>
      <p:sp>
        <p:nvSpPr>
          <p:cNvPr id="8" name="任意多边形: 形状 7">
            <a:extLst>
              <a:ext uri="{FF2B5EF4-FFF2-40B4-BE49-F238E27FC236}">
                <a16:creationId xmlns:a16="http://schemas.microsoft.com/office/drawing/2014/main" id="{2FAC98B1-EC67-0B50-1A8C-AD9845E8D517}"/>
              </a:ext>
            </a:extLst>
          </p:cNvPr>
          <p:cNvSpPr/>
          <p:nvPr/>
        </p:nvSpPr>
        <p:spPr>
          <a:xfrm>
            <a:off x="343887" y="2063520"/>
            <a:ext cx="5531726" cy="4377920"/>
          </a:xfrm>
          <a:custGeom>
            <a:avLst/>
            <a:gdLst>
              <a:gd name="connsiteX0" fmla="*/ 0 w 5531726"/>
              <a:gd name="connsiteY0" fmla="*/ 0 h 3019500"/>
              <a:gd name="connsiteX1" fmla="*/ 5531726 w 5531726"/>
              <a:gd name="connsiteY1" fmla="*/ 0 h 3019500"/>
              <a:gd name="connsiteX2" fmla="*/ 5531726 w 5531726"/>
              <a:gd name="connsiteY2" fmla="*/ 3019500 h 3019500"/>
              <a:gd name="connsiteX3" fmla="*/ 0 w 5531726"/>
              <a:gd name="connsiteY3" fmla="*/ 3019500 h 3019500"/>
              <a:gd name="connsiteX4" fmla="*/ 0 w 5531726"/>
              <a:gd name="connsiteY4" fmla="*/ 0 h 301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1726" h="3019500">
                <a:moveTo>
                  <a:pt x="0" y="0"/>
                </a:moveTo>
                <a:lnTo>
                  <a:pt x="5531726" y="0"/>
                </a:lnTo>
                <a:lnTo>
                  <a:pt x="5531726" y="3019500"/>
                </a:lnTo>
                <a:lnTo>
                  <a:pt x="0" y="30195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17348" tIns="117348" rIns="156464" bIns="176022" numCol="1" spcCol="1270" anchor="t" anchorCtr="0">
            <a:noAutofit/>
          </a:bodyPr>
          <a:lstStyle/>
          <a:p>
            <a:pPr marL="228600" lvl="1" indent="-228600" algn="just" defTabSz="977900">
              <a:lnSpc>
                <a:spcPts val="3000"/>
              </a:lnSpc>
              <a:spcBef>
                <a:spcPct val="0"/>
              </a:spcBef>
              <a:spcAft>
                <a:spcPts val="600"/>
              </a:spcAft>
              <a:buChar char="•"/>
            </a:pPr>
            <a:r>
              <a:rPr lang="zh-CN" altLang="en-US" b="1" kern="1200" dirty="0">
                <a:latin typeface="+mn-ea"/>
              </a:rPr>
              <a:t>拓展研究对象</a:t>
            </a:r>
            <a:r>
              <a:rPr lang="zh-CN" altLang="en-US" kern="1200" dirty="0">
                <a:latin typeface="+mn-ea"/>
              </a:rPr>
              <a:t>：从视频</a:t>
            </a:r>
            <a:r>
              <a:rPr lang="en-US" altLang="en-US" kern="1200" dirty="0">
                <a:latin typeface="+mn-ea"/>
              </a:rPr>
              <a:t>/</a:t>
            </a:r>
            <a:r>
              <a:rPr lang="zh-CN" altLang="en-US" kern="1200" dirty="0">
                <a:latin typeface="+mn-ea"/>
              </a:rPr>
              <a:t>文章的</a:t>
            </a:r>
            <a:r>
              <a:rPr lang="en-US" altLang="en-US" kern="1200" dirty="0">
                <a:latin typeface="+mn-ea"/>
              </a:rPr>
              <a:t>“</a:t>
            </a:r>
            <a:r>
              <a:rPr lang="zh-CN" altLang="en-US" kern="1200" dirty="0">
                <a:latin typeface="+mn-ea"/>
              </a:rPr>
              <a:t>发布端</a:t>
            </a:r>
            <a:r>
              <a:rPr lang="en-US" altLang="en-US" kern="1200" dirty="0">
                <a:latin typeface="+mn-ea"/>
              </a:rPr>
              <a:t>”</a:t>
            </a:r>
            <a:r>
              <a:rPr lang="zh-CN" altLang="en-US" kern="1200" dirty="0">
                <a:latin typeface="+mn-ea"/>
              </a:rPr>
              <a:t>下沉至评论、弹幕等</a:t>
            </a:r>
            <a:r>
              <a:rPr lang="en-US" altLang="en-US" kern="1200" dirty="0">
                <a:latin typeface="+mn-ea"/>
              </a:rPr>
              <a:t>“</a:t>
            </a:r>
            <a:r>
              <a:rPr lang="zh-CN" altLang="en-US" kern="1200" dirty="0">
                <a:latin typeface="+mn-ea"/>
              </a:rPr>
              <a:t>接收与互动端</a:t>
            </a:r>
            <a:r>
              <a:rPr lang="en-US" altLang="en-US" kern="1200" dirty="0">
                <a:latin typeface="+mn-ea"/>
              </a:rPr>
              <a:t>”</a:t>
            </a:r>
            <a:r>
              <a:rPr lang="zh-CN" altLang="en-US" kern="1200" dirty="0">
                <a:latin typeface="+mn-ea"/>
              </a:rPr>
              <a:t>，将海量用户生成内容视为反映真实需求的</a:t>
            </a:r>
            <a:r>
              <a:rPr lang="en-US" altLang="en-US" kern="1200" dirty="0">
                <a:latin typeface="+mn-ea"/>
              </a:rPr>
              <a:t>“</a:t>
            </a:r>
            <a:r>
              <a:rPr lang="zh-CN" altLang="en-US" kern="1200" dirty="0">
                <a:latin typeface="+mn-ea"/>
              </a:rPr>
              <a:t>问题语料库</a:t>
            </a:r>
            <a:r>
              <a:rPr lang="en-US" altLang="en-US" kern="1200" dirty="0">
                <a:latin typeface="+mn-ea"/>
              </a:rPr>
              <a:t>”</a:t>
            </a:r>
            <a:r>
              <a:rPr lang="zh-CN" altLang="en-US" kern="1200" dirty="0">
                <a:latin typeface="+mn-ea"/>
              </a:rPr>
              <a:t>。
</a:t>
            </a:r>
            <a:r>
              <a:rPr lang="zh-CN" altLang="en-US" b="1" kern="1200" dirty="0">
                <a:latin typeface="+mn-ea"/>
              </a:rPr>
              <a:t>创新问题识别的路径</a:t>
            </a:r>
            <a:r>
              <a:rPr lang="zh-CN" altLang="en-US" kern="1200" dirty="0">
                <a:latin typeface="+mn-ea"/>
              </a:rPr>
              <a:t>：突破传统问卷与访谈的局限，运用大数据与自然语言处理技术，直接从青少年匿名、自发的网络言论中挖掘真实信息需求</a:t>
            </a:r>
            <a:r>
              <a:rPr lang="zh-CN" altLang="en-US" dirty="0">
                <a:latin typeface="+mn-ea"/>
              </a:rPr>
              <a:t>。</a:t>
            </a:r>
            <a:endParaRPr lang="en-US" altLang="zh-CN" dirty="0">
              <a:latin typeface="+mn-ea"/>
            </a:endParaRPr>
          </a:p>
          <a:p>
            <a:pPr marL="228600" lvl="1" indent="-228600" algn="just" defTabSz="977900">
              <a:lnSpc>
                <a:spcPts val="3000"/>
              </a:lnSpc>
              <a:spcBef>
                <a:spcPct val="0"/>
              </a:spcBef>
              <a:spcAft>
                <a:spcPts val="600"/>
              </a:spcAft>
              <a:buChar char="•"/>
            </a:pPr>
            <a:r>
              <a:rPr lang="zh-CN" altLang="en-US" b="1" kern="1200" dirty="0">
                <a:latin typeface="+mn-ea"/>
              </a:rPr>
              <a:t>探索新的</a:t>
            </a:r>
            <a:r>
              <a:rPr lang="en-US" altLang="zh-CN" b="1" kern="1200" dirty="0">
                <a:latin typeface="+mn-ea"/>
              </a:rPr>
              <a:t>LLM</a:t>
            </a:r>
            <a:r>
              <a:rPr lang="zh-CN" altLang="en-US" b="1" kern="1200" dirty="0">
                <a:latin typeface="+mn-ea"/>
              </a:rPr>
              <a:t>应用模式</a:t>
            </a:r>
            <a:r>
              <a:rPr lang="zh-CN" altLang="en-US" kern="1200" dirty="0">
                <a:latin typeface="+mn-ea"/>
              </a:rPr>
              <a:t>：构建</a:t>
            </a:r>
            <a:r>
              <a:rPr lang="zh-CN" altLang="en-US" dirty="0">
                <a:latin typeface="+mn-ea"/>
              </a:rPr>
              <a:t>从</a:t>
            </a:r>
            <a:r>
              <a:rPr lang="zh-CN" altLang="en-US" kern="1200" dirty="0">
                <a:latin typeface="+mn-ea"/>
              </a:rPr>
              <a:t>非正式口语化提问，到规范化问答对，再到领域微调模型的完整技术链路，为通用</a:t>
            </a:r>
            <a:r>
              <a:rPr lang="en-US" altLang="zh-CN" kern="1200" dirty="0">
                <a:latin typeface="+mn-ea"/>
              </a:rPr>
              <a:t>AI</a:t>
            </a:r>
            <a:r>
              <a:rPr lang="zh-CN" altLang="en-US" kern="1200" dirty="0">
                <a:latin typeface="+mn-ea"/>
              </a:rPr>
              <a:t>向健康教育场景转化提供方法论探索。</a:t>
            </a:r>
            <a:endParaRPr lang="en-US" altLang="zh-CN" kern="1200" dirty="0">
              <a:latin typeface="+mn-ea"/>
            </a:endParaRPr>
          </a:p>
        </p:txBody>
      </p:sp>
      <p:sp>
        <p:nvSpPr>
          <p:cNvPr id="10" name="任意多边形: 形状 9">
            <a:extLst>
              <a:ext uri="{FF2B5EF4-FFF2-40B4-BE49-F238E27FC236}">
                <a16:creationId xmlns:a16="http://schemas.microsoft.com/office/drawing/2014/main" id="{FF56550B-DEB9-5C74-0354-18781629336A}"/>
              </a:ext>
            </a:extLst>
          </p:cNvPr>
          <p:cNvSpPr/>
          <p:nvPr/>
        </p:nvSpPr>
        <p:spPr>
          <a:xfrm>
            <a:off x="6316387" y="1395421"/>
            <a:ext cx="5531726" cy="668099"/>
          </a:xfrm>
          <a:custGeom>
            <a:avLst/>
            <a:gdLst>
              <a:gd name="connsiteX0" fmla="*/ 0 w 5531726"/>
              <a:gd name="connsiteY0" fmla="*/ 0 h 668099"/>
              <a:gd name="connsiteX1" fmla="*/ 5531726 w 5531726"/>
              <a:gd name="connsiteY1" fmla="*/ 0 h 668099"/>
              <a:gd name="connsiteX2" fmla="*/ 5531726 w 5531726"/>
              <a:gd name="connsiteY2" fmla="*/ 668099 h 668099"/>
              <a:gd name="connsiteX3" fmla="*/ 0 w 5531726"/>
              <a:gd name="connsiteY3" fmla="*/ 668099 h 668099"/>
              <a:gd name="connsiteX4" fmla="*/ 0 w 5531726"/>
              <a:gd name="connsiteY4" fmla="*/ 0 h 668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1726" h="668099">
                <a:moveTo>
                  <a:pt x="0" y="0"/>
                </a:moveTo>
                <a:lnTo>
                  <a:pt x="5531726" y="0"/>
                </a:lnTo>
                <a:lnTo>
                  <a:pt x="5531726" y="668099"/>
                </a:lnTo>
                <a:lnTo>
                  <a:pt x="0" y="668099"/>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实践意义</a:t>
            </a:r>
          </a:p>
        </p:txBody>
      </p:sp>
      <p:sp>
        <p:nvSpPr>
          <p:cNvPr id="11" name="任意多边形: 形状 10">
            <a:extLst>
              <a:ext uri="{FF2B5EF4-FFF2-40B4-BE49-F238E27FC236}">
                <a16:creationId xmlns:a16="http://schemas.microsoft.com/office/drawing/2014/main" id="{A4FDDBE7-26F4-E11D-57F3-6A2AE050EE6E}"/>
              </a:ext>
            </a:extLst>
          </p:cNvPr>
          <p:cNvSpPr/>
          <p:nvPr/>
        </p:nvSpPr>
        <p:spPr>
          <a:xfrm>
            <a:off x="6316387" y="2047869"/>
            <a:ext cx="5531726" cy="4390300"/>
          </a:xfrm>
          <a:custGeom>
            <a:avLst/>
            <a:gdLst>
              <a:gd name="connsiteX0" fmla="*/ 0 w 5531726"/>
              <a:gd name="connsiteY0" fmla="*/ 0 h 3019500"/>
              <a:gd name="connsiteX1" fmla="*/ 5531726 w 5531726"/>
              <a:gd name="connsiteY1" fmla="*/ 0 h 3019500"/>
              <a:gd name="connsiteX2" fmla="*/ 5531726 w 5531726"/>
              <a:gd name="connsiteY2" fmla="*/ 3019500 h 3019500"/>
              <a:gd name="connsiteX3" fmla="*/ 0 w 5531726"/>
              <a:gd name="connsiteY3" fmla="*/ 3019500 h 3019500"/>
              <a:gd name="connsiteX4" fmla="*/ 0 w 5531726"/>
              <a:gd name="connsiteY4" fmla="*/ 0 h 301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1726" h="3019500">
                <a:moveTo>
                  <a:pt x="0" y="0"/>
                </a:moveTo>
                <a:lnTo>
                  <a:pt x="5531726" y="0"/>
                </a:lnTo>
                <a:lnTo>
                  <a:pt x="5531726" y="3019500"/>
                </a:lnTo>
                <a:lnTo>
                  <a:pt x="0" y="301950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6680" tIns="106680" rIns="142240" bIns="160020" numCol="1" spcCol="1270" anchor="t" anchorCtr="0">
            <a:noAutofit/>
          </a:bodyPr>
          <a:lstStyle/>
          <a:p>
            <a:pPr marL="228600" lvl="1" indent="-228600" algn="just" defTabSz="889000">
              <a:lnSpc>
                <a:spcPts val="3000"/>
              </a:lnSpc>
              <a:spcAft>
                <a:spcPts val="600"/>
              </a:spcAft>
              <a:buChar char="•"/>
            </a:pPr>
            <a:r>
              <a:rPr lang="zh-CN" altLang="en-US" b="1"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助力精准健康教育</a:t>
            </a:r>
            <a:r>
              <a:rPr lang="zh-CN" altLang="en-US"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：系统性揭示青少年生殖健康的核心关注点、知识盲区与常见误解，为政府、学校及公共卫生机构制定针对性教育策略提供数据依据。
</a:t>
            </a:r>
            <a:r>
              <a:rPr lang="zh-CN" altLang="en-US" b="1"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协助平台内容治理</a:t>
            </a:r>
            <a:r>
              <a:rPr lang="zh-CN" altLang="en-US"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：为</a:t>
            </a:r>
            <a:r>
              <a:rPr lang="en-US" altLang="zh-CN"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Bilibili</a:t>
            </a:r>
            <a:r>
              <a:rPr lang="zh-CN" altLang="en-US"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等社交媒体优化推荐算法与内容审核机制提供科学参考，同时指导科普创作者产出更贴近年轻受众的健康内容。</a:t>
            </a:r>
            <a:endParaRPr lang="en-US" altLang="zh-CN"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endParaRPr>
          </a:p>
          <a:p>
            <a:pPr marL="228600" lvl="1" indent="-228600" algn="just" defTabSz="889000">
              <a:lnSpc>
                <a:spcPts val="3000"/>
              </a:lnSpc>
              <a:spcAft>
                <a:spcPts val="600"/>
              </a:spcAft>
              <a:buChar char="•"/>
            </a:pPr>
            <a:r>
              <a:rPr lang="zh-CN" altLang="en-US" b="1"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赋能智能问答系统</a:t>
            </a:r>
            <a:r>
              <a:rPr lang="zh-CN" altLang="en-US"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：产出源于真实场景、经专业审核的高质量问答数据集，直接用于训练和优化</a:t>
            </a:r>
            <a:r>
              <a:rPr lang="en-US" altLang="zh-CN"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AI</a:t>
            </a:r>
            <a:r>
              <a:rPr lang="zh-CN" altLang="en-US"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健康助手，为青少年提供全天候、私密、可靠的信息获取渠道。</a:t>
            </a:r>
          </a:p>
          <a:p>
            <a:pPr marL="228600" lvl="1" indent="-228600" algn="just" defTabSz="889000">
              <a:lnSpc>
                <a:spcPts val="3000"/>
              </a:lnSpc>
              <a:buChar char="•"/>
            </a:pPr>
            <a:endParaRPr lang="zh-CN" altLang="en-US" sz="2000"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878605653"/>
      </p:ext>
    </p:extLst>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232E4-73B4-B750-976B-E171E084F7BD}"/>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7400346E-CBD4-0F21-9E2D-292A5B93D27E}"/>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21E0180F-D923-9961-70CA-D02C11220F35}"/>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EF6F29E3-3E99-832E-2F74-B7A2A8BB416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2973C397-F4D8-EB3F-91F2-D7AA000E97C1}"/>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74CB1C96-9B85-A71B-6077-8729115328C7}"/>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AC46B423-4277-8415-C931-4810832B6FE4}"/>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503BD8-8ADC-BF98-63BD-E6F0459AF3A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03FA1F66-6FFF-7F57-D554-5EA3B467702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E7AA878D-F63A-7E4A-1A53-3D7C294AFA43}"/>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DBC9878D-BE1A-C045-26EC-7FC8AF315CFA}"/>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0B1CFABF-B746-3AC0-CCEE-5CCB42444AF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7B11BFC-C329-1F79-01D8-9C6B16CC1E9C}"/>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39AD885A-74A1-6FCD-24C6-B71A8F35960A}"/>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BBCEB016-F3D4-2737-07D7-DA69E7B875AD}"/>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566003CA-3AF3-20F9-BC4F-240D55FBDC3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CEC9FDC0-D820-F5DB-C736-FD2B9D3272C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FAF1922C-FD5E-64B7-7F75-CF605AEF8A9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1A59708A-3ED9-25D7-9013-39F99A89C71F}"/>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83E0DA8E-258C-D0B1-7974-73134813BA6D}"/>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0581639B-A857-EDF4-F977-DD5D36FBD3CB}"/>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201466DA-DFCD-591D-BAAF-F70A35F1ED7D}"/>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1082992-7BE8-C8A2-97C3-89005D9E3AC5}"/>
              </a:ext>
            </a:extLst>
          </p:cNvPr>
          <p:cNvSpPr txBox="1"/>
          <p:nvPr/>
        </p:nvSpPr>
        <p:spPr>
          <a:xfrm>
            <a:off x="1873071" y="2105561"/>
            <a:ext cx="2395207"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02</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7AA57BED-019B-854C-FAEA-0A11725A274D}"/>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研究内容与方法</a:t>
            </a:r>
          </a:p>
        </p:txBody>
      </p:sp>
      <p:sp>
        <p:nvSpPr>
          <p:cNvPr id="13" name="文本占位符 1">
            <a:extLst>
              <a:ext uri="{FF2B5EF4-FFF2-40B4-BE49-F238E27FC236}">
                <a16:creationId xmlns:a16="http://schemas.microsoft.com/office/drawing/2014/main" id="{CAA88B71-91E7-7474-1FD1-BF53357D4804}"/>
              </a:ext>
            </a:extLst>
          </p:cNvPr>
          <p:cNvSpPr txBox="1">
            <a:spLocks/>
          </p:cNvSpPr>
          <p:nvPr/>
        </p:nvSpPr>
        <p:spPr>
          <a:xfrm>
            <a:off x="5222839" y="3617144"/>
            <a:ext cx="3257302"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Content and Methods</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3C41BDE1-3B20-C0D9-0FC4-3EC9DB2C0843}"/>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88AF6731-D517-6BBA-42CE-A2B809D3BD5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B7F48D46-0449-DE7C-304A-558C2375655A}"/>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93A8D22-2D8E-907A-715B-7C859231389B}"/>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8ECDF997-D8EA-74BB-DFBB-2871E161047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3A0D664C-9FD5-683B-301E-7E626C35545A}"/>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19D2743A-F601-E976-AFD5-DEB869F813FB}"/>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5A589424-A57B-28EA-1C2B-D021D61A7F5A}"/>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729D9F1C-3AC3-84A9-BE15-B3A710BB83C0}"/>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050A8431-C815-9ECF-924C-EDF92591AF8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4983A0A0-CB0F-C7FC-2685-FC4F3203AF5B}"/>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393CDC6E-0967-919F-6158-3B8BB4D3AC2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7A4E48F7-69A9-DB1C-05F9-B1CABA96214A}"/>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641974CF-97ED-D36E-D787-9E0F6D59DF56}"/>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4F7ACC57-D588-E96F-F241-388582D5F1D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7985CB94-EBEC-13A8-72E8-8BC59233643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4449E1B4-FC6A-72A8-A599-9BFC4B4DB7AC}"/>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C2DED58A-4BDE-062A-E1D2-AD4FF2479D12}"/>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EFDD5E02-178D-537E-A9EA-48A62597C313}"/>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DB81776E-60CF-5D3D-CDC2-1FE8F540E47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9FCFDC58-8B9E-6B2C-7312-54CABB9D616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61C9C9C5-CD01-8841-0D12-4B6919A854A7}"/>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390D859F-9764-DB78-B3CB-881362298D68}"/>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6A890733-6063-497A-DC68-F33A613912F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23DB7BE6-8582-D5D5-73AB-AC1FD1CF30C8}"/>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FBA4BD3D-FE34-BF32-54FF-4AB57C88C1DE}"/>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0B09EF11-8C7E-E92C-DF0C-8F31B5C68448}"/>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C44A9D3F-7CB0-9A69-F955-E8AF665CF761}"/>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08F31723-CD3E-3E3C-EADB-F2652FBC4FF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B32A9DB-3EB9-7B43-34E4-68D103800C01}"/>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C69CC5D7-BF9B-B891-596F-8E797E2FBB16}"/>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A4FF9C6-BE55-5793-8886-FDF7994A5D28}"/>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9C27DC3A-6450-1869-EA57-05F95C294CE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E286B980-9794-E868-788E-FC1C26B6869F}"/>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283C3C18-597C-43B7-C976-A08166F9DF8E}"/>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A49E99D0-F68C-48DD-FF42-0FE63DFC7901}"/>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C75D9C3F-60FA-BFA4-DD60-35B437615C00}"/>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F83F810-D0B6-72D0-83E1-243ED838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11018809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1310-0B61-68A0-0095-CA13FBA954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FCBECB-1DB2-127B-2F85-517E2F511A6B}"/>
              </a:ext>
            </a:extLst>
          </p:cNvPr>
          <p:cNvSpPr>
            <a:spLocks noGrp="1"/>
          </p:cNvSpPr>
          <p:nvPr>
            <p:ph type="title"/>
          </p:nvPr>
        </p:nvSpPr>
        <p:spPr>
          <a:xfrm>
            <a:off x="690364" y="310997"/>
            <a:ext cx="10858500" cy="825807"/>
          </a:xfrm>
        </p:spPr>
        <p:txBody>
          <a:bodyPr/>
          <a:lstStyle/>
          <a:p>
            <a:r>
              <a:rPr lang="zh-CN" altLang="en-US" dirty="0"/>
              <a:t>研究目标及内容</a:t>
            </a:r>
          </a:p>
        </p:txBody>
      </p:sp>
      <p:sp>
        <p:nvSpPr>
          <p:cNvPr id="3" name="日期占位符 2">
            <a:extLst>
              <a:ext uri="{FF2B5EF4-FFF2-40B4-BE49-F238E27FC236}">
                <a16:creationId xmlns:a16="http://schemas.microsoft.com/office/drawing/2014/main" id="{88027704-50AD-DD43-4EA4-9DA6525B7282}"/>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F3983702-8BC3-166C-D491-3217C6802A56}"/>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D7EB0FD-12FF-1ED0-D531-FB68BD851E73}"/>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8</a:t>
            </a:fld>
            <a:endParaRPr lang="zh-CN" altLang="en-US"/>
          </a:p>
        </p:txBody>
      </p:sp>
      <p:sp>
        <p:nvSpPr>
          <p:cNvPr id="11" name="文本占位符 10">
            <a:extLst>
              <a:ext uri="{FF2B5EF4-FFF2-40B4-BE49-F238E27FC236}">
                <a16:creationId xmlns:a16="http://schemas.microsoft.com/office/drawing/2014/main" id="{78ECE108-3DFE-C125-F773-C8BD36FEC72C}"/>
              </a:ext>
            </a:extLst>
          </p:cNvPr>
          <p:cNvSpPr>
            <a:spLocks noGrp="1"/>
          </p:cNvSpPr>
          <p:nvPr>
            <p:ph type="body" sz="quarter" idx="13"/>
          </p:nvPr>
        </p:nvSpPr>
        <p:spPr/>
        <p:txBody>
          <a:bodyPr/>
          <a:lstStyle/>
          <a:p>
            <a:r>
              <a:rPr lang="zh-CN" altLang="en-US" dirty="0"/>
              <a:t>研究内容与方法</a:t>
            </a:r>
          </a:p>
        </p:txBody>
      </p:sp>
      <p:graphicFrame>
        <p:nvGraphicFramePr>
          <p:cNvPr id="8" name="图示 7">
            <a:extLst>
              <a:ext uri="{FF2B5EF4-FFF2-40B4-BE49-F238E27FC236}">
                <a16:creationId xmlns:a16="http://schemas.microsoft.com/office/drawing/2014/main" id="{F53A0ED6-9754-8669-3B3E-C2CC45091D31}"/>
              </a:ext>
            </a:extLst>
          </p:cNvPr>
          <p:cNvGraphicFramePr/>
          <p:nvPr>
            <p:extLst>
              <p:ext uri="{D42A27DB-BD31-4B8C-83A1-F6EECF244321}">
                <p14:modId xmlns:p14="http://schemas.microsoft.com/office/powerpoint/2010/main" val="1139946875"/>
              </p:ext>
            </p:extLst>
          </p:nvPr>
        </p:nvGraphicFramePr>
        <p:xfrm>
          <a:off x="301199" y="1136804"/>
          <a:ext cx="11636829" cy="5191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5890557"/>
      </p:ext>
    </p:extLst>
  </p:cSld>
  <p:clrMapOvr>
    <a:masterClrMapping/>
  </p:clrMapOvr>
  <p:transition>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26078-62A5-0FC2-EFF2-BD92F447E9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52E49B-8F14-96A7-43E0-783D59CC03A4}"/>
              </a:ext>
            </a:extLst>
          </p:cNvPr>
          <p:cNvSpPr>
            <a:spLocks noGrp="1" noRot="1" noMove="1" noResize="1" noEditPoints="1" noAdjustHandles="1" noChangeArrowheads="1" noChangeShapeType="1"/>
          </p:cNvSpPr>
          <p:nvPr>
            <p:ph type="title"/>
          </p:nvPr>
        </p:nvSpPr>
        <p:spPr>
          <a:xfrm>
            <a:off x="690364" y="310997"/>
            <a:ext cx="10858500" cy="825807"/>
          </a:xfrm>
        </p:spPr>
        <p:txBody>
          <a:bodyPr/>
          <a:lstStyle/>
          <a:p>
            <a:r>
              <a:rPr lang="zh-CN" altLang="en-US" dirty="0"/>
              <a:t>技术路线</a:t>
            </a:r>
          </a:p>
        </p:txBody>
      </p:sp>
      <p:sp>
        <p:nvSpPr>
          <p:cNvPr id="3" name="日期占位符 2">
            <a:extLst>
              <a:ext uri="{FF2B5EF4-FFF2-40B4-BE49-F238E27FC236}">
                <a16:creationId xmlns:a16="http://schemas.microsoft.com/office/drawing/2014/main" id="{1D31CA80-929E-8C6C-9403-21C89B164837}"/>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90AAC34E-30AB-568D-5C1F-CFA2910C2374}"/>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58203F80-FBE3-C2D3-40DC-2FBAC54852E8}"/>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9</a:t>
            </a:fld>
            <a:endParaRPr lang="zh-CN" altLang="en-US"/>
          </a:p>
        </p:txBody>
      </p:sp>
      <p:sp>
        <p:nvSpPr>
          <p:cNvPr id="11" name="文本占位符 10">
            <a:extLst>
              <a:ext uri="{FF2B5EF4-FFF2-40B4-BE49-F238E27FC236}">
                <a16:creationId xmlns:a16="http://schemas.microsoft.com/office/drawing/2014/main" id="{820D69B7-2140-5E9F-9E47-B4159CEA9AAD}"/>
              </a:ext>
            </a:extLst>
          </p:cNvPr>
          <p:cNvSpPr>
            <a:spLocks noGrp="1"/>
          </p:cNvSpPr>
          <p:nvPr>
            <p:ph type="body" sz="quarter" idx="13"/>
          </p:nvPr>
        </p:nvSpPr>
        <p:spPr/>
        <p:txBody>
          <a:bodyPr/>
          <a:lstStyle/>
          <a:p>
            <a:r>
              <a:rPr lang="zh-CN" altLang="en-US" dirty="0"/>
              <a:t>研究内容与方法</a:t>
            </a:r>
          </a:p>
        </p:txBody>
      </p:sp>
      <p:grpSp>
        <p:nvGrpSpPr>
          <p:cNvPr id="26" name="组合 25">
            <a:extLst>
              <a:ext uri="{FF2B5EF4-FFF2-40B4-BE49-F238E27FC236}">
                <a16:creationId xmlns:a16="http://schemas.microsoft.com/office/drawing/2014/main" id="{DE4E02FE-01FD-6120-4BD0-B4D57FD1670F}"/>
              </a:ext>
            </a:extLst>
          </p:cNvPr>
          <p:cNvGrpSpPr/>
          <p:nvPr/>
        </p:nvGrpSpPr>
        <p:grpSpPr>
          <a:xfrm>
            <a:off x="534322" y="1638321"/>
            <a:ext cx="1800000" cy="1437421"/>
            <a:chOff x="679504" y="1639341"/>
            <a:chExt cx="1712053" cy="970851"/>
          </a:xfrm>
        </p:grpSpPr>
        <p:sp>
          <p:nvSpPr>
            <p:cNvPr id="17" name="Shape 9">
              <a:extLst>
                <a:ext uri="{FF2B5EF4-FFF2-40B4-BE49-F238E27FC236}">
                  <a16:creationId xmlns:a16="http://schemas.microsoft.com/office/drawing/2014/main" id="{6BD28889-DA5A-2D4D-4C3A-BCB5B82CE19E}"/>
                </a:ext>
              </a:extLst>
            </p:cNvPr>
            <p:cNvSpPr/>
            <p:nvPr/>
          </p:nvSpPr>
          <p:spPr>
            <a:xfrm>
              <a:off x="679504" y="1639341"/>
              <a:ext cx="1712053" cy="970851"/>
            </a:xfrm>
            <a:prstGeom prst="rect">
              <a:avLst/>
            </a:prstGeom>
            <a:solidFill>
              <a:srgbClr val="1A4B8C"/>
            </a:solidFill>
            <a:ln/>
          </p:spPr>
          <p:txBody>
            <a:bodyPr/>
            <a:lstStyle/>
            <a:p>
              <a:endParaRPr lang="zh-CN" altLang="en-US" sz="1350"/>
            </a:p>
          </p:txBody>
        </p:sp>
        <p:sp>
          <p:nvSpPr>
            <p:cNvPr id="9" name="Text 10">
              <a:extLst>
                <a:ext uri="{FF2B5EF4-FFF2-40B4-BE49-F238E27FC236}">
                  <a16:creationId xmlns:a16="http://schemas.microsoft.com/office/drawing/2014/main" id="{6675757E-2DDF-3568-D2D4-F0BB4D54F53A}"/>
                </a:ext>
              </a:extLst>
            </p:cNvPr>
            <p:cNvSpPr/>
            <p:nvPr/>
          </p:nvSpPr>
          <p:spPr>
            <a:xfrm>
              <a:off x="902992" y="1800024"/>
              <a:ext cx="1269602" cy="624458"/>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数据采集</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B站743</a:t>
              </a:r>
              <a:r>
                <a:rPr lang="zh-CN" altLang="en-US" sz="1600" dirty="0">
                  <a:solidFill>
                    <a:srgbClr val="FFFFFF"/>
                  </a:solidFill>
                  <a:latin typeface="+mn-ea"/>
                  <a:cs typeface="Quattrocento Sans" pitchFamily="34" charset="-120"/>
                </a:rPr>
                <a:t>个</a:t>
              </a:r>
              <a:r>
                <a:rPr lang="en-US" sz="1600" dirty="0" err="1">
                  <a:solidFill>
                    <a:srgbClr val="FFFFFF"/>
                  </a:solidFill>
                  <a:latin typeface="+mn-ea"/>
                  <a:cs typeface="Quattrocento Sans" pitchFamily="34" charset="-120"/>
                </a:rPr>
                <a:t>视频</a:t>
              </a:r>
              <a:endParaRPr lang="en-US" sz="2000" dirty="0">
                <a:latin typeface="+mn-ea"/>
              </a:endParaRPr>
            </a:p>
          </p:txBody>
        </p:sp>
      </p:grpSp>
      <p:grpSp>
        <p:nvGrpSpPr>
          <p:cNvPr id="40" name="组合 39">
            <a:extLst>
              <a:ext uri="{FF2B5EF4-FFF2-40B4-BE49-F238E27FC236}">
                <a16:creationId xmlns:a16="http://schemas.microsoft.com/office/drawing/2014/main" id="{985F3FC9-AE24-91FF-B2A3-40B727099C91}"/>
              </a:ext>
            </a:extLst>
          </p:cNvPr>
          <p:cNvGrpSpPr/>
          <p:nvPr/>
        </p:nvGrpSpPr>
        <p:grpSpPr>
          <a:xfrm>
            <a:off x="2820596" y="1641462"/>
            <a:ext cx="1800000" cy="1437421"/>
            <a:chOff x="2608233" y="1644279"/>
            <a:chExt cx="2089493" cy="1437421"/>
          </a:xfrm>
        </p:grpSpPr>
        <p:sp>
          <p:nvSpPr>
            <p:cNvPr id="21" name="Shape 9">
              <a:extLst>
                <a:ext uri="{FF2B5EF4-FFF2-40B4-BE49-F238E27FC236}">
                  <a16:creationId xmlns:a16="http://schemas.microsoft.com/office/drawing/2014/main" id="{5A378DE7-9ADD-97A4-D730-2B570DC0E4C4}"/>
                </a:ext>
              </a:extLst>
            </p:cNvPr>
            <p:cNvSpPr/>
            <p:nvPr/>
          </p:nvSpPr>
          <p:spPr>
            <a:xfrm>
              <a:off x="2608233" y="1644279"/>
              <a:ext cx="2089493" cy="1437421"/>
            </a:xfrm>
            <a:prstGeom prst="rect">
              <a:avLst/>
            </a:prstGeom>
            <a:solidFill>
              <a:srgbClr val="1A4B8C"/>
            </a:solidFill>
            <a:ln/>
          </p:spPr>
          <p:txBody>
            <a:bodyPr/>
            <a:lstStyle/>
            <a:p>
              <a:endParaRPr lang="zh-CN" altLang="en-US" sz="1350"/>
            </a:p>
          </p:txBody>
        </p:sp>
        <p:sp>
          <p:nvSpPr>
            <p:cNvPr id="13" name="Text 13">
              <a:extLst>
                <a:ext uri="{FF2B5EF4-FFF2-40B4-BE49-F238E27FC236}">
                  <a16:creationId xmlns:a16="http://schemas.microsoft.com/office/drawing/2014/main" id="{BEA187AC-E9FB-985C-B1D6-7538AEFB8171}"/>
                </a:ext>
              </a:extLst>
            </p:cNvPr>
            <p:cNvSpPr/>
            <p:nvPr/>
          </p:nvSpPr>
          <p:spPr>
            <a:xfrm>
              <a:off x="2926425" y="1957505"/>
              <a:ext cx="1476375"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数据清洗</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问题提取</a:t>
              </a:r>
              <a:endParaRPr lang="en-US" sz="2000" dirty="0">
                <a:latin typeface="+mn-ea"/>
              </a:endParaRPr>
            </a:p>
            <a:p>
              <a:pPr algn="ctr">
                <a:lnSpc>
                  <a:spcPct val="140000"/>
                </a:lnSpc>
              </a:pPr>
              <a:r>
                <a:rPr lang="en-US" sz="1600" dirty="0">
                  <a:solidFill>
                    <a:srgbClr val="FFFFFF"/>
                  </a:solidFill>
                  <a:latin typeface="+mn-ea"/>
                  <a:cs typeface="Quattrocento Sans" pitchFamily="34" charset="-120"/>
                </a:rPr>
                <a:t>2767条问题</a:t>
              </a:r>
              <a:endParaRPr lang="en-US" sz="2000" dirty="0">
                <a:latin typeface="+mn-ea"/>
              </a:endParaRPr>
            </a:p>
          </p:txBody>
        </p:sp>
      </p:grpSp>
      <p:grpSp>
        <p:nvGrpSpPr>
          <p:cNvPr id="42" name="组合 41">
            <a:extLst>
              <a:ext uri="{FF2B5EF4-FFF2-40B4-BE49-F238E27FC236}">
                <a16:creationId xmlns:a16="http://schemas.microsoft.com/office/drawing/2014/main" id="{DC4052F4-6D04-ABB6-1CD0-BC55D43508FC}"/>
              </a:ext>
            </a:extLst>
          </p:cNvPr>
          <p:cNvGrpSpPr/>
          <p:nvPr/>
        </p:nvGrpSpPr>
        <p:grpSpPr>
          <a:xfrm>
            <a:off x="5108018" y="1634582"/>
            <a:ext cx="1908000" cy="1437421"/>
            <a:chOff x="5025269" y="1634582"/>
            <a:chExt cx="2089493" cy="1437421"/>
          </a:xfrm>
        </p:grpSpPr>
        <p:sp>
          <p:nvSpPr>
            <p:cNvPr id="27" name="Shape 9">
              <a:extLst>
                <a:ext uri="{FF2B5EF4-FFF2-40B4-BE49-F238E27FC236}">
                  <a16:creationId xmlns:a16="http://schemas.microsoft.com/office/drawing/2014/main" id="{032DF524-D150-5CA1-816D-EFB27E9341D8}"/>
                </a:ext>
              </a:extLst>
            </p:cNvPr>
            <p:cNvSpPr/>
            <p:nvPr/>
          </p:nvSpPr>
          <p:spPr>
            <a:xfrm>
              <a:off x="5025269" y="1634582"/>
              <a:ext cx="2089493" cy="1437421"/>
            </a:xfrm>
            <a:prstGeom prst="rect">
              <a:avLst/>
            </a:prstGeom>
            <a:solidFill>
              <a:srgbClr val="1A4B8C"/>
            </a:solidFill>
            <a:ln/>
          </p:spPr>
          <p:txBody>
            <a:bodyPr/>
            <a:lstStyle/>
            <a:p>
              <a:endParaRPr lang="zh-CN" altLang="en-US" sz="1350"/>
            </a:p>
          </p:txBody>
        </p:sp>
        <p:sp>
          <p:nvSpPr>
            <p:cNvPr id="16" name="Text 16">
              <a:extLst>
                <a:ext uri="{FF2B5EF4-FFF2-40B4-BE49-F238E27FC236}">
                  <a16:creationId xmlns:a16="http://schemas.microsoft.com/office/drawing/2014/main" id="{1DFF9717-7DFF-F5D9-F421-7E2D8B03D113}"/>
                </a:ext>
              </a:extLst>
            </p:cNvPr>
            <p:cNvSpPr/>
            <p:nvPr/>
          </p:nvSpPr>
          <p:spPr>
            <a:xfrm>
              <a:off x="5274105" y="1940844"/>
              <a:ext cx="1591821"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问题分类</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13个主题</a:t>
              </a:r>
              <a:endParaRPr lang="en-US" sz="2000" dirty="0">
                <a:latin typeface="+mn-ea"/>
              </a:endParaRPr>
            </a:p>
          </p:txBody>
        </p:sp>
      </p:grpSp>
      <p:grpSp>
        <p:nvGrpSpPr>
          <p:cNvPr id="43" name="组合 42">
            <a:extLst>
              <a:ext uri="{FF2B5EF4-FFF2-40B4-BE49-F238E27FC236}">
                <a16:creationId xmlns:a16="http://schemas.microsoft.com/office/drawing/2014/main" id="{3611FCCC-B5AA-381C-7072-5D3DF5FAF524}"/>
              </a:ext>
            </a:extLst>
          </p:cNvPr>
          <p:cNvGrpSpPr/>
          <p:nvPr/>
        </p:nvGrpSpPr>
        <p:grpSpPr>
          <a:xfrm>
            <a:off x="7489840" y="1641462"/>
            <a:ext cx="1980000" cy="1437421"/>
            <a:chOff x="7523806" y="1641462"/>
            <a:chExt cx="2089493" cy="1437421"/>
          </a:xfrm>
        </p:grpSpPr>
        <p:sp>
          <p:nvSpPr>
            <p:cNvPr id="32" name="Shape 9">
              <a:extLst>
                <a:ext uri="{FF2B5EF4-FFF2-40B4-BE49-F238E27FC236}">
                  <a16:creationId xmlns:a16="http://schemas.microsoft.com/office/drawing/2014/main" id="{F539B1FA-7F58-A98A-E4DB-11D4BC66AE6E}"/>
                </a:ext>
              </a:extLst>
            </p:cNvPr>
            <p:cNvSpPr/>
            <p:nvPr/>
          </p:nvSpPr>
          <p:spPr>
            <a:xfrm>
              <a:off x="7523806" y="1641462"/>
              <a:ext cx="2089493" cy="1437421"/>
            </a:xfrm>
            <a:prstGeom prst="rect">
              <a:avLst/>
            </a:prstGeom>
            <a:solidFill>
              <a:srgbClr val="1A4B8C"/>
            </a:solidFill>
            <a:ln/>
          </p:spPr>
          <p:txBody>
            <a:bodyPr/>
            <a:lstStyle/>
            <a:p>
              <a:endParaRPr lang="zh-CN" altLang="en-US" sz="1350"/>
            </a:p>
          </p:txBody>
        </p:sp>
        <p:sp>
          <p:nvSpPr>
            <p:cNvPr id="19" name="Text 19">
              <a:extLst>
                <a:ext uri="{FF2B5EF4-FFF2-40B4-BE49-F238E27FC236}">
                  <a16:creationId xmlns:a16="http://schemas.microsoft.com/office/drawing/2014/main" id="{FAF5A642-930E-6D62-F434-F7B6C4BE83C2}"/>
                </a:ext>
              </a:extLst>
            </p:cNvPr>
            <p:cNvSpPr/>
            <p:nvPr/>
          </p:nvSpPr>
          <p:spPr>
            <a:xfrm>
              <a:off x="7704107" y="1940844"/>
              <a:ext cx="1728891"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Quattrocento Sans" pitchFamily="34" charset="0"/>
                  <a:ea typeface="Quattrocento Sans" pitchFamily="34" charset="-122"/>
                  <a:cs typeface="Quattrocento Sans" pitchFamily="34" charset="-120"/>
                </a:rPr>
                <a:t>LLM</a:t>
              </a:r>
              <a:r>
                <a:rPr lang="zh-CN" altLang="en-US" b="1" dirty="0">
                  <a:solidFill>
                    <a:srgbClr val="FFFFFF"/>
                  </a:solidFill>
                  <a:latin typeface="Quattrocento Sans" pitchFamily="34" charset="0"/>
                  <a:ea typeface="Quattrocento Sans" pitchFamily="34" charset="-122"/>
                  <a:cs typeface="Quattrocento Sans" pitchFamily="34" charset="-120"/>
                </a:rPr>
                <a:t>问题</a:t>
              </a:r>
              <a:r>
                <a:rPr lang="en-US" b="1" dirty="0" err="1">
                  <a:solidFill>
                    <a:srgbClr val="FFFFFF"/>
                  </a:solidFill>
                  <a:latin typeface="Quattrocento Sans" pitchFamily="34" charset="0"/>
                  <a:ea typeface="Quattrocento Sans" pitchFamily="34" charset="-122"/>
                  <a:cs typeface="Quattrocento Sans" pitchFamily="34" charset="-120"/>
                </a:rPr>
                <a:t>规范化</a:t>
              </a:r>
              <a:endParaRPr lang="en-US" dirty="0"/>
            </a:p>
            <a:p>
              <a:pPr algn="ctr">
                <a:lnSpc>
                  <a:spcPct val="140000"/>
                </a:lnSpc>
              </a:pPr>
              <a:r>
                <a:rPr lang="zh-CN" altLang="en-US" b="1" dirty="0">
                  <a:solidFill>
                    <a:srgbClr val="FFFFFF"/>
                  </a:solidFill>
                  <a:latin typeface="Quattrocento Sans" pitchFamily="34" charset="0"/>
                  <a:ea typeface="Quattrocento Sans" pitchFamily="34" charset="-122"/>
                  <a:cs typeface="Quattrocento Sans" pitchFamily="34" charset="-120"/>
                </a:rPr>
                <a:t>与</a:t>
              </a:r>
              <a:r>
                <a:rPr lang="en-US" b="1" dirty="0" err="1">
                  <a:solidFill>
                    <a:srgbClr val="FFFFFF"/>
                  </a:solidFill>
                  <a:latin typeface="Quattrocento Sans" pitchFamily="34" charset="0"/>
                  <a:ea typeface="Quattrocento Sans" pitchFamily="34" charset="-122"/>
                  <a:cs typeface="Quattrocento Sans" pitchFamily="34" charset="-120"/>
                </a:rPr>
                <a:t>问答生成</a:t>
              </a:r>
              <a:endParaRPr lang="en-US" sz="2400" b="1" dirty="0"/>
            </a:p>
            <a:p>
              <a:pPr algn="ctr">
                <a:lnSpc>
                  <a:spcPct val="140000"/>
                </a:lnSpc>
              </a:pPr>
              <a:r>
                <a:rPr lang="en-US" sz="1600" dirty="0">
                  <a:solidFill>
                    <a:srgbClr val="FFFFFF"/>
                  </a:solidFill>
                  <a:latin typeface="+mn-ea"/>
                  <a:cs typeface="Times New Roman" panose="02020603050405020304" pitchFamily="18" charset="0"/>
                </a:rPr>
                <a:t>DeepSeek-V3.1</a:t>
              </a:r>
              <a:endParaRPr lang="en-US" sz="2000" dirty="0">
                <a:latin typeface="+mn-ea"/>
                <a:cs typeface="Times New Roman" panose="02020603050405020304" pitchFamily="18" charset="0"/>
              </a:endParaRPr>
            </a:p>
          </p:txBody>
        </p:sp>
      </p:grpSp>
      <p:grpSp>
        <p:nvGrpSpPr>
          <p:cNvPr id="44" name="组合 43">
            <a:extLst>
              <a:ext uri="{FF2B5EF4-FFF2-40B4-BE49-F238E27FC236}">
                <a16:creationId xmlns:a16="http://schemas.microsoft.com/office/drawing/2014/main" id="{8C00884B-E21B-543A-0105-ABEB73E725C6}"/>
              </a:ext>
            </a:extLst>
          </p:cNvPr>
          <p:cNvGrpSpPr/>
          <p:nvPr/>
        </p:nvGrpSpPr>
        <p:grpSpPr>
          <a:xfrm>
            <a:off x="9872216" y="1641462"/>
            <a:ext cx="1800000" cy="1437421"/>
            <a:chOff x="9944282" y="1641462"/>
            <a:chExt cx="2089493" cy="1437421"/>
          </a:xfrm>
        </p:grpSpPr>
        <p:sp>
          <p:nvSpPr>
            <p:cNvPr id="34" name="Shape 9">
              <a:extLst>
                <a:ext uri="{FF2B5EF4-FFF2-40B4-BE49-F238E27FC236}">
                  <a16:creationId xmlns:a16="http://schemas.microsoft.com/office/drawing/2014/main" id="{99B8881B-0ED7-9016-0BB7-EFDF0AA6171B}"/>
                </a:ext>
              </a:extLst>
            </p:cNvPr>
            <p:cNvSpPr/>
            <p:nvPr/>
          </p:nvSpPr>
          <p:spPr>
            <a:xfrm>
              <a:off x="9944282" y="1641462"/>
              <a:ext cx="2089493" cy="1437421"/>
            </a:xfrm>
            <a:prstGeom prst="rect">
              <a:avLst/>
            </a:prstGeom>
            <a:solidFill>
              <a:srgbClr val="1A4B8C"/>
            </a:solidFill>
            <a:ln/>
          </p:spPr>
          <p:txBody>
            <a:bodyPr/>
            <a:lstStyle/>
            <a:p>
              <a:endParaRPr lang="zh-CN" altLang="en-US" sz="1350"/>
            </a:p>
          </p:txBody>
        </p:sp>
        <p:sp>
          <p:nvSpPr>
            <p:cNvPr id="22" name="Text 22">
              <a:extLst>
                <a:ext uri="{FF2B5EF4-FFF2-40B4-BE49-F238E27FC236}">
                  <a16:creationId xmlns:a16="http://schemas.microsoft.com/office/drawing/2014/main" id="{B66A0633-DA15-01FE-171A-91C39E4D457E}"/>
                </a:ext>
              </a:extLst>
            </p:cNvPr>
            <p:cNvSpPr/>
            <p:nvPr/>
          </p:nvSpPr>
          <p:spPr>
            <a:xfrm>
              <a:off x="10263540" y="1941072"/>
              <a:ext cx="1476375" cy="762000"/>
            </a:xfrm>
            <a:prstGeom prst="rect">
              <a:avLst/>
            </a:prstGeom>
            <a:noFill/>
            <a:ln/>
          </p:spPr>
          <p:txBody>
            <a:bodyPr wrap="square" lIns="0" tIns="0" rIns="0" bIns="0" rtlCol="0" anchor="ctr"/>
            <a:lstStyle/>
            <a:p>
              <a:pPr algn="ctr">
                <a:lnSpc>
                  <a:spcPct val="140000"/>
                </a:lnSpc>
              </a:pPr>
              <a:r>
                <a:rPr lang="en-US" b="1" dirty="0" err="1">
                  <a:solidFill>
                    <a:srgbClr val="FFFFFF"/>
                  </a:solidFill>
                  <a:latin typeface="Quattrocento Sans" pitchFamily="34" charset="0"/>
                  <a:ea typeface="Quattrocento Sans" pitchFamily="34" charset="-122"/>
                  <a:cs typeface="Quattrocento Sans" pitchFamily="34" charset="-120"/>
                </a:rPr>
                <a:t>审核</a:t>
              </a:r>
              <a:endParaRPr lang="en-US" sz="2400" dirty="0"/>
            </a:p>
            <a:p>
              <a:pPr algn="ct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专家审核</a:t>
              </a:r>
              <a:endParaRPr lang="en-US" sz="2000" dirty="0"/>
            </a:p>
            <a:p>
              <a:pPr algn="ct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AI自动筛查</a:t>
              </a:r>
              <a:endParaRPr lang="en-US" sz="2000" dirty="0"/>
            </a:p>
          </p:txBody>
        </p:sp>
      </p:grpSp>
      <p:grpSp>
        <p:nvGrpSpPr>
          <p:cNvPr id="39" name="组合 38">
            <a:extLst>
              <a:ext uri="{FF2B5EF4-FFF2-40B4-BE49-F238E27FC236}">
                <a16:creationId xmlns:a16="http://schemas.microsoft.com/office/drawing/2014/main" id="{6596B643-A848-A5EC-5E60-05A47D5665B2}"/>
              </a:ext>
            </a:extLst>
          </p:cNvPr>
          <p:cNvGrpSpPr/>
          <p:nvPr/>
        </p:nvGrpSpPr>
        <p:grpSpPr>
          <a:xfrm>
            <a:off x="7673844" y="4015419"/>
            <a:ext cx="3998372" cy="1337432"/>
            <a:chOff x="8035403" y="4060468"/>
            <a:chExt cx="3998372" cy="1337432"/>
          </a:xfrm>
        </p:grpSpPr>
        <p:sp>
          <p:nvSpPr>
            <p:cNvPr id="24" name="Shape 24">
              <a:extLst>
                <a:ext uri="{FF2B5EF4-FFF2-40B4-BE49-F238E27FC236}">
                  <a16:creationId xmlns:a16="http://schemas.microsoft.com/office/drawing/2014/main" id="{93348ED7-7A51-EF7F-D3EE-AC6F771F686C}"/>
                </a:ext>
              </a:extLst>
            </p:cNvPr>
            <p:cNvSpPr/>
            <p:nvPr/>
          </p:nvSpPr>
          <p:spPr>
            <a:xfrm>
              <a:off x="8035403" y="4060468"/>
              <a:ext cx="3998372" cy="1337432"/>
            </a:xfrm>
            <a:prstGeom prst="rect">
              <a:avLst/>
            </a:prstGeom>
            <a:solidFill>
              <a:srgbClr val="C45C26"/>
            </a:solidFill>
            <a:ln/>
          </p:spPr>
          <p:txBody>
            <a:bodyPr/>
            <a:lstStyle/>
            <a:p>
              <a:endParaRPr lang="zh-CN" altLang="en-US" sz="1350"/>
            </a:p>
          </p:txBody>
        </p:sp>
        <p:sp>
          <p:nvSpPr>
            <p:cNvPr id="25" name="Text 25">
              <a:extLst>
                <a:ext uri="{FF2B5EF4-FFF2-40B4-BE49-F238E27FC236}">
                  <a16:creationId xmlns:a16="http://schemas.microsoft.com/office/drawing/2014/main" id="{07A50410-FB06-05DA-268B-F5D942E723A2}"/>
                </a:ext>
              </a:extLst>
            </p:cNvPr>
            <p:cNvSpPr/>
            <p:nvPr/>
          </p:nvSpPr>
          <p:spPr>
            <a:xfrm>
              <a:off x="9387347" y="4310472"/>
              <a:ext cx="1476375"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数据集构建</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2767条问答对</a:t>
              </a:r>
              <a:endParaRPr lang="en-US" sz="2000" dirty="0">
                <a:latin typeface="+mn-ea"/>
              </a:endParaRPr>
            </a:p>
            <a:p>
              <a:pPr algn="ctr">
                <a:lnSpc>
                  <a:spcPct val="140000"/>
                </a:lnSpc>
              </a:pPr>
              <a:r>
                <a:rPr lang="en-US" sz="1600" dirty="0">
                  <a:solidFill>
                    <a:srgbClr val="FFFFFF"/>
                  </a:solidFill>
                  <a:latin typeface="+mn-ea"/>
                  <a:cs typeface="Quattrocento Sans" pitchFamily="34" charset="-120"/>
                </a:rPr>
                <a:t>13主题全覆盖</a:t>
              </a:r>
              <a:endParaRPr lang="en-US" sz="2000" dirty="0">
                <a:latin typeface="+mn-ea"/>
              </a:endParaRPr>
            </a:p>
          </p:txBody>
        </p:sp>
      </p:grpSp>
      <p:grpSp>
        <p:nvGrpSpPr>
          <p:cNvPr id="37" name="组合 36">
            <a:extLst>
              <a:ext uri="{FF2B5EF4-FFF2-40B4-BE49-F238E27FC236}">
                <a16:creationId xmlns:a16="http://schemas.microsoft.com/office/drawing/2014/main" id="{1AA22845-044D-A137-8070-0CAE48E5938C}"/>
              </a:ext>
            </a:extLst>
          </p:cNvPr>
          <p:cNvGrpSpPr/>
          <p:nvPr/>
        </p:nvGrpSpPr>
        <p:grpSpPr>
          <a:xfrm>
            <a:off x="534322" y="4015419"/>
            <a:ext cx="4679049" cy="1337432"/>
            <a:chOff x="120035" y="4015419"/>
            <a:chExt cx="4679049" cy="1337432"/>
          </a:xfrm>
        </p:grpSpPr>
        <p:sp>
          <p:nvSpPr>
            <p:cNvPr id="36" name="Shape 24">
              <a:extLst>
                <a:ext uri="{FF2B5EF4-FFF2-40B4-BE49-F238E27FC236}">
                  <a16:creationId xmlns:a16="http://schemas.microsoft.com/office/drawing/2014/main" id="{38D1A5F5-D714-E2D9-84E4-326D6505B63D}"/>
                </a:ext>
              </a:extLst>
            </p:cNvPr>
            <p:cNvSpPr/>
            <p:nvPr/>
          </p:nvSpPr>
          <p:spPr>
            <a:xfrm>
              <a:off x="120035" y="4015419"/>
              <a:ext cx="4679049" cy="1337432"/>
            </a:xfrm>
            <a:prstGeom prst="rect">
              <a:avLst/>
            </a:prstGeom>
            <a:solidFill>
              <a:srgbClr val="C45C26"/>
            </a:solidFill>
            <a:ln/>
          </p:spPr>
          <p:txBody>
            <a:bodyPr/>
            <a:lstStyle/>
            <a:p>
              <a:endParaRPr lang="zh-CN" altLang="en-US" sz="1350"/>
            </a:p>
          </p:txBody>
        </p:sp>
        <p:sp>
          <p:nvSpPr>
            <p:cNvPr id="28" name="Text 28">
              <a:extLst>
                <a:ext uri="{FF2B5EF4-FFF2-40B4-BE49-F238E27FC236}">
                  <a16:creationId xmlns:a16="http://schemas.microsoft.com/office/drawing/2014/main" id="{101A819D-F729-BB4D-B2DB-618EE52485D2}"/>
                </a:ext>
              </a:extLst>
            </p:cNvPr>
            <p:cNvSpPr/>
            <p:nvPr/>
          </p:nvSpPr>
          <p:spPr>
            <a:xfrm>
              <a:off x="423913" y="4225550"/>
              <a:ext cx="4105717" cy="817579"/>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模型微调与评估</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Qwen系列 + LoRA微调 + 六维度AI打分评估</a:t>
              </a:r>
              <a:endParaRPr lang="en-US" sz="2000" dirty="0">
                <a:latin typeface="+mn-ea"/>
              </a:endParaRPr>
            </a:p>
          </p:txBody>
        </p:sp>
      </p:grpSp>
      <p:cxnSp>
        <p:nvCxnSpPr>
          <p:cNvPr id="50" name="直接箭头连接符 49">
            <a:extLst>
              <a:ext uri="{FF2B5EF4-FFF2-40B4-BE49-F238E27FC236}">
                <a16:creationId xmlns:a16="http://schemas.microsoft.com/office/drawing/2014/main" id="{5F6F90C2-E04F-71B4-32D5-76A322895D6A}"/>
              </a:ext>
            </a:extLst>
          </p:cNvPr>
          <p:cNvCxnSpPr>
            <a:stCxn id="17" idx="3"/>
            <a:endCxn id="21" idx="1"/>
          </p:cNvCxnSpPr>
          <p:nvPr/>
        </p:nvCxnSpPr>
        <p:spPr>
          <a:xfrm>
            <a:off x="2334322" y="2357032"/>
            <a:ext cx="486274" cy="31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EA2CE598-6A7F-E68C-4D7E-155D3D54AAD2}"/>
              </a:ext>
            </a:extLst>
          </p:cNvPr>
          <p:cNvCxnSpPr>
            <a:cxnSpLocks/>
            <a:stCxn id="21" idx="3"/>
            <a:endCxn id="27" idx="1"/>
          </p:cNvCxnSpPr>
          <p:nvPr/>
        </p:nvCxnSpPr>
        <p:spPr>
          <a:xfrm flipV="1">
            <a:off x="4620596" y="2353293"/>
            <a:ext cx="487422" cy="6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171F8FB3-97FC-09B7-8313-E5A51203D198}"/>
              </a:ext>
            </a:extLst>
          </p:cNvPr>
          <p:cNvCxnSpPr>
            <a:cxnSpLocks/>
          </p:cNvCxnSpPr>
          <p:nvPr/>
        </p:nvCxnSpPr>
        <p:spPr>
          <a:xfrm flipV="1">
            <a:off x="7017124" y="2360172"/>
            <a:ext cx="487422" cy="6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916A3A77-794C-EEF6-4BBD-6EC172020F5E}"/>
              </a:ext>
            </a:extLst>
          </p:cNvPr>
          <p:cNvCxnSpPr>
            <a:cxnSpLocks/>
          </p:cNvCxnSpPr>
          <p:nvPr/>
        </p:nvCxnSpPr>
        <p:spPr>
          <a:xfrm flipV="1">
            <a:off x="9429319" y="2340803"/>
            <a:ext cx="487422" cy="6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15094A83-9B2A-2066-AC83-9B9984C0BB59}"/>
              </a:ext>
            </a:extLst>
          </p:cNvPr>
          <p:cNvCxnSpPr>
            <a:stCxn id="34" idx="2"/>
          </p:cNvCxnSpPr>
          <p:nvPr/>
        </p:nvCxnSpPr>
        <p:spPr>
          <a:xfrm flipH="1">
            <a:off x="10761034" y="3078883"/>
            <a:ext cx="11182" cy="9365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6C07F411-7B0E-D97D-7B5C-1ABA5D54A8CA}"/>
              </a:ext>
            </a:extLst>
          </p:cNvPr>
          <p:cNvCxnSpPr>
            <a:stCxn id="24" idx="1"/>
            <a:endCxn id="36" idx="3"/>
          </p:cNvCxnSpPr>
          <p:nvPr/>
        </p:nvCxnSpPr>
        <p:spPr>
          <a:xfrm flipH="1">
            <a:off x="5213371" y="4684135"/>
            <a:ext cx="2460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327019"/>
      </p:ext>
    </p:extLst>
  </p:cSld>
  <p:clrMapOvr>
    <a:masterClrMapping/>
  </p:clrMapOvr>
  <p:transition>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F130-4C62-01BD-BFB3-A7B970C55E6F}"/>
            </a:ext>
          </a:extLst>
        </p:cNvPr>
        <p:cNvGrpSpPr/>
        <p:nvPr/>
      </p:nvGrpSpPr>
      <p:grpSpPr>
        <a:xfrm>
          <a:off x="0" y="0"/>
          <a:ext cx="0" cy="0"/>
          <a:chOff x="0" y="0"/>
          <a:chExt cx="0" cy="0"/>
        </a:xfrm>
      </p:grpSpPr>
      <p:sp>
        <p:nvSpPr>
          <p:cNvPr id="18" name="Shape 9">
            <a:extLst>
              <a:ext uri="{FF2B5EF4-FFF2-40B4-BE49-F238E27FC236}">
                <a16:creationId xmlns:a16="http://schemas.microsoft.com/office/drawing/2014/main" id="{56877607-3B06-F24D-E522-ACEFF9D602CD}"/>
              </a:ext>
            </a:extLst>
          </p:cNvPr>
          <p:cNvSpPr/>
          <p:nvPr/>
        </p:nvSpPr>
        <p:spPr>
          <a:xfrm>
            <a:off x="5968969" y="2852585"/>
            <a:ext cx="5569822" cy="3600390"/>
          </a:xfrm>
          <a:prstGeom prst="rect">
            <a:avLst/>
          </a:prstGeom>
          <a:solidFill>
            <a:srgbClr val="FFFFFF"/>
          </a:solidFill>
          <a:ln>
            <a:solidFill>
              <a:schemeClr val="bg2">
                <a:lumMod val="50000"/>
              </a:schemeClr>
            </a:solidFill>
          </a:ln>
        </p:spPr>
        <p:txBody>
          <a:bodyPr/>
          <a:lstStyle/>
          <a:p>
            <a:endParaRPr lang="zh-CN" altLang="en-US"/>
          </a:p>
        </p:txBody>
      </p:sp>
      <p:sp>
        <p:nvSpPr>
          <p:cNvPr id="2" name="标题 1">
            <a:extLst>
              <a:ext uri="{FF2B5EF4-FFF2-40B4-BE49-F238E27FC236}">
                <a16:creationId xmlns:a16="http://schemas.microsoft.com/office/drawing/2014/main" id="{FF233997-8A2B-E471-D7B8-2850E75CA924}"/>
              </a:ext>
            </a:extLst>
          </p:cNvPr>
          <p:cNvSpPr>
            <a:spLocks noGrp="1"/>
          </p:cNvSpPr>
          <p:nvPr>
            <p:ph type="title"/>
          </p:nvPr>
        </p:nvSpPr>
        <p:spPr/>
        <p:txBody>
          <a:bodyPr/>
          <a:lstStyle/>
          <a:p>
            <a:r>
              <a:rPr lang="zh-CN" altLang="en-US" dirty="0"/>
              <a:t>数据来源与处理方法</a:t>
            </a:r>
          </a:p>
        </p:txBody>
      </p:sp>
      <p:sp>
        <p:nvSpPr>
          <p:cNvPr id="3" name="日期占位符 2">
            <a:extLst>
              <a:ext uri="{FF2B5EF4-FFF2-40B4-BE49-F238E27FC236}">
                <a16:creationId xmlns:a16="http://schemas.microsoft.com/office/drawing/2014/main" id="{3BD56F78-3408-B761-3CAC-3CFE685680DA}"/>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1C0EE810-A813-20D0-8E63-D2DF3EB8B419}"/>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8F8B46D8-C99E-8393-44ED-B7552303A128}"/>
              </a:ext>
            </a:extLst>
          </p:cNvPr>
          <p:cNvSpPr>
            <a:spLocks noGrp="1"/>
          </p:cNvSpPr>
          <p:nvPr>
            <p:ph type="sldNum" sz="quarter" idx="12"/>
          </p:nvPr>
        </p:nvSpPr>
        <p:spPr/>
        <p:txBody>
          <a:bodyPr/>
          <a:lstStyle/>
          <a:p>
            <a:fld id="{054335CC-B077-4EFF-BFF9-2EFEE3F838E2}" type="slidenum">
              <a:rPr lang="zh-CN" altLang="en-US" smtClean="0"/>
              <a:pPr/>
              <a:t>10</a:t>
            </a:fld>
            <a:endParaRPr lang="zh-CN" altLang="en-US" dirty="0"/>
          </a:p>
        </p:txBody>
      </p:sp>
      <p:sp>
        <p:nvSpPr>
          <p:cNvPr id="24" name="文本占位符 16">
            <a:extLst>
              <a:ext uri="{FF2B5EF4-FFF2-40B4-BE49-F238E27FC236}">
                <a16:creationId xmlns:a16="http://schemas.microsoft.com/office/drawing/2014/main" id="{7DDB1F51-0487-C6DF-E1C1-85B4733ECA62}"/>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6" name="Shape 5">
            <a:extLst>
              <a:ext uri="{FF2B5EF4-FFF2-40B4-BE49-F238E27FC236}">
                <a16:creationId xmlns:a16="http://schemas.microsoft.com/office/drawing/2014/main" id="{13D76905-5C6A-004E-415D-A1ED342820B6}"/>
              </a:ext>
            </a:extLst>
          </p:cNvPr>
          <p:cNvSpPr/>
          <p:nvPr/>
        </p:nvSpPr>
        <p:spPr>
          <a:xfrm>
            <a:off x="585732" y="1214438"/>
            <a:ext cx="10947456" cy="1016000"/>
          </a:xfrm>
          <a:prstGeom prst="rect">
            <a:avLst/>
          </a:prstGeom>
          <a:solidFill>
            <a:srgbClr val="FFFFFF"/>
          </a:solidFill>
          <a:ln>
            <a:solidFill>
              <a:schemeClr val="bg2">
                <a:lumMod val="50000"/>
              </a:schemeClr>
            </a:solidFill>
          </a:ln>
        </p:spPr>
        <p:txBody>
          <a:bodyPr/>
          <a:lstStyle/>
          <a:p>
            <a:endParaRPr lang="zh-CN" altLang="en-US"/>
          </a:p>
        </p:txBody>
      </p:sp>
      <p:sp>
        <p:nvSpPr>
          <p:cNvPr id="7" name="Text 6">
            <a:extLst>
              <a:ext uri="{FF2B5EF4-FFF2-40B4-BE49-F238E27FC236}">
                <a16:creationId xmlns:a16="http://schemas.microsoft.com/office/drawing/2014/main" id="{DB83057D-882B-74AA-40EC-354958FB1DFE}"/>
              </a:ext>
            </a:extLst>
          </p:cNvPr>
          <p:cNvSpPr/>
          <p:nvPr/>
        </p:nvSpPr>
        <p:spPr>
          <a:xfrm>
            <a:off x="698542" y="1328586"/>
            <a:ext cx="3022516" cy="304800"/>
          </a:xfrm>
          <a:prstGeom prst="rect">
            <a:avLst/>
          </a:prstGeom>
          <a:noFill/>
          <a:ln/>
        </p:spPr>
        <p:txBody>
          <a:bodyPr wrap="none" lIns="0" tIns="0" rIns="0" bIns="0" rtlCol="0" anchor="ctr"/>
          <a:lstStyle/>
          <a:p>
            <a:pPr>
              <a:lnSpc>
                <a:spcPct val="100000"/>
              </a:lnSpc>
            </a:pPr>
            <a:r>
              <a:rPr lang="zh-CN" altLang="en-US" sz="1800" b="1" dirty="0">
                <a:solidFill>
                  <a:srgbClr val="1A4B8C"/>
                </a:solidFill>
                <a:latin typeface="Quattrocento Sans" pitchFamily="34" charset="0"/>
                <a:ea typeface="Quattrocento Sans" pitchFamily="34" charset="-122"/>
                <a:cs typeface="Quattrocento Sans" pitchFamily="34" charset="-120"/>
              </a:rPr>
              <a:t>评论</a:t>
            </a:r>
            <a:r>
              <a:rPr lang="en-US" sz="1800" b="1" dirty="0" err="1">
                <a:solidFill>
                  <a:srgbClr val="1A4B8C"/>
                </a:solidFill>
                <a:latin typeface="Quattrocento Sans" pitchFamily="34" charset="0"/>
                <a:ea typeface="Quattrocento Sans" pitchFamily="34" charset="-122"/>
                <a:cs typeface="Quattrocento Sans" pitchFamily="34" charset="-120"/>
              </a:rPr>
              <a:t>数据来源与采集范围</a:t>
            </a:r>
            <a:endParaRPr lang="en-US" sz="1600" dirty="0"/>
          </a:p>
        </p:txBody>
      </p:sp>
      <p:sp>
        <p:nvSpPr>
          <p:cNvPr id="8" name="Text 7">
            <a:extLst>
              <a:ext uri="{FF2B5EF4-FFF2-40B4-BE49-F238E27FC236}">
                <a16:creationId xmlns:a16="http://schemas.microsoft.com/office/drawing/2014/main" id="{8D4916BD-816E-6B0A-DE2E-5B5D9AC9D8B8}"/>
              </a:ext>
            </a:extLst>
          </p:cNvPr>
          <p:cNvSpPr/>
          <p:nvPr/>
        </p:nvSpPr>
        <p:spPr>
          <a:xfrm>
            <a:off x="714534" y="1652840"/>
            <a:ext cx="6185995" cy="457200"/>
          </a:xfrm>
          <a:prstGeom prst="rect">
            <a:avLst/>
          </a:prstGeom>
          <a:noFill/>
          <a:ln/>
        </p:spPr>
        <p:txBody>
          <a:bodyPr wrap="square" lIns="0" tIns="0" rIns="0" bIns="0" rtlCol="0" anchor="ctr"/>
          <a:lstStyle/>
          <a:p>
            <a:pPr>
              <a:lnSpc>
                <a:spcPct val="140000"/>
              </a:lnSpc>
            </a:pPr>
            <a:r>
              <a:rPr lang="en-US" sz="1600" dirty="0" err="1">
                <a:solidFill>
                  <a:srgbClr val="1A1D21"/>
                </a:solidFill>
                <a:latin typeface="+mn-ea"/>
                <a:cs typeface="Quattrocento Sans" pitchFamily="34" charset="-120"/>
              </a:rPr>
              <a:t>平台：Bilibili</a:t>
            </a:r>
            <a:r>
              <a:rPr lang="en-US" sz="1600" dirty="0">
                <a:solidFill>
                  <a:srgbClr val="1A1D21"/>
                </a:solidFill>
                <a:latin typeface="+mn-ea"/>
                <a:cs typeface="Quattrocento Sans" pitchFamily="34" charset="-120"/>
              </a:rPr>
              <a:t> 时间：2016.9-2024.6 | 743个视频 | 525位UP主</a:t>
            </a:r>
            <a:endParaRPr lang="en-US" sz="1600" dirty="0">
              <a:latin typeface="+mn-ea"/>
            </a:endParaRPr>
          </a:p>
        </p:txBody>
      </p:sp>
      <p:sp>
        <p:nvSpPr>
          <p:cNvPr id="9" name="Text 8">
            <a:extLst>
              <a:ext uri="{FF2B5EF4-FFF2-40B4-BE49-F238E27FC236}">
                <a16:creationId xmlns:a16="http://schemas.microsoft.com/office/drawing/2014/main" id="{D479CEBA-3039-7110-97C5-C8684D07672D}"/>
              </a:ext>
            </a:extLst>
          </p:cNvPr>
          <p:cNvSpPr/>
          <p:nvPr/>
        </p:nvSpPr>
        <p:spPr>
          <a:xfrm>
            <a:off x="592155" y="2448111"/>
            <a:ext cx="3446445" cy="330200"/>
          </a:xfrm>
          <a:prstGeom prst="rect">
            <a:avLst/>
          </a:prstGeom>
          <a:noFill/>
          <a:ln/>
        </p:spPr>
        <p:txBody>
          <a:bodyPr wrap="none" lIns="0" tIns="0" rIns="0" bIns="0" rtlCol="0" anchor="ctr"/>
          <a:lstStyle/>
          <a:p>
            <a:pPr>
              <a:lnSpc>
                <a:spcPct val="100000"/>
              </a:lnSpc>
            </a:pPr>
            <a:r>
              <a:rPr lang="en-US" sz="1800" b="1" dirty="0" err="1">
                <a:solidFill>
                  <a:srgbClr val="1A4B8C"/>
                </a:solidFill>
                <a:latin typeface="Quattrocento Sans" pitchFamily="34" charset="0"/>
                <a:ea typeface="Quattrocento Sans" pitchFamily="34" charset="-122"/>
                <a:cs typeface="Quattrocento Sans" pitchFamily="34" charset="-120"/>
              </a:rPr>
              <a:t>视频筛选标准</a:t>
            </a:r>
            <a:endParaRPr lang="en-US" sz="1600" dirty="0"/>
          </a:p>
        </p:txBody>
      </p:sp>
      <p:sp>
        <p:nvSpPr>
          <p:cNvPr id="10" name="Shape 9">
            <a:extLst>
              <a:ext uri="{FF2B5EF4-FFF2-40B4-BE49-F238E27FC236}">
                <a16:creationId xmlns:a16="http://schemas.microsoft.com/office/drawing/2014/main" id="{F4882E66-5BFA-7C4C-FEF6-6E12AF5FFC36}"/>
              </a:ext>
            </a:extLst>
          </p:cNvPr>
          <p:cNvSpPr/>
          <p:nvPr/>
        </p:nvSpPr>
        <p:spPr>
          <a:xfrm>
            <a:off x="585732" y="2852585"/>
            <a:ext cx="4699000" cy="3581265"/>
          </a:xfrm>
          <a:prstGeom prst="rect">
            <a:avLst/>
          </a:prstGeom>
          <a:solidFill>
            <a:srgbClr val="FFFFFF"/>
          </a:solidFill>
          <a:ln>
            <a:solidFill>
              <a:schemeClr val="bg2">
                <a:lumMod val="50000"/>
              </a:schemeClr>
            </a:solidFill>
          </a:ln>
        </p:spPr>
        <p:txBody>
          <a:bodyPr/>
          <a:lstStyle/>
          <a:p>
            <a:endParaRPr lang="zh-CN" altLang="en-US"/>
          </a:p>
        </p:txBody>
      </p:sp>
      <p:sp>
        <p:nvSpPr>
          <p:cNvPr id="11" name="Text 10">
            <a:extLst>
              <a:ext uri="{FF2B5EF4-FFF2-40B4-BE49-F238E27FC236}">
                <a16:creationId xmlns:a16="http://schemas.microsoft.com/office/drawing/2014/main" id="{2A02A6F7-9E3B-793E-C525-67AB3AD27B24}"/>
              </a:ext>
            </a:extLst>
          </p:cNvPr>
          <p:cNvSpPr/>
          <p:nvPr/>
        </p:nvSpPr>
        <p:spPr>
          <a:xfrm>
            <a:off x="776232" y="2916087"/>
            <a:ext cx="4318000" cy="3286410"/>
          </a:xfrm>
          <a:prstGeom prst="rect">
            <a:avLst/>
          </a:prstGeom>
          <a:noFill/>
          <a:ln/>
        </p:spPr>
        <p:txBody>
          <a:bodyPr wrap="square" lIns="0" tIns="0" rIns="0" bIns="0" rtlCol="0" anchor="ctr"/>
          <a:lstStyle/>
          <a:p>
            <a:pPr>
              <a:lnSpc>
                <a:spcPct val="150000"/>
              </a:lnSpc>
            </a:pPr>
            <a:r>
              <a:rPr lang="en-US" sz="1600" b="1" dirty="0">
                <a:solidFill>
                  <a:srgbClr val="1A4B8C"/>
                </a:solidFill>
                <a:latin typeface="+mn-ea"/>
                <a:cs typeface="Quattrocento Sans" pitchFamily="34" charset="-120"/>
              </a:rPr>
              <a:t>① 主题相关性</a:t>
            </a:r>
            <a:endParaRPr lang="en-US" dirty="0">
              <a:latin typeface="+mn-ea"/>
            </a:endParaRPr>
          </a:p>
          <a:p>
            <a:pPr>
              <a:lnSpc>
                <a:spcPct val="150000"/>
              </a:lnSpc>
              <a:spcAft>
                <a:spcPts val="1200"/>
              </a:spcAft>
            </a:pPr>
            <a:r>
              <a:rPr lang="en-US" sz="1600" dirty="0" err="1">
                <a:solidFill>
                  <a:srgbClr val="1A1D21"/>
                </a:solidFill>
                <a:latin typeface="+mn-ea"/>
                <a:cs typeface="Quattrocento Sans" pitchFamily="34" charset="-120"/>
              </a:rPr>
              <a:t>视频内容与生殖健康直接相关</a:t>
            </a:r>
            <a:endParaRPr lang="en-US" sz="1600" dirty="0">
              <a:solidFill>
                <a:srgbClr val="1A1D21"/>
              </a:solidFill>
              <a:latin typeface="+mn-ea"/>
              <a:cs typeface="Quattrocento Sans" pitchFamily="34" charset="-120"/>
            </a:endParaRPr>
          </a:p>
          <a:p>
            <a:pPr>
              <a:lnSpc>
                <a:spcPct val="150000"/>
              </a:lnSpc>
            </a:pPr>
            <a:r>
              <a:rPr lang="en-US" altLang="zh-CN" sz="1600" b="1" dirty="0">
                <a:solidFill>
                  <a:srgbClr val="1A4B8C"/>
                </a:solidFill>
                <a:latin typeface="+mn-ea"/>
                <a:cs typeface="Quattrocento Sans" pitchFamily="34" charset="-120"/>
              </a:rPr>
              <a:t>② </a:t>
            </a:r>
            <a:r>
              <a:rPr lang="en-US" altLang="zh-CN" sz="1600" b="1" dirty="0" err="1">
                <a:solidFill>
                  <a:srgbClr val="1A4B8C"/>
                </a:solidFill>
                <a:latin typeface="+mn-ea"/>
                <a:cs typeface="Quattrocento Sans" pitchFamily="34" charset="-120"/>
              </a:rPr>
              <a:t>播放量阈值</a:t>
            </a:r>
            <a:endParaRPr lang="en-US" altLang="zh-CN" dirty="0">
              <a:latin typeface="+mn-ea"/>
            </a:endParaRPr>
          </a:p>
          <a:p>
            <a:pPr>
              <a:lnSpc>
                <a:spcPct val="150000"/>
              </a:lnSpc>
              <a:spcAft>
                <a:spcPts val="1200"/>
              </a:spcAft>
            </a:pPr>
            <a:r>
              <a:rPr lang="en-US" altLang="zh-CN" sz="1600" dirty="0">
                <a:solidFill>
                  <a:srgbClr val="1A1D21"/>
                </a:solidFill>
                <a:latin typeface="+mn-ea"/>
                <a:cs typeface="Quattrocento Sans" pitchFamily="34" charset="-120"/>
              </a:rPr>
              <a:t>累计播放量不低于100,000次</a:t>
            </a:r>
            <a:endParaRPr lang="en-US" altLang="zh-CN" dirty="0">
              <a:latin typeface="+mn-ea"/>
            </a:endParaRPr>
          </a:p>
          <a:p>
            <a:pPr>
              <a:lnSpc>
                <a:spcPct val="150000"/>
              </a:lnSpc>
            </a:pPr>
            <a:r>
              <a:rPr lang="en-US" altLang="zh-CN" sz="1600" b="1" dirty="0">
                <a:solidFill>
                  <a:srgbClr val="1A4B8C"/>
                </a:solidFill>
                <a:latin typeface="+mn-ea"/>
                <a:cs typeface="Quattrocento Sans" pitchFamily="34" charset="-120"/>
              </a:rPr>
              <a:t>③ </a:t>
            </a:r>
            <a:r>
              <a:rPr lang="en-US" altLang="zh-CN" sz="1600" b="1" dirty="0" err="1">
                <a:solidFill>
                  <a:srgbClr val="1A4B8C"/>
                </a:solidFill>
                <a:latin typeface="+mn-ea"/>
                <a:cs typeface="Quattrocento Sans" pitchFamily="34" charset="-120"/>
              </a:rPr>
              <a:t>关键词匹配</a:t>
            </a:r>
            <a:endParaRPr lang="en-US" altLang="zh-CN" dirty="0">
              <a:latin typeface="+mn-ea"/>
            </a:endParaRPr>
          </a:p>
          <a:p>
            <a:pPr>
              <a:lnSpc>
                <a:spcPct val="150000"/>
              </a:lnSpc>
            </a:pPr>
            <a:r>
              <a:rPr lang="en-US" altLang="zh-CN" sz="1600" dirty="0" err="1">
                <a:solidFill>
                  <a:srgbClr val="1A1D21"/>
                </a:solidFill>
                <a:latin typeface="+mn-ea"/>
                <a:cs typeface="Quattrocento Sans" pitchFamily="34" charset="-120"/>
              </a:rPr>
              <a:t>标题</a:t>
            </a:r>
            <a:r>
              <a:rPr lang="en-US" altLang="zh-CN" sz="1600" dirty="0">
                <a:solidFill>
                  <a:srgbClr val="1A1D21"/>
                </a:solidFill>
                <a:latin typeface="+mn-ea"/>
                <a:cs typeface="Quattrocento Sans" pitchFamily="34" charset="-120"/>
              </a:rPr>
              <a:t>/</a:t>
            </a:r>
            <a:r>
              <a:rPr lang="en-US" altLang="zh-CN" sz="1600" dirty="0" err="1">
                <a:solidFill>
                  <a:srgbClr val="1A1D21"/>
                </a:solidFill>
                <a:latin typeface="+mn-ea"/>
                <a:cs typeface="Quattrocento Sans" pitchFamily="34" charset="-120"/>
              </a:rPr>
              <a:t>标签</a:t>
            </a:r>
            <a:r>
              <a:rPr lang="en-US" altLang="zh-CN" sz="1600" dirty="0">
                <a:solidFill>
                  <a:srgbClr val="1A1D21"/>
                </a:solidFill>
                <a:latin typeface="+mn-ea"/>
                <a:cs typeface="Quattrocento Sans" pitchFamily="34" charset="-120"/>
              </a:rPr>
              <a:t>/</a:t>
            </a:r>
            <a:r>
              <a:rPr lang="en-US" altLang="zh-CN" sz="1600" dirty="0" err="1">
                <a:solidFill>
                  <a:srgbClr val="1A1D21"/>
                </a:solidFill>
                <a:latin typeface="+mn-ea"/>
                <a:cs typeface="Quattrocento Sans" pitchFamily="34" charset="-120"/>
              </a:rPr>
              <a:t>简介中至少包含一个关键词</a:t>
            </a:r>
            <a:r>
              <a:rPr lang="zh-CN" altLang="en-US" sz="1600" dirty="0">
                <a:solidFill>
                  <a:srgbClr val="1A1D21"/>
                </a:solidFill>
                <a:latin typeface="+mn-ea"/>
                <a:cs typeface="Quattrocento Sans" pitchFamily="34" charset="-120"/>
              </a:rPr>
              <a:t>：</a:t>
            </a:r>
            <a:r>
              <a:rPr lang="en-US" altLang="zh-CN" sz="1600" dirty="0" err="1">
                <a:solidFill>
                  <a:srgbClr val="1A1D21"/>
                </a:solidFill>
                <a:latin typeface="+mn-ea"/>
                <a:cs typeface="QuattrocentoSans, MiSans" pitchFamily="34" charset="-120"/>
              </a:rPr>
              <a:t>安全套</a:t>
            </a:r>
            <a:r>
              <a:rPr lang="zh-CN" altLang="en-US" sz="1600" dirty="0">
                <a:solidFill>
                  <a:srgbClr val="1A1D21"/>
                </a:solidFill>
                <a:latin typeface="+mn-ea"/>
                <a:cs typeface="QuattrocentoSans, MiSans" pitchFamily="34" charset="-120"/>
              </a:rPr>
              <a:t>、</a:t>
            </a:r>
            <a:r>
              <a:rPr lang="en-US" altLang="zh-CN" sz="1600" dirty="0">
                <a:solidFill>
                  <a:srgbClr val="1A1D21"/>
                </a:solidFill>
                <a:latin typeface="+mn-ea"/>
                <a:cs typeface="QuattrocentoSans, MiSans" pitchFamily="34" charset="-120"/>
              </a:rPr>
              <a:t>节育器</a:t>
            </a:r>
            <a:r>
              <a:rPr lang="zh-CN" altLang="en-US" sz="1600" dirty="0">
                <a:solidFill>
                  <a:srgbClr val="1A1D21"/>
                </a:solidFill>
                <a:latin typeface="+mn-ea"/>
                <a:cs typeface="QuattrocentoSans, MiSans" pitchFamily="34" charset="-120"/>
              </a:rPr>
              <a:t>、</a:t>
            </a:r>
            <a:r>
              <a:rPr lang="en-US" altLang="zh-CN" sz="1600" dirty="0" err="1">
                <a:solidFill>
                  <a:srgbClr val="1A1D21"/>
                </a:solidFill>
                <a:latin typeface="+mn-ea"/>
                <a:cs typeface="QuattrocentoSans, MiSans" pitchFamily="34" charset="-120"/>
              </a:rPr>
              <a:t>避孕口服避孕药</a:t>
            </a:r>
            <a:r>
              <a:rPr lang="zh-CN" altLang="en-US" sz="1600" dirty="0">
                <a:solidFill>
                  <a:srgbClr val="1A1D21"/>
                </a:solidFill>
                <a:latin typeface="+mn-ea"/>
                <a:cs typeface="QuattrocentoSans, MiSans" pitchFamily="34" charset="-120"/>
              </a:rPr>
              <a:t>、</a:t>
            </a:r>
            <a:r>
              <a:rPr lang="en-US" altLang="zh-CN" sz="1600" dirty="0" err="1">
                <a:solidFill>
                  <a:srgbClr val="1A1D21"/>
                </a:solidFill>
                <a:latin typeface="+mn-ea"/>
                <a:cs typeface="QuattrocentoSans, MiSans" pitchFamily="34" charset="-120"/>
              </a:rPr>
              <a:t>避孕药品</a:t>
            </a:r>
            <a:r>
              <a:rPr lang="zh-CN" altLang="en-US" sz="1600" dirty="0">
                <a:solidFill>
                  <a:srgbClr val="1A1D21"/>
                </a:solidFill>
                <a:latin typeface="+mn-ea"/>
                <a:cs typeface="QuattrocentoSans, MiSans" pitchFamily="34" charset="-120"/>
              </a:rPr>
              <a:t>、</a:t>
            </a:r>
            <a:r>
              <a:rPr lang="en-US" altLang="zh-CN" sz="1600" dirty="0" err="1">
                <a:solidFill>
                  <a:srgbClr val="1A1D21"/>
                </a:solidFill>
                <a:latin typeface="+mn-ea"/>
                <a:cs typeface="QuattrocentoSans, MiSans" pitchFamily="34" charset="-120"/>
              </a:rPr>
              <a:t>新型避孕方式</a:t>
            </a:r>
            <a:r>
              <a:rPr lang="zh-CN" altLang="en-US" sz="1600" dirty="0">
                <a:solidFill>
                  <a:srgbClr val="1A1D21"/>
                </a:solidFill>
                <a:latin typeface="+mn-ea"/>
                <a:cs typeface="QuattrocentoSans, MiSans" pitchFamily="34" charset="-120"/>
              </a:rPr>
              <a:t>、自然流产等，共</a:t>
            </a:r>
            <a:r>
              <a:rPr lang="en-US" altLang="zh-CN" sz="1600" dirty="0">
                <a:solidFill>
                  <a:srgbClr val="1A1D21"/>
                </a:solidFill>
                <a:latin typeface="+mn-ea"/>
                <a:cs typeface="QuattrocentoSans, MiSans" pitchFamily="34" charset="-120"/>
              </a:rPr>
              <a:t>13</a:t>
            </a:r>
            <a:r>
              <a:rPr lang="zh-CN" altLang="en-US" sz="1600" dirty="0">
                <a:solidFill>
                  <a:srgbClr val="1A1D21"/>
                </a:solidFill>
                <a:latin typeface="+mn-ea"/>
                <a:cs typeface="QuattrocentoSans, MiSans" pitchFamily="34" charset="-120"/>
              </a:rPr>
              <a:t>个关键词</a:t>
            </a:r>
            <a:endParaRPr lang="en-US" altLang="zh-CN" dirty="0">
              <a:latin typeface="+mn-ea"/>
              <a:cs typeface="QuattrocentoSans, MiSans" charset="0"/>
            </a:endParaRPr>
          </a:p>
        </p:txBody>
      </p:sp>
      <p:sp>
        <p:nvSpPr>
          <p:cNvPr id="16" name="Text 16">
            <a:extLst>
              <a:ext uri="{FF2B5EF4-FFF2-40B4-BE49-F238E27FC236}">
                <a16:creationId xmlns:a16="http://schemas.microsoft.com/office/drawing/2014/main" id="{04127304-B47D-E3E7-BB50-2BC045B02E70}"/>
              </a:ext>
            </a:extLst>
          </p:cNvPr>
          <p:cNvSpPr/>
          <p:nvPr/>
        </p:nvSpPr>
        <p:spPr>
          <a:xfrm>
            <a:off x="5968969" y="2437007"/>
            <a:ext cx="2641631" cy="363990"/>
          </a:xfrm>
          <a:prstGeom prst="rect">
            <a:avLst/>
          </a:prstGeom>
          <a:noFill/>
          <a:ln/>
        </p:spPr>
        <p:txBody>
          <a:bodyPr wrap="none" lIns="0" tIns="0" rIns="0" bIns="0" rtlCol="0" anchor="ctr"/>
          <a:lstStyle/>
          <a:p>
            <a:pPr>
              <a:lnSpc>
                <a:spcPct val="100000"/>
              </a:lnSpc>
            </a:pPr>
            <a:r>
              <a:rPr lang="en-US" sz="1800" b="1" dirty="0" err="1">
                <a:solidFill>
                  <a:srgbClr val="1A4B8C"/>
                </a:solidFill>
                <a:latin typeface="Quattrocento Sans" pitchFamily="34" charset="0"/>
                <a:ea typeface="Quattrocento Sans" pitchFamily="34" charset="-122"/>
                <a:cs typeface="Quattrocento Sans" pitchFamily="34" charset="-120"/>
              </a:rPr>
              <a:t>数据预处理与问题提取</a:t>
            </a:r>
            <a:endParaRPr lang="en-US" sz="1600" dirty="0"/>
          </a:p>
        </p:txBody>
      </p:sp>
      <p:sp>
        <p:nvSpPr>
          <p:cNvPr id="17" name="Text 17">
            <a:extLst>
              <a:ext uri="{FF2B5EF4-FFF2-40B4-BE49-F238E27FC236}">
                <a16:creationId xmlns:a16="http://schemas.microsoft.com/office/drawing/2014/main" id="{D3B2C61F-2C68-DC46-300B-F64FE95E0CDD}"/>
              </a:ext>
            </a:extLst>
          </p:cNvPr>
          <p:cNvSpPr/>
          <p:nvPr/>
        </p:nvSpPr>
        <p:spPr>
          <a:xfrm>
            <a:off x="6204914" y="2916087"/>
            <a:ext cx="4983631" cy="3286410"/>
          </a:xfrm>
          <a:prstGeom prst="rect">
            <a:avLst/>
          </a:prstGeom>
          <a:noFill/>
          <a:ln/>
        </p:spPr>
        <p:txBody>
          <a:bodyPr wrap="square" lIns="0" tIns="0" rIns="0" bIns="0" rtlCol="0" anchor="t"/>
          <a:lstStyle/>
          <a:p>
            <a:pPr marL="342900" indent="-342900">
              <a:lnSpc>
                <a:spcPct val="160000"/>
              </a:lnSpc>
              <a:spcAft>
                <a:spcPts val="600"/>
              </a:spcAft>
              <a:buFont typeface="+mj-lt"/>
              <a:buAutoNum type="arabicPeriod"/>
            </a:pPr>
            <a:r>
              <a:rPr lang="en-US" sz="1600" b="1" dirty="0" err="1">
                <a:solidFill>
                  <a:srgbClr val="1A4B8C"/>
                </a:solidFill>
                <a:latin typeface="+mn-ea"/>
                <a:cs typeface="Quattrocento Sans" pitchFamily="34" charset="-120"/>
              </a:rPr>
              <a:t>去重与无效数据清洗</a:t>
            </a:r>
            <a:r>
              <a:rPr lang="en-US" sz="1600" dirty="0" err="1">
                <a:solidFill>
                  <a:srgbClr val="1A1D21"/>
                </a:solidFill>
                <a:latin typeface="+mn-ea"/>
                <a:cs typeface="Quattrocento Sans" pitchFamily="34" charset="-120"/>
              </a:rPr>
              <a:t>：以视频ID</a:t>
            </a:r>
            <a:r>
              <a:rPr lang="en-US" sz="1600" dirty="0">
                <a:solidFill>
                  <a:srgbClr val="1A1D21"/>
                </a:solidFill>
                <a:latin typeface="+mn-ea"/>
                <a:cs typeface="Quattrocento Sans" pitchFamily="34" charset="-120"/>
              </a:rPr>
              <a:t>/评论ID/</a:t>
            </a:r>
            <a:r>
              <a:rPr lang="en-US" sz="1600" dirty="0" err="1">
                <a:solidFill>
                  <a:srgbClr val="1A1D21"/>
                </a:solidFill>
                <a:latin typeface="+mn-ea"/>
                <a:cs typeface="Quattrocento Sans" pitchFamily="34" charset="-120"/>
              </a:rPr>
              <a:t>弹幕ID为唯一标识符去重</a:t>
            </a:r>
            <a:r>
              <a:rPr lang="en-US" sz="1600" dirty="0">
                <a:solidFill>
                  <a:srgbClr val="1A1D21"/>
                </a:solidFill>
                <a:latin typeface="+mn-ea"/>
                <a:cs typeface="Quattrocento Sans" pitchFamily="34" charset="-120"/>
              </a:rPr>
              <a:t> </a:t>
            </a:r>
          </a:p>
          <a:p>
            <a:pPr marL="342900" indent="-342900">
              <a:lnSpc>
                <a:spcPct val="160000"/>
              </a:lnSpc>
              <a:spcAft>
                <a:spcPts val="600"/>
              </a:spcAft>
              <a:buFont typeface="+mj-lt"/>
              <a:buAutoNum type="arabicPeriod"/>
            </a:pPr>
            <a:r>
              <a:rPr lang="en-US" sz="1600" b="1" dirty="0" err="1">
                <a:solidFill>
                  <a:srgbClr val="1A4B8C"/>
                </a:solidFill>
                <a:latin typeface="+mn-ea"/>
                <a:cs typeface="Quattrocento Sans" pitchFamily="34" charset="-120"/>
              </a:rPr>
              <a:t>文本规范化</a:t>
            </a:r>
            <a:r>
              <a:rPr lang="en-US" sz="1600" dirty="0" err="1">
                <a:solidFill>
                  <a:srgbClr val="1A1D21"/>
                </a:solidFill>
                <a:latin typeface="+mn-ea"/>
                <a:cs typeface="Quattrocento Sans" pitchFamily="34" charset="-120"/>
              </a:rPr>
              <a:t>：表情符号处理、去除特殊字符</a:t>
            </a:r>
            <a:r>
              <a:rPr lang="en-US" sz="1600" dirty="0">
                <a:solidFill>
                  <a:srgbClr val="1A1D21"/>
                </a:solidFill>
                <a:latin typeface="+mn-ea"/>
                <a:cs typeface="Quattrocento Sans" pitchFamily="34" charset="-120"/>
              </a:rPr>
              <a:t> </a:t>
            </a:r>
          </a:p>
          <a:p>
            <a:pPr marL="342900" indent="-342900">
              <a:lnSpc>
                <a:spcPct val="160000"/>
              </a:lnSpc>
              <a:spcAft>
                <a:spcPts val="600"/>
              </a:spcAft>
              <a:buFont typeface="+mj-lt"/>
              <a:buAutoNum type="arabicPeriod"/>
            </a:pPr>
            <a:r>
              <a:rPr lang="en-US" sz="1600" b="1" dirty="0" err="1">
                <a:solidFill>
                  <a:srgbClr val="1A4B8C"/>
                </a:solidFill>
                <a:latin typeface="+mn-ea"/>
                <a:cs typeface="Quattrocento Sans" pitchFamily="34" charset="-120"/>
              </a:rPr>
              <a:t>中文分词与停用词处理</a:t>
            </a:r>
            <a:r>
              <a:rPr lang="en-US" sz="1600" dirty="0" err="1">
                <a:solidFill>
                  <a:srgbClr val="1A1D21"/>
                </a:solidFill>
                <a:latin typeface="+mn-ea"/>
                <a:cs typeface="Quattrocento Sans" pitchFamily="34" charset="-120"/>
              </a:rPr>
              <a:t>：Jieba分词</a:t>
            </a:r>
            <a:r>
              <a:rPr lang="en-US" sz="1600" dirty="0">
                <a:solidFill>
                  <a:srgbClr val="1A1D21"/>
                </a:solidFill>
                <a:latin typeface="+mn-ea"/>
                <a:cs typeface="Quattrocento Sans" pitchFamily="34" charset="-120"/>
              </a:rPr>
              <a:t> + </a:t>
            </a:r>
            <a:r>
              <a:rPr lang="en-US" sz="1600" dirty="0" err="1">
                <a:solidFill>
                  <a:srgbClr val="1A1D21"/>
                </a:solidFill>
                <a:latin typeface="+mn-ea"/>
                <a:cs typeface="Quattrocento Sans" pitchFamily="34" charset="-120"/>
              </a:rPr>
              <a:t>综合停用词表</a:t>
            </a:r>
            <a:r>
              <a:rPr lang="en-US" sz="1600" dirty="0">
                <a:solidFill>
                  <a:srgbClr val="1A1D21"/>
                </a:solidFill>
                <a:latin typeface="+mn-ea"/>
                <a:cs typeface="Quattrocento Sans" pitchFamily="34" charset="-120"/>
              </a:rPr>
              <a:t> </a:t>
            </a:r>
          </a:p>
          <a:p>
            <a:pPr marL="342900" indent="-342900">
              <a:lnSpc>
                <a:spcPct val="160000"/>
              </a:lnSpc>
              <a:spcAft>
                <a:spcPts val="1200"/>
              </a:spcAft>
              <a:buFont typeface="+mj-lt"/>
              <a:buAutoNum type="arabicPeriod"/>
            </a:pPr>
            <a:r>
              <a:rPr lang="en-US" sz="1600" b="1" dirty="0" err="1">
                <a:solidFill>
                  <a:srgbClr val="1A4B8C"/>
                </a:solidFill>
                <a:latin typeface="+mn-ea"/>
                <a:cs typeface="Quattrocento Sans" pitchFamily="34" charset="-120"/>
              </a:rPr>
              <a:t>噪声</a:t>
            </a:r>
            <a:r>
              <a:rPr lang="en-US" sz="1600" b="1" dirty="0">
                <a:solidFill>
                  <a:srgbClr val="1A4B8C"/>
                </a:solidFill>
                <a:latin typeface="+mn-ea"/>
                <a:cs typeface="Quattrocento Sans" pitchFamily="34" charset="-120"/>
              </a:rPr>
              <a:t>/广告/灌水文本识别</a:t>
            </a:r>
            <a:r>
              <a:rPr lang="en-US" sz="1600" dirty="0">
                <a:solidFill>
                  <a:srgbClr val="1A1D21"/>
                </a:solidFill>
                <a:latin typeface="+mn-ea"/>
                <a:cs typeface="Quattrocento Sans" pitchFamily="34" charset="-120"/>
              </a:rPr>
              <a:t>：正则规则 + LLM语义过滤 + </a:t>
            </a:r>
            <a:r>
              <a:rPr lang="en-US" sz="1600" dirty="0" err="1">
                <a:solidFill>
                  <a:srgbClr val="1A1D21"/>
                </a:solidFill>
                <a:latin typeface="+mn-ea"/>
                <a:cs typeface="Quattrocento Sans" pitchFamily="34" charset="-120"/>
              </a:rPr>
              <a:t>人工抽样验证</a:t>
            </a:r>
            <a:endParaRPr lang="en-US" sz="1600" dirty="0">
              <a:solidFill>
                <a:srgbClr val="1A1D21"/>
              </a:solidFill>
              <a:latin typeface="+mn-ea"/>
              <a:cs typeface="Quattrocento Sans" pitchFamily="34" charset="-120"/>
            </a:endParaRPr>
          </a:p>
          <a:p>
            <a:pPr>
              <a:lnSpc>
                <a:spcPct val="160000"/>
              </a:lnSpc>
            </a:pPr>
            <a:r>
              <a:rPr lang="en-US" sz="1500" b="1" dirty="0">
                <a:solidFill>
                  <a:srgbClr val="C45C26"/>
                </a:solidFill>
                <a:latin typeface="+mn-ea"/>
                <a:cs typeface="Quattrocento Sans" pitchFamily="34" charset="-120"/>
              </a:rPr>
              <a:t>最终提取：2767条有效问题</a:t>
            </a:r>
            <a:endParaRPr lang="en-US" sz="1600" dirty="0">
              <a:latin typeface="+mn-ea"/>
            </a:endParaRPr>
          </a:p>
        </p:txBody>
      </p:sp>
    </p:spTree>
    <p:extLst>
      <p:ext uri="{BB962C8B-B14F-4D97-AF65-F5344CB8AC3E}">
        <p14:creationId xmlns:p14="http://schemas.microsoft.com/office/powerpoint/2010/main" val="2258160692"/>
      </p:ext>
    </p:extLst>
  </p:cSld>
  <p:clrMapOvr>
    <a:masterClrMapping/>
  </p:clrMapOvr>
  <p:transition>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84B94-2C3C-F009-461B-2F89DC6B907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6FAB73-D6DE-0990-3503-E096D4BE0AFC}"/>
              </a:ext>
            </a:extLst>
          </p:cNvPr>
          <p:cNvSpPr>
            <a:spLocks noGrp="1"/>
          </p:cNvSpPr>
          <p:nvPr>
            <p:ph type="title"/>
          </p:nvPr>
        </p:nvSpPr>
        <p:spPr/>
        <p:txBody>
          <a:bodyPr/>
          <a:lstStyle/>
          <a:p>
            <a:r>
              <a:rPr lang="zh-CN" altLang="en-US" dirty="0"/>
              <a:t>问题规范化与答案生成</a:t>
            </a:r>
          </a:p>
        </p:txBody>
      </p:sp>
      <p:sp>
        <p:nvSpPr>
          <p:cNvPr id="3" name="日期占位符 2">
            <a:extLst>
              <a:ext uri="{FF2B5EF4-FFF2-40B4-BE49-F238E27FC236}">
                <a16:creationId xmlns:a16="http://schemas.microsoft.com/office/drawing/2014/main" id="{302A1F36-7815-EA82-4EF5-2CB7E6C2C67A}"/>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7A788728-6962-BF62-F2D4-4A052DE7F7C2}"/>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16D4B48E-F15C-86E1-B177-5183ACA29562}"/>
              </a:ext>
            </a:extLst>
          </p:cNvPr>
          <p:cNvSpPr>
            <a:spLocks noGrp="1"/>
          </p:cNvSpPr>
          <p:nvPr>
            <p:ph type="sldNum" sz="quarter" idx="12"/>
          </p:nvPr>
        </p:nvSpPr>
        <p:spPr/>
        <p:txBody>
          <a:bodyPr/>
          <a:lstStyle/>
          <a:p>
            <a:fld id="{054335CC-B077-4EFF-BFF9-2EFEE3F838E2}" type="slidenum">
              <a:rPr lang="zh-CN" altLang="en-US" smtClean="0"/>
              <a:pPr/>
              <a:t>11</a:t>
            </a:fld>
            <a:endParaRPr lang="zh-CN" altLang="en-US" dirty="0"/>
          </a:p>
        </p:txBody>
      </p:sp>
      <p:sp>
        <p:nvSpPr>
          <p:cNvPr id="24" name="文本占位符 16">
            <a:extLst>
              <a:ext uri="{FF2B5EF4-FFF2-40B4-BE49-F238E27FC236}">
                <a16:creationId xmlns:a16="http://schemas.microsoft.com/office/drawing/2014/main" id="{0ED6EBD2-19F9-F65D-71C9-BBF16F25B07D}"/>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6" name="Text 5">
            <a:extLst>
              <a:ext uri="{FF2B5EF4-FFF2-40B4-BE49-F238E27FC236}">
                <a16:creationId xmlns:a16="http://schemas.microsoft.com/office/drawing/2014/main" id="{C5B5EBE7-CCF9-13B6-D5B9-57BB28D6D54E}"/>
              </a:ext>
            </a:extLst>
          </p:cNvPr>
          <p:cNvSpPr/>
          <p:nvPr/>
        </p:nvSpPr>
        <p:spPr>
          <a:xfrm>
            <a:off x="379413" y="1410873"/>
            <a:ext cx="4705350" cy="240088"/>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问题规范化方法</a:t>
            </a:r>
            <a:endParaRPr lang="en-US" sz="1600" dirty="0"/>
          </a:p>
        </p:txBody>
      </p:sp>
      <p:sp>
        <p:nvSpPr>
          <p:cNvPr id="8" name="Shape 6">
            <a:extLst>
              <a:ext uri="{FF2B5EF4-FFF2-40B4-BE49-F238E27FC236}">
                <a16:creationId xmlns:a16="http://schemas.microsoft.com/office/drawing/2014/main" id="{5500484E-0197-E6C0-4F7A-FF8497F500E8}"/>
              </a:ext>
            </a:extLst>
          </p:cNvPr>
          <p:cNvSpPr/>
          <p:nvPr/>
        </p:nvSpPr>
        <p:spPr>
          <a:xfrm>
            <a:off x="379412" y="1817272"/>
            <a:ext cx="5437188" cy="4596228"/>
          </a:xfrm>
          <a:prstGeom prst="rect">
            <a:avLst/>
          </a:prstGeom>
          <a:solidFill>
            <a:srgbClr val="FFFFFF"/>
          </a:solidFill>
          <a:ln>
            <a:solidFill>
              <a:schemeClr val="bg2">
                <a:lumMod val="50000"/>
              </a:schemeClr>
            </a:solidFill>
          </a:ln>
        </p:spPr>
        <p:txBody>
          <a:bodyPr/>
          <a:lstStyle/>
          <a:p>
            <a:endParaRPr lang="zh-CN" altLang="en-US"/>
          </a:p>
        </p:txBody>
      </p:sp>
      <p:sp>
        <p:nvSpPr>
          <p:cNvPr id="9" name="Text 7">
            <a:extLst>
              <a:ext uri="{FF2B5EF4-FFF2-40B4-BE49-F238E27FC236}">
                <a16:creationId xmlns:a16="http://schemas.microsoft.com/office/drawing/2014/main" id="{8C099BAA-3DE7-4F2F-4409-BE711EBBFBF6}"/>
              </a:ext>
            </a:extLst>
          </p:cNvPr>
          <p:cNvSpPr/>
          <p:nvPr/>
        </p:nvSpPr>
        <p:spPr>
          <a:xfrm>
            <a:off x="569912" y="1918872"/>
            <a:ext cx="5068888" cy="4202633"/>
          </a:xfrm>
          <a:prstGeom prst="rect">
            <a:avLst/>
          </a:prstGeom>
          <a:noFill/>
          <a:ln/>
        </p:spPr>
        <p:txBody>
          <a:bodyPr wrap="square" lIns="0" tIns="0" rIns="0" bIns="0" rtlCol="0" anchor="t"/>
          <a:lstStyle/>
          <a:p>
            <a:pPr>
              <a:lnSpc>
                <a:spcPts val="3200"/>
              </a:lnSpc>
            </a:pPr>
            <a:r>
              <a:rPr lang="en-US" sz="1600" b="1" dirty="0">
                <a:solidFill>
                  <a:srgbClr val="1A4B8C"/>
                </a:solidFill>
                <a:latin typeface="+mn-ea"/>
                <a:cs typeface="Quattrocento Sans" pitchFamily="34" charset="-120"/>
              </a:rPr>
              <a:t>模型：</a:t>
            </a:r>
            <a:r>
              <a:rPr lang="en-US" sz="1600" dirty="0">
                <a:solidFill>
                  <a:srgbClr val="1A1D21"/>
                </a:solidFill>
                <a:latin typeface="+mn-ea"/>
                <a:cs typeface="Quattrocento Sans" pitchFamily="34" charset="-120"/>
              </a:rPr>
              <a:t>DeepSeek-V3.1-Terminus</a:t>
            </a:r>
            <a:endParaRPr lang="en-US" dirty="0">
              <a:latin typeface="+mn-ea"/>
            </a:endParaRPr>
          </a:p>
          <a:p>
            <a:pPr>
              <a:lnSpc>
                <a:spcPts val="3200"/>
              </a:lnSpc>
            </a:pPr>
            <a:r>
              <a:rPr lang="en-US" sz="1600" b="1" dirty="0">
                <a:solidFill>
                  <a:srgbClr val="1A4B8C"/>
                </a:solidFill>
                <a:latin typeface="+mn-ea"/>
                <a:cs typeface="Quattrocento Sans" pitchFamily="34" charset="-120"/>
              </a:rPr>
              <a:t>四大目标：</a:t>
            </a:r>
            <a:r>
              <a:rPr lang="en-US" sz="1600" dirty="0">
                <a:solidFill>
                  <a:srgbClr val="1A1D21"/>
                </a:solidFill>
                <a:latin typeface="+mn-ea"/>
                <a:cs typeface="Quattrocento Sans" pitchFamily="34" charset="-120"/>
              </a:rPr>
              <a:t>语义清晰、医学表达规范、保留原始意图、适用于健康教育场景</a:t>
            </a:r>
            <a:endParaRPr lang="en-US" dirty="0">
              <a:latin typeface="+mn-ea"/>
            </a:endParaRPr>
          </a:p>
          <a:p>
            <a:pPr>
              <a:lnSpc>
                <a:spcPts val="3200"/>
              </a:lnSpc>
            </a:pPr>
            <a:r>
              <a:rPr lang="en-US" sz="1600" b="1" dirty="0">
                <a:solidFill>
                  <a:srgbClr val="1A4B8C"/>
                </a:solidFill>
                <a:latin typeface="+mn-ea"/>
                <a:cs typeface="Quattrocento Sans" pitchFamily="34" charset="-120"/>
              </a:rPr>
              <a:t>四项原则：</a:t>
            </a:r>
            <a:endParaRPr lang="en-US" dirty="0">
              <a:latin typeface="+mn-ea"/>
            </a:endParaRPr>
          </a:p>
          <a:p>
            <a:pPr>
              <a:lnSpc>
                <a:spcPts val="3200"/>
              </a:lnSpc>
            </a:pPr>
            <a:r>
              <a:rPr lang="en-US" sz="1600" dirty="0">
                <a:solidFill>
                  <a:srgbClr val="1A1D21"/>
                </a:solidFill>
                <a:latin typeface="+mn-ea"/>
                <a:cs typeface="Quattrocento Sans" pitchFamily="34" charset="-120"/>
              </a:rPr>
              <a:t>① 不改变核心语义 ② 不引入额外假设 ③ 减少歧义与模糊 ④ 避免不当暗示性表述</a:t>
            </a:r>
            <a:endParaRPr lang="en-US" dirty="0">
              <a:latin typeface="+mn-ea"/>
            </a:endParaRPr>
          </a:p>
          <a:p>
            <a:pPr>
              <a:lnSpc>
                <a:spcPts val="3200"/>
              </a:lnSpc>
            </a:pPr>
            <a:r>
              <a:rPr lang="en-US" sz="1600" b="1" dirty="0" err="1">
                <a:solidFill>
                  <a:srgbClr val="1A4B8C"/>
                </a:solidFill>
                <a:latin typeface="+mn-ea"/>
                <a:cs typeface="Quattrocento Sans" pitchFamily="34" charset="-120"/>
              </a:rPr>
              <a:t>提示词</a:t>
            </a:r>
            <a:r>
              <a:rPr lang="zh-CN" altLang="en-US" sz="1600" b="1" dirty="0">
                <a:solidFill>
                  <a:srgbClr val="1A4B8C"/>
                </a:solidFill>
                <a:latin typeface="+mn-ea"/>
                <a:cs typeface="Quattrocento Sans" pitchFamily="34" charset="-120"/>
              </a:rPr>
              <a:t>设计</a:t>
            </a:r>
            <a:r>
              <a:rPr lang="en-US" sz="1600" b="1" dirty="0">
                <a:solidFill>
                  <a:srgbClr val="1A4B8C"/>
                </a:solidFill>
                <a:latin typeface="+mn-ea"/>
                <a:cs typeface="Quattrocento Sans" pitchFamily="34" charset="-120"/>
              </a:rPr>
              <a:t>：</a:t>
            </a:r>
          </a:p>
          <a:p>
            <a:pPr marL="285750" indent="-285750">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角色设定（青少年生殖健康教育专家</a:t>
            </a:r>
            <a:r>
              <a:rPr lang="en-US" sz="1600" dirty="0">
                <a:solidFill>
                  <a:srgbClr val="1A1D21"/>
                </a:solidFill>
                <a:latin typeface="+mn-ea"/>
                <a:cs typeface="Quattrocento Sans" pitchFamily="34" charset="-120"/>
              </a:rPr>
              <a:t>）</a:t>
            </a:r>
          </a:p>
          <a:p>
            <a:pPr marL="285750" indent="-285750">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任务定义（识别问题</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术语规范化</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去语境化去噪</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科学重写</a:t>
            </a:r>
            <a:r>
              <a:rPr lang="en-US" sz="1600" dirty="0">
                <a:solidFill>
                  <a:srgbClr val="1A1D21"/>
                </a:solidFill>
                <a:latin typeface="+mn-ea"/>
                <a:cs typeface="Quattrocento Sans" pitchFamily="34" charset="-120"/>
              </a:rPr>
              <a:t>）</a:t>
            </a:r>
          </a:p>
          <a:p>
            <a:pPr marL="285750" indent="-285750">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JSON结构化输出</a:t>
            </a:r>
            <a:endParaRPr lang="en-US" sz="1600" dirty="0"/>
          </a:p>
        </p:txBody>
      </p:sp>
      <p:sp>
        <p:nvSpPr>
          <p:cNvPr id="10" name="Text 8">
            <a:extLst>
              <a:ext uri="{FF2B5EF4-FFF2-40B4-BE49-F238E27FC236}">
                <a16:creationId xmlns:a16="http://schemas.microsoft.com/office/drawing/2014/main" id="{08FBB473-A6D8-569D-47F2-6D7AC9097305}"/>
              </a:ext>
            </a:extLst>
          </p:cNvPr>
          <p:cNvSpPr/>
          <p:nvPr/>
        </p:nvSpPr>
        <p:spPr>
          <a:xfrm>
            <a:off x="6445250" y="1415468"/>
            <a:ext cx="4705350" cy="240088"/>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答案生成方法</a:t>
            </a:r>
            <a:endParaRPr lang="en-US" sz="1600" dirty="0"/>
          </a:p>
        </p:txBody>
      </p:sp>
      <p:sp>
        <p:nvSpPr>
          <p:cNvPr id="11" name="Shape 9">
            <a:extLst>
              <a:ext uri="{FF2B5EF4-FFF2-40B4-BE49-F238E27FC236}">
                <a16:creationId xmlns:a16="http://schemas.microsoft.com/office/drawing/2014/main" id="{50E26A67-CAE6-3DB4-22D2-13CD666D54CD}"/>
              </a:ext>
            </a:extLst>
          </p:cNvPr>
          <p:cNvSpPr/>
          <p:nvPr/>
        </p:nvSpPr>
        <p:spPr>
          <a:xfrm>
            <a:off x="6321425" y="1795337"/>
            <a:ext cx="5437188" cy="4618163"/>
          </a:xfrm>
          <a:prstGeom prst="rect">
            <a:avLst/>
          </a:prstGeom>
          <a:solidFill>
            <a:srgbClr val="FFFFFF"/>
          </a:solidFill>
          <a:ln>
            <a:solidFill>
              <a:schemeClr val="bg2">
                <a:lumMod val="50000"/>
              </a:schemeClr>
            </a:solidFill>
          </a:ln>
        </p:spPr>
        <p:txBody>
          <a:bodyPr/>
          <a:lstStyle/>
          <a:p>
            <a:endParaRPr lang="zh-CN" altLang="en-US"/>
          </a:p>
        </p:txBody>
      </p:sp>
      <p:sp>
        <p:nvSpPr>
          <p:cNvPr id="12" name="Text 10">
            <a:extLst>
              <a:ext uri="{FF2B5EF4-FFF2-40B4-BE49-F238E27FC236}">
                <a16:creationId xmlns:a16="http://schemas.microsoft.com/office/drawing/2014/main" id="{3F46BC68-1099-0051-ED0F-1CADCCA95C21}"/>
              </a:ext>
            </a:extLst>
          </p:cNvPr>
          <p:cNvSpPr/>
          <p:nvPr/>
        </p:nvSpPr>
        <p:spPr>
          <a:xfrm>
            <a:off x="6635750" y="1923467"/>
            <a:ext cx="4808538" cy="4198037"/>
          </a:xfrm>
          <a:prstGeom prst="rect">
            <a:avLst/>
          </a:prstGeom>
          <a:noFill/>
          <a:ln/>
        </p:spPr>
        <p:txBody>
          <a:bodyPr wrap="square" lIns="0" tIns="0" rIns="0" bIns="0" rtlCol="0" anchor="t"/>
          <a:lstStyle/>
          <a:p>
            <a:pPr algn="just">
              <a:lnSpc>
                <a:spcPts val="3200"/>
              </a:lnSpc>
            </a:pPr>
            <a:r>
              <a:rPr lang="en-US" sz="1600" b="1" dirty="0">
                <a:solidFill>
                  <a:srgbClr val="1A4B8C"/>
                </a:solidFill>
                <a:latin typeface="+mn-ea"/>
                <a:cs typeface="Quattrocento Sans" pitchFamily="34" charset="-120"/>
              </a:rPr>
              <a:t>模型：</a:t>
            </a:r>
            <a:r>
              <a:rPr lang="en-US" sz="1600" dirty="0">
                <a:solidFill>
                  <a:srgbClr val="1A1D21"/>
                </a:solidFill>
                <a:latin typeface="+mn-ea"/>
                <a:cs typeface="Quattrocento Sans" pitchFamily="34" charset="-120"/>
              </a:rPr>
              <a:t>DeepSeek-V3.1-Terminus</a:t>
            </a:r>
          </a:p>
          <a:p>
            <a:pPr algn="just">
              <a:lnSpc>
                <a:spcPts val="3200"/>
              </a:lnSpc>
            </a:pPr>
            <a:r>
              <a:rPr lang="en-US" sz="1600" b="1" dirty="0" err="1">
                <a:solidFill>
                  <a:srgbClr val="1A4B8C"/>
                </a:solidFill>
                <a:latin typeface="+mn-ea"/>
                <a:cs typeface="Quattrocento Sans" pitchFamily="34" charset="-120"/>
              </a:rPr>
              <a:t>六大原则</a:t>
            </a:r>
            <a:r>
              <a:rPr lang="en-US" sz="1600" b="1" dirty="0">
                <a:solidFill>
                  <a:srgbClr val="1A4B8C"/>
                </a:solidFill>
                <a:latin typeface="+mn-ea"/>
                <a:cs typeface="Quattrocento Sans" pitchFamily="34" charset="-120"/>
              </a:rPr>
              <a:t>：</a:t>
            </a:r>
            <a:endParaRPr lang="en-US" dirty="0">
              <a:latin typeface="+mn-ea"/>
            </a:endParaRPr>
          </a:p>
          <a:p>
            <a:pPr algn="just">
              <a:lnSpc>
                <a:spcPts val="3200"/>
              </a:lnSpc>
            </a:pPr>
            <a:r>
              <a:rPr lang="en-US" sz="1600" dirty="0">
                <a:solidFill>
                  <a:srgbClr val="1A1D21"/>
                </a:solidFill>
                <a:latin typeface="+mn-ea"/>
                <a:cs typeface="Quattrocento Sans" pitchFamily="34" charset="-120"/>
              </a:rPr>
              <a:t>① 科学准确 ② 通俗易懂 ③ 温和关怀</a:t>
            </a:r>
            <a:endParaRPr lang="en-US" dirty="0">
              <a:latin typeface="+mn-ea"/>
            </a:endParaRPr>
          </a:p>
          <a:p>
            <a:pPr algn="just">
              <a:lnSpc>
                <a:spcPts val="3200"/>
              </a:lnSpc>
            </a:pPr>
            <a:r>
              <a:rPr lang="en-US" sz="1600" dirty="0">
                <a:solidFill>
                  <a:srgbClr val="1A1D21"/>
                </a:solidFill>
                <a:latin typeface="+mn-ea"/>
                <a:cs typeface="Quattrocento Sans" pitchFamily="34" charset="-120"/>
              </a:rPr>
              <a:t>④ 教育导向 ⑤ 风险警示 ⑥ 结构清晰简洁</a:t>
            </a:r>
            <a:endParaRPr lang="en-US" dirty="0">
              <a:latin typeface="+mn-ea"/>
            </a:endParaRPr>
          </a:p>
          <a:p>
            <a:pPr algn="just">
              <a:lnSpc>
                <a:spcPts val="3200"/>
              </a:lnSpc>
            </a:pPr>
            <a:r>
              <a:rPr lang="en-US" sz="1600" b="1" dirty="0" err="1">
                <a:solidFill>
                  <a:srgbClr val="1A4B8C"/>
                </a:solidFill>
                <a:latin typeface="+mn-ea"/>
                <a:cs typeface="Quattrocento Sans" pitchFamily="34" charset="-120"/>
              </a:rPr>
              <a:t>提示词核心要素</a:t>
            </a:r>
            <a:r>
              <a:rPr lang="en-US" sz="1600" b="1" dirty="0">
                <a:solidFill>
                  <a:srgbClr val="1A4B8C"/>
                </a:solidFill>
                <a:latin typeface="+mn-ea"/>
                <a:cs typeface="Quattrocento Sans" pitchFamily="34" charset="-120"/>
              </a:rPr>
              <a:t>：</a:t>
            </a:r>
          </a:p>
          <a:p>
            <a:pPr marL="285750" indent="-285750" algn="just">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角色设定（临床经验丰富的青少年生殖健康专家</a:t>
            </a:r>
            <a:r>
              <a:rPr lang="en-US" sz="1600" dirty="0">
                <a:solidFill>
                  <a:srgbClr val="1A1D21"/>
                </a:solidFill>
                <a:latin typeface="+mn-ea"/>
                <a:cs typeface="Quattrocento Sans" pitchFamily="34" charset="-120"/>
              </a:rPr>
              <a:t>）</a:t>
            </a:r>
          </a:p>
          <a:p>
            <a:pPr marL="285750" indent="-285750" algn="just">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风格与原则</a:t>
            </a:r>
            <a:r>
              <a:rPr lang="zh-CN" altLang="en-US" sz="1400" dirty="0">
                <a:solidFill>
                  <a:srgbClr val="1A1D21"/>
                </a:solidFill>
                <a:latin typeface="+mn-ea"/>
                <a:cs typeface="Quattrocento Sans" pitchFamily="34" charset="-120"/>
              </a:rPr>
              <a:t>（</a:t>
            </a:r>
            <a:r>
              <a:rPr lang="zh-CN" altLang="zh-CN" sz="1600" dirty="0"/>
              <a:t>科学准确</a:t>
            </a:r>
            <a:r>
              <a:rPr lang="zh-CN" altLang="en-US" sz="1600" dirty="0"/>
              <a:t>、</a:t>
            </a:r>
            <a:r>
              <a:rPr lang="zh-CN" altLang="zh-CN" sz="1600" dirty="0"/>
              <a:t>易于理解</a:t>
            </a:r>
            <a:r>
              <a:rPr lang="zh-CN" altLang="en-US" sz="1600" dirty="0"/>
              <a:t>、</a:t>
            </a:r>
            <a:r>
              <a:rPr lang="zh-CN" altLang="zh-CN" sz="1600" dirty="0"/>
              <a:t>表述温和</a:t>
            </a:r>
            <a:r>
              <a:rPr lang="zh-CN" altLang="en-US" sz="1600" dirty="0"/>
              <a:t>、</a:t>
            </a:r>
            <a:r>
              <a:rPr lang="zh-CN" altLang="zh-CN" sz="1600" dirty="0"/>
              <a:t>具备教育性</a:t>
            </a:r>
            <a:r>
              <a:rPr lang="zh-CN" altLang="en-US" sz="1600" dirty="0"/>
              <a:t>、</a:t>
            </a:r>
            <a:r>
              <a:rPr lang="zh-CN" altLang="zh-CN" sz="1600" dirty="0"/>
              <a:t>风险提示清晰</a:t>
            </a:r>
            <a:r>
              <a:rPr lang="zh-CN" altLang="en-US" sz="1600" dirty="0"/>
              <a:t>、</a:t>
            </a:r>
            <a:r>
              <a:rPr lang="zh-CN" altLang="zh-CN" sz="1600" dirty="0"/>
              <a:t>指导性与简洁性</a:t>
            </a:r>
            <a:r>
              <a:rPr lang="zh-CN" altLang="en-US" sz="1400" dirty="0">
                <a:solidFill>
                  <a:srgbClr val="1A1D21"/>
                </a:solidFill>
                <a:latin typeface="+mn-ea"/>
                <a:cs typeface="Quattrocento Sans" pitchFamily="34" charset="-120"/>
              </a:rPr>
              <a:t>）</a:t>
            </a:r>
            <a:endParaRPr lang="en-US" sz="1600" dirty="0">
              <a:solidFill>
                <a:srgbClr val="1A1D21"/>
              </a:solidFill>
              <a:latin typeface="+mn-ea"/>
              <a:cs typeface="Quattrocento Sans" pitchFamily="34" charset="-120"/>
            </a:endParaRPr>
          </a:p>
          <a:p>
            <a:pPr marL="285750" indent="-285750" algn="just">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标准化问题输入</a:t>
            </a:r>
            <a:endParaRPr lang="en-US" dirty="0">
              <a:latin typeface="+mn-ea"/>
            </a:endParaRPr>
          </a:p>
        </p:txBody>
      </p:sp>
    </p:spTree>
    <p:extLst>
      <p:ext uri="{BB962C8B-B14F-4D97-AF65-F5344CB8AC3E}">
        <p14:creationId xmlns:p14="http://schemas.microsoft.com/office/powerpoint/2010/main" val="4174535522"/>
      </p:ext>
    </p:extLst>
  </p:cSld>
  <p:clrMapOvr>
    <a:masterClrMapping/>
  </p:clrMapOvr>
  <p:transition>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72F9A-D9D2-944E-A359-92812AE6C639}"/>
            </a:ext>
          </a:extLst>
        </p:cNvPr>
        <p:cNvGrpSpPr/>
        <p:nvPr/>
      </p:nvGrpSpPr>
      <p:grpSpPr>
        <a:xfrm>
          <a:off x="0" y="0"/>
          <a:ext cx="0" cy="0"/>
          <a:chOff x="0" y="0"/>
          <a:chExt cx="0" cy="0"/>
        </a:xfrm>
      </p:grpSpPr>
      <p:sp>
        <p:nvSpPr>
          <p:cNvPr id="29" name="Shape 18">
            <a:extLst>
              <a:ext uri="{FF2B5EF4-FFF2-40B4-BE49-F238E27FC236}">
                <a16:creationId xmlns:a16="http://schemas.microsoft.com/office/drawing/2014/main" id="{B1C452D9-96F4-60C6-F5D2-9ADA406CDBAC}"/>
              </a:ext>
            </a:extLst>
          </p:cNvPr>
          <p:cNvSpPr/>
          <p:nvPr/>
        </p:nvSpPr>
        <p:spPr>
          <a:xfrm>
            <a:off x="8153400" y="2303901"/>
            <a:ext cx="3822700" cy="2609622"/>
          </a:xfrm>
          <a:prstGeom prst="rect">
            <a:avLst/>
          </a:prstGeom>
          <a:solidFill>
            <a:srgbClr val="FFFFFF"/>
          </a:solidFill>
          <a:ln>
            <a:solidFill>
              <a:schemeClr val="bg2">
                <a:lumMod val="50000"/>
              </a:schemeClr>
            </a:solidFill>
          </a:ln>
        </p:spPr>
        <p:txBody>
          <a:bodyPr/>
          <a:lstStyle/>
          <a:p>
            <a:endParaRPr lang="zh-CN" altLang="en-US"/>
          </a:p>
        </p:txBody>
      </p:sp>
      <p:sp>
        <p:nvSpPr>
          <p:cNvPr id="2" name="标题 1">
            <a:extLst>
              <a:ext uri="{FF2B5EF4-FFF2-40B4-BE49-F238E27FC236}">
                <a16:creationId xmlns:a16="http://schemas.microsoft.com/office/drawing/2014/main" id="{2B4C10D7-5E8B-B4E6-7AF6-357B74F0F0F8}"/>
              </a:ext>
            </a:extLst>
          </p:cNvPr>
          <p:cNvSpPr>
            <a:spLocks noGrp="1"/>
          </p:cNvSpPr>
          <p:nvPr>
            <p:ph type="title"/>
          </p:nvPr>
        </p:nvSpPr>
        <p:spPr/>
        <p:txBody>
          <a:bodyPr/>
          <a:lstStyle/>
          <a:p>
            <a:r>
              <a:rPr lang="zh-CN" altLang="en-US" dirty="0"/>
              <a:t>人工修订与专家审核</a:t>
            </a:r>
          </a:p>
        </p:txBody>
      </p:sp>
      <p:sp>
        <p:nvSpPr>
          <p:cNvPr id="3" name="日期占位符 2">
            <a:extLst>
              <a:ext uri="{FF2B5EF4-FFF2-40B4-BE49-F238E27FC236}">
                <a16:creationId xmlns:a16="http://schemas.microsoft.com/office/drawing/2014/main" id="{96B49935-118E-2674-F3BB-2DFD3649F5FB}"/>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A54A94C9-29AC-F74A-D812-B685602C1285}"/>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23213646-E40A-F86A-8B8A-A466D973D2BB}"/>
              </a:ext>
            </a:extLst>
          </p:cNvPr>
          <p:cNvSpPr>
            <a:spLocks noGrp="1"/>
          </p:cNvSpPr>
          <p:nvPr>
            <p:ph type="sldNum" sz="quarter" idx="12"/>
          </p:nvPr>
        </p:nvSpPr>
        <p:spPr/>
        <p:txBody>
          <a:bodyPr/>
          <a:lstStyle/>
          <a:p>
            <a:fld id="{054335CC-B077-4EFF-BFF9-2EFEE3F838E2}" type="slidenum">
              <a:rPr lang="zh-CN" altLang="en-US" smtClean="0"/>
              <a:pPr/>
              <a:t>12</a:t>
            </a:fld>
            <a:endParaRPr lang="zh-CN" altLang="en-US" dirty="0"/>
          </a:p>
        </p:txBody>
      </p:sp>
      <p:sp>
        <p:nvSpPr>
          <p:cNvPr id="24" name="文本占位符 16">
            <a:extLst>
              <a:ext uri="{FF2B5EF4-FFF2-40B4-BE49-F238E27FC236}">
                <a16:creationId xmlns:a16="http://schemas.microsoft.com/office/drawing/2014/main" id="{88FE244F-AC6C-664C-CA5F-C395259AC45B}"/>
              </a:ext>
            </a:extLst>
          </p:cNvPr>
          <p:cNvSpPr>
            <a:spLocks noGrp="1"/>
          </p:cNvSpPr>
          <p:nvPr>
            <p:ph type="body" sz="quarter" idx="13"/>
          </p:nvPr>
        </p:nvSpPr>
        <p:spPr>
          <a:xfrm>
            <a:off x="4038600" y="-7938"/>
            <a:ext cx="4114800" cy="217488"/>
          </a:xfrm>
        </p:spPr>
        <p:txBody>
          <a:bodyPr/>
          <a:lstStyle/>
          <a:p>
            <a:pPr>
              <a:lnSpc>
                <a:spcPct val="200000"/>
              </a:lnSpc>
            </a:pPr>
            <a:r>
              <a:rPr lang="zh-CN" altLang="en-US"/>
              <a:t>研究背景与意义</a:t>
            </a:r>
            <a:endParaRPr lang="zh-CN" altLang="en-US" dirty="0"/>
          </a:p>
        </p:txBody>
      </p:sp>
      <p:sp>
        <p:nvSpPr>
          <p:cNvPr id="13" name="Shape 12">
            <a:extLst>
              <a:ext uri="{FF2B5EF4-FFF2-40B4-BE49-F238E27FC236}">
                <a16:creationId xmlns:a16="http://schemas.microsoft.com/office/drawing/2014/main" id="{D5B78768-360A-8DC2-ACE4-61CF67CBACCA}"/>
              </a:ext>
            </a:extLst>
          </p:cNvPr>
          <p:cNvSpPr/>
          <p:nvPr/>
        </p:nvSpPr>
        <p:spPr>
          <a:xfrm>
            <a:off x="288483" y="2314919"/>
            <a:ext cx="3684587" cy="2609622"/>
          </a:xfrm>
          <a:prstGeom prst="rect">
            <a:avLst/>
          </a:prstGeom>
          <a:solidFill>
            <a:srgbClr val="FFFFFF"/>
          </a:solidFill>
          <a:ln>
            <a:solidFill>
              <a:schemeClr val="bg2">
                <a:lumMod val="50000"/>
              </a:schemeClr>
            </a:solidFill>
          </a:ln>
        </p:spPr>
        <p:txBody>
          <a:bodyPr/>
          <a:lstStyle/>
          <a:p>
            <a:endParaRPr lang="zh-CN" altLang="en-US"/>
          </a:p>
        </p:txBody>
      </p:sp>
      <p:sp>
        <p:nvSpPr>
          <p:cNvPr id="14" name="Shape 13">
            <a:extLst>
              <a:ext uri="{FF2B5EF4-FFF2-40B4-BE49-F238E27FC236}">
                <a16:creationId xmlns:a16="http://schemas.microsoft.com/office/drawing/2014/main" id="{E002CD70-97B3-4E93-429F-A2DC3D94A0D1}"/>
              </a:ext>
            </a:extLst>
          </p:cNvPr>
          <p:cNvSpPr/>
          <p:nvPr/>
        </p:nvSpPr>
        <p:spPr>
          <a:xfrm>
            <a:off x="510732" y="2703398"/>
            <a:ext cx="304800" cy="304800"/>
          </a:xfrm>
          <a:custGeom>
            <a:avLst/>
            <a:gdLst/>
            <a:ahLst/>
            <a:cxnLst/>
            <a:rect l="l" t="t" r="r" b="b"/>
            <a:pathLst>
              <a:path w="304800" h="304800">
                <a:moveTo>
                  <a:pt x="247650" y="123825"/>
                </a:moveTo>
                <a:cubicBezTo>
                  <a:pt x="247650" y="151150"/>
                  <a:pt x="238780" y="176391"/>
                  <a:pt x="223838" y="196870"/>
                </a:cubicBezTo>
                <a:lnTo>
                  <a:pt x="299204" y="272296"/>
                </a:lnTo>
                <a:cubicBezTo>
                  <a:pt x="306645" y="279737"/>
                  <a:pt x="306645" y="291822"/>
                  <a:pt x="299204" y="299264"/>
                </a:cubicBezTo>
                <a:cubicBezTo>
                  <a:pt x="291763" y="306705"/>
                  <a:pt x="279678" y="306705"/>
                  <a:pt x="272236" y="299264"/>
                </a:cubicBezTo>
                <a:lnTo>
                  <a:pt x="196870" y="223838"/>
                </a:lnTo>
                <a:cubicBezTo>
                  <a:pt x="176391" y="238780"/>
                  <a:pt x="151150" y="247650"/>
                  <a:pt x="123825" y="247650"/>
                </a:cubicBezTo>
                <a:cubicBezTo>
                  <a:pt x="55424" y="247650"/>
                  <a:pt x="0" y="192226"/>
                  <a:pt x="0" y="123825"/>
                </a:cubicBezTo>
                <a:cubicBezTo>
                  <a:pt x="0" y="55424"/>
                  <a:pt x="55424" y="0"/>
                  <a:pt x="123825" y="0"/>
                </a:cubicBezTo>
                <a:cubicBezTo>
                  <a:pt x="192226" y="0"/>
                  <a:pt x="247650" y="55424"/>
                  <a:pt x="247650" y="123825"/>
                </a:cubicBezTo>
                <a:close/>
                <a:moveTo>
                  <a:pt x="123825" y="209550"/>
                </a:moveTo>
                <a:cubicBezTo>
                  <a:pt x="171138" y="209550"/>
                  <a:pt x="209550" y="171138"/>
                  <a:pt x="209550" y="123825"/>
                </a:cubicBezTo>
                <a:cubicBezTo>
                  <a:pt x="209550" y="76512"/>
                  <a:pt x="171138" y="38100"/>
                  <a:pt x="123825" y="38100"/>
                </a:cubicBezTo>
                <a:cubicBezTo>
                  <a:pt x="76512" y="38100"/>
                  <a:pt x="38100" y="76512"/>
                  <a:pt x="38100" y="123825"/>
                </a:cubicBezTo>
                <a:cubicBezTo>
                  <a:pt x="38100" y="171138"/>
                  <a:pt x="76512" y="209550"/>
                  <a:pt x="123825" y="209550"/>
                </a:cubicBezTo>
                <a:close/>
              </a:path>
            </a:pathLst>
          </a:custGeom>
          <a:solidFill>
            <a:srgbClr val="1A4B8C"/>
          </a:solidFill>
          <a:ln/>
        </p:spPr>
        <p:txBody>
          <a:bodyPr/>
          <a:lstStyle/>
          <a:p>
            <a:endParaRPr lang="zh-CN" altLang="en-US"/>
          </a:p>
        </p:txBody>
      </p:sp>
      <p:sp>
        <p:nvSpPr>
          <p:cNvPr id="15" name="Text 14">
            <a:extLst>
              <a:ext uri="{FF2B5EF4-FFF2-40B4-BE49-F238E27FC236}">
                <a16:creationId xmlns:a16="http://schemas.microsoft.com/office/drawing/2014/main" id="{67493171-560A-0296-4170-E050B24A5286}"/>
              </a:ext>
            </a:extLst>
          </p:cNvPr>
          <p:cNvSpPr/>
          <p:nvPr/>
        </p:nvSpPr>
        <p:spPr>
          <a:xfrm>
            <a:off x="929832" y="2652598"/>
            <a:ext cx="2884487" cy="1897368"/>
          </a:xfrm>
          <a:prstGeom prst="rect">
            <a:avLst/>
          </a:prstGeom>
          <a:noFill/>
          <a:ln/>
        </p:spPr>
        <p:txBody>
          <a:bodyPr wrap="square" lIns="0" tIns="0" rIns="0" bIns="0" rtlCol="0" anchor="t"/>
          <a:lstStyle/>
          <a:p>
            <a:pPr>
              <a:lnSpc>
                <a:spcPct val="200000"/>
              </a:lnSpc>
            </a:pPr>
            <a:r>
              <a:rPr lang="en-US" sz="1600" b="1" dirty="0">
                <a:solidFill>
                  <a:srgbClr val="1A1D21"/>
                </a:solidFill>
                <a:latin typeface="+mn-ea"/>
                <a:cs typeface="Quattrocento Sans" pitchFamily="34" charset="-120"/>
              </a:rPr>
              <a:t>初审与事实核查</a:t>
            </a:r>
            <a:endParaRPr lang="en-US" dirty="0">
              <a:latin typeface="+mn-ea"/>
            </a:endParaRPr>
          </a:p>
          <a:p>
            <a:pPr algn="just">
              <a:lnSpc>
                <a:spcPct val="200000"/>
              </a:lnSpc>
            </a:pPr>
            <a:r>
              <a:rPr lang="en-US" sz="1600" dirty="0" err="1">
                <a:solidFill>
                  <a:srgbClr val="1A1D21"/>
                </a:solidFill>
                <a:latin typeface="+mn-ea"/>
                <a:cs typeface="Quattrocento Sans" pitchFamily="34" charset="-120"/>
              </a:rPr>
              <a:t>对照WHO指南和国家卫健委规范，逐条核实关键信息点，修正事实性错误</a:t>
            </a:r>
            <a:endParaRPr lang="en-US" dirty="0">
              <a:latin typeface="+mn-ea"/>
            </a:endParaRPr>
          </a:p>
        </p:txBody>
      </p:sp>
      <p:sp>
        <p:nvSpPr>
          <p:cNvPr id="16" name="Shape 15">
            <a:extLst>
              <a:ext uri="{FF2B5EF4-FFF2-40B4-BE49-F238E27FC236}">
                <a16:creationId xmlns:a16="http://schemas.microsoft.com/office/drawing/2014/main" id="{34B6D632-55A3-2B8E-7E3D-280AA1BE3554}"/>
              </a:ext>
            </a:extLst>
          </p:cNvPr>
          <p:cNvSpPr/>
          <p:nvPr/>
        </p:nvSpPr>
        <p:spPr>
          <a:xfrm>
            <a:off x="4150076" y="2314918"/>
            <a:ext cx="3822700" cy="2609622"/>
          </a:xfrm>
          <a:prstGeom prst="rect">
            <a:avLst/>
          </a:prstGeom>
          <a:solidFill>
            <a:srgbClr val="FFFFFF"/>
          </a:solidFill>
          <a:ln>
            <a:solidFill>
              <a:schemeClr val="bg2">
                <a:lumMod val="50000"/>
              </a:schemeClr>
            </a:solidFill>
          </a:ln>
        </p:spPr>
        <p:txBody>
          <a:bodyPr/>
          <a:lstStyle/>
          <a:p>
            <a:endParaRPr lang="zh-CN" altLang="en-US"/>
          </a:p>
        </p:txBody>
      </p:sp>
      <p:sp>
        <p:nvSpPr>
          <p:cNvPr id="17" name="Shape 16">
            <a:extLst>
              <a:ext uri="{FF2B5EF4-FFF2-40B4-BE49-F238E27FC236}">
                <a16:creationId xmlns:a16="http://schemas.microsoft.com/office/drawing/2014/main" id="{7B8DB0B9-341E-8932-073E-33F44BE74178}"/>
              </a:ext>
            </a:extLst>
          </p:cNvPr>
          <p:cNvSpPr/>
          <p:nvPr/>
        </p:nvSpPr>
        <p:spPr>
          <a:xfrm>
            <a:off x="4326537" y="2685649"/>
            <a:ext cx="302329" cy="348615"/>
          </a:xfrm>
          <a:custGeom>
            <a:avLst/>
            <a:gdLst/>
            <a:ahLst/>
            <a:cxnLst/>
            <a:rect l="l" t="t" r="r" b="b"/>
            <a:pathLst>
              <a:path w="304800" h="304800">
                <a:moveTo>
                  <a:pt x="210086" y="12621"/>
                </a:moveTo>
                <a:lnTo>
                  <a:pt x="183356" y="39350"/>
                </a:lnTo>
                <a:lnTo>
                  <a:pt x="265450" y="121444"/>
                </a:lnTo>
                <a:lnTo>
                  <a:pt x="292179" y="94714"/>
                </a:lnTo>
                <a:cubicBezTo>
                  <a:pt x="300276" y="86678"/>
                  <a:pt x="304800" y="75724"/>
                  <a:pt x="304800" y="64294"/>
                </a:cubicBezTo>
                <a:cubicBezTo>
                  <a:pt x="304800" y="52864"/>
                  <a:pt x="300276" y="41910"/>
                  <a:pt x="292179" y="33873"/>
                </a:cubicBezTo>
                <a:lnTo>
                  <a:pt x="270927" y="12621"/>
                </a:lnTo>
                <a:cubicBezTo>
                  <a:pt x="262890" y="4524"/>
                  <a:pt x="251936" y="0"/>
                  <a:pt x="240506" y="0"/>
                </a:cubicBezTo>
                <a:cubicBezTo>
                  <a:pt x="229076" y="0"/>
                  <a:pt x="218123" y="4524"/>
                  <a:pt x="210086" y="12621"/>
                </a:cubicBezTo>
                <a:close/>
                <a:moveTo>
                  <a:pt x="163175" y="59531"/>
                </a:moveTo>
                <a:lnTo>
                  <a:pt x="35064" y="187583"/>
                </a:lnTo>
                <a:cubicBezTo>
                  <a:pt x="28694" y="193953"/>
                  <a:pt x="24051" y="201930"/>
                  <a:pt x="21610" y="210622"/>
                </a:cubicBezTo>
                <a:lnTo>
                  <a:pt x="536" y="286703"/>
                </a:lnTo>
                <a:cubicBezTo>
                  <a:pt x="-833" y="291644"/>
                  <a:pt x="536" y="297001"/>
                  <a:pt x="4227" y="300633"/>
                </a:cubicBezTo>
                <a:cubicBezTo>
                  <a:pt x="7918" y="304264"/>
                  <a:pt x="13216" y="305693"/>
                  <a:pt x="18157" y="304324"/>
                </a:cubicBezTo>
                <a:lnTo>
                  <a:pt x="94238" y="283190"/>
                </a:lnTo>
                <a:cubicBezTo>
                  <a:pt x="102930" y="280749"/>
                  <a:pt x="110847" y="276165"/>
                  <a:pt x="117277" y="269736"/>
                </a:cubicBezTo>
                <a:lnTo>
                  <a:pt x="245269" y="141625"/>
                </a:lnTo>
                <a:lnTo>
                  <a:pt x="163175" y="59531"/>
                </a:lnTo>
                <a:close/>
              </a:path>
            </a:pathLst>
          </a:custGeom>
          <a:solidFill>
            <a:srgbClr val="1A4B8C"/>
          </a:solidFill>
          <a:ln/>
        </p:spPr>
        <p:txBody>
          <a:bodyPr/>
          <a:lstStyle/>
          <a:p>
            <a:endParaRPr lang="zh-CN" altLang="en-US"/>
          </a:p>
        </p:txBody>
      </p:sp>
      <p:sp>
        <p:nvSpPr>
          <p:cNvPr id="18" name="Text 17">
            <a:extLst>
              <a:ext uri="{FF2B5EF4-FFF2-40B4-BE49-F238E27FC236}">
                <a16:creationId xmlns:a16="http://schemas.microsoft.com/office/drawing/2014/main" id="{BCE5EE79-E5C8-B49B-3E8B-99CA3AB50487}"/>
              </a:ext>
            </a:extLst>
          </p:cNvPr>
          <p:cNvSpPr/>
          <p:nvPr/>
        </p:nvSpPr>
        <p:spPr>
          <a:xfrm>
            <a:off x="4753758" y="2652598"/>
            <a:ext cx="3032554" cy="1897368"/>
          </a:xfrm>
          <a:prstGeom prst="rect">
            <a:avLst/>
          </a:prstGeom>
          <a:noFill/>
          <a:ln/>
        </p:spPr>
        <p:txBody>
          <a:bodyPr wrap="square" lIns="0" tIns="0" rIns="0" bIns="0" rtlCol="0" anchor="t"/>
          <a:lstStyle/>
          <a:p>
            <a:pPr>
              <a:lnSpc>
                <a:spcPct val="200000"/>
              </a:lnSpc>
            </a:pPr>
            <a:r>
              <a:rPr lang="en-US" sz="1600" b="1" dirty="0">
                <a:solidFill>
                  <a:srgbClr val="1A1D21"/>
                </a:solidFill>
                <a:latin typeface="+mn-ea"/>
                <a:cs typeface="Quattrocento Sans" pitchFamily="34" charset="-120"/>
              </a:rPr>
              <a:t>语言与语调润色</a:t>
            </a:r>
            <a:endParaRPr lang="en-US" dirty="0">
              <a:latin typeface="+mn-ea"/>
            </a:endParaRPr>
          </a:p>
          <a:p>
            <a:pPr algn="just">
              <a:lnSpc>
                <a:spcPct val="200000"/>
              </a:lnSpc>
            </a:pPr>
            <a:r>
              <a:rPr lang="en-US" sz="1600" dirty="0">
                <a:solidFill>
                  <a:srgbClr val="1A1D21"/>
                </a:solidFill>
                <a:latin typeface="+mn-ea"/>
                <a:cs typeface="Quattrocento Sans" pitchFamily="34" charset="-120"/>
              </a:rPr>
              <a:t>润色语言使之通俗易懂、表述温和，调整行文结构确保逻辑流畅</a:t>
            </a:r>
            <a:endParaRPr lang="en-US" dirty="0">
              <a:latin typeface="+mn-ea"/>
            </a:endParaRPr>
          </a:p>
        </p:txBody>
      </p:sp>
      <p:sp>
        <p:nvSpPr>
          <p:cNvPr id="20" name="Shape 19">
            <a:extLst>
              <a:ext uri="{FF2B5EF4-FFF2-40B4-BE49-F238E27FC236}">
                <a16:creationId xmlns:a16="http://schemas.microsoft.com/office/drawing/2014/main" id="{DF70AEDB-6FE9-4DF6-778E-E8D5125469EF}"/>
              </a:ext>
            </a:extLst>
          </p:cNvPr>
          <p:cNvSpPr/>
          <p:nvPr/>
        </p:nvSpPr>
        <p:spPr>
          <a:xfrm>
            <a:off x="8301739" y="2731802"/>
            <a:ext cx="266700" cy="304800"/>
          </a:xfrm>
          <a:custGeom>
            <a:avLst/>
            <a:gdLst/>
            <a:ahLst/>
            <a:cxnLst/>
            <a:rect l="l" t="t" r="r" b="b"/>
            <a:pathLst>
              <a:path w="266700" h="304800">
                <a:moveTo>
                  <a:pt x="133350" y="4763"/>
                </a:moveTo>
                <a:cubicBezTo>
                  <a:pt x="93923" y="4763"/>
                  <a:pt x="61913" y="36773"/>
                  <a:pt x="61912" y="76200"/>
                </a:cubicBezTo>
                <a:cubicBezTo>
                  <a:pt x="61912" y="115627"/>
                  <a:pt x="93923" y="147638"/>
                  <a:pt x="133350" y="147638"/>
                </a:cubicBezTo>
                <a:cubicBezTo>
                  <a:pt x="172777" y="147638"/>
                  <a:pt x="204787" y="115627"/>
                  <a:pt x="204787" y="76200"/>
                </a:cubicBezTo>
                <a:cubicBezTo>
                  <a:pt x="204787" y="36773"/>
                  <a:pt x="172777" y="4763"/>
                  <a:pt x="133350" y="4763"/>
                </a:cubicBezTo>
                <a:close/>
                <a:moveTo>
                  <a:pt x="169069" y="190976"/>
                </a:moveTo>
                <a:cubicBezTo>
                  <a:pt x="165854" y="190679"/>
                  <a:pt x="162520" y="190500"/>
                  <a:pt x="159187" y="190500"/>
                </a:cubicBezTo>
                <a:lnTo>
                  <a:pt x="107454" y="190500"/>
                </a:lnTo>
                <a:cubicBezTo>
                  <a:pt x="104120" y="190500"/>
                  <a:pt x="100846" y="190679"/>
                  <a:pt x="97572" y="190976"/>
                </a:cubicBezTo>
                <a:lnTo>
                  <a:pt x="97572" y="231160"/>
                </a:lnTo>
                <a:cubicBezTo>
                  <a:pt x="107394" y="235684"/>
                  <a:pt x="114240" y="245626"/>
                  <a:pt x="114240" y="257115"/>
                </a:cubicBezTo>
                <a:cubicBezTo>
                  <a:pt x="114240" y="272891"/>
                  <a:pt x="101441" y="285690"/>
                  <a:pt x="85665" y="285690"/>
                </a:cubicBezTo>
                <a:cubicBezTo>
                  <a:pt x="69890" y="285690"/>
                  <a:pt x="57090" y="272891"/>
                  <a:pt x="57090" y="257115"/>
                </a:cubicBezTo>
                <a:cubicBezTo>
                  <a:pt x="57090" y="245566"/>
                  <a:pt x="63937" y="235625"/>
                  <a:pt x="73759" y="231160"/>
                </a:cubicBezTo>
                <a:lnTo>
                  <a:pt x="73759" y="196394"/>
                </a:lnTo>
                <a:cubicBezTo>
                  <a:pt x="36314" y="210145"/>
                  <a:pt x="9525" y="246221"/>
                  <a:pt x="9525" y="288488"/>
                </a:cubicBezTo>
                <a:cubicBezTo>
                  <a:pt x="9525" y="297478"/>
                  <a:pt x="16847" y="304800"/>
                  <a:pt x="25837" y="304800"/>
                </a:cubicBezTo>
                <a:lnTo>
                  <a:pt x="240804" y="304800"/>
                </a:lnTo>
                <a:cubicBezTo>
                  <a:pt x="249793" y="304800"/>
                  <a:pt x="257115" y="297478"/>
                  <a:pt x="257115" y="288488"/>
                </a:cubicBezTo>
                <a:cubicBezTo>
                  <a:pt x="257115" y="246221"/>
                  <a:pt x="230326" y="210205"/>
                  <a:pt x="192822" y="196453"/>
                </a:cubicBezTo>
                <a:lnTo>
                  <a:pt x="192822" y="218718"/>
                </a:lnTo>
                <a:cubicBezTo>
                  <a:pt x="206692" y="223599"/>
                  <a:pt x="216634" y="236875"/>
                  <a:pt x="216634" y="252413"/>
                </a:cubicBezTo>
                <a:lnTo>
                  <a:pt x="216634" y="271463"/>
                </a:lnTo>
                <a:cubicBezTo>
                  <a:pt x="216634" y="278011"/>
                  <a:pt x="211276" y="283369"/>
                  <a:pt x="204728" y="283369"/>
                </a:cubicBezTo>
                <a:cubicBezTo>
                  <a:pt x="198180" y="283369"/>
                  <a:pt x="192822" y="278011"/>
                  <a:pt x="192822" y="271463"/>
                </a:cubicBezTo>
                <a:lnTo>
                  <a:pt x="192822" y="252413"/>
                </a:lnTo>
                <a:cubicBezTo>
                  <a:pt x="192822" y="245864"/>
                  <a:pt x="187464" y="240506"/>
                  <a:pt x="180915" y="240506"/>
                </a:cubicBezTo>
                <a:cubicBezTo>
                  <a:pt x="174367" y="240506"/>
                  <a:pt x="169009" y="245864"/>
                  <a:pt x="169009" y="252413"/>
                </a:cubicBezTo>
                <a:lnTo>
                  <a:pt x="169009" y="271463"/>
                </a:lnTo>
                <a:cubicBezTo>
                  <a:pt x="169009" y="278011"/>
                  <a:pt x="163651" y="283369"/>
                  <a:pt x="157103" y="283369"/>
                </a:cubicBezTo>
                <a:cubicBezTo>
                  <a:pt x="150555" y="283369"/>
                  <a:pt x="145197" y="278011"/>
                  <a:pt x="145197" y="271463"/>
                </a:cubicBezTo>
                <a:lnTo>
                  <a:pt x="145197" y="252413"/>
                </a:lnTo>
                <a:cubicBezTo>
                  <a:pt x="145197" y="236875"/>
                  <a:pt x="155138" y="223659"/>
                  <a:pt x="169009" y="218718"/>
                </a:cubicBezTo>
                <a:lnTo>
                  <a:pt x="169009" y="190976"/>
                </a:lnTo>
                <a:close/>
              </a:path>
            </a:pathLst>
          </a:custGeom>
          <a:solidFill>
            <a:srgbClr val="1A4B8C"/>
          </a:solidFill>
          <a:ln/>
        </p:spPr>
        <p:txBody>
          <a:bodyPr/>
          <a:lstStyle/>
          <a:p>
            <a:endParaRPr lang="zh-CN" altLang="en-US"/>
          </a:p>
        </p:txBody>
      </p:sp>
      <p:sp>
        <p:nvSpPr>
          <p:cNvPr id="21" name="Text 20">
            <a:extLst>
              <a:ext uri="{FF2B5EF4-FFF2-40B4-BE49-F238E27FC236}">
                <a16:creationId xmlns:a16="http://schemas.microsoft.com/office/drawing/2014/main" id="{23644133-9D06-993C-5570-2AAB6E223477}"/>
              </a:ext>
            </a:extLst>
          </p:cNvPr>
          <p:cNvSpPr/>
          <p:nvPr/>
        </p:nvSpPr>
        <p:spPr>
          <a:xfrm>
            <a:off x="8716778" y="2652598"/>
            <a:ext cx="2964490" cy="2084654"/>
          </a:xfrm>
          <a:prstGeom prst="rect">
            <a:avLst/>
          </a:prstGeom>
          <a:noFill/>
          <a:ln/>
        </p:spPr>
        <p:txBody>
          <a:bodyPr wrap="square" lIns="0" tIns="0" rIns="0" bIns="0" rtlCol="0" anchor="t"/>
          <a:lstStyle/>
          <a:p>
            <a:pPr>
              <a:lnSpc>
                <a:spcPct val="200000"/>
              </a:lnSpc>
            </a:pPr>
            <a:r>
              <a:rPr lang="en-US" sz="1600" b="1" dirty="0" err="1">
                <a:solidFill>
                  <a:srgbClr val="1A1D21"/>
                </a:solidFill>
                <a:latin typeface="+mn-ea"/>
                <a:cs typeface="Quattrocento Sans" pitchFamily="34" charset="-120"/>
              </a:rPr>
              <a:t>专家审核</a:t>
            </a:r>
            <a:endParaRPr lang="en-US" sz="1600" b="1" dirty="0">
              <a:solidFill>
                <a:srgbClr val="1A1D21"/>
              </a:solidFill>
              <a:latin typeface="+mn-ea"/>
              <a:cs typeface="Quattrocento Sans" pitchFamily="34" charset="-120"/>
            </a:endParaRPr>
          </a:p>
          <a:p>
            <a:pPr>
              <a:lnSpc>
                <a:spcPct val="200000"/>
              </a:lnSpc>
            </a:pPr>
            <a:r>
              <a:rPr lang="en-US" sz="1600" dirty="0">
                <a:solidFill>
                  <a:srgbClr val="1A1D21"/>
                </a:solidFill>
                <a:latin typeface="+mn-ea"/>
                <a:cs typeface="Quattrocento Sans" pitchFamily="34" charset="-120"/>
              </a:rPr>
              <a:t>至少2名副主任医师以上专家，</a:t>
            </a:r>
            <a:br>
              <a:rPr lang="en-US" sz="1600" dirty="0">
                <a:solidFill>
                  <a:srgbClr val="1A1D21"/>
                </a:solidFill>
                <a:latin typeface="+mn-ea"/>
                <a:cs typeface="Quattrocento Sans" pitchFamily="34" charset="-120"/>
              </a:rPr>
            </a:br>
            <a:r>
              <a:rPr lang="en-US" sz="1600" dirty="0">
                <a:solidFill>
                  <a:srgbClr val="1A1D21"/>
                </a:solidFill>
                <a:latin typeface="+mn-ea"/>
                <a:cs typeface="Quattrocento Sans" pitchFamily="34" charset="-120"/>
              </a:rPr>
              <a:t>六维度3分制Likert量表独立打分</a:t>
            </a:r>
            <a:endParaRPr lang="en-US" dirty="0">
              <a:latin typeface="+mn-ea"/>
            </a:endParaRPr>
          </a:p>
        </p:txBody>
      </p:sp>
    </p:spTree>
    <p:extLst>
      <p:ext uri="{BB962C8B-B14F-4D97-AF65-F5344CB8AC3E}">
        <p14:creationId xmlns:p14="http://schemas.microsoft.com/office/powerpoint/2010/main" val="2373386213"/>
      </p:ext>
    </p:extLst>
  </p:cSld>
  <p:clrMapOvr>
    <a:masterClrMapping/>
  </p:clrMapOvr>
  <p:transition>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127B-353B-8DAA-EA52-F5C093FF5E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15A9CC-65B8-DD99-E039-81AF0914399F}"/>
              </a:ext>
            </a:extLst>
          </p:cNvPr>
          <p:cNvSpPr>
            <a:spLocks noGrp="1"/>
          </p:cNvSpPr>
          <p:nvPr>
            <p:ph type="title"/>
          </p:nvPr>
        </p:nvSpPr>
        <p:spPr/>
        <p:txBody>
          <a:bodyPr/>
          <a:lstStyle/>
          <a:p>
            <a:r>
              <a:rPr lang="zh-CN" altLang="en-US" dirty="0"/>
              <a:t>数据集质量评估方法与结果</a:t>
            </a:r>
          </a:p>
        </p:txBody>
      </p:sp>
      <p:sp>
        <p:nvSpPr>
          <p:cNvPr id="3" name="日期占位符 2">
            <a:extLst>
              <a:ext uri="{FF2B5EF4-FFF2-40B4-BE49-F238E27FC236}">
                <a16:creationId xmlns:a16="http://schemas.microsoft.com/office/drawing/2014/main" id="{EB500822-804A-6459-703A-70AD68B8CDFA}"/>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6BBA3F26-00F5-7938-0B13-3D4AB26F77ED}"/>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850750FB-0C40-5462-744D-17D99CEC5126}"/>
              </a:ext>
            </a:extLst>
          </p:cNvPr>
          <p:cNvSpPr>
            <a:spLocks noGrp="1"/>
          </p:cNvSpPr>
          <p:nvPr>
            <p:ph type="sldNum" sz="quarter" idx="12"/>
          </p:nvPr>
        </p:nvSpPr>
        <p:spPr/>
        <p:txBody>
          <a:bodyPr/>
          <a:lstStyle/>
          <a:p>
            <a:fld id="{054335CC-B077-4EFF-BFF9-2EFEE3F838E2}" type="slidenum">
              <a:rPr lang="zh-CN" altLang="en-US" smtClean="0"/>
              <a:pPr/>
              <a:t>13</a:t>
            </a:fld>
            <a:endParaRPr lang="zh-CN" altLang="en-US" dirty="0"/>
          </a:p>
        </p:txBody>
      </p:sp>
      <p:sp>
        <p:nvSpPr>
          <p:cNvPr id="24" name="文本占位符 16">
            <a:extLst>
              <a:ext uri="{FF2B5EF4-FFF2-40B4-BE49-F238E27FC236}">
                <a16:creationId xmlns:a16="http://schemas.microsoft.com/office/drawing/2014/main" id="{E0F4C494-31A6-5CEA-BD76-FC1A97F8DD8E}"/>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10" name="矩形 9">
            <a:extLst>
              <a:ext uri="{FF2B5EF4-FFF2-40B4-BE49-F238E27FC236}">
                <a16:creationId xmlns:a16="http://schemas.microsoft.com/office/drawing/2014/main" id="{D8F5513F-66D7-1D28-8093-DAA40D9133CD}"/>
              </a:ext>
            </a:extLst>
          </p:cNvPr>
          <p:cNvSpPr/>
          <p:nvPr/>
        </p:nvSpPr>
        <p:spPr>
          <a:xfrm>
            <a:off x="1952625" y="1066781"/>
            <a:ext cx="2447925" cy="273133"/>
          </a:xfrm>
          <a:prstGeom prst="rect">
            <a:avLst/>
          </a:prstGeom>
          <a:solidFill>
            <a:srgbClr val="F5F7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9" name="Table 0">
            <a:extLst>
              <a:ext uri="{FF2B5EF4-FFF2-40B4-BE49-F238E27FC236}">
                <a16:creationId xmlns:a16="http://schemas.microsoft.com/office/drawing/2014/main" id="{BD867D7A-A403-3940-0BAB-82D52C4B5BB4}"/>
              </a:ext>
            </a:extLst>
          </p:cNvPr>
          <p:cNvGraphicFramePr>
            <a:graphicFrameLocks noGrp="1"/>
          </p:cNvGraphicFramePr>
          <p:nvPr>
            <p:extLst>
              <p:ext uri="{D42A27DB-BD31-4B8C-83A1-F6EECF244321}">
                <p14:modId xmlns:p14="http://schemas.microsoft.com/office/powerpoint/2010/main" val="1799827519"/>
              </p:ext>
            </p:extLst>
          </p:nvPr>
        </p:nvGraphicFramePr>
        <p:xfrm>
          <a:off x="220428" y="1486632"/>
          <a:ext cx="11772000" cy="4572001"/>
        </p:xfrm>
        <a:graphic>
          <a:graphicData uri="http://schemas.openxmlformats.org/drawingml/2006/table">
            <a:tbl>
              <a:tblPr/>
              <a:tblGrid>
                <a:gridCol w="1164458">
                  <a:extLst>
                    <a:ext uri="{9D8B030D-6E8A-4147-A177-3AD203B41FA5}">
                      <a16:colId xmlns:a16="http://schemas.microsoft.com/office/drawing/2014/main" val="20000"/>
                    </a:ext>
                  </a:extLst>
                </a:gridCol>
                <a:gridCol w="3354201">
                  <a:extLst>
                    <a:ext uri="{9D8B030D-6E8A-4147-A177-3AD203B41FA5}">
                      <a16:colId xmlns:a16="http://schemas.microsoft.com/office/drawing/2014/main" val="20001"/>
                    </a:ext>
                  </a:extLst>
                </a:gridCol>
                <a:gridCol w="3585147">
                  <a:extLst>
                    <a:ext uri="{9D8B030D-6E8A-4147-A177-3AD203B41FA5}">
                      <a16:colId xmlns:a16="http://schemas.microsoft.com/office/drawing/2014/main" val="20002"/>
                    </a:ext>
                  </a:extLst>
                </a:gridCol>
                <a:gridCol w="3668194">
                  <a:extLst>
                    <a:ext uri="{9D8B030D-6E8A-4147-A177-3AD203B41FA5}">
                      <a16:colId xmlns:a16="http://schemas.microsoft.com/office/drawing/2014/main" val="20003"/>
                    </a:ext>
                  </a:extLst>
                </a:gridCol>
              </a:tblGrid>
              <a:tr h="653143">
                <a:tc>
                  <a:txBody>
                    <a:bodyPr/>
                    <a:lstStyle/>
                    <a:p>
                      <a:pPr algn="l"/>
                      <a:r>
                        <a:rPr lang="en-US" sz="1600" b="1" u="none" dirty="0">
                          <a:solidFill>
                            <a:srgbClr val="FFFFFF"/>
                          </a:solidFill>
                          <a:latin typeface="+mn-ea"/>
                          <a:ea typeface="+mn-ea"/>
                          <a:cs typeface="QuattrocentoSans, MiSans" pitchFamily="34" charset="-120"/>
                        </a:rPr>
                        <a:t>维度</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600" b="1" u="none" dirty="0">
                          <a:solidFill>
                            <a:srgbClr val="FFFFFF"/>
                          </a:solidFill>
                          <a:latin typeface="+mn-ea"/>
                          <a:ea typeface="+mn-ea"/>
                          <a:cs typeface="QuattrocentoSans, MiSans" pitchFamily="34" charset="-120"/>
                        </a:rPr>
                        <a:t>3分标准</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600" b="1" u="none" dirty="0">
                          <a:solidFill>
                            <a:srgbClr val="FFFFFF"/>
                          </a:solidFill>
                          <a:latin typeface="+mn-ea"/>
                          <a:ea typeface="+mn-ea"/>
                          <a:cs typeface="QuattrocentoSans, MiSans" pitchFamily="34" charset="-120"/>
                        </a:rPr>
                        <a:t>2分标准</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600" b="1" u="none" dirty="0">
                          <a:solidFill>
                            <a:srgbClr val="FFFFFF"/>
                          </a:solidFill>
                          <a:latin typeface="+mn-ea"/>
                          <a:ea typeface="+mn-ea"/>
                          <a:cs typeface="QuattrocentoSans, MiSans" pitchFamily="34" charset="-120"/>
                        </a:rPr>
                        <a:t>1分标准</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指导性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提供了清晰、具体且可读性强的建议或指导，帮助明确行动方向</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提供了基础指导，但不够具体、全面，需额外理解或补充建议</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建议模糊、无序或不可操作，无法提供实质性的后续行动指引</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准确性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医学事实、数据及术语正确，基于公认的医学共识，无误导性信息</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包含一些有争议、不完整或轻微偏差的信息，但不影响核心健康决策</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存在严重的事实性错误、医学幻觉或违反常识的观点，可能造成误导</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完整性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充分回答了核心问题，并涵盖了关键细节、背景知识或注意事项</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给出了直接回答，但遗漏了相关的必要细节或局限于部分角度</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仅勉强涉及表面的问题，信息片段化或重大缺失，难以全面理解</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安全性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信息完全合规，包含必要的风险提示和前置条件约束，无潜在风险</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总体合规，缺乏充足的风险提示，但在常理下不会引起严重直接伤害</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严重违反安全规范或医学建议底线，存在造成患者不良后果的高风险</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易于理解</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结构清晰，语言通俗，完全没有未经解释的生僻术语</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包含了一定量的术语或语段稍显复杂，但整体大意尚可捕捉</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过多生僻的医学词汇或表达晦涩混乱，没有医学背景的人极难读懂</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仅提供</a:t>
                      </a:r>
                      <a:endParaRPr lang="en-US" sz="1400" dirty="0">
                        <a:latin typeface="+mn-ea"/>
                        <a:ea typeface="+mn-ea"/>
                        <a:cs typeface="QuattrocentoSans, MiSans" charset="0"/>
                      </a:endParaRPr>
                    </a:p>
                    <a:p>
                      <a:pPr algn="l">
                        <a:lnSpc>
                          <a:spcPts val="1680"/>
                        </a:lnSpc>
                      </a:pPr>
                      <a:r>
                        <a:rPr lang="en-US" sz="1400" u="none" dirty="0">
                          <a:solidFill>
                            <a:srgbClr val="1A1D21"/>
                          </a:solidFill>
                          <a:latin typeface="+mn-ea"/>
                          <a:ea typeface="+mn-ea"/>
                          <a:cs typeface="QuattrocentoSans, MiSans" pitchFamily="34" charset="-120"/>
                        </a:rPr>
                        <a:t>必要信息</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回答非常聚焦，无冗余内容，精准切中疑问</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加入了少许无关紧要的信息，但主要内容尚算凸显</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掺杂大量与核心问题无关的内容，核心重点模糊，重点漂移</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
        <p:nvSpPr>
          <p:cNvPr id="7" name="文本框 6">
            <a:extLst>
              <a:ext uri="{FF2B5EF4-FFF2-40B4-BE49-F238E27FC236}">
                <a16:creationId xmlns:a16="http://schemas.microsoft.com/office/drawing/2014/main" id="{3130BF96-5665-2903-2FB0-69A0A657FEA4}"/>
              </a:ext>
            </a:extLst>
          </p:cNvPr>
          <p:cNvSpPr txBox="1"/>
          <p:nvPr/>
        </p:nvSpPr>
        <p:spPr>
          <a:xfrm>
            <a:off x="127700" y="6161964"/>
            <a:ext cx="11864728" cy="515526"/>
          </a:xfrm>
          <a:prstGeom prst="rect">
            <a:avLst/>
          </a:prstGeom>
          <a:noFill/>
        </p:spPr>
        <p:txBody>
          <a:bodyPr wrap="square">
            <a:spAutoFit/>
          </a:bodyPr>
          <a:lstStyle/>
          <a:p>
            <a:pPr>
              <a:lnSpc>
                <a:spcPts val="1100"/>
              </a:lnSpc>
            </a:pPr>
            <a:r>
              <a:rPr lang="en-US" altLang="zh-CN" sz="1100" kern="100" dirty="0">
                <a:latin typeface="Times New Roman" panose="02020603050405020304" pitchFamily="18" charset="0"/>
                <a:ea typeface="宋体" panose="02010600030101010101" pitchFamily="2" charset="-122"/>
              </a:rPr>
              <a:t>[1] </a:t>
            </a:r>
            <a:r>
              <a:rPr lang="en-US" altLang="zh-CN" sz="1100" kern="100" dirty="0">
                <a:effectLst/>
                <a:latin typeface="Times New Roman" panose="02020603050405020304" pitchFamily="18" charset="0"/>
                <a:ea typeface="宋体" panose="02010600030101010101" pitchFamily="2" charset="-122"/>
              </a:rPr>
              <a:t>SEO J, CHOI D, KIM T, </a:t>
            </a:r>
            <a:r>
              <a:rPr lang="zh-CN" altLang="zh-CN" sz="1100" kern="1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100" kern="100" dirty="0">
                <a:effectLst/>
                <a:latin typeface="Times New Roman" panose="02020603050405020304" pitchFamily="18" charset="0"/>
                <a:ea typeface="宋体" panose="02010600030101010101" pitchFamily="2" charset="-122"/>
              </a:rPr>
              <a:t>. Evaluation Framework of Large Language Models in Medical Documentation: Development and Usability Study[J]. Journal of Medical Internet Research, 2024, 26: e58329.</a:t>
            </a:r>
          </a:p>
          <a:p>
            <a:pPr indent="-457200">
              <a:lnSpc>
                <a:spcPts val="1100"/>
              </a:lnSpc>
            </a:pPr>
            <a:r>
              <a:rPr lang="en-US" altLang="zh-CN" sz="1100" dirty="0">
                <a:latin typeface="Times New Roman" panose="02020603050405020304" pitchFamily="18" charset="0"/>
                <a:cs typeface="Times New Roman" panose="02020603050405020304" pitchFamily="18" charset="0"/>
              </a:rPr>
              <a:t>[2] HO C N, TIAN T, AYERS A T, </a:t>
            </a:r>
            <a:r>
              <a:rPr lang="zh-CN" altLang="en-US" sz="1100" dirty="0">
                <a:latin typeface="Times New Roman" panose="02020603050405020304" pitchFamily="18" charset="0"/>
                <a:cs typeface="Times New Roman" panose="02020603050405020304" pitchFamily="18" charset="0"/>
              </a:rPr>
              <a:t>等</a:t>
            </a:r>
            <a:r>
              <a:rPr lang="en-US" altLang="zh-CN" sz="1100" dirty="0">
                <a:latin typeface="Times New Roman" panose="02020603050405020304" pitchFamily="18" charset="0"/>
                <a:cs typeface="Times New Roman" panose="02020603050405020304" pitchFamily="18" charset="0"/>
              </a:rPr>
              <a:t>. Qualitative metrics from the biomedical literature for evaluating large language models in clinical decision-making: a narrative review[J]. BMC Medical Informatics and Decision Making, 2024, 24: 357.</a:t>
            </a:r>
            <a:endParaRPr lang="zh-CN" altLang="en-US" sz="11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039F0682-B168-FDA6-13AC-8B421C854485}"/>
              </a:ext>
            </a:extLst>
          </p:cNvPr>
          <p:cNvSpPr txBox="1"/>
          <p:nvPr/>
        </p:nvSpPr>
        <p:spPr>
          <a:xfrm>
            <a:off x="127701" y="1087590"/>
            <a:ext cx="6097772" cy="369332"/>
          </a:xfrm>
          <a:prstGeom prst="rect">
            <a:avLst/>
          </a:prstGeom>
          <a:noFill/>
        </p:spPr>
        <p:txBody>
          <a:bodyPr wrap="square">
            <a:spAutoFit/>
          </a:bodyPr>
          <a:lstStyle/>
          <a:p>
            <a:r>
              <a:rPr lang="en-US" altLang="zh-CN" sz="1800" b="1" dirty="0">
                <a:solidFill>
                  <a:srgbClr val="1A1D21"/>
                </a:solidFill>
                <a:latin typeface="+mn-ea"/>
                <a:cs typeface="Quattrocento Sans" pitchFamily="34" charset="-120"/>
              </a:rPr>
              <a:t>六维度3分制Likert量表</a:t>
            </a:r>
            <a:r>
              <a:rPr lang="en-US" altLang="zh-CN" b="1" baseline="30000" dirty="0">
                <a:solidFill>
                  <a:srgbClr val="1A1D21"/>
                </a:solidFill>
                <a:latin typeface="+mn-ea"/>
                <a:cs typeface="Quattrocento Sans" pitchFamily="34" charset="-120"/>
              </a:rPr>
              <a:t>[1,2]</a:t>
            </a:r>
            <a:endParaRPr lang="zh-CN" altLang="en-US" b="1" baseline="30000" dirty="0"/>
          </a:p>
        </p:txBody>
      </p:sp>
    </p:spTree>
    <p:extLst>
      <p:ext uri="{BB962C8B-B14F-4D97-AF65-F5344CB8AC3E}">
        <p14:creationId xmlns:p14="http://schemas.microsoft.com/office/powerpoint/2010/main" val="1671184903"/>
      </p:ext>
    </p:extLst>
  </p:cSld>
  <p:clrMapOvr>
    <a:masterClrMapping/>
  </p:clrMapOvr>
  <p:transition>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B8747-BC7C-7498-E06D-11614E9F3F25}"/>
            </a:ext>
          </a:extLst>
        </p:cNvPr>
        <p:cNvGrpSpPr/>
        <p:nvPr/>
      </p:nvGrpSpPr>
      <p:grpSpPr>
        <a:xfrm>
          <a:off x="0" y="0"/>
          <a:ext cx="0" cy="0"/>
          <a:chOff x="0" y="0"/>
          <a:chExt cx="0" cy="0"/>
        </a:xfrm>
      </p:grpSpPr>
      <p:sp>
        <p:nvSpPr>
          <p:cNvPr id="13" name="Shape 9">
            <a:extLst>
              <a:ext uri="{FF2B5EF4-FFF2-40B4-BE49-F238E27FC236}">
                <a16:creationId xmlns:a16="http://schemas.microsoft.com/office/drawing/2014/main" id="{28AA4DCB-CA4D-A85D-9A1A-BE14C7953788}"/>
              </a:ext>
            </a:extLst>
          </p:cNvPr>
          <p:cNvSpPr/>
          <p:nvPr/>
        </p:nvSpPr>
        <p:spPr>
          <a:xfrm>
            <a:off x="5985221" y="1309471"/>
            <a:ext cx="5511800" cy="4771840"/>
          </a:xfrm>
          <a:prstGeom prst="rect">
            <a:avLst/>
          </a:prstGeom>
          <a:solidFill>
            <a:schemeClr val="bg1"/>
          </a:solidFill>
          <a:ln>
            <a:solidFill>
              <a:schemeClr val="bg2">
                <a:lumMod val="50000"/>
              </a:schemeClr>
            </a:solidFill>
          </a:ln>
        </p:spPr>
        <p:txBody>
          <a:bodyPr/>
          <a:lstStyle/>
          <a:p>
            <a:endParaRPr lang="zh-CN" altLang="en-US"/>
          </a:p>
        </p:txBody>
      </p:sp>
      <p:sp>
        <p:nvSpPr>
          <p:cNvPr id="2" name="标题 1">
            <a:extLst>
              <a:ext uri="{FF2B5EF4-FFF2-40B4-BE49-F238E27FC236}">
                <a16:creationId xmlns:a16="http://schemas.microsoft.com/office/drawing/2014/main" id="{28AE3D2B-166A-73F8-1A53-4418A1B8471C}"/>
              </a:ext>
            </a:extLst>
          </p:cNvPr>
          <p:cNvSpPr>
            <a:spLocks noGrp="1"/>
          </p:cNvSpPr>
          <p:nvPr>
            <p:ph type="title"/>
          </p:nvPr>
        </p:nvSpPr>
        <p:spPr/>
        <p:txBody>
          <a:bodyPr/>
          <a:lstStyle/>
          <a:p>
            <a:r>
              <a:rPr lang="zh-CN" altLang="en-US" dirty="0"/>
              <a:t>数据集质量评估方法与结果</a:t>
            </a:r>
          </a:p>
        </p:txBody>
      </p:sp>
      <p:sp>
        <p:nvSpPr>
          <p:cNvPr id="3" name="日期占位符 2">
            <a:extLst>
              <a:ext uri="{FF2B5EF4-FFF2-40B4-BE49-F238E27FC236}">
                <a16:creationId xmlns:a16="http://schemas.microsoft.com/office/drawing/2014/main" id="{4E0162BA-0F7D-6F29-DE66-E32366BED302}"/>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71BEF34F-7063-E59D-5F3B-D9EC0FD09000}"/>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7E1A6DF8-4545-7756-DC2E-65871E3B03B9}"/>
              </a:ext>
            </a:extLst>
          </p:cNvPr>
          <p:cNvSpPr>
            <a:spLocks noGrp="1"/>
          </p:cNvSpPr>
          <p:nvPr>
            <p:ph type="sldNum" sz="quarter" idx="12"/>
          </p:nvPr>
        </p:nvSpPr>
        <p:spPr/>
        <p:txBody>
          <a:bodyPr/>
          <a:lstStyle/>
          <a:p>
            <a:fld id="{054335CC-B077-4EFF-BFF9-2EFEE3F838E2}" type="slidenum">
              <a:rPr lang="zh-CN" altLang="en-US" smtClean="0"/>
              <a:pPr/>
              <a:t>14</a:t>
            </a:fld>
            <a:endParaRPr lang="zh-CN" altLang="en-US" dirty="0"/>
          </a:p>
        </p:txBody>
      </p:sp>
      <p:sp>
        <p:nvSpPr>
          <p:cNvPr id="24" name="文本占位符 16">
            <a:extLst>
              <a:ext uri="{FF2B5EF4-FFF2-40B4-BE49-F238E27FC236}">
                <a16:creationId xmlns:a16="http://schemas.microsoft.com/office/drawing/2014/main" id="{5C0868F0-2320-B7CD-79E5-ADEBD0AF367F}"/>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10" name="矩形 9">
            <a:extLst>
              <a:ext uri="{FF2B5EF4-FFF2-40B4-BE49-F238E27FC236}">
                <a16:creationId xmlns:a16="http://schemas.microsoft.com/office/drawing/2014/main" id="{AC725402-82DB-5ABC-242B-75CBB1C3A233}"/>
              </a:ext>
            </a:extLst>
          </p:cNvPr>
          <p:cNvSpPr/>
          <p:nvPr/>
        </p:nvSpPr>
        <p:spPr>
          <a:xfrm>
            <a:off x="2346916" y="1243047"/>
            <a:ext cx="2447925" cy="273133"/>
          </a:xfrm>
          <a:prstGeom prst="rect">
            <a:avLst/>
          </a:prstGeom>
          <a:solidFill>
            <a:srgbClr val="F5F7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Shape 6">
            <a:extLst>
              <a:ext uri="{FF2B5EF4-FFF2-40B4-BE49-F238E27FC236}">
                <a16:creationId xmlns:a16="http://schemas.microsoft.com/office/drawing/2014/main" id="{5763909E-2742-911E-185C-7D82B9036391}"/>
              </a:ext>
            </a:extLst>
          </p:cNvPr>
          <p:cNvSpPr/>
          <p:nvPr/>
        </p:nvSpPr>
        <p:spPr>
          <a:xfrm>
            <a:off x="640109" y="1325603"/>
            <a:ext cx="4953000" cy="4755708"/>
          </a:xfrm>
          <a:prstGeom prst="rect">
            <a:avLst/>
          </a:prstGeom>
          <a:solidFill>
            <a:srgbClr val="FFFFFF"/>
          </a:solidFill>
          <a:ln>
            <a:solidFill>
              <a:schemeClr val="bg2">
                <a:lumMod val="50000"/>
              </a:schemeClr>
            </a:solidFill>
          </a:ln>
        </p:spPr>
        <p:txBody>
          <a:bodyPr/>
          <a:lstStyle/>
          <a:p>
            <a:endParaRPr lang="zh-CN" altLang="en-US"/>
          </a:p>
        </p:txBody>
      </p:sp>
      <p:sp>
        <p:nvSpPr>
          <p:cNvPr id="11" name="Text 7">
            <a:extLst>
              <a:ext uri="{FF2B5EF4-FFF2-40B4-BE49-F238E27FC236}">
                <a16:creationId xmlns:a16="http://schemas.microsoft.com/office/drawing/2014/main" id="{CB26A20E-DEEA-C3CB-6E7F-9BA445591100}"/>
              </a:ext>
            </a:extLst>
          </p:cNvPr>
          <p:cNvSpPr/>
          <p:nvPr/>
        </p:nvSpPr>
        <p:spPr>
          <a:xfrm>
            <a:off x="802033" y="1561236"/>
            <a:ext cx="4572000" cy="330200"/>
          </a:xfrm>
          <a:prstGeom prst="rect">
            <a:avLst/>
          </a:prstGeom>
          <a:noFill/>
          <a:ln/>
        </p:spPr>
        <p:txBody>
          <a:bodyPr wrap="none" lIns="0" tIns="0" rIns="0" bIns="0" rtlCol="0" anchor="ctr"/>
          <a:lstStyle/>
          <a:p>
            <a:pPr>
              <a:lnSpc>
                <a:spcPct val="100000"/>
              </a:lnSpc>
            </a:pPr>
            <a:r>
              <a:rPr lang="en-US" sz="1800" b="1" dirty="0">
                <a:latin typeface="+mn-ea"/>
                <a:cs typeface="Quattrocento Sans" pitchFamily="34" charset="-120"/>
              </a:rPr>
              <a:t>自动化评估模型遴选</a:t>
            </a:r>
            <a:endParaRPr lang="en-US" sz="1600" dirty="0">
              <a:latin typeface="+mn-ea"/>
            </a:endParaRPr>
          </a:p>
        </p:txBody>
      </p:sp>
      <p:sp>
        <p:nvSpPr>
          <p:cNvPr id="12" name="Text 8">
            <a:extLst>
              <a:ext uri="{FF2B5EF4-FFF2-40B4-BE49-F238E27FC236}">
                <a16:creationId xmlns:a16="http://schemas.microsoft.com/office/drawing/2014/main" id="{1F6E9BF0-9A41-94C8-A3D2-FA035D135026}"/>
              </a:ext>
            </a:extLst>
          </p:cNvPr>
          <p:cNvSpPr/>
          <p:nvPr/>
        </p:nvSpPr>
        <p:spPr>
          <a:xfrm>
            <a:off x="802033" y="2085385"/>
            <a:ext cx="4706401" cy="3874740"/>
          </a:xfrm>
          <a:prstGeom prst="rect">
            <a:avLst/>
          </a:prstGeom>
          <a:noFill/>
          <a:ln/>
        </p:spPr>
        <p:txBody>
          <a:bodyPr wrap="square" lIns="0" tIns="0" rIns="0" bIns="0" rtlCol="0" anchor="t"/>
          <a:lstStyle/>
          <a:p>
            <a:pPr latinLnBrk="1">
              <a:lnSpc>
                <a:spcPct val="160000"/>
              </a:lnSpc>
            </a:pPr>
            <a:r>
              <a:rPr lang="en-US" sz="1600" b="1" dirty="0">
                <a:solidFill>
                  <a:srgbClr val="1A4B8C"/>
                </a:solidFill>
                <a:latin typeface="+mn-ea"/>
                <a:cs typeface="Quattrocento Sans" pitchFamily="34" charset="-120"/>
              </a:rPr>
              <a:t>参评模型（5款）：</a:t>
            </a:r>
            <a:r>
              <a:rPr lang="en-US" sz="1600" dirty="0">
                <a:solidFill>
                  <a:srgbClr val="1A1D21"/>
                </a:solidFill>
                <a:latin typeface="+mn-ea"/>
                <a:cs typeface="Quattrocento Sans" pitchFamily="34" charset="-120"/>
              </a:rPr>
              <a:t>GLM-5、Qwen2.5-32B、Qwen2.5-14B、</a:t>
            </a:r>
            <a:r>
              <a:rPr lang="en-US" altLang="zh-CN" sz="1600" dirty="0">
                <a:solidFill>
                  <a:srgbClr val="1A1D21"/>
                </a:solidFill>
                <a:latin typeface="+mn-ea"/>
                <a:cs typeface="Quattrocento Sans" pitchFamily="34" charset="-120"/>
              </a:rPr>
              <a:t>、DeepSeek-V3.2</a:t>
            </a:r>
            <a:r>
              <a:rPr lang="zh-CN" altLang="en-US" sz="1600" dirty="0">
                <a:solidFill>
                  <a:srgbClr val="1A1D21"/>
                </a:solidFill>
                <a:latin typeface="+mn-ea"/>
                <a:cs typeface="Quattrocento Sans" pitchFamily="34" charset="-120"/>
              </a:rPr>
              <a:t>、</a:t>
            </a:r>
            <a:r>
              <a:rPr lang="en-US" sz="1600" dirty="0">
                <a:solidFill>
                  <a:srgbClr val="1A1D21"/>
                </a:solidFill>
                <a:latin typeface="+mn-ea"/>
                <a:cs typeface="Quattrocento Sans" pitchFamily="34" charset="-120"/>
              </a:rPr>
              <a:t>Qwen2.5-7B</a:t>
            </a:r>
            <a:endParaRPr lang="en-US" sz="1600" dirty="0">
              <a:latin typeface="+mn-ea"/>
            </a:endParaRPr>
          </a:p>
          <a:p>
            <a:pPr>
              <a:lnSpc>
                <a:spcPct val="160000"/>
              </a:lnSpc>
            </a:pPr>
            <a:r>
              <a:rPr lang="en-US" sz="1600" b="1" dirty="0">
                <a:solidFill>
                  <a:srgbClr val="1A4B8C"/>
                </a:solidFill>
                <a:latin typeface="+mn-ea"/>
                <a:cs typeface="Quattrocento Sans" pitchFamily="34" charset="-120"/>
              </a:rPr>
              <a:t>金标准：</a:t>
            </a:r>
            <a:r>
              <a:rPr lang="en-US" sz="1600" dirty="0">
                <a:solidFill>
                  <a:srgbClr val="1A1D21"/>
                </a:solidFill>
                <a:latin typeface="+mn-ea"/>
                <a:cs typeface="Quattrocento Sans" pitchFamily="34" charset="-120"/>
              </a:rPr>
              <a:t>2名临床专家独立打分</a:t>
            </a:r>
            <a:endParaRPr lang="en-US" sz="1600" dirty="0">
              <a:latin typeface="+mn-ea"/>
            </a:endParaRPr>
          </a:p>
          <a:p>
            <a:pPr>
              <a:lnSpc>
                <a:spcPct val="160000"/>
              </a:lnSpc>
            </a:pPr>
            <a:r>
              <a:rPr lang="en-US" sz="1600" b="1" dirty="0">
                <a:solidFill>
                  <a:srgbClr val="1A4B8C"/>
                </a:solidFill>
                <a:latin typeface="+mn-ea"/>
                <a:cs typeface="Quattrocento Sans" pitchFamily="34" charset="-120"/>
              </a:rPr>
              <a:t>标定样本：</a:t>
            </a:r>
            <a:r>
              <a:rPr lang="en-US" sz="1600" dirty="0">
                <a:solidFill>
                  <a:srgbClr val="1A1D21"/>
                </a:solidFill>
                <a:latin typeface="+mn-ea"/>
                <a:cs typeface="Quattrocento Sans" pitchFamily="34" charset="-120"/>
              </a:rPr>
              <a:t>147条（分层抽样）</a:t>
            </a:r>
            <a:endParaRPr lang="en-US" sz="1600" dirty="0">
              <a:latin typeface="+mn-ea"/>
            </a:endParaRPr>
          </a:p>
          <a:p>
            <a:pPr>
              <a:lnSpc>
                <a:spcPct val="160000"/>
              </a:lnSpc>
            </a:pPr>
            <a:r>
              <a:rPr lang="en-US" sz="1600" b="1" dirty="0" err="1">
                <a:solidFill>
                  <a:srgbClr val="1A4B8C"/>
                </a:solidFill>
                <a:latin typeface="+mn-ea"/>
                <a:cs typeface="Quattrocento Sans" pitchFamily="34" charset="-120"/>
              </a:rPr>
              <a:t>统计指标：</a:t>
            </a:r>
            <a:r>
              <a:rPr lang="en-US" sz="1600" dirty="0" err="1">
                <a:solidFill>
                  <a:srgbClr val="1A1D21"/>
                </a:solidFill>
                <a:latin typeface="+mn-ea"/>
                <a:cs typeface="Quattrocento Sans" pitchFamily="34" charset="-120"/>
              </a:rPr>
              <a:t>二次加权Kappa系数</a:t>
            </a:r>
            <a:endParaRPr lang="en-US" sz="1600" dirty="0">
              <a:solidFill>
                <a:srgbClr val="1A1D21"/>
              </a:solidFill>
              <a:latin typeface="+mn-ea"/>
              <a:cs typeface="Quattrocento Sans" pitchFamily="34" charset="-120"/>
            </a:endParaRPr>
          </a:p>
          <a:p>
            <a:pPr>
              <a:lnSpc>
                <a:spcPct val="160000"/>
              </a:lnSpc>
            </a:pPr>
            <a:endParaRPr lang="en-US" sz="1600" dirty="0">
              <a:latin typeface="+mn-ea"/>
            </a:endParaRPr>
          </a:p>
          <a:p>
            <a:pPr>
              <a:lnSpc>
                <a:spcPct val="160000"/>
              </a:lnSpc>
              <a:spcBef>
                <a:spcPts val="600"/>
              </a:spcBef>
            </a:pPr>
            <a:r>
              <a:rPr lang="en-US" sz="1600" b="1" dirty="0">
                <a:solidFill>
                  <a:srgbClr val="C45C26"/>
                </a:solidFill>
                <a:latin typeface="+mn-ea"/>
                <a:cs typeface="Quattrocento Sans" pitchFamily="34" charset="-120"/>
              </a:rPr>
              <a:t>遴选结果：</a:t>
            </a:r>
            <a:endParaRPr lang="en-US" sz="1600" dirty="0">
              <a:latin typeface="+mn-ea"/>
            </a:endParaRPr>
          </a:p>
          <a:p>
            <a:pPr>
              <a:lnSpc>
                <a:spcPts val="2800"/>
              </a:lnSpc>
            </a:pPr>
            <a:r>
              <a:rPr lang="en-US" sz="1600" dirty="0">
                <a:solidFill>
                  <a:srgbClr val="1A1D21"/>
                </a:solidFill>
                <a:latin typeface="+mn-ea"/>
                <a:cs typeface="Quattrocento Sans" pitchFamily="34" charset="-120"/>
              </a:rPr>
              <a:t>DeepSeek-V3.2与</a:t>
            </a:r>
            <a:r>
              <a:rPr lang="zh-CN" altLang="en-US" sz="1600" dirty="0">
                <a:solidFill>
                  <a:srgbClr val="1A1D21"/>
                </a:solidFill>
                <a:latin typeface="+mn-ea"/>
                <a:cs typeface="Quattrocento Sans" pitchFamily="34" charset="-120"/>
              </a:rPr>
              <a:t>分别与两位</a:t>
            </a:r>
            <a:r>
              <a:rPr lang="en-US" sz="1600" dirty="0" err="1">
                <a:solidFill>
                  <a:srgbClr val="1A1D21"/>
                </a:solidFill>
                <a:latin typeface="+mn-ea"/>
                <a:cs typeface="Quattrocento Sans" pitchFamily="34" charset="-120"/>
              </a:rPr>
              <a:t>专家Kappa达</a:t>
            </a:r>
            <a:r>
              <a:rPr lang="en-US" sz="1600" dirty="0">
                <a:solidFill>
                  <a:srgbClr val="1A1D21"/>
                </a:solidFill>
                <a:latin typeface="+mn-ea"/>
                <a:cs typeface="Quattrocento Sans" pitchFamily="34" charset="-120"/>
              </a:rPr>
              <a:t> </a:t>
            </a:r>
            <a:r>
              <a:rPr lang="en-US" sz="1600" b="1" dirty="0">
                <a:solidFill>
                  <a:srgbClr val="1A1D21"/>
                </a:solidFill>
                <a:latin typeface="+mn-ea"/>
                <a:cs typeface="Quattrocento Sans" pitchFamily="34" charset="-120"/>
              </a:rPr>
              <a:t>0.756</a:t>
            </a:r>
            <a:r>
              <a:rPr lang="zh-CN" altLang="en-US" sz="1600" b="1" dirty="0">
                <a:solidFill>
                  <a:srgbClr val="1A1D21"/>
                </a:solidFill>
                <a:latin typeface="+mn-ea"/>
                <a:cs typeface="Quattrocento Sans" pitchFamily="34" charset="-120"/>
              </a:rPr>
              <a:t>和</a:t>
            </a:r>
            <a:r>
              <a:rPr lang="en-US" sz="1600" b="1" dirty="0">
                <a:solidFill>
                  <a:srgbClr val="1A1D21"/>
                </a:solidFill>
                <a:latin typeface="+mn-ea"/>
                <a:cs typeface="Quattrocento Sans" pitchFamily="34" charset="-120"/>
              </a:rPr>
              <a:t>0.909</a:t>
            </a:r>
            <a:r>
              <a:rPr lang="en-US" sz="1600" dirty="0">
                <a:solidFill>
                  <a:srgbClr val="1A1D21"/>
                </a:solidFill>
                <a:latin typeface="+mn-ea"/>
                <a:cs typeface="Quattrocento Sans" pitchFamily="34" charset="-120"/>
              </a:rPr>
              <a:t>，在所有维度上均达高度一致（&gt;0.61），</a:t>
            </a:r>
            <a:r>
              <a:rPr lang="en-US" sz="1600" dirty="0" err="1">
                <a:solidFill>
                  <a:srgbClr val="1A1D21"/>
                </a:solidFill>
                <a:latin typeface="+mn-ea"/>
                <a:cs typeface="Quattrocento Sans" pitchFamily="34" charset="-120"/>
              </a:rPr>
              <a:t>被确立为自动化</a:t>
            </a:r>
            <a:r>
              <a:rPr lang="zh-CN" altLang="en-US" sz="1600" dirty="0">
                <a:solidFill>
                  <a:srgbClr val="1A1D21"/>
                </a:solidFill>
                <a:latin typeface="+mn-ea"/>
                <a:cs typeface="Quattrocento Sans" pitchFamily="34" charset="-120"/>
              </a:rPr>
              <a:t>评估</a:t>
            </a:r>
            <a:r>
              <a:rPr lang="en-US" sz="1600" dirty="0" err="1">
                <a:solidFill>
                  <a:srgbClr val="1A1D21"/>
                </a:solidFill>
                <a:latin typeface="+mn-ea"/>
                <a:cs typeface="Quattrocento Sans" pitchFamily="34" charset="-120"/>
              </a:rPr>
              <a:t>模型</a:t>
            </a:r>
            <a:endParaRPr lang="en-US" sz="1600" dirty="0">
              <a:latin typeface="+mn-ea"/>
            </a:endParaRPr>
          </a:p>
        </p:txBody>
      </p:sp>
      <p:sp>
        <p:nvSpPr>
          <p:cNvPr id="14" name="Text 10">
            <a:extLst>
              <a:ext uri="{FF2B5EF4-FFF2-40B4-BE49-F238E27FC236}">
                <a16:creationId xmlns:a16="http://schemas.microsoft.com/office/drawing/2014/main" id="{677A2723-7838-4A18-FA72-33895F126D0D}"/>
              </a:ext>
            </a:extLst>
          </p:cNvPr>
          <p:cNvSpPr/>
          <p:nvPr/>
        </p:nvSpPr>
        <p:spPr>
          <a:xfrm>
            <a:off x="6239221" y="1561236"/>
            <a:ext cx="3356472" cy="330200"/>
          </a:xfrm>
          <a:prstGeom prst="rect">
            <a:avLst/>
          </a:prstGeom>
          <a:noFill/>
          <a:ln/>
        </p:spPr>
        <p:txBody>
          <a:bodyPr wrap="none" lIns="0" tIns="0" rIns="0" bIns="0" rtlCol="0" anchor="ctr"/>
          <a:lstStyle/>
          <a:p>
            <a:pPr>
              <a:lnSpc>
                <a:spcPct val="100000"/>
              </a:lnSpc>
            </a:pPr>
            <a:r>
              <a:rPr lang="en-US" sz="1800" b="1" dirty="0">
                <a:latin typeface="+mn-ea"/>
                <a:cs typeface="Quattrocento Sans" pitchFamily="34" charset="-120"/>
              </a:rPr>
              <a:t>最终数据集构建结果</a:t>
            </a:r>
            <a:endParaRPr lang="en-US" sz="1600" dirty="0">
              <a:latin typeface="+mn-ea"/>
            </a:endParaRPr>
          </a:p>
        </p:txBody>
      </p:sp>
      <p:sp>
        <p:nvSpPr>
          <p:cNvPr id="15" name="Text 11">
            <a:extLst>
              <a:ext uri="{FF2B5EF4-FFF2-40B4-BE49-F238E27FC236}">
                <a16:creationId xmlns:a16="http://schemas.microsoft.com/office/drawing/2014/main" id="{155AE785-7D7A-4CF6-3EB6-C3FFCF7E3DB2}"/>
              </a:ext>
            </a:extLst>
          </p:cNvPr>
          <p:cNvSpPr/>
          <p:nvPr/>
        </p:nvSpPr>
        <p:spPr>
          <a:xfrm>
            <a:off x="6239221" y="2139738"/>
            <a:ext cx="5080000" cy="3728407"/>
          </a:xfrm>
          <a:prstGeom prst="rect">
            <a:avLst/>
          </a:prstGeom>
          <a:noFill/>
          <a:ln/>
        </p:spPr>
        <p:txBody>
          <a:bodyPr wrap="square" lIns="0" tIns="0" rIns="0" bIns="0" rtlCol="0" anchor="t"/>
          <a:lstStyle/>
          <a:p>
            <a:pPr marL="285750" indent="-285750" latinLnBrk="1">
              <a:lnSpc>
                <a:spcPts val="3400"/>
              </a:lnSpc>
              <a:spcAft>
                <a:spcPts val="600"/>
              </a:spcAft>
              <a:buFont typeface="Arial" panose="020B0604020202020204" pitchFamily="34" charset="0"/>
              <a:buChar char="•"/>
            </a:pPr>
            <a:r>
              <a:rPr lang="en-US" sz="1600" dirty="0">
                <a:latin typeface="+mn-ea"/>
                <a:cs typeface="Quattrocento Sans" pitchFamily="34" charset="-120"/>
              </a:rPr>
              <a:t>共2767条高质量问答对，覆盖13个主题类别</a:t>
            </a:r>
            <a:endParaRPr lang="en-US" sz="1600" dirty="0">
              <a:latin typeface="+mn-ea"/>
            </a:endParaRPr>
          </a:p>
          <a:p>
            <a:pPr marL="285750" indent="-285750" latinLnBrk="1">
              <a:lnSpc>
                <a:spcPts val="3400"/>
              </a:lnSpc>
              <a:spcAft>
                <a:spcPts val="600"/>
              </a:spcAft>
              <a:buFont typeface="Arial" panose="020B0604020202020204" pitchFamily="34" charset="0"/>
              <a:buChar char="•"/>
            </a:pPr>
            <a:r>
              <a:rPr lang="en-US" sz="1600" dirty="0">
                <a:latin typeface="+mn-ea"/>
                <a:cs typeface="Quattrocento Sans" pitchFamily="34" charset="-120"/>
              </a:rPr>
              <a:t>六维度综合均分2.96，全部主题均分介于2.93-2.99之间，均显著高于合格阈值2分</a:t>
            </a:r>
            <a:endParaRPr lang="en-US" sz="1600" dirty="0">
              <a:latin typeface="+mn-ea"/>
            </a:endParaRPr>
          </a:p>
          <a:p>
            <a:pPr marL="285750" indent="-285750" latinLnBrk="1">
              <a:lnSpc>
                <a:spcPts val="3400"/>
              </a:lnSpc>
              <a:spcAft>
                <a:spcPts val="600"/>
              </a:spcAft>
              <a:buFont typeface="Arial" panose="020B0604020202020204" pitchFamily="34" charset="0"/>
              <a:buChar char="•"/>
            </a:pPr>
            <a:r>
              <a:rPr lang="en-US" sz="1600" dirty="0" err="1">
                <a:latin typeface="+mn-ea"/>
                <a:cs typeface="Quattrocento Sans" pitchFamily="34" charset="-120"/>
              </a:rPr>
              <a:t>质量</a:t>
            </a:r>
            <a:r>
              <a:rPr lang="zh-CN" altLang="en-US" sz="1600" dirty="0">
                <a:latin typeface="+mn-ea"/>
                <a:cs typeface="Quattrocento Sans" pitchFamily="34" charset="-120"/>
              </a:rPr>
              <a:t>把控</a:t>
            </a:r>
            <a:r>
              <a:rPr lang="en-US" sz="1600" dirty="0">
                <a:latin typeface="+mn-ea"/>
                <a:cs typeface="Quattrocento Sans" pitchFamily="34" charset="-120"/>
              </a:rPr>
              <a:t>：</a:t>
            </a:r>
            <a:r>
              <a:rPr lang="en-US" sz="1600" dirty="0" err="1">
                <a:latin typeface="+mn-ea"/>
                <a:cs typeface="Quattrocento Sans" pitchFamily="34" charset="-120"/>
              </a:rPr>
              <a:t>LLM规范化</a:t>
            </a:r>
            <a:r>
              <a:rPr lang="en-US" sz="1600" dirty="0">
                <a:latin typeface="+mn-ea"/>
                <a:cs typeface="Quattrocento Sans" pitchFamily="34" charset="-120"/>
              </a:rPr>
              <a:t> → 人工修订 → 专家审核 → DeepSeek-V3.2自动化6维度筛查（各维度≥2分）</a:t>
            </a:r>
            <a:endParaRPr lang="en-US" sz="1600" dirty="0">
              <a:latin typeface="+mn-ea"/>
            </a:endParaRPr>
          </a:p>
          <a:p>
            <a:pPr marL="285750" indent="-285750" latinLnBrk="1">
              <a:lnSpc>
                <a:spcPts val="3400"/>
              </a:lnSpc>
              <a:spcAft>
                <a:spcPts val="600"/>
              </a:spcAft>
              <a:buFont typeface="Arial" panose="020B0604020202020204" pitchFamily="34" charset="0"/>
              <a:buChar char="•"/>
            </a:pPr>
            <a:r>
              <a:rPr lang="en-US" sz="1600" dirty="0" err="1">
                <a:latin typeface="+mn-ea"/>
                <a:cs typeface="Quattrocento Sans" pitchFamily="34" charset="-120"/>
              </a:rPr>
              <a:t>国内首个源于社交媒体真实互动场景、面向青少年生殖健康领域的标准化问答数据集</a:t>
            </a:r>
            <a:endParaRPr lang="en-US" sz="1600" dirty="0">
              <a:latin typeface="+mn-ea"/>
            </a:endParaRPr>
          </a:p>
        </p:txBody>
      </p:sp>
    </p:spTree>
    <p:extLst>
      <p:ext uri="{BB962C8B-B14F-4D97-AF65-F5344CB8AC3E}">
        <p14:creationId xmlns:p14="http://schemas.microsoft.com/office/powerpoint/2010/main" val="3181562550"/>
      </p:ext>
    </p:extLst>
  </p:cSld>
  <p:clrMapOvr>
    <a:masterClrMapping/>
  </p:clrMapOvr>
  <p:transition>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BA9F8-0251-69AB-2927-9259A2CEF0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584669-E61F-63BB-31A6-122251FB2A09}"/>
              </a:ext>
            </a:extLst>
          </p:cNvPr>
          <p:cNvSpPr>
            <a:spLocks noGrp="1"/>
          </p:cNvSpPr>
          <p:nvPr>
            <p:ph type="title"/>
          </p:nvPr>
        </p:nvSpPr>
        <p:spPr/>
        <p:txBody>
          <a:bodyPr/>
          <a:lstStyle/>
          <a:p>
            <a:r>
              <a:rPr lang="zh-CN" altLang="en-US" dirty="0"/>
              <a:t>数据集质量评估方法与结果</a:t>
            </a:r>
          </a:p>
        </p:txBody>
      </p:sp>
      <p:sp>
        <p:nvSpPr>
          <p:cNvPr id="3" name="日期占位符 2">
            <a:extLst>
              <a:ext uri="{FF2B5EF4-FFF2-40B4-BE49-F238E27FC236}">
                <a16:creationId xmlns:a16="http://schemas.microsoft.com/office/drawing/2014/main" id="{1AB1648D-14F8-0119-0C9D-B50CCC10351D}"/>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A71EB0B3-AF6D-0E40-B67C-87B44002E103}"/>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243C7B90-48BD-A6D2-9234-F8B498C2655B}"/>
              </a:ext>
            </a:extLst>
          </p:cNvPr>
          <p:cNvSpPr>
            <a:spLocks noGrp="1"/>
          </p:cNvSpPr>
          <p:nvPr>
            <p:ph type="sldNum" sz="quarter" idx="12"/>
          </p:nvPr>
        </p:nvSpPr>
        <p:spPr/>
        <p:txBody>
          <a:bodyPr/>
          <a:lstStyle/>
          <a:p>
            <a:fld id="{054335CC-B077-4EFF-BFF9-2EFEE3F838E2}" type="slidenum">
              <a:rPr lang="zh-CN" altLang="en-US" smtClean="0"/>
              <a:pPr/>
              <a:t>15</a:t>
            </a:fld>
            <a:endParaRPr lang="zh-CN" altLang="en-US" dirty="0"/>
          </a:p>
        </p:txBody>
      </p:sp>
      <p:sp>
        <p:nvSpPr>
          <p:cNvPr id="24" name="文本占位符 16">
            <a:extLst>
              <a:ext uri="{FF2B5EF4-FFF2-40B4-BE49-F238E27FC236}">
                <a16:creationId xmlns:a16="http://schemas.microsoft.com/office/drawing/2014/main" id="{C37AD167-94C0-E6C6-59A4-7CDAFAF9301C}"/>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10" name="矩形 9">
            <a:extLst>
              <a:ext uri="{FF2B5EF4-FFF2-40B4-BE49-F238E27FC236}">
                <a16:creationId xmlns:a16="http://schemas.microsoft.com/office/drawing/2014/main" id="{F27A5414-191C-7C1C-64DF-0B8A2FF057C3}"/>
              </a:ext>
            </a:extLst>
          </p:cNvPr>
          <p:cNvSpPr/>
          <p:nvPr/>
        </p:nvSpPr>
        <p:spPr>
          <a:xfrm>
            <a:off x="1952625" y="1066781"/>
            <a:ext cx="2447925" cy="273133"/>
          </a:xfrm>
          <a:prstGeom prst="rect">
            <a:avLst/>
          </a:prstGeom>
          <a:solidFill>
            <a:srgbClr val="F5F7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48D76644-6864-E3CC-3CF9-B050632A6B6F}"/>
              </a:ext>
            </a:extLst>
          </p:cNvPr>
          <p:cNvPicPr>
            <a:picLocks noChangeAspect="1"/>
          </p:cNvPicPr>
          <p:nvPr/>
        </p:nvPicPr>
        <p:blipFill>
          <a:blip r:embed="rId3"/>
          <a:stretch>
            <a:fillRect/>
          </a:stretch>
        </p:blipFill>
        <p:spPr>
          <a:xfrm>
            <a:off x="151411" y="1526876"/>
            <a:ext cx="5620719" cy="4237241"/>
          </a:xfrm>
          <a:prstGeom prst="rect">
            <a:avLst/>
          </a:prstGeom>
        </p:spPr>
      </p:pic>
      <p:pic>
        <p:nvPicPr>
          <p:cNvPr id="12" name="图片 11">
            <a:extLst>
              <a:ext uri="{FF2B5EF4-FFF2-40B4-BE49-F238E27FC236}">
                <a16:creationId xmlns:a16="http://schemas.microsoft.com/office/drawing/2014/main" id="{98208CC7-0022-CA8E-B022-D90DF49E9AD1}"/>
              </a:ext>
            </a:extLst>
          </p:cNvPr>
          <p:cNvPicPr>
            <a:picLocks noChangeAspect="1"/>
          </p:cNvPicPr>
          <p:nvPr/>
        </p:nvPicPr>
        <p:blipFill>
          <a:blip r:embed="rId4"/>
          <a:stretch>
            <a:fillRect/>
          </a:stretch>
        </p:blipFill>
        <p:spPr>
          <a:xfrm>
            <a:off x="5858511" y="2498648"/>
            <a:ext cx="6235243" cy="2187951"/>
          </a:xfrm>
          <a:prstGeom prst="rect">
            <a:avLst/>
          </a:prstGeom>
        </p:spPr>
      </p:pic>
    </p:spTree>
    <p:extLst>
      <p:ext uri="{BB962C8B-B14F-4D97-AF65-F5344CB8AC3E}">
        <p14:creationId xmlns:p14="http://schemas.microsoft.com/office/powerpoint/2010/main" val="3791936408"/>
      </p:ext>
    </p:extLst>
  </p:cSld>
  <p:clrMapOvr>
    <a:masterClrMapping/>
  </p:clrMapOvr>
  <p:transition>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C0F6-7CB6-0789-ED11-3ED3A7F91E6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1676AC-72FA-6D49-500A-951B67A224FA}"/>
              </a:ext>
            </a:extLst>
          </p:cNvPr>
          <p:cNvSpPr>
            <a:spLocks noGrp="1"/>
          </p:cNvSpPr>
          <p:nvPr>
            <p:ph type="title"/>
          </p:nvPr>
        </p:nvSpPr>
        <p:spPr/>
        <p:txBody>
          <a:bodyPr/>
          <a:lstStyle/>
          <a:p>
            <a:r>
              <a:rPr lang="zh-CN" altLang="en-US" dirty="0"/>
              <a:t>模型微调方法</a:t>
            </a:r>
          </a:p>
        </p:txBody>
      </p:sp>
      <p:sp>
        <p:nvSpPr>
          <p:cNvPr id="3" name="日期占位符 2">
            <a:extLst>
              <a:ext uri="{FF2B5EF4-FFF2-40B4-BE49-F238E27FC236}">
                <a16:creationId xmlns:a16="http://schemas.microsoft.com/office/drawing/2014/main" id="{BFFCEB54-7B40-A43D-879D-ACD40F3CB458}"/>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8059EC28-401C-EC4D-5DB8-728577D9F5AB}"/>
              </a:ext>
            </a:extLst>
          </p:cNvPr>
          <p:cNvSpPr>
            <a:spLocks noGrp="1"/>
          </p:cNvSpPr>
          <p:nvPr>
            <p:ph type="ftr" sz="quarter" idx="11"/>
          </p:nvPr>
        </p:nvSpPr>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A80FB9CF-BD33-E309-DA2D-861FC67B9825}"/>
              </a:ext>
            </a:extLst>
          </p:cNvPr>
          <p:cNvSpPr>
            <a:spLocks noGrp="1"/>
          </p:cNvSpPr>
          <p:nvPr>
            <p:ph type="sldNum" sz="quarter" idx="12"/>
          </p:nvPr>
        </p:nvSpPr>
        <p:spPr/>
        <p:txBody>
          <a:bodyPr/>
          <a:lstStyle/>
          <a:p>
            <a:fld id="{054335CC-B077-4EFF-BFF9-2EFEE3F838E2}" type="slidenum">
              <a:rPr lang="zh-CN" altLang="en-US" smtClean="0"/>
              <a:pPr/>
              <a:t>16</a:t>
            </a:fld>
            <a:endParaRPr lang="zh-CN" altLang="en-US" dirty="0"/>
          </a:p>
        </p:txBody>
      </p:sp>
      <p:sp>
        <p:nvSpPr>
          <p:cNvPr id="24" name="文本占位符 16">
            <a:extLst>
              <a:ext uri="{FF2B5EF4-FFF2-40B4-BE49-F238E27FC236}">
                <a16:creationId xmlns:a16="http://schemas.microsoft.com/office/drawing/2014/main" id="{41CBA027-7C12-A1C2-B486-64B2F15A267B}"/>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6" name="Text 5">
            <a:extLst>
              <a:ext uri="{FF2B5EF4-FFF2-40B4-BE49-F238E27FC236}">
                <a16:creationId xmlns:a16="http://schemas.microsoft.com/office/drawing/2014/main" id="{714F0A39-C282-0E1B-4DEE-50673AD550D6}"/>
              </a:ext>
            </a:extLst>
          </p:cNvPr>
          <p:cNvSpPr/>
          <p:nvPr/>
        </p:nvSpPr>
        <p:spPr>
          <a:xfrm>
            <a:off x="1929787" y="1233617"/>
            <a:ext cx="1970184" cy="330200"/>
          </a:xfrm>
          <a:prstGeom prst="rect">
            <a:avLst/>
          </a:prstGeom>
          <a:noFill/>
          <a:ln/>
        </p:spPr>
        <p:txBody>
          <a:bodyPr wrap="none" lIns="0" tIns="0" rIns="0" bIns="0" rtlCol="0" anchor="ctr"/>
          <a:lstStyle/>
          <a:p>
            <a:pPr>
              <a:lnSpc>
                <a:spcPct val="100000"/>
              </a:lnSpc>
            </a:pPr>
            <a:r>
              <a:rPr lang="en-US" sz="1800" b="1" dirty="0" err="1">
                <a:solidFill>
                  <a:srgbClr val="1A4B8C"/>
                </a:solidFill>
                <a:latin typeface="+mn-ea"/>
                <a:cs typeface="Quattrocento Sans" pitchFamily="34" charset="-120"/>
              </a:rPr>
              <a:t>实验基座模型</a:t>
            </a:r>
            <a:endParaRPr lang="en-US" sz="1600" dirty="0">
              <a:latin typeface="+mn-ea"/>
            </a:endParaRPr>
          </a:p>
        </p:txBody>
      </p:sp>
      <p:graphicFrame>
        <p:nvGraphicFramePr>
          <p:cNvPr id="8" name="Table 0">
            <a:extLst>
              <a:ext uri="{FF2B5EF4-FFF2-40B4-BE49-F238E27FC236}">
                <a16:creationId xmlns:a16="http://schemas.microsoft.com/office/drawing/2014/main" id="{ED5EC2C1-8C68-AF38-28F3-441ED5F021AC}"/>
              </a:ext>
            </a:extLst>
          </p:cNvPr>
          <p:cNvGraphicFramePr>
            <a:graphicFrameLocks noGrp="1"/>
          </p:cNvGraphicFramePr>
          <p:nvPr>
            <p:extLst>
              <p:ext uri="{D42A27DB-BD31-4B8C-83A1-F6EECF244321}">
                <p14:modId xmlns:p14="http://schemas.microsoft.com/office/powerpoint/2010/main" val="1737340661"/>
              </p:ext>
            </p:extLst>
          </p:nvPr>
        </p:nvGraphicFramePr>
        <p:xfrm>
          <a:off x="1929788" y="1649862"/>
          <a:ext cx="8840119" cy="4310533"/>
        </p:xfrm>
        <a:graphic>
          <a:graphicData uri="http://schemas.openxmlformats.org/drawingml/2006/table">
            <a:tbl>
              <a:tblPr/>
              <a:tblGrid>
                <a:gridCol w="2249672">
                  <a:extLst>
                    <a:ext uri="{9D8B030D-6E8A-4147-A177-3AD203B41FA5}">
                      <a16:colId xmlns:a16="http://schemas.microsoft.com/office/drawing/2014/main" val="1997930552"/>
                    </a:ext>
                  </a:extLst>
                </a:gridCol>
                <a:gridCol w="2249672">
                  <a:extLst>
                    <a:ext uri="{9D8B030D-6E8A-4147-A177-3AD203B41FA5}">
                      <a16:colId xmlns:a16="http://schemas.microsoft.com/office/drawing/2014/main" val="20000"/>
                    </a:ext>
                  </a:extLst>
                </a:gridCol>
                <a:gridCol w="4340775">
                  <a:extLst>
                    <a:ext uri="{9D8B030D-6E8A-4147-A177-3AD203B41FA5}">
                      <a16:colId xmlns:a16="http://schemas.microsoft.com/office/drawing/2014/main" val="20001"/>
                    </a:ext>
                  </a:extLst>
                </a:gridCol>
              </a:tblGrid>
              <a:tr h="476834">
                <a:tc>
                  <a:txBody>
                    <a:bodyPr/>
                    <a:lstStyle/>
                    <a:p>
                      <a:pPr marL="0" algn="l" defTabSz="914400" rtl="0" eaLnBrk="1" latinLnBrk="0" hangingPunct="1">
                        <a:lnSpc>
                          <a:spcPct val="150000"/>
                        </a:lnSpc>
                      </a:pPr>
                      <a:r>
                        <a:rPr lang="zh-CN" altLang="en-US" sz="1600" b="1" u="none" kern="1200" dirty="0">
                          <a:solidFill>
                            <a:srgbClr val="FFFFFF"/>
                          </a:solidFill>
                          <a:latin typeface="+mn-ea"/>
                          <a:ea typeface="+mn-ea"/>
                          <a:cs typeface="QuattrocentoSans, MiSans" charset="0"/>
                        </a:rPr>
                        <a:t>模型系列</a:t>
                      </a:r>
                      <a:endParaRPr lang="en-US" sz="1600" b="1" u="none" kern="1200" dirty="0">
                        <a:solidFill>
                          <a:srgbClr val="FFFFFF"/>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lnSpc>
                          <a:spcPct val="150000"/>
                        </a:lnSpc>
                      </a:pPr>
                      <a:r>
                        <a:rPr lang="en-US" sz="1600" b="1" u="none" dirty="0" err="1">
                          <a:solidFill>
                            <a:srgbClr val="FFFFFF"/>
                          </a:solidFill>
                          <a:latin typeface="+mn-ea"/>
                          <a:ea typeface="+mn-ea"/>
                          <a:cs typeface="QuattrocentoSans, MiSans" pitchFamily="34" charset="-120"/>
                        </a:rPr>
                        <a:t>模型</a:t>
                      </a:r>
                      <a:r>
                        <a:rPr lang="zh-CN" altLang="en-US" sz="1600" b="1" u="none" dirty="0">
                          <a:solidFill>
                            <a:srgbClr val="FFFFFF"/>
                          </a:solidFill>
                          <a:latin typeface="+mn-ea"/>
                          <a:ea typeface="+mn-ea"/>
                          <a:cs typeface="QuattrocentoSans, MiSans" pitchFamily="34" charset="-120"/>
                        </a:rPr>
                        <a:t>名称</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lnSpc>
                          <a:spcPct val="150000"/>
                        </a:lnSpc>
                      </a:pPr>
                      <a:r>
                        <a:rPr lang="zh-CN" altLang="en-US" sz="1600" b="1" u="none" dirty="0">
                          <a:solidFill>
                            <a:srgbClr val="FFFFFF"/>
                          </a:solidFill>
                          <a:latin typeface="+mn-ea"/>
                          <a:ea typeface="+mn-ea"/>
                          <a:cs typeface="QuattrocentoSans, MiSans" pitchFamily="34" charset="-120"/>
                        </a:rPr>
                        <a:t>架构特点</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1052167">
                <a:tc>
                  <a:txBody>
                    <a:bodyPr/>
                    <a:lstStyle/>
                    <a:p>
                      <a:pPr marL="0" marR="0" lvl="0" indent="0" algn="l" defTabSz="914400" rtl="0" eaLnBrk="1" fontAlgn="auto" latinLnBrk="0" hangingPunct="1">
                        <a:lnSpc>
                          <a:spcPts val="2600"/>
                        </a:lnSpc>
                        <a:spcBef>
                          <a:spcPts val="0"/>
                        </a:spcBef>
                        <a:spcAft>
                          <a:spcPts val="0"/>
                        </a:spcAft>
                        <a:buClrTx/>
                        <a:buSzTx/>
                        <a:buFontTx/>
                        <a:buNone/>
                        <a:tabLst/>
                        <a:defRPr/>
                      </a:pPr>
                      <a:r>
                        <a:rPr lang="en-US" altLang="zh-CN" sz="1600" dirty="0">
                          <a:latin typeface="+mn-ea"/>
                          <a:ea typeface="+mn-ea"/>
                          <a:cs typeface="QuattrocentoSans, MiSans" charset="0"/>
                        </a:rPr>
                        <a:t>Qwen2.5</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600"/>
                        </a:lnSpc>
                        <a:spcBef>
                          <a:spcPts val="0"/>
                        </a:spcBef>
                        <a:spcAft>
                          <a:spcPts val="0"/>
                        </a:spcAft>
                        <a:buClrTx/>
                        <a:buSzTx/>
                        <a:buFontTx/>
                        <a:buNone/>
                        <a:tabLst/>
                        <a:defRPr/>
                      </a:pPr>
                      <a:r>
                        <a:rPr lang="en-US" altLang="zh-CN" sz="1600" u="none" dirty="0">
                          <a:solidFill>
                            <a:srgbClr val="1A1D21"/>
                          </a:solidFill>
                          <a:latin typeface="+mn-ea"/>
                          <a:ea typeface="+mn-ea"/>
                          <a:cs typeface="QuattrocentoSans, MiSans" pitchFamily="34" charset="-120"/>
                        </a:rPr>
                        <a:t>Qwen2.5-1.5B-Instruct</a:t>
                      </a:r>
                      <a:endParaRPr lang="en-US" altLang="zh-CN"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lnSpc>
                          <a:spcPts val="2600"/>
                        </a:lnSpc>
                      </a:pPr>
                      <a:r>
                        <a:rPr lang="en-US" sz="1600" dirty="0">
                          <a:latin typeface="+mn-ea"/>
                          <a:ea typeface="+mn-ea"/>
                          <a:cs typeface="QuattrocentoSans, MiSans" charset="0"/>
                        </a:rPr>
                        <a:t>Dense </a:t>
                      </a:r>
                      <a:r>
                        <a:rPr lang="en-US" sz="1600" dirty="0" err="1">
                          <a:latin typeface="+mn-ea"/>
                          <a:ea typeface="+mn-ea"/>
                          <a:cs typeface="QuattrocentoSans, MiSans" charset="0"/>
                        </a:rPr>
                        <a:t>Transformer，RoPE</a:t>
                      </a:r>
                      <a:r>
                        <a:rPr lang="zh-CN" altLang="en-US" sz="1600" dirty="0">
                          <a:latin typeface="+mn-ea"/>
                          <a:ea typeface="+mn-ea"/>
                          <a:cs typeface="QuattrocentoSans, MiSans" charset="0"/>
                        </a:rPr>
                        <a:t>位置编码，</a:t>
                      </a:r>
                      <a:r>
                        <a:rPr lang="en-US" sz="1600" dirty="0" err="1">
                          <a:latin typeface="+mn-ea"/>
                          <a:ea typeface="+mn-ea"/>
                          <a:cs typeface="QuattrocentoSans, MiSans" charset="0"/>
                        </a:rPr>
                        <a:t>SwiGLU</a:t>
                      </a:r>
                      <a:r>
                        <a:rPr lang="zh-CN" altLang="en-US" sz="1600" dirty="0">
                          <a:latin typeface="+mn-ea"/>
                          <a:ea typeface="+mn-ea"/>
                          <a:cs typeface="QuattrocentoSans, MiSans" charset="0"/>
                        </a:rPr>
                        <a:t>激活</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6834">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Qwen2.5-3B-Instruct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lnSpc>
                          <a:spcPts val="2600"/>
                        </a:lnSpc>
                      </a:pPr>
                      <a:r>
                        <a:rPr lang="en-US" sz="1600" u="none" dirty="0" err="1">
                          <a:solidFill>
                            <a:srgbClr val="1A1D21"/>
                          </a:solidFill>
                          <a:latin typeface="+mn-ea"/>
                          <a:ea typeface="+mn-ea"/>
                          <a:cs typeface="QuattrocentoSans, MiSans" pitchFamily="34" charset="-120"/>
                        </a:rPr>
                        <a:t>同上</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675515">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Qwen2.5-7B-Instruct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lnSpc>
                          <a:spcPts val="2600"/>
                        </a:lnSpc>
                      </a:pPr>
                      <a:r>
                        <a:rPr lang="en-US" sz="1600" u="none" dirty="0">
                          <a:solidFill>
                            <a:srgbClr val="1A1D21"/>
                          </a:solidFill>
                          <a:latin typeface="+mn-ea"/>
                          <a:ea typeface="+mn-ea"/>
                          <a:cs typeface="QuattrocentoSans, MiSans" pitchFamily="34" charset="-120"/>
                        </a:rPr>
                        <a:t>同上 + </a:t>
                      </a:r>
                      <a:r>
                        <a:rPr lang="en-US" sz="1600" u="none" dirty="0" err="1">
                          <a:solidFill>
                            <a:srgbClr val="1A1D21"/>
                          </a:solidFill>
                          <a:latin typeface="+mn-ea"/>
                          <a:ea typeface="+mn-ea"/>
                          <a:cs typeface="QuattrocentoSans, MiSans" pitchFamily="34" charset="-120"/>
                        </a:rPr>
                        <a:t>分组查询注意力</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6834">
                <a:tc>
                  <a:txBody>
                    <a:bodyPr/>
                    <a:lstStyle/>
                    <a:p>
                      <a:pPr algn="l">
                        <a:lnSpc>
                          <a:spcPts val="2600"/>
                        </a:lnSpc>
                      </a:pPr>
                      <a:r>
                        <a:rPr lang="en-US" altLang="zh-CN" sz="1600" dirty="0">
                          <a:latin typeface="+mn-ea"/>
                          <a:ea typeface="+mn-ea"/>
                          <a:cs typeface="QuattrocentoSans, MiSans" charset="0"/>
                        </a:rPr>
                        <a:t>Qwen3</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2600"/>
                        </a:lnSpc>
                      </a:pPr>
                      <a:r>
                        <a:rPr lang="en-US" altLang="zh-CN" sz="1600" u="none" dirty="0">
                          <a:solidFill>
                            <a:srgbClr val="1A1D21"/>
                          </a:solidFill>
                          <a:latin typeface="+mn-ea"/>
                          <a:ea typeface="+mn-ea"/>
                          <a:cs typeface="QuattrocentoSans, MiSans" pitchFamily="34" charset="-120"/>
                        </a:rPr>
                        <a:t>Qwen3-1.7B-Instruct</a:t>
                      </a:r>
                      <a:endParaRPr lang="en-US" altLang="zh-CN"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lnSpc>
                          <a:spcPts val="2600"/>
                        </a:lnSpc>
                      </a:pPr>
                      <a:r>
                        <a:rPr lang="zh-CN" altLang="en-US" sz="1600" dirty="0">
                          <a:latin typeface="+mn-ea"/>
                          <a:ea typeface="+mn-ea"/>
                          <a:cs typeface="QuattrocentoSans, MiSans" charset="0"/>
                        </a:rPr>
                        <a:t>新一代架构，优化了长文本与推理能力</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675515">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Qwen3-4B-Instruct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lnSpc>
                          <a:spcPts val="2600"/>
                        </a:lnSpc>
                      </a:pPr>
                      <a:r>
                        <a:rPr lang="en-US" sz="1600" u="none" dirty="0">
                          <a:solidFill>
                            <a:srgbClr val="1A1D21"/>
                          </a:solidFill>
                          <a:latin typeface="+mn-ea"/>
                          <a:ea typeface="+mn-ea"/>
                          <a:cs typeface="QuattrocentoSans, MiSans" pitchFamily="34" charset="-120"/>
                        </a:rPr>
                        <a:t>同上 + 思考/非思考模式切换</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6834">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Qwen3-8B-Instruct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lnSpc>
                          <a:spcPts val="2600"/>
                        </a:lnSpc>
                      </a:pPr>
                      <a:r>
                        <a:rPr lang="en-US" sz="1600" u="none" dirty="0">
                          <a:solidFill>
                            <a:srgbClr val="1A1D21"/>
                          </a:solidFill>
                          <a:latin typeface="+mn-ea"/>
                          <a:ea typeface="+mn-ea"/>
                          <a:cs typeface="QuattrocentoSans, MiSans" pitchFamily="34" charset="-120"/>
                        </a:rPr>
                        <a:t>同上，平衡性能与推理效率</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8140000"/>
      </p:ext>
    </p:extLst>
  </p:cSld>
  <p:clrMapOvr>
    <a:masterClrMapping/>
  </p:clrMapOvr>
  <p:transition>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1D49F-C130-F25B-BAC1-40FF50BD27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912ACE-3029-5A4D-8B6C-8B32C9644377}"/>
              </a:ext>
            </a:extLst>
          </p:cNvPr>
          <p:cNvSpPr>
            <a:spLocks noGrp="1"/>
          </p:cNvSpPr>
          <p:nvPr>
            <p:ph type="title"/>
          </p:nvPr>
        </p:nvSpPr>
        <p:spPr/>
        <p:txBody>
          <a:bodyPr/>
          <a:lstStyle/>
          <a:p>
            <a:r>
              <a:rPr lang="zh-CN" altLang="en-US" dirty="0"/>
              <a:t>模型微调方法</a:t>
            </a:r>
          </a:p>
        </p:txBody>
      </p:sp>
      <p:sp>
        <p:nvSpPr>
          <p:cNvPr id="3" name="日期占位符 2">
            <a:extLst>
              <a:ext uri="{FF2B5EF4-FFF2-40B4-BE49-F238E27FC236}">
                <a16:creationId xmlns:a16="http://schemas.microsoft.com/office/drawing/2014/main" id="{E3228C2A-287E-9EAF-DE06-E3FD8CC2645F}"/>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F5CC8F20-7235-F101-D843-70F6C371A197}"/>
              </a:ext>
            </a:extLst>
          </p:cNvPr>
          <p:cNvSpPr>
            <a:spLocks noGrp="1"/>
          </p:cNvSpPr>
          <p:nvPr>
            <p:ph type="ftr" sz="quarter" idx="11"/>
          </p:nvPr>
        </p:nvSpPr>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1ECB2A2-98B1-B5F0-2A03-E26A1869E905}"/>
              </a:ext>
            </a:extLst>
          </p:cNvPr>
          <p:cNvSpPr>
            <a:spLocks noGrp="1"/>
          </p:cNvSpPr>
          <p:nvPr>
            <p:ph type="sldNum" sz="quarter" idx="12"/>
          </p:nvPr>
        </p:nvSpPr>
        <p:spPr/>
        <p:txBody>
          <a:bodyPr/>
          <a:lstStyle/>
          <a:p>
            <a:fld id="{054335CC-B077-4EFF-BFF9-2EFEE3F838E2}" type="slidenum">
              <a:rPr lang="zh-CN" altLang="en-US" smtClean="0"/>
              <a:pPr/>
              <a:t>17</a:t>
            </a:fld>
            <a:endParaRPr lang="zh-CN" altLang="en-US" dirty="0"/>
          </a:p>
        </p:txBody>
      </p:sp>
      <p:sp>
        <p:nvSpPr>
          <p:cNvPr id="24" name="文本占位符 16">
            <a:extLst>
              <a:ext uri="{FF2B5EF4-FFF2-40B4-BE49-F238E27FC236}">
                <a16:creationId xmlns:a16="http://schemas.microsoft.com/office/drawing/2014/main" id="{06717DAD-6218-552D-EC54-99D404FC8F12}"/>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7" name="Shape 6">
            <a:extLst>
              <a:ext uri="{FF2B5EF4-FFF2-40B4-BE49-F238E27FC236}">
                <a16:creationId xmlns:a16="http://schemas.microsoft.com/office/drawing/2014/main" id="{B41B15F2-8A99-D0C7-D012-B9D00E744541}"/>
              </a:ext>
            </a:extLst>
          </p:cNvPr>
          <p:cNvSpPr/>
          <p:nvPr/>
        </p:nvSpPr>
        <p:spPr>
          <a:xfrm>
            <a:off x="245634" y="1334298"/>
            <a:ext cx="5185682" cy="4787012"/>
          </a:xfrm>
          <a:prstGeom prst="rect">
            <a:avLst/>
          </a:prstGeom>
          <a:solidFill>
            <a:srgbClr val="FFFFFF"/>
          </a:solidFill>
          <a:ln>
            <a:solidFill>
              <a:schemeClr val="bg2">
                <a:lumMod val="50000"/>
              </a:schemeClr>
            </a:solidFill>
          </a:ln>
        </p:spPr>
        <p:txBody>
          <a:bodyPr/>
          <a:lstStyle/>
          <a:p>
            <a:endParaRPr lang="zh-CN" altLang="en-US"/>
          </a:p>
        </p:txBody>
      </p:sp>
      <p:sp>
        <p:nvSpPr>
          <p:cNvPr id="9" name="Text 7">
            <a:extLst>
              <a:ext uri="{FF2B5EF4-FFF2-40B4-BE49-F238E27FC236}">
                <a16:creationId xmlns:a16="http://schemas.microsoft.com/office/drawing/2014/main" id="{BE34FB4B-FB07-48FC-3F71-D6300EFB0CE3}"/>
              </a:ext>
            </a:extLst>
          </p:cNvPr>
          <p:cNvSpPr/>
          <p:nvPr/>
        </p:nvSpPr>
        <p:spPr>
          <a:xfrm>
            <a:off x="436134" y="1461298"/>
            <a:ext cx="4897589" cy="554989"/>
          </a:xfrm>
          <a:prstGeom prst="rect">
            <a:avLst/>
          </a:prstGeom>
          <a:noFill/>
          <a:ln/>
        </p:spPr>
        <p:txBody>
          <a:bodyPr wrap="none" lIns="0" tIns="0" rIns="0" bIns="0" rtlCol="0" anchor="ctr"/>
          <a:lstStyle/>
          <a:p>
            <a:pPr>
              <a:lnSpc>
                <a:spcPct val="100000"/>
              </a:lnSpc>
            </a:pPr>
            <a:r>
              <a:rPr lang="en-US" sz="1800" b="1" dirty="0" err="1">
                <a:solidFill>
                  <a:srgbClr val="1A4B8C"/>
                </a:solidFill>
                <a:latin typeface="+mn-ea"/>
                <a:cs typeface="Quattrocento Sans" pitchFamily="34" charset="-120"/>
              </a:rPr>
              <a:t>微调方法：LoRA</a:t>
            </a:r>
            <a:endParaRPr lang="en-US" sz="1600" dirty="0">
              <a:latin typeface="+mn-ea"/>
            </a:endParaRPr>
          </a:p>
        </p:txBody>
      </p:sp>
      <p:sp>
        <p:nvSpPr>
          <p:cNvPr id="10" name="Text 8">
            <a:extLst>
              <a:ext uri="{FF2B5EF4-FFF2-40B4-BE49-F238E27FC236}">
                <a16:creationId xmlns:a16="http://schemas.microsoft.com/office/drawing/2014/main" id="{453A5E8D-CA6E-AE7F-FC3B-858A3BEAFF44}"/>
              </a:ext>
            </a:extLst>
          </p:cNvPr>
          <p:cNvSpPr/>
          <p:nvPr/>
        </p:nvSpPr>
        <p:spPr>
          <a:xfrm>
            <a:off x="436134" y="2164262"/>
            <a:ext cx="4897589" cy="3415320"/>
          </a:xfrm>
          <a:prstGeom prst="rect">
            <a:avLst/>
          </a:prstGeom>
          <a:noFill/>
          <a:ln/>
        </p:spPr>
        <p:txBody>
          <a:bodyPr wrap="square" lIns="0" tIns="0" rIns="0" bIns="0" rtlCol="0" anchor="t"/>
          <a:lstStyle/>
          <a:p>
            <a:pPr algn="just">
              <a:lnSpc>
                <a:spcPct val="150000"/>
              </a:lnSpc>
              <a:spcAft>
                <a:spcPts val="1200"/>
              </a:spcAft>
            </a:pPr>
            <a:r>
              <a:rPr lang="en-US" sz="1600" b="1" dirty="0">
                <a:solidFill>
                  <a:srgbClr val="1A4B8C"/>
                </a:solidFill>
                <a:latin typeface="+mn-ea"/>
                <a:cs typeface="Quattrocento Sans" pitchFamily="34" charset="-120"/>
              </a:rPr>
              <a:t>核心思想：</a:t>
            </a:r>
            <a:r>
              <a:rPr lang="en-US" sz="1600" dirty="0">
                <a:solidFill>
                  <a:srgbClr val="1A1D21"/>
                </a:solidFill>
                <a:latin typeface="+mn-ea"/>
                <a:cs typeface="Quattrocento Sans" pitchFamily="34" charset="-120"/>
              </a:rPr>
              <a:t>冻结原始权重，在Transformer线性层旁引入低秩分解矩阵A和B进行增量训练</a:t>
            </a:r>
            <a:endParaRPr lang="en-US" dirty="0">
              <a:latin typeface="+mn-ea"/>
            </a:endParaRPr>
          </a:p>
          <a:p>
            <a:pPr algn="just">
              <a:lnSpc>
                <a:spcPct val="150000"/>
              </a:lnSpc>
              <a:spcAft>
                <a:spcPts val="1200"/>
              </a:spcAft>
            </a:pPr>
            <a:r>
              <a:rPr lang="en-US" sz="1600" b="1" dirty="0" err="1">
                <a:solidFill>
                  <a:srgbClr val="1A4B8C"/>
                </a:solidFill>
                <a:latin typeface="+mn-ea"/>
                <a:cs typeface="Quattrocento Sans" pitchFamily="34" charset="-120"/>
              </a:rPr>
              <a:t>优势：</a:t>
            </a:r>
            <a:r>
              <a:rPr lang="en-US" sz="1600" dirty="0" err="1">
                <a:solidFill>
                  <a:srgbClr val="1A1D21"/>
                </a:solidFill>
                <a:latin typeface="+mn-ea"/>
                <a:cs typeface="Quattrocento Sans" pitchFamily="34" charset="-120"/>
              </a:rPr>
              <a:t>可训练参数从数十亿级降至数百万级，显著节约显存，性能</a:t>
            </a:r>
            <a:r>
              <a:rPr lang="zh-CN" altLang="en-US" sz="1600" dirty="0">
                <a:solidFill>
                  <a:srgbClr val="1A1D21"/>
                </a:solidFill>
                <a:latin typeface="+mn-ea"/>
                <a:cs typeface="Quattrocento Sans" pitchFamily="34" charset="-120"/>
              </a:rPr>
              <a:t>可</a:t>
            </a:r>
            <a:r>
              <a:rPr lang="en-US" sz="1600" dirty="0" err="1">
                <a:solidFill>
                  <a:srgbClr val="1A1D21"/>
                </a:solidFill>
                <a:latin typeface="+mn-ea"/>
                <a:cs typeface="Quattrocento Sans" pitchFamily="34" charset="-120"/>
              </a:rPr>
              <a:t>媲美全量微调</a:t>
            </a:r>
            <a:endParaRPr lang="en-US" dirty="0">
              <a:latin typeface="+mn-ea"/>
            </a:endParaRPr>
          </a:p>
          <a:p>
            <a:pPr algn="just">
              <a:lnSpc>
                <a:spcPct val="150000"/>
              </a:lnSpc>
              <a:spcAft>
                <a:spcPts val="1200"/>
              </a:spcAft>
            </a:pPr>
            <a:r>
              <a:rPr lang="zh-CN" altLang="en-US" sz="1600" b="1" dirty="0">
                <a:solidFill>
                  <a:srgbClr val="1A4B8C"/>
                </a:solidFill>
                <a:latin typeface="+mn-ea"/>
                <a:cs typeface="Quattrocento Sans" pitchFamily="34" charset="-120"/>
              </a:rPr>
              <a:t>工具</a:t>
            </a:r>
            <a:r>
              <a:rPr lang="en-US" sz="1600" b="1" dirty="0" err="1">
                <a:solidFill>
                  <a:srgbClr val="1A4B8C"/>
                </a:solidFill>
                <a:latin typeface="+mn-ea"/>
                <a:cs typeface="Quattrocento Sans" pitchFamily="34" charset="-120"/>
              </a:rPr>
              <a:t>框架：</a:t>
            </a:r>
            <a:r>
              <a:rPr lang="en-US" sz="1600" dirty="0" err="1">
                <a:solidFill>
                  <a:srgbClr val="1A1D21"/>
                </a:solidFill>
                <a:latin typeface="+mn-ea"/>
                <a:cs typeface="Quattrocento Sans" pitchFamily="34" charset="-120"/>
              </a:rPr>
              <a:t>LLaMA-Factory</a:t>
            </a:r>
            <a:endParaRPr lang="en-US" dirty="0">
              <a:latin typeface="+mn-ea"/>
            </a:endParaRPr>
          </a:p>
          <a:p>
            <a:pPr algn="just">
              <a:lnSpc>
                <a:spcPct val="150000"/>
              </a:lnSpc>
              <a:spcAft>
                <a:spcPts val="1200"/>
              </a:spcAft>
            </a:pPr>
            <a:r>
              <a:rPr lang="en-US" sz="1600" b="1" dirty="0" err="1">
                <a:solidFill>
                  <a:srgbClr val="1A4B8C"/>
                </a:solidFill>
                <a:latin typeface="+mn-ea"/>
                <a:cs typeface="Quattrocento Sans" pitchFamily="34" charset="-120"/>
              </a:rPr>
              <a:t>配置</a:t>
            </a:r>
            <a:r>
              <a:rPr lang="en-US" sz="1600" b="1" dirty="0">
                <a:solidFill>
                  <a:srgbClr val="1A4B8C"/>
                </a:solidFill>
                <a:latin typeface="+mn-ea"/>
                <a:cs typeface="Quattrocento Sans" pitchFamily="34" charset="-120"/>
              </a:rPr>
              <a:t>：</a:t>
            </a:r>
            <a:r>
              <a:rPr lang="zh-CN" altLang="en-US" sz="1600" dirty="0">
                <a:solidFill>
                  <a:srgbClr val="1A1D21"/>
                </a:solidFill>
                <a:latin typeface="+mn-ea"/>
                <a:cs typeface="Quattrocento Sans" pitchFamily="34" charset="-120"/>
              </a:rPr>
              <a:t>秩大小为</a:t>
            </a:r>
            <a:r>
              <a:rPr lang="en-US" altLang="zh-CN" sz="1600" dirty="0">
                <a:solidFill>
                  <a:srgbClr val="1A1D21"/>
                </a:solidFill>
                <a:latin typeface="+mn-ea"/>
                <a:cs typeface="Quattrocento Sans" pitchFamily="34" charset="-120"/>
              </a:rPr>
              <a:t>8</a:t>
            </a:r>
            <a:r>
              <a:rPr lang="en-US" sz="1600" dirty="0">
                <a:solidFill>
                  <a:srgbClr val="1A1D21"/>
                </a:solidFill>
                <a:latin typeface="+mn-ea"/>
                <a:cs typeface="Quattrocento Sans" pitchFamily="34" charset="-120"/>
              </a:rPr>
              <a:t>，</a:t>
            </a:r>
            <a:r>
              <a:rPr lang="zh-CN" altLang="en-US" sz="1600" dirty="0">
                <a:solidFill>
                  <a:srgbClr val="1A1D21"/>
                </a:solidFill>
                <a:latin typeface="+mn-ea"/>
                <a:cs typeface="Quattrocento Sans" pitchFamily="34" charset="-120"/>
              </a:rPr>
              <a:t>目标层为全部，采用</a:t>
            </a:r>
            <a:r>
              <a:rPr lang="en-US" altLang="zh-CN" sz="1600" dirty="0">
                <a:solidFill>
                  <a:srgbClr val="1A1D21"/>
                </a:solidFill>
                <a:latin typeface="+mn-ea"/>
                <a:cs typeface="Quattrocento Sans" pitchFamily="34" charset="-120"/>
              </a:rPr>
              <a:t>Alpaca</a:t>
            </a:r>
            <a:r>
              <a:rPr lang="zh-CN" altLang="en-US" sz="1600" dirty="0">
                <a:solidFill>
                  <a:srgbClr val="1A1D21"/>
                </a:solidFill>
                <a:latin typeface="+mn-ea"/>
                <a:cs typeface="Quattrocento Sans" pitchFamily="34" charset="-120"/>
              </a:rPr>
              <a:t>指令训练模板</a:t>
            </a:r>
            <a:endParaRPr lang="en-US" dirty="0">
              <a:latin typeface="+mn-ea"/>
            </a:endParaRPr>
          </a:p>
        </p:txBody>
      </p:sp>
      <p:sp>
        <p:nvSpPr>
          <p:cNvPr id="11" name="Text 9">
            <a:extLst>
              <a:ext uri="{FF2B5EF4-FFF2-40B4-BE49-F238E27FC236}">
                <a16:creationId xmlns:a16="http://schemas.microsoft.com/office/drawing/2014/main" id="{186A79BE-B0D2-E800-A8F8-9AC97A437C78}"/>
              </a:ext>
            </a:extLst>
          </p:cNvPr>
          <p:cNvSpPr/>
          <p:nvPr/>
        </p:nvSpPr>
        <p:spPr>
          <a:xfrm>
            <a:off x="5688835" y="1334298"/>
            <a:ext cx="4439828" cy="321452"/>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核心超参数配置</a:t>
            </a:r>
            <a:endParaRPr lang="en-US" sz="1600" dirty="0"/>
          </a:p>
        </p:txBody>
      </p:sp>
      <p:graphicFrame>
        <p:nvGraphicFramePr>
          <p:cNvPr id="12" name="Table 1">
            <a:extLst>
              <a:ext uri="{FF2B5EF4-FFF2-40B4-BE49-F238E27FC236}">
                <a16:creationId xmlns:a16="http://schemas.microsoft.com/office/drawing/2014/main" id="{49EA7E32-F4C1-5E82-A8ED-8EA4AC76D6DF}"/>
              </a:ext>
            </a:extLst>
          </p:cNvPr>
          <p:cNvGraphicFramePr>
            <a:graphicFrameLocks noGrp="1"/>
          </p:cNvGraphicFramePr>
          <p:nvPr>
            <p:extLst>
              <p:ext uri="{D42A27DB-BD31-4B8C-83A1-F6EECF244321}">
                <p14:modId xmlns:p14="http://schemas.microsoft.com/office/powerpoint/2010/main" val="1010505643"/>
              </p:ext>
            </p:extLst>
          </p:nvPr>
        </p:nvGraphicFramePr>
        <p:xfrm>
          <a:off x="5688833" y="1864510"/>
          <a:ext cx="6067033" cy="4256800"/>
        </p:xfrm>
        <a:graphic>
          <a:graphicData uri="http://schemas.openxmlformats.org/drawingml/2006/table">
            <a:tbl>
              <a:tblPr/>
              <a:tblGrid>
                <a:gridCol w="3789873">
                  <a:extLst>
                    <a:ext uri="{9D8B030D-6E8A-4147-A177-3AD203B41FA5}">
                      <a16:colId xmlns:a16="http://schemas.microsoft.com/office/drawing/2014/main" val="20000"/>
                    </a:ext>
                  </a:extLst>
                </a:gridCol>
                <a:gridCol w="2277160">
                  <a:extLst>
                    <a:ext uri="{9D8B030D-6E8A-4147-A177-3AD203B41FA5}">
                      <a16:colId xmlns:a16="http://schemas.microsoft.com/office/drawing/2014/main" val="20001"/>
                    </a:ext>
                  </a:extLst>
                </a:gridCol>
              </a:tblGrid>
              <a:tr h="532100">
                <a:tc>
                  <a:txBody>
                    <a:bodyPr/>
                    <a:lstStyle/>
                    <a:p>
                      <a:pPr algn="l" latinLnBrk="1"/>
                      <a:r>
                        <a:rPr lang="en-US" sz="1400" b="1" u="none" dirty="0">
                          <a:solidFill>
                            <a:srgbClr val="FFFFFF"/>
                          </a:solidFill>
                          <a:latin typeface="+mn-ea"/>
                          <a:ea typeface="+mn-ea"/>
                          <a:cs typeface="QuattrocentoSans, MiSans" pitchFamily="34" charset="-120"/>
                        </a:rPr>
                        <a:t>参数名称</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latinLnBrk="1"/>
                      <a:r>
                        <a:rPr lang="en-US" sz="1400" b="1" u="none" dirty="0">
                          <a:solidFill>
                            <a:srgbClr val="FFFFFF"/>
                          </a:solidFill>
                          <a:latin typeface="+mn-ea"/>
                          <a:ea typeface="+mn-ea"/>
                          <a:cs typeface="QuattrocentoSans, MiSans" pitchFamily="34" charset="-120"/>
                        </a:rPr>
                        <a:t>设定值</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532100">
                <a:tc>
                  <a:txBody>
                    <a:bodyPr/>
                    <a:lstStyle/>
                    <a:p>
                      <a:pPr algn="l" latinLnBrk="1"/>
                      <a:r>
                        <a:rPr lang="zh-CN" altLang="en-US" sz="1400" u="none" dirty="0">
                          <a:solidFill>
                            <a:srgbClr val="1A1D21"/>
                          </a:solidFill>
                          <a:latin typeface="+mn-ea"/>
                          <a:ea typeface="+mn-ea"/>
                          <a:cs typeface="QuattrocentoSans, MiSans" charset="0"/>
                        </a:rPr>
                        <a:t>训练轮数</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r>
                        <a:rPr lang="en-US" sz="1400" u="none" dirty="0">
                          <a:solidFill>
                            <a:srgbClr val="1A1D21"/>
                          </a:solidFill>
                          <a:latin typeface="+mn-ea"/>
                          <a:ea typeface="+mn-ea"/>
                          <a:cs typeface="QuattrocentoSans, MiSans" pitchFamily="34" charset="-120"/>
                        </a:rPr>
                        <a:t>3.0</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2100">
                <a:tc>
                  <a:txBody>
                    <a:bodyPr/>
                    <a:lstStyle/>
                    <a:p>
                      <a:pPr algn="l" latinLnBrk="1"/>
                      <a:r>
                        <a:rPr lang="zh-CN" altLang="en-US" sz="1400" u="none" dirty="0">
                          <a:solidFill>
                            <a:srgbClr val="1A1D21"/>
                          </a:solidFill>
                          <a:latin typeface="+mn-ea"/>
                          <a:ea typeface="+mn-ea"/>
                          <a:cs typeface="QuattrocentoSans, MiSans" pitchFamily="34" charset="-120"/>
                        </a:rPr>
                        <a:t>学习率</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r>
                        <a:rPr lang="en-US" sz="1400" u="none" dirty="0">
                          <a:solidFill>
                            <a:srgbClr val="1A1D21"/>
                          </a:solidFill>
                          <a:latin typeface="+mn-ea"/>
                          <a:ea typeface="+mn-ea"/>
                          <a:cs typeface="QuattrocentoSans, MiSans" pitchFamily="34" charset="-120"/>
                        </a:rPr>
                        <a:t>1.0e-4</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532100">
                <a:tc>
                  <a:txBody>
                    <a:bodyPr/>
                    <a:lstStyle/>
                    <a:p>
                      <a:pPr algn="l" latinLnBrk="1"/>
                      <a:r>
                        <a:rPr lang="zh-CN" altLang="en-US" sz="1400" u="none" dirty="0">
                          <a:solidFill>
                            <a:srgbClr val="1A1D21"/>
                          </a:solidFill>
                          <a:latin typeface="+mn-ea"/>
                          <a:ea typeface="+mn-ea"/>
                          <a:cs typeface="QuattrocentoSans, MiSans" pitchFamily="34" charset="-120"/>
                        </a:rPr>
                        <a:t>学习率调度器</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r>
                        <a:rPr lang="en-US" sz="1400" u="none" dirty="0">
                          <a:solidFill>
                            <a:srgbClr val="1A1D21"/>
                          </a:solidFill>
                          <a:latin typeface="+mn-ea"/>
                          <a:ea typeface="+mn-ea"/>
                          <a:cs typeface="QuattrocentoSans, MiSans" pitchFamily="34" charset="-120"/>
                        </a:rPr>
                        <a:t>cosine</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2100">
                <a:tc>
                  <a:txBody>
                    <a:bodyPr/>
                    <a:lstStyle/>
                    <a:p>
                      <a:pPr algn="l" latinLnBrk="1"/>
                      <a:r>
                        <a:rPr lang="zh-CN" altLang="en-US" sz="1400" dirty="0">
                          <a:latin typeface="+mn-ea"/>
                          <a:ea typeface="+mn-ea"/>
                          <a:cs typeface="QuattrocentoSans, MiSans" charset="0"/>
                        </a:rPr>
                        <a:t>批处理大小</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r>
                        <a:rPr lang="en-US" sz="1400" u="none" dirty="0">
                          <a:solidFill>
                            <a:srgbClr val="1A1D21"/>
                          </a:solidFill>
                          <a:latin typeface="+mn-ea"/>
                          <a:ea typeface="+mn-ea"/>
                          <a:cs typeface="QuattrocentoSans, MiSans" pitchFamily="34" charset="-120"/>
                        </a:rPr>
                        <a:t>2</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532100">
                <a:tc>
                  <a:txBody>
                    <a:bodyPr/>
                    <a:lstStyle/>
                    <a:p>
                      <a:pPr algn="l" latinLnBrk="1"/>
                      <a:r>
                        <a:rPr lang="zh-CN" altLang="en-US" sz="1400" u="none" dirty="0">
                          <a:solidFill>
                            <a:srgbClr val="1A1D21"/>
                          </a:solidFill>
                          <a:latin typeface="+mn-ea"/>
                          <a:ea typeface="+mn-ea"/>
                          <a:cs typeface="QuattrocentoSans, MiSans" pitchFamily="34" charset="-120"/>
                        </a:rPr>
                        <a:t>梯度累积步数</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r>
                        <a:rPr lang="en-US" sz="1400" u="none" dirty="0">
                          <a:solidFill>
                            <a:srgbClr val="1A1D21"/>
                          </a:solidFill>
                          <a:latin typeface="+mn-ea"/>
                          <a:ea typeface="+mn-ea"/>
                          <a:cs typeface="QuattrocentoSans, MiSans" pitchFamily="34" charset="-120"/>
                        </a:rPr>
                        <a:t>8</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2100">
                <a:tc>
                  <a:txBody>
                    <a:bodyPr/>
                    <a:lstStyle/>
                    <a:p>
                      <a:pPr algn="just"/>
                      <a:r>
                        <a:rPr lang="en-US" altLang="zh-CN" sz="1400" baseline="0" dirty="0" err="1">
                          <a:effectLst/>
                          <a:latin typeface="+mn-lt"/>
                          <a:ea typeface="+mn-ea"/>
                        </a:rPr>
                        <a:t>LoRA</a:t>
                      </a:r>
                      <a:r>
                        <a:rPr lang="zh-CN" altLang="zh-CN" sz="1400" baseline="0" dirty="0">
                          <a:effectLst/>
                          <a:latin typeface="+mn-lt"/>
                          <a:ea typeface="+mn-ea"/>
                        </a:rPr>
                        <a:t>秩大小</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r>
                        <a:rPr lang="en-US" sz="1400" u="none" dirty="0">
                          <a:solidFill>
                            <a:srgbClr val="1A1D21"/>
                          </a:solidFill>
                          <a:latin typeface="+mn-ea"/>
                          <a:ea typeface="+mn-ea"/>
                          <a:cs typeface="QuattrocentoSans, MiSans" pitchFamily="34" charset="-120"/>
                        </a:rPr>
                        <a:t>8</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532100">
                <a:tc>
                  <a:txBody>
                    <a:bodyPr/>
                    <a:lstStyle/>
                    <a:p>
                      <a:pPr algn="just"/>
                      <a:r>
                        <a:rPr lang="zh-CN" altLang="en-US" sz="1400" baseline="0" dirty="0">
                          <a:effectLst/>
                          <a:latin typeface="+mn-lt"/>
                          <a:ea typeface="+mn-ea"/>
                        </a:rPr>
                        <a:t>截断长度</a:t>
                      </a:r>
                      <a:endParaRPr lang="zh-CN" altLang="zh-CN" sz="1400" baseline="0" dirty="0">
                        <a:effectLst/>
                        <a:latin typeface="+mn-lt"/>
                        <a:ea typeface="+mn-ea"/>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chemeClr val="bg1"/>
                    </a:solidFill>
                  </a:tcPr>
                </a:tc>
                <a:tc>
                  <a:txBody>
                    <a:bodyPr/>
                    <a:lstStyle/>
                    <a:p>
                      <a:pPr algn="l" latinLnBrk="1"/>
                      <a:r>
                        <a:rPr lang="en-US" sz="1400" dirty="0">
                          <a:latin typeface="+mn-ea"/>
                          <a:ea typeface="+mn-ea"/>
                          <a:cs typeface="QuattrocentoSans, MiSans" charset="0"/>
                        </a:rPr>
                        <a:t>2048</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chemeClr val="bg1"/>
                    </a:solidFill>
                  </a:tcPr>
                </a:tc>
                <a:extLst>
                  <a:ext uri="{0D108BD9-81ED-4DB2-BD59-A6C34878D82A}">
                    <a16:rowId xmlns:a16="http://schemas.microsoft.com/office/drawing/2014/main" val="1064100660"/>
                  </a:ext>
                </a:extLst>
              </a:tr>
            </a:tbl>
          </a:graphicData>
        </a:graphic>
      </p:graphicFrame>
    </p:spTree>
    <p:extLst>
      <p:ext uri="{BB962C8B-B14F-4D97-AF65-F5344CB8AC3E}">
        <p14:creationId xmlns:p14="http://schemas.microsoft.com/office/powerpoint/2010/main" val="3523572210"/>
      </p:ext>
    </p:extLst>
  </p:cSld>
  <p:clrMapOvr>
    <a:masterClrMapping/>
  </p:clrMapOvr>
  <p:transition>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8F2B6-2A0F-3B0A-1CFE-5F2B4A469BFA}"/>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8807BE23-02C3-73F7-5AB8-9174B90DB670}"/>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0C9CC5B1-467D-AEF9-4F0F-AC61D0117D84}"/>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71870C26-DA7C-3B0A-6940-2919509AA4C6}"/>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FD3F08A-347C-54BA-1F88-E13D49A64BF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DB6ED3DD-29F1-4491-A2A9-76D161DF48E3}"/>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86D5984D-C491-0FF9-C2D1-00D6F3A8EF0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1D6F3B36-9276-9C22-BEE0-BB52092377B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4E072279-890E-7F6F-98C2-2C7CAF88805B}"/>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6115F03F-8314-C7B4-B009-AB3FD6A6E162}"/>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09A4C5D2-0674-B4BD-27DF-0D6DAF347CF2}"/>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302C3CE-2B8B-31AD-C188-6BC3594A3E4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60F39392-E05E-B1A5-319C-7DABDAB6B55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0AC5C167-D67A-1FDB-7ABB-70B040DD75A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69459C77-C697-386A-BA68-74C12FC7EED5}"/>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83D40170-AF93-D594-4530-3343BD3505B3}"/>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F41F338F-ABA4-0B37-D2F4-4ED16675D6FC}"/>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BCAB318-AA17-C534-3702-051A7ED42A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75E8092A-7F61-97E0-6613-1DD1AAB8E4E4}"/>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BF51C134-6C93-69C6-8EE6-6EDFD42EA7EC}"/>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973DEF3A-5940-88C4-55F5-356381DF0991}"/>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05B4E409-098D-45CD-5066-0F01BE3A920E}"/>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01DF6B9-2C63-5898-8007-806A651BF59E}"/>
              </a:ext>
            </a:extLst>
          </p:cNvPr>
          <p:cNvSpPr txBox="1"/>
          <p:nvPr/>
        </p:nvSpPr>
        <p:spPr>
          <a:xfrm>
            <a:off x="1873071" y="2105561"/>
            <a:ext cx="2454518"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03</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AFD92FB0-A8B5-D675-5D9E-1AE850F71F4D}"/>
              </a:ext>
            </a:extLst>
          </p:cNvPr>
          <p:cNvSpPr txBox="1">
            <a:spLocks/>
          </p:cNvSpPr>
          <p:nvPr/>
        </p:nvSpPr>
        <p:spPr>
          <a:xfrm>
            <a:off x="5222839" y="2846741"/>
            <a:ext cx="2257028"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研究结果</a:t>
            </a:r>
          </a:p>
        </p:txBody>
      </p:sp>
      <p:sp>
        <p:nvSpPr>
          <p:cNvPr id="13" name="文本占位符 1">
            <a:extLst>
              <a:ext uri="{FF2B5EF4-FFF2-40B4-BE49-F238E27FC236}">
                <a16:creationId xmlns:a16="http://schemas.microsoft.com/office/drawing/2014/main" id="{71A0E482-4FC3-EF1C-3797-4183998B45A9}"/>
              </a:ext>
            </a:extLst>
          </p:cNvPr>
          <p:cNvSpPr txBox="1">
            <a:spLocks/>
          </p:cNvSpPr>
          <p:nvPr/>
        </p:nvSpPr>
        <p:spPr>
          <a:xfrm>
            <a:off x="5222839" y="3617144"/>
            <a:ext cx="4039567"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Achievements and Innovation</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57C1594E-4B22-AC4F-0001-EC7C8748BAB8}"/>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5B57811-6F0B-5B06-57F9-5C6978608E62}"/>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46C7B3F-FDDC-6927-A559-79E23E6D0F1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6CFFA48B-9762-1CFF-435D-7DFD4CAD4A22}"/>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4DDF9AC5-16DF-ECF2-CC3C-7574DC7F5CB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12F49B20-CE84-5C84-AD8F-9ACF3D675B44}"/>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93C7AC07-9B34-3163-F8FD-77E1170E9DB3}"/>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9A9EF6-A44D-74AA-E6BC-57DB8B2570B2}"/>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E29F3479-5F3A-5B04-8C29-381686D66F2D}"/>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5B810C04-518A-09C5-C2E6-82308AD31058}"/>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057BBDE0-C289-FDF1-D762-5D45E32A3AD0}"/>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025E727C-5686-37D2-D8B9-27AC1309037A}"/>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FBA48D0-948C-9BFC-0BD1-C9BB75A2F2ED}"/>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02C8D429-ACED-3988-A899-EB9AEF5EDB47}"/>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48E3221-B263-777E-CACE-677446F407E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C2C45490-19D6-C2A7-D736-4D897B9A9A3C}"/>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F50CECAD-A9A0-4DF4-6E8C-85CB424AA9A2}"/>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301BF994-2FC2-0163-762F-7AB405467AD3}"/>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97F47E7F-5220-F4ED-A78A-D8D4B64740FF}"/>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9563CBFF-56F2-99EA-152B-D986B41DA196}"/>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AF443F8C-DCCE-0A3E-1D4E-C60642627AC2}"/>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EFED810D-6116-61A8-73B8-D80537A7FEFB}"/>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EA9C224F-32D5-DE21-5698-4C861479BC61}"/>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2B2047DC-199B-DECA-C716-BB0F2FC50E71}"/>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A484866-7FE2-AA72-FA6E-C439F2D73BF2}"/>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EA3EC8B6-8EFE-3A01-6A7D-4AF3C27DFD6B}"/>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48FF61CC-11B6-540F-F9C0-D41A4DF0743A}"/>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14281B39-C7FE-6BAE-5CBE-031B7192D59A}"/>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29B1A5E3-0053-D85B-34D8-B7FD4A4CE36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D33638C-3F59-BEE6-3093-3B055ED459E5}"/>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0CE3B25A-F8CC-C378-2621-5B8DF3B424B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9C723B1-4A74-BC46-F3EF-D553B4539544}"/>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B71C8742-20AB-90FD-4AA3-199214F7960A}"/>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8AAA271-05E2-D57B-7188-1C0912EB4704}"/>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EFC91B22-8B93-29C4-81B9-19B4E4A6F9C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B3FB3509-EAC4-3328-D2FB-704EFEAE1A2B}"/>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98B9A718-BC07-31C3-D040-171A271FE14B}"/>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616E49C-DA7C-FDBE-1C4A-386EB7E89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98963519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8957-91E8-AE9E-6777-D65F78796B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6F8F96A-1174-FAA0-A49D-EE83970E1C03}"/>
              </a:ext>
            </a:extLst>
          </p:cNvPr>
          <p:cNvSpPr>
            <a:spLocks noGrp="1"/>
          </p:cNvSpPr>
          <p:nvPr>
            <p:ph type="title"/>
          </p:nvPr>
        </p:nvSpPr>
        <p:spPr/>
        <p:txBody>
          <a:bodyPr>
            <a:normAutofit/>
          </a:bodyPr>
          <a:lstStyle/>
          <a:p>
            <a:r>
              <a:rPr lang="zh-CN" altLang="en-US" dirty="0"/>
              <a:t>问题分类分析结果</a:t>
            </a:r>
          </a:p>
        </p:txBody>
      </p:sp>
      <p:sp>
        <p:nvSpPr>
          <p:cNvPr id="6" name="文本占位符 5">
            <a:extLst>
              <a:ext uri="{FF2B5EF4-FFF2-40B4-BE49-F238E27FC236}">
                <a16:creationId xmlns:a16="http://schemas.microsoft.com/office/drawing/2014/main" id="{6F784CEE-C030-CE5C-935A-868B586525FE}"/>
              </a:ext>
            </a:extLst>
          </p:cNvPr>
          <p:cNvSpPr>
            <a:spLocks noGrp="1"/>
          </p:cNvSpPr>
          <p:nvPr>
            <p:ph type="body" sz="quarter" idx="13"/>
          </p:nvPr>
        </p:nvSpPr>
        <p:spPr/>
        <p:txBody>
          <a:bodyPr/>
          <a:lstStyle/>
          <a:p>
            <a:r>
              <a:rPr lang="zh-CN" altLang="en-US" dirty="0"/>
              <a:t>研究成果</a:t>
            </a:r>
          </a:p>
        </p:txBody>
      </p:sp>
      <p:sp>
        <p:nvSpPr>
          <p:cNvPr id="18" name="Text 5">
            <a:extLst>
              <a:ext uri="{FF2B5EF4-FFF2-40B4-BE49-F238E27FC236}">
                <a16:creationId xmlns:a16="http://schemas.microsoft.com/office/drawing/2014/main" id="{BC8BABBC-1AE0-FE46-57F9-64B35AAEFAE2}"/>
              </a:ext>
            </a:extLst>
          </p:cNvPr>
          <p:cNvSpPr/>
          <p:nvPr/>
        </p:nvSpPr>
        <p:spPr>
          <a:xfrm>
            <a:off x="368271" y="1209856"/>
            <a:ext cx="41021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mn-ea"/>
                <a:cs typeface="Quattrocento Sans" pitchFamily="34" charset="-120"/>
              </a:rPr>
              <a:t>问题主题分类分布（13个类别，N=2767）</a:t>
            </a:r>
            <a:endParaRPr lang="en-US" sz="1600" dirty="0">
              <a:latin typeface="+mn-ea"/>
            </a:endParaRPr>
          </a:p>
        </p:txBody>
      </p:sp>
      <p:graphicFrame>
        <p:nvGraphicFramePr>
          <p:cNvPr id="19" name="Chart 0">
            <a:extLst>
              <a:ext uri="{FF2B5EF4-FFF2-40B4-BE49-F238E27FC236}">
                <a16:creationId xmlns:a16="http://schemas.microsoft.com/office/drawing/2014/main" id="{C4A9DFAA-83F5-9DD1-50D1-A6BE826FD48F}"/>
              </a:ext>
            </a:extLst>
          </p:cNvPr>
          <p:cNvGraphicFramePr/>
          <p:nvPr>
            <p:extLst>
              <p:ext uri="{D42A27DB-BD31-4B8C-83A1-F6EECF244321}">
                <p14:modId xmlns:p14="http://schemas.microsoft.com/office/powerpoint/2010/main" val="2189087914"/>
              </p:ext>
            </p:extLst>
          </p:nvPr>
        </p:nvGraphicFramePr>
        <p:xfrm>
          <a:off x="368271" y="1528672"/>
          <a:ext cx="5956330" cy="4821328"/>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7">
            <a:extLst>
              <a:ext uri="{FF2B5EF4-FFF2-40B4-BE49-F238E27FC236}">
                <a16:creationId xmlns:a16="http://schemas.microsoft.com/office/drawing/2014/main" id="{4CA31156-34DB-12F7-1DB1-1E8B266A8CB8}"/>
              </a:ext>
            </a:extLst>
          </p:cNvPr>
          <p:cNvSpPr/>
          <p:nvPr/>
        </p:nvSpPr>
        <p:spPr>
          <a:xfrm>
            <a:off x="6464300" y="1227228"/>
            <a:ext cx="5359429" cy="286202"/>
          </a:xfrm>
          <a:prstGeom prst="rect">
            <a:avLst/>
          </a:prstGeom>
          <a:noFill/>
          <a:ln/>
        </p:spPr>
        <p:txBody>
          <a:bodyPr wrap="none" lIns="0" tIns="0" rIns="0" bIns="0" rtlCol="0" anchor="ctr"/>
          <a:lstStyle/>
          <a:p>
            <a:pPr>
              <a:lnSpc>
                <a:spcPct val="100000"/>
              </a:lnSpc>
            </a:pPr>
            <a:r>
              <a:rPr lang="en-US" sz="1800" b="1" dirty="0">
                <a:solidFill>
                  <a:srgbClr val="1A4B8C"/>
                </a:solidFill>
                <a:latin typeface="+mn-ea"/>
                <a:cs typeface="Quattrocento Sans" pitchFamily="34" charset="-120"/>
              </a:rPr>
              <a:t>核心发现</a:t>
            </a:r>
            <a:endParaRPr lang="en-US" sz="1600" dirty="0">
              <a:latin typeface="+mn-ea"/>
            </a:endParaRPr>
          </a:p>
        </p:txBody>
      </p:sp>
      <p:sp>
        <p:nvSpPr>
          <p:cNvPr id="25" name="Text 8">
            <a:extLst>
              <a:ext uri="{FF2B5EF4-FFF2-40B4-BE49-F238E27FC236}">
                <a16:creationId xmlns:a16="http://schemas.microsoft.com/office/drawing/2014/main" id="{D18B6278-A86F-7713-E6BE-3DE2067D39E3}"/>
              </a:ext>
            </a:extLst>
          </p:cNvPr>
          <p:cNvSpPr/>
          <p:nvPr/>
        </p:nvSpPr>
        <p:spPr>
          <a:xfrm>
            <a:off x="6464300" y="1697128"/>
            <a:ext cx="5453380" cy="4500472"/>
          </a:xfrm>
          <a:prstGeom prst="rect">
            <a:avLst/>
          </a:prstGeom>
          <a:noFill/>
          <a:ln/>
        </p:spPr>
        <p:txBody>
          <a:bodyPr wrap="square" lIns="0" tIns="0" rIns="0" bIns="0" rtlCol="0" anchor="t"/>
          <a:lstStyle/>
          <a:p>
            <a:pPr algn="just">
              <a:lnSpc>
                <a:spcPts val="3200"/>
              </a:lnSpc>
            </a:pPr>
            <a:r>
              <a:rPr lang="en-US" sz="1600" b="1" dirty="0">
                <a:solidFill>
                  <a:srgbClr val="C45C26"/>
                </a:solidFill>
                <a:latin typeface="+mn-ea"/>
                <a:cs typeface="Quattrocento Sans" pitchFamily="34" charset="-120"/>
              </a:rPr>
              <a:t>头部集中</a:t>
            </a:r>
            <a:endParaRPr lang="en-US" sz="1600" dirty="0">
              <a:latin typeface="+mn-ea"/>
            </a:endParaRPr>
          </a:p>
          <a:p>
            <a:pPr algn="just">
              <a:lnSpc>
                <a:spcPts val="3200"/>
              </a:lnSpc>
            </a:pPr>
            <a:r>
              <a:rPr lang="en-US" sz="1600" dirty="0" err="1">
                <a:solidFill>
                  <a:srgbClr val="1A1D21"/>
                </a:solidFill>
                <a:latin typeface="+mn-ea"/>
                <a:cs typeface="Quattrocento Sans" pitchFamily="34" charset="-120"/>
              </a:rPr>
              <a:t>安全套</a:t>
            </a:r>
            <a:r>
              <a:rPr lang="zh-CN" altLang="en-US" sz="1600" spc="-100" dirty="0">
                <a:solidFill>
                  <a:srgbClr val="1A1D21"/>
                </a:solidFill>
                <a:latin typeface="+mn-ea"/>
                <a:cs typeface="Quattrocento Sans" pitchFamily="34" charset="-120"/>
              </a:rPr>
              <a:t>和</a:t>
            </a:r>
            <a:r>
              <a:rPr lang="en-US" sz="1600" dirty="0">
                <a:solidFill>
                  <a:srgbClr val="1A1D21"/>
                </a:solidFill>
                <a:latin typeface="+mn-ea"/>
                <a:cs typeface="Quattrocento Sans" pitchFamily="34" charset="-120"/>
              </a:rPr>
              <a:t>生殖健康科普占据约2/3，青少年对基础知识和实用工具有极度渴求</a:t>
            </a:r>
            <a:endParaRPr lang="en-US" sz="1600" dirty="0">
              <a:latin typeface="+mn-ea"/>
            </a:endParaRPr>
          </a:p>
          <a:p>
            <a:pPr algn="just">
              <a:lnSpc>
                <a:spcPts val="3200"/>
              </a:lnSpc>
              <a:spcBef>
                <a:spcPts val="800"/>
              </a:spcBef>
            </a:pPr>
            <a:r>
              <a:rPr lang="en-US" sz="1600" b="1" dirty="0">
                <a:solidFill>
                  <a:srgbClr val="C45C26"/>
                </a:solidFill>
                <a:latin typeface="+mn-ea"/>
                <a:cs typeface="Quattrocento Sans" pitchFamily="34" charset="-120"/>
              </a:rPr>
              <a:t>认知误区</a:t>
            </a:r>
            <a:endParaRPr lang="en-US" sz="1600" dirty="0">
              <a:latin typeface="+mn-ea"/>
            </a:endParaRPr>
          </a:p>
          <a:p>
            <a:pPr algn="just">
              <a:lnSpc>
                <a:spcPts val="3200"/>
              </a:lnSpc>
            </a:pPr>
            <a:r>
              <a:rPr lang="en-US" sz="1600" dirty="0" err="1">
                <a:solidFill>
                  <a:srgbClr val="1A1D21"/>
                </a:solidFill>
                <a:latin typeface="+mn-ea"/>
                <a:cs typeface="Quattrocento Sans" pitchFamily="34" charset="-120"/>
              </a:rPr>
              <a:t>体外排精、安全期避孕等</a:t>
            </a:r>
            <a:r>
              <a:rPr lang="zh-CN" altLang="en-US" sz="1600" dirty="0">
                <a:solidFill>
                  <a:srgbClr val="1A1D21"/>
                </a:solidFill>
                <a:latin typeface="+mn-ea"/>
                <a:cs typeface="Quattrocento Sans" pitchFamily="34" charset="-120"/>
              </a:rPr>
              <a:t>低效</a:t>
            </a:r>
            <a:r>
              <a:rPr lang="en-US" sz="1600" dirty="0" err="1">
                <a:solidFill>
                  <a:srgbClr val="1A1D21"/>
                </a:solidFill>
                <a:latin typeface="+mn-ea"/>
                <a:cs typeface="Quattrocento Sans" pitchFamily="34" charset="-120"/>
              </a:rPr>
              <a:t>方法讨论热度高，反映侥幸心理普遍</a:t>
            </a:r>
            <a:endParaRPr lang="en-US" sz="1600" dirty="0">
              <a:latin typeface="+mn-ea"/>
            </a:endParaRPr>
          </a:p>
          <a:p>
            <a:pPr algn="just">
              <a:lnSpc>
                <a:spcPts val="3200"/>
              </a:lnSpc>
              <a:spcBef>
                <a:spcPts val="800"/>
              </a:spcBef>
            </a:pPr>
            <a:r>
              <a:rPr lang="en-US" sz="1600" b="1" dirty="0">
                <a:solidFill>
                  <a:srgbClr val="C45C26"/>
                </a:solidFill>
                <a:latin typeface="+mn-ea"/>
                <a:cs typeface="Quattrocento Sans" pitchFamily="34" charset="-120"/>
              </a:rPr>
              <a:t>敏感需求</a:t>
            </a:r>
            <a:endParaRPr lang="en-US" sz="1600" dirty="0">
              <a:latin typeface="+mn-ea"/>
            </a:endParaRPr>
          </a:p>
          <a:p>
            <a:pPr algn="just">
              <a:lnSpc>
                <a:spcPts val="3200"/>
              </a:lnSpc>
            </a:pPr>
            <a:r>
              <a:rPr lang="en-US" sz="1600" dirty="0" err="1">
                <a:solidFill>
                  <a:srgbClr val="1A1D21"/>
                </a:solidFill>
                <a:latin typeface="+mn-ea"/>
                <a:cs typeface="Quattrocento Sans" pitchFamily="34" charset="-120"/>
              </a:rPr>
              <a:t>人工流产等高风险话题互动</a:t>
            </a:r>
            <a:r>
              <a:rPr lang="en-US" altLang="zh-CN" sz="1600" dirty="0" err="1">
                <a:solidFill>
                  <a:srgbClr val="1A1D21"/>
                </a:solidFill>
                <a:latin typeface="+mn-ea"/>
                <a:cs typeface="Quattrocento Sans" pitchFamily="34" charset="-120"/>
              </a:rPr>
              <a:t>强烈</a:t>
            </a:r>
            <a:r>
              <a:rPr lang="en-US" sz="1600" dirty="0" err="1">
                <a:solidFill>
                  <a:srgbClr val="1A1D21"/>
                </a:solidFill>
                <a:latin typeface="+mn-ea"/>
                <a:cs typeface="Quattrocento Sans" pitchFamily="34" charset="-120"/>
              </a:rPr>
              <a:t>，专业</a:t>
            </a:r>
            <a:r>
              <a:rPr lang="zh-CN" altLang="en-US" sz="1600" dirty="0">
                <a:solidFill>
                  <a:srgbClr val="1A1D21"/>
                </a:solidFill>
                <a:latin typeface="+mn-ea"/>
                <a:cs typeface="Quattrocento Sans" pitchFamily="34" charset="-120"/>
              </a:rPr>
              <a:t>知识</a:t>
            </a:r>
            <a:r>
              <a:rPr lang="en-US" sz="1600" dirty="0" err="1">
                <a:solidFill>
                  <a:srgbClr val="1A1D21"/>
                </a:solidFill>
                <a:latin typeface="+mn-ea"/>
                <a:cs typeface="Quattrocento Sans" pitchFamily="34" charset="-120"/>
              </a:rPr>
              <a:t>供给严重缺位</a:t>
            </a:r>
            <a:endParaRPr lang="en-US" sz="1600" dirty="0">
              <a:latin typeface="+mn-ea"/>
            </a:endParaRPr>
          </a:p>
          <a:p>
            <a:pPr algn="just">
              <a:lnSpc>
                <a:spcPts val="3200"/>
              </a:lnSpc>
              <a:spcBef>
                <a:spcPts val="800"/>
              </a:spcBef>
            </a:pPr>
            <a:r>
              <a:rPr lang="en-US" sz="1600" b="1" dirty="0">
                <a:solidFill>
                  <a:srgbClr val="C45C26"/>
                </a:solidFill>
                <a:latin typeface="+mn-ea"/>
                <a:cs typeface="Quattrocento Sans" pitchFamily="34" charset="-120"/>
              </a:rPr>
              <a:t>长尾多元</a:t>
            </a:r>
            <a:endParaRPr lang="en-US" sz="1600" dirty="0">
              <a:latin typeface="+mn-ea"/>
            </a:endParaRPr>
          </a:p>
          <a:p>
            <a:pPr algn="just">
              <a:lnSpc>
                <a:spcPts val="3200"/>
              </a:lnSpc>
            </a:pPr>
            <a:r>
              <a:rPr lang="en-US" sz="1600" dirty="0" err="1">
                <a:solidFill>
                  <a:srgbClr val="1A1D21"/>
                </a:solidFill>
                <a:latin typeface="+mn-ea"/>
                <a:cs typeface="Quattrocento Sans" pitchFamily="34" charset="-120"/>
              </a:rPr>
              <a:t>节育器、女用安全套等小众话题</a:t>
            </a:r>
            <a:r>
              <a:rPr lang="zh-CN" altLang="en-US" sz="1600" dirty="0">
                <a:solidFill>
                  <a:srgbClr val="1A1D21"/>
                </a:solidFill>
                <a:latin typeface="+mn-ea"/>
                <a:cs typeface="Quattrocento Sans" pitchFamily="34" charset="-120"/>
              </a:rPr>
              <a:t>也</a:t>
            </a:r>
            <a:r>
              <a:rPr lang="en-US" sz="1600" dirty="0" err="1">
                <a:solidFill>
                  <a:srgbClr val="1A1D21"/>
                </a:solidFill>
                <a:latin typeface="+mn-ea"/>
                <a:cs typeface="Quattrocento Sans" pitchFamily="34" charset="-120"/>
              </a:rPr>
              <a:t>有真实需求</a:t>
            </a:r>
            <a:endParaRPr lang="en-US" sz="1600" dirty="0">
              <a:latin typeface="+mn-ea"/>
            </a:endParaRPr>
          </a:p>
        </p:txBody>
      </p:sp>
      <p:sp>
        <p:nvSpPr>
          <p:cNvPr id="26" name="日期占位符 2">
            <a:extLst>
              <a:ext uri="{FF2B5EF4-FFF2-40B4-BE49-F238E27FC236}">
                <a16:creationId xmlns:a16="http://schemas.microsoft.com/office/drawing/2014/main" id="{67295A1F-5208-5D14-8624-488FC1EA2CBA}"/>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27" name="页脚占位符 3">
            <a:extLst>
              <a:ext uri="{FF2B5EF4-FFF2-40B4-BE49-F238E27FC236}">
                <a16:creationId xmlns:a16="http://schemas.microsoft.com/office/drawing/2014/main" id="{F5944BE5-3BA5-065D-0729-2BF433D4204D}"/>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28" name="灯片编号占位符 4">
            <a:extLst>
              <a:ext uri="{FF2B5EF4-FFF2-40B4-BE49-F238E27FC236}">
                <a16:creationId xmlns:a16="http://schemas.microsoft.com/office/drawing/2014/main" id="{FD103DB5-12F2-8992-9BFC-950E6D100779}"/>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19</a:t>
            </a:fld>
            <a:endParaRPr lang="zh-CN" altLang="en-US" dirty="0"/>
          </a:p>
        </p:txBody>
      </p:sp>
    </p:spTree>
    <p:extLst>
      <p:ext uri="{BB962C8B-B14F-4D97-AF65-F5344CB8AC3E}">
        <p14:creationId xmlns:p14="http://schemas.microsoft.com/office/powerpoint/2010/main" val="3583885601"/>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E0F2-D52A-DE02-C2F3-E76FC45F52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E05EBE9-09D8-F6ED-C303-1A913317F9B1}"/>
              </a:ext>
            </a:extLst>
          </p:cNvPr>
          <p:cNvSpPr>
            <a:spLocks noGrp="1"/>
          </p:cNvSpPr>
          <p:nvPr>
            <p:ph type="title"/>
          </p:nvPr>
        </p:nvSpPr>
        <p:spPr/>
        <p:txBody>
          <a:bodyPr>
            <a:normAutofit/>
          </a:bodyPr>
          <a:lstStyle/>
          <a:p>
            <a:r>
              <a:rPr lang="zh-CN" altLang="en-US" dirty="0"/>
              <a:t>模型效果评估结果</a:t>
            </a:r>
          </a:p>
        </p:txBody>
      </p:sp>
      <p:sp>
        <p:nvSpPr>
          <p:cNvPr id="8" name="文本占位符 5">
            <a:extLst>
              <a:ext uri="{FF2B5EF4-FFF2-40B4-BE49-F238E27FC236}">
                <a16:creationId xmlns:a16="http://schemas.microsoft.com/office/drawing/2014/main" id="{63C17CA1-05C0-395A-50C3-681E6F8B7A1D}"/>
              </a:ext>
            </a:extLst>
          </p:cNvPr>
          <p:cNvSpPr>
            <a:spLocks noGrp="1"/>
          </p:cNvSpPr>
          <p:nvPr>
            <p:ph type="body" sz="quarter" idx="13"/>
          </p:nvPr>
        </p:nvSpPr>
        <p:spPr>
          <a:xfrm>
            <a:off x="4038600" y="-7467"/>
            <a:ext cx="4114800" cy="216775"/>
          </a:xfrm>
        </p:spPr>
        <p:txBody>
          <a:bodyPr/>
          <a:lstStyle/>
          <a:p>
            <a:r>
              <a:rPr lang="zh-CN" altLang="en-US" dirty="0"/>
              <a:t>研究成果</a:t>
            </a:r>
          </a:p>
        </p:txBody>
      </p:sp>
      <p:sp>
        <p:nvSpPr>
          <p:cNvPr id="7" name="日期占位符 2">
            <a:extLst>
              <a:ext uri="{FF2B5EF4-FFF2-40B4-BE49-F238E27FC236}">
                <a16:creationId xmlns:a16="http://schemas.microsoft.com/office/drawing/2014/main" id="{F0623FBB-B454-2DE1-76AF-CA2DE5271F84}"/>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9" name="页脚占位符 3">
            <a:extLst>
              <a:ext uri="{FF2B5EF4-FFF2-40B4-BE49-F238E27FC236}">
                <a16:creationId xmlns:a16="http://schemas.microsoft.com/office/drawing/2014/main" id="{4AEE6B41-270C-2522-BB46-3A81A3F9CEE6}"/>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11" name="灯片编号占位符 4">
            <a:extLst>
              <a:ext uri="{FF2B5EF4-FFF2-40B4-BE49-F238E27FC236}">
                <a16:creationId xmlns:a16="http://schemas.microsoft.com/office/drawing/2014/main" id="{83C8970F-C4A4-75E2-7CA3-0090924F2270}"/>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20</a:t>
            </a:fld>
            <a:endParaRPr lang="zh-CN" altLang="en-US" dirty="0"/>
          </a:p>
        </p:txBody>
      </p:sp>
      <p:sp>
        <p:nvSpPr>
          <p:cNvPr id="13" name="Text 5">
            <a:extLst>
              <a:ext uri="{FF2B5EF4-FFF2-40B4-BE49-F238E27FC236}">
                <a16:creationId xmlns:a16="http://schemas.microsoft.com/office/drawing/2014/main" id="{CDC785CD-F955-0526-0024-44A52745D080}"/>
              </a:ext>
            </a:extLst>
          </p:cNvPr>
          <p:cNvSpPr/>
          <p:nvPr/>
        </p:nvSpPr>
        <p:spPr>
          <a:xfrm>
            <a:off x="375920" y="1976372"/>
            <a:ext cx="381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ROUGE自动化指标结果</a:t>
            </a:r>
            <a:endParaRPr lang="en-US" sz="1600" dirty="0"/>
          </a:p>
        </p:txBody>
      </p:sp>
      <p:graphicFrame>
        <p:nvGraphicFramePr>
          <p:cNvPr id="14" name="Table 0">
            <a:extLst>
              <a:ext uri="{FF2B5EF4-FFF2-40B4-BE49-F238E27FC236}">
                <a16:creationId xmlns:a16="http://schemas.microsoft.com/office/drawing/2014/main" id="{CAD3CC9A-B42D-D6CD-3C9C-5A911A9217F5}"/>
              </a:ext>
            </a:extLst>
          </p:cNvPr>
          <p:cNvGraphicFramePr>
            <a:graphicFrameLocks noGrp="1"/>
          </p:cNvGraphicFramePr>
          <p:nvPr>
            <p:extLst>
              <p:ext uri="{D42A27DB-BD31-4B8C-83A1-F6EECF244321}">
                <p14:modId xmlns:p14="http://schemas.microsoft.com/office/powerpoint/2010/main" val="3120326295"/>
              </p:ext>
            </p:extLst>
          </p:nvPr>
        </p:nvGraphicFramePr>
        <p:xfrm>
          <a:off x="375920" y="2382773"/>
          <a:ext cx="5078819" cy="2930904"/>
        </p:xfrm>
        <a:graphic>
          <a:graphicData uri="http://schemas.openxmlformats.org/drawingml/2006/table">
            <a:tbl>
              <a:tblPr/>
              <a:tblGrid>
                <a:gridCol w="1604664">
                  <a:extLst>
                    <a:ext uri="{9D8B030D-6E8A-4147-A177-3AD203B41FA5}">
                      <a16:colId xmlns:a16="http://schemas.microsoft.com/office/drawing/2014/main" val="20000"/>
                    </a:ext>
                  </a:extLst>
                </a:gridCol>
                <a:gridCol w="1009928">
                  <a:extLst>
                    <a:ext uri="{9D8B030D-6E8A-4147-A177-3AD203B41FA5}">
                      <a16:colId xmlns:a16="http://schemas.microsoft.com/office/drawing/2014/main" val="20001"/>
                    </a:ext>
                  </a:extLst>
                </a:gridCol>
                <a:gridCol w="1279244">
                  <a:extLst>
                    <a:ext uri="{9D8B030D-6E8A-4147-A177-3AD203B41FA5}">
                      <a16:colId xmlns:a16="http://schemas.microsoft.com/office/drawing/2014/main" val="20002"/>
                    </a:ext>
                  </a:extLst>
                </a:gridCol>
                <a:gridCol w="1184983">
                  <a:extLst>
                    <a:ext uri="{9D8B030D-6E8A-4147-A177-3AD203B41FA5}">
                      <a16:colId xmlns:a16="http://schemas.microsoft.com/office/drawing/2014/main" val="20003"/>
                    </a:ext>
                  </a:extLst>
                </a:gridCol>
              </a:tblGrid>
              <a:tr h="325656">
                <a:tc>
                  <a:txBody>
                    <a:bodyPr/>
                    <a:lstStyle/>
                    <a:p>
                      <a:pPr algn="l"/>
                      <a:r>
                        <a:rPr lang="en-US" sz="1300" b="1" u="none" dirty="0">
                          <a:solidFill>
                            <a:srgbClr val="FFFFFF"/>
                          </a:solidFill>
                          <a:latin typeface="+mn-ea"/>
                          <a:ea typeface="+mn-ea"/>
                          <a:cs typeface="QuattrocentoSans, MiSans" pitchFamily="34" charset="-120"/>
                        </a:rPr>
                        <a:t>模型</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mn-ea"/>
                          <a:ea typeface="+mn-ea"/>
                          <a:cs typeface="QuattrocentoSans, MiSans" pitchFamily="34" charset="-120"/>
                        </a:rPr>
                        <a:t>类型</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mn-ea"/>
                          <a:ea typeface="+mn-ea"/>
                          <a:cs typeface="QuattrocentoSans, MiSans" pitchFamily="34" charset="-120"/>
                        </a:rPr>
                        <a:t>ROUGE-L</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dirty="0">
                          <a:latin typeface="+mn-ea"/>
                          <a:ea typeface="+mn-ea"/>
                          <a:cs typeface="QuattrocentoSans, MiSans" charset="0"/>
                        </a:rPr>
                        <a:t> </a:t>
                      </a:r>
                      <a:r>
                        <a:rPr lang="en-US" altLang="zh-CN" sz="1300" b="1" u="none" kern="1200" dirty="0">
                          <a:solidFill>
                            <a:srgbClr val="FFFFFF"/>
                          </a:solidFill>
                          <a:latin typeface="+mn-ea"/>
                          <a:ea typeface="+mn-ea"/>
                          <a:cs typeface="QuattrocentoSans, MiSans" charset="0"/>
                        </a:rPr>
                        <a:t>p</a:t>
                      </a:r>
                      <a:r>
                        <a:rPr lang="zh-CN" altLang="en-US" sz="1300" b="1" u="none" kern="1200" dirty="0">
                          <a:solidFill>
                            <a:srgbClr val="FFFFFF"/>
                          </a:solidFill>
                          <a:latin typeface="+mn-ea"/>
                          <a:ea typeface="+mn-ea"/>
                          <a:cs typeface="QuattrocentoSans, MiSans" charset="0"/>
                        </a:rPr>
                        <a:t>值</a:t>
                      </a:r>
                      <a:endParaRPr lang="en-US" sz="1300" b="1" u="none" kern="1200" dirty="0">
                        <a:solidFill>
                          <a:srgbClr val="FFFFFF"/>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325656">
                <a:tc>
                  <a:txBody>
                    <a:bodyPr/>
                    <a:lstStyle/>
                    <a:p>
                      <a:pPr algn="l"/>
                      <a:r>
                        <a:rPr lang="en-US" sz="1300" u="none" dirty="0">
                          <a:solidFill>
                            <a:srgbClr val="1A1D21"/>
                          </a:solidFill>
                          <a:latin typeface="+mn-ea"/>
                          <a:ea typeface="+mn-ea"/>
                          <a:cs typeface="QuattrocentoSans, MiSans" pitchFamily="34" charset="-120"/>
                        </a:rPr>
                        <a:t>Qwen2.5-7B</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Base</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0.1424</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dirty="0">
                          <a:latin typeface="+mn-ea"/>
                          <a:ea typeface="+mn-ea"/>
                          <a:cs typeface="QuattrocentoSans, MiSans" charset="0"/>
                        </a:rPr>
                        <a:t>--</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5656">
                <a:tc>
                  <a:txBody>
                    <a:bodyPr/>
                    <a:lstStyle/>
                    <a:p>
                      <a:pPr algn="l"/>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FT</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0.2077</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altLang="zh-CN" sz="1300" dirty="0">
                          <a:solidFill>
                            <a:srgbClr val="FF0000"/>
                          </a:solidFill>
                          <a:latin typeface="+mn-ea"/>
                          <a:cs typeface="Quattrocento Sans" pitchFamily="34" charset="-120"/>
                        </a:rPr>
                        <a:t>p&lt;0.001</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325656">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Qwen3-1.7B</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Base</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0.1311</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866140407"/>
                  </a:ext>
                </a:extLst>
              </a:tr>
              <a:tr h="325656">
                <a:tc>
                  <a:txBody>
                    <a:bodyPr/>
                    <a:lstStyle/>
                    <a:p>
                      <a:pPr marR="76200" indent="72000" algn="just" latinLnBrk="0">
                        <a:lnSpc>
                          <a:spcPts val="2000"/>
                        </a:lnSpc>
                        <a:buNone/>
                      </a:pPr>
                      <a:r>
                        <a:rPr lang="en-US" sz="1300" kern="100">
                          <a:effectLst/>
                          <a:latin typeface="+mn-ea"/>
                          <a:ea typeface="+mn-ea"/>
                          <a:cs typeface="Times New Roman" panose="02020603050405020304" pitchFamily="18" charset="0"/>
                        </a:rPr>
                        <a:t> </a:t>
                      </a:r>
                      <a:endParaRPr lang="zh-CN" sz="1300" kern="10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FT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0.1803</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dirty="0">
                          <a:solidFill>
                            <a:srgbClr val="FF0000"/>
                          </a:solidFill>
                          <a:latin typeface="+mn-ea"/>
                          <a:cs typeface="Quattrocento Sans" pitchFamily="34" charset="-120"/>
                        </a:rPr>
                        <a:t>p&lt;0.01</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2204720007"/>
                  </a:ext>
                </a:extLst>
              </a:tr>
              <a:tr h="325656">
                <a:tc>
                  <a:txBody>
                    <a:bodyPr/>
                    <a:lstStyle/>
                    <a:p>
                      <a:pPr algn="l"/>
                      <a:r>
                        <a:rPr lang="en-US" sz="1300" u="none" dirty="0">
                          <a:solidFill>
                            <a:srgbClr val="1A1D21"/>
                          </a:solidFill>
                          <a:latin typeface="+mn-ea"/>
                          <a:ea typeface="+mn-ea"/>
                          <a:cs typeface="QuattrocentoSans, MiSans" pitchFamily="34" charset="-120"/>
                        </a:rPr>
                        <a:t>Qwen3-4B</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Base</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0.1389</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dirty="0">
                          <a:latin typeface="+mn-ea"/>
                          <a:ea typeface="+mn-ea"/>
                          <a:cs typeface="QuattrocentoSans, MiSans" charset="0"/>
                        </a:rPr>
                        <a:t>--</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5656">
                <a:tc>
                  <a:txBody>
                    <a:bodyPr/>
                    <a:lstStyle/>
                    <a:p>
                      <a:pPr algn="l"/>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FT</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0.2224</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altLang="zh-CN" sz="1300" dirty="0">
                          <a:solidFill>
                            <a:srgbClr val="FF0000"/>
                          </a:solidFill>
                          <a:latin typeface="+mn-ea"/>
                          <a:cs typeface="Quattrocento Sans" pitchFamily="34" charset="-120"/>
                        </a:rPr>
                        <a:t>p&lt;0.001</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325656">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Qwen3-8B</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Base</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0.1434</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697140440"/>
                  </a:ext>
                </a:extLst>
              </a:tr>
              <a:tr h="325656">
                <a:tc>
                  <a:txBody>
                    <a:bodyPr/>
                    <a:lstStyle/>
                    <a:p>
                      <a:pPr indent="72000" algn="l">
                        <a:buNone/>
                      </a:pPr>
                      <a:endParaRPr lang="zh-CN" sz="130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FT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0.2099</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dirty="0">
                          <a:solidFill>
                            <a:srgbClr val="FF0000"/>
                          </a:solidFill>
                          <a:latin typeface="+mn-ea"/>
                          <a:cs typeface="Quattrocento Sans" pitchFamily="34" charset="-120"/>
                        </a:rPr>
                        <a:t>p&lt;0.001</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352597928"/>
                  </a:ext>
                </a:extLst>
              </a:tr>
            </a:tbl>
          </a:graphicData>
        </a:graphic>
      </p:graphicFrame>
      <p:sp>
        <p:nvSpPr>
          <p:cNvPr id="16" name="Text 7">
            <a:extLst>
              <a:ext uri="{FF2B5EF4-FFF2-40B4-BE49-F238E27FC236}">
                <a16:creationId xmlns:a16="http://schemas.microsoft.com/office/drawing/2014/main" id="{A1F403D4-EF80-C2E3-C784-64CBDB079FA3}"/>
              </a:ext>
            </a:extLst>
          </p:cNvPr>
          <p:cNvSpPr/>
          <p:nvPr/>
        </p:nvSpPr>
        <p:spPr>
          <a:xfrm>
            <a:off x="5994400" y="1976372"/>
            <a:ext cx="5943600" cy="33729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六维度AI打分结果（综合均分）</a:t>
            </a:r>
            <a:endParaRPr lang="en-US" sz="1600" dirty="0"/>
          </a:p>
        </p:txBody>
      </p:sp>
      <p:graphicFrame>
        <p:nvGraphicFramePr>
          <p:cNvPr id="17" name="Chart 0">
            <a:extLst>
              <a:ext uri="{FF2B5EF4-FFF2-40B4-BE49-F238E27FC236}">
                <a16:creationId xmlns:a16="http://schemas.microsoft.com/office/drawing/2014/main" id="{EE42F1C1-3039-D580-1906-5ABF5496EE59}"/>
              </a:ext>
            </a:extLst>
          </p:cNvPr>
          <p:cNvGraphicFramePr/>
          <p:nvPr>
            <p:extLst>
              <p:ext uri="{D42A27DB-BD31-4B8C-83A1-F6EECF244321}">
                <p14:modId xmlns:p14="http://schemas.microsoft.com/office/powerpoint/2010/main" val="745884080"/>
              </p:ext>
            </p:extLst>
          </p:nvPr>
        </p:nvGraphicFramePr>
        <p:xfrm>
          <a:off x="5994400" y="2382772"/>
          <a:ext cx="5943600" cy="32431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73508741"/>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AB3EF-6529-B3DD-BF84-E975ADC7A3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E2F9A5-E440-1BCC-7175-2473B3EA49F5}"/>
              </a:ext>
            </a:extLst>
          </p:cNvPr>
          <p:cNvSpPr>
            <a:spLocks noGrp="1"/>
          </p:cNvSpPr>
          <p:nvPr>
            <p:ph type="title"/>
          </p:nvPr>
        </p:nvSpPr>
        <p:spPr/>
        <p:txBody>
          <a:bodyPr>
            <a:normAutofit/>
          </a:bodyPr>
          <a:lstStyle/>
          <a:p>
            <a:r>
              <a:rPr lang="zh-CN" altLang="en-US" dirty="0"/>
              <a:t>模型效果评估结果</a:t>
            </a:r>
          </a:p>
        </p:txBody>
      </p:sp>
      <p:sp>
        <p:nvSpPr>
          <p:cNvPr id="8" name="文本占位符 5">
            <a:extLst>
              <a:ext uri="{FF2B5EF4-FFF2-40B4-BE49-F238E27FC236}">
                <a16:creationId xmlns:a16="http://schemas.microsoft.com/office/drawing/2014/main" id="{CCAE21CA-1E69-6626-3C11-E9AE06942D74}"/>
              </a:ext>
            </a:extLst>
          </p:cNvPr>
          <p:cNvSpPr>
            <a:spLocks noGrp="1"/>
          </p:cNvSpPr>
          <p:nvPr>
            <p:ph type="body" sz="quarter" idx="13"/>
          </p:nvPr>
        </p:nvSpPr>
        <p:spPr>
          <a:xfrm>
            <a:off x="4038600" y="-7467"/>
            <a:ext cx="4114800" cy="216775"/>
          </a:xfrm>
        </p:spPr>
        <p:txBody>
          <a:bodyPr/>
          <a:lstStyle/>
          <a:p>
            <a:r>
              <a:rPr lang="zh-CN" altLang="en-US" dirty="0"/>
              <a:t>研究成果</a:t>
            </a:r>
          </a:p>
        </p:txBody>
      </p:sp>
      <p:sp>
        <p:nvSpPr>
          <p:cNvPr id="7" name="日期占位符 2">
            <a:extLst>
              <a:ext uri="{FF2B5EF4-FFF2-40B4-BE49-F238E27FC236}">
                <a16:creationId xmlns:a16="http://schemas.microsoft.com/office/drawing/2014/main" id="{EE85FD38-D533-4399-BA56-E0167AC3872A}"/>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9" name="页脚占位符 3">
            <a:extLst>
              <a:ext uri="{FF2B5EF4-FFF2-40B4-BE49-F238E27FC236}">
                <a16:creationId xmlns:a16="http://schemas.microsoft.com/office/drawing/2014/main" id="{5F2938F5-61C3-69E0-285C-6C7B2F5F0A42}"/>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11" name="灯片编号占位符 4">
            <a:extLst>
              <a:ext uri="{FF2B5EF4-FFF2-40B4-BE49-F238E27FC236}">
                <a16:creationId xmlns:a16="http://schemas.microsoft.com/office/drawing/2014/main" id="{325665A2-E7DA-6FCD-D5BD-CA3974D8B31A}"/>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21</a:t>
            </a:fld>
            <a:endParaRPr lang="zh-CN" altLang="en-US" dirty="0"/>
          </a:p>
        </p:txBody>
      </p:sp>
      <p:sp>
        <p:nvSpPr>
          <p:cNvPr id="21" name="Text 10">
            <a:extLst>
              <a:ext uri="{FF2B5EF4-FFF2-40B4-BE49-F238E27FC236}">
                <a16:creationId xmlns:a16="http://schemas.microsoft.com/office/drawing/2014/main" id="{0AE752D4-D051-F929-0922-A2998EE82C35}"/>
              </a:ext>
            </a:extLst>
          </p:cNvPr>
          <p:cNvSpPr/>
          <p:nvPr/>
        </p:nvSpPr>
        <p:spPr>
          <a:xfrm>
            <a:off x="529770" y="1944108"/>
            <a:ext cx="11003418" cy="4365252"/>
          </a:xfrm>
          <a:prstGeom prst="rect">
            <a:avLst/>
          </a:prstGeom>
          <a:noFill/>
          <a:ln/>
        </p:spPr>
        <p:txBody>
          <a:bodyPr wrap="square" lIns="0" tIns="0" rIns="0" bIns="0" rtlCol="0" anchor="t"/>
          <a:lstStyle/>
          <a:p>
            <a:pPr>
              <a:lnSpc>
                <a:spcPct val="200000"/>
              </a:lnSpc>
            </a:pPr>
            <a:r>
              <a:rPr lang="en-US" sz="1600" b="1" dirty="0" err="1">
                <a:solidFill>
                  <a:srgbClr val="C45C26"/>
                </a:solidFill>
                <a:latin typeface="+mn-ea"/>
                <a:cs typeface="Quattrocento Sans" pitchFamily="34" charset="-120"/>
              </a:rPr>
              <a:t>统计显著性</a:t>
            </a:r>
            <a:r>
              <a:rPr lang="en-US" sz="1600" dirty="0" err="1">
                <a:solidFill>
                  <a:srgbClr val="1A1D21"/>
                </a:solidFill>
                <a:latin typeface="+mn-ea"/>
                <a:cs typeface="Quattrocento Sans" pitchFamily="34" charset="-120"/>
              </a:rPr>
              <a:t>：Wilcoxon检验显示绝大多数维度</a:t>
            </a:r>
            <a:r>
              <a:rPr lang="en-US" sz="1600" dirty="0">
                <a:solidFill>
                  <a:srgbClr val="1A1D21"/>
                </a:solidFill>
                <a:latin typeface="+mn-ea"/>
                <a:cs typeface="Quattrocento Sans" pitchFamily="34" charset="-120"/>
              </a:rPr>
              <a:t> p&lt;0.001，领域微调效果高度可靠；“准确性”与“仅提供必要信息”中位数差异达 1分</a:t>
            </a:r>
            <a:r>
              <a:rPr lang="zh-CN" altLang="en-US" sz="1600" dirty="0">
                <a:solidFill>
                  <a:srgbClr val="1A1D21"/>
                </a:solidFill>
                <a:latin typeface="+mn-ea"/>
                <a:cs typeface="Quattrocento Sans" pitchFamily="34" charset="-120"/>
              </a:rPr>
              <a:t>，实现整档提升</a:t>
            </a:r>
            <a:endParaRPr lang="en-US" sz="1600" dirty="0">
              <a:latin typeface="+mn-ea"/>
            </a:endParaRPr>
          </a:p>
          <a:p>
            <a:pPr algn="just">
              <a:lnSpc>
                <a:spcPct val="200000"/>
              </a:lnSpc>
            </a:pPr>
            <a:r>
              <a:rPr lang="en-US" sz="1600" b="1" dirty="0">
                <a:solidFill>
                  <a:srgbClr val="C45C26"/>
                </a:solidFill>
                <a:latin typeface="+mn-ea"/>
                <a:cs typeface="Quattrocento Sans" pitchFamily="34" charset="-120"/>
              </a:rPr>
              <a:t>最佳模型</a:t>
            </a:r>
            <a:r>
              <a:rPr lang="en-US" sz="1600" dirty="0">
                <a:solidFill>
                  <a:srgbClr val="1A1D21"/>
                </a:solidFill>
                <a:latin typeface="+mn-ea"/>
                <a:cs typeface="Quattrocento Sans" pitchFamily="34" charset="-120"/>
              </a:rPr>
              <a:t>：Qwen3-4B微调后综合均分 2.927；ROUGE-L从0.1389提升至0.2224</a:t>
            </a:r>
          </a:p>
          <a:p>
            <a:pPr>
              <a:lnSpc>
                <a:spcPct val="200000"/>
              </a:lnSpc>
            </a:pPr>
            <a:r>
              <a:rPr lang="zh-CN" altLang="en-US" sz="1600" b="1" dirty="0">
                <a:solidFill>
                  <a:srgbClr val="C45C26"/>
                </a:solidFill>
                <a:latin typeface="+mn-ea"/>
                <a:cs typeface="Quattrocento Sans" pitchFamily="34" charset="-120"/>
              </a:rPr>
              <a:t>模型的</a:t>
            </a:r>
            <a:r>
              <a:rPr lang="en-US" sz="1600" b="1" dirty="0">
                <a:solidFill>
                  <a:srgbClr val="C45C26"/>
                </a:solidFill>
                <a:latin typeface="+mn-ea"/>
                <a:cs typeface="Quattrocento Sans" pitchFamily="34" charset="-120"/>
              </a:rPr>
              <a:t>规模效应</a:t>
            </a:r>
            <a:r>
              <a:rPr lang="en-US" sz="1600" dirty="0">
                <a:solidFill>
                  <a:srgbClr val="1A1D21"/>
                </a:solidFill>
                <a:latin typeface="+mn-ea"/>
                <a:cs typeface="Quattrocento Sans" pitchFamily="34" charset="-120"/>
              </a:rPr>
              <a:t>：Qwen2.5系列中1.5B/3B模型ROUGE-L提升未达显著，提示参数规模存在知识容纳下限；Qwen3-1.7B（小参数）亦能显著提升，说明架构代际差异同样</a:t>
            </a:r>
            <a:r>
              <a:rPr lang="zh-CN" altLang="en-US" sz="1600" dirty="0">
                <a:solidFill>
                  <a:srgbClr val="1A1D21"/>
                </a:solidFill>
                <a:latin typeface="+mn-ea"/>
                <a:cs typeface="Quattrocento Sans" pitchFamily="34" charset="-120"/>
              </a:rPr>
              <a:t>是微调效果提升与否的关键原因。</a:t>
            </a:r>
            <a:endParaRPr lang="en-US" sz="1600" dirty="0">
              <a:latin typeface="+mn-ea"/>
            </a:endParaRPr>
          </a:p>
          <a:p>
            <a:pPr algn="just">
              <a:lnSpc>
                <a:spcPct val="200000"/>
              </a:lnSpc>
            </a:pPr>
            <a:r>
              <a:rPr lang="en-US" sz="1600" b="1" dirty="0">
                <a:solidFill>
                  <a:srgbClr val="C45C26"/>
                </a:solidFill>
                <a:latin typeface="+mn-ea"/>
                <a:cs typeface="Quattrocento Sans" pitchFamily="34" charset="-120"/>
              </a:rPr>
              <a:t>主题差异</a:t>
            </a:r>
            <a:r>
              <a:rPr lang="en-US" sz="1600" dirty="0">
                <a:solidFill>
                  <a:srgbClr val="1A1D21"/>
                </a:solidFill>
                <a:latin typeface="+mn-ea"/>
                <a:cs typeface="Quattrocento Sans" pitchFamily="34" charset="-120"/>
              </a:rPr>
              <a:t>：高风险敏感议题（人工流产+0.619、体外排精+0.476）提升幅度最大，向常规高频议题递减</a:t>
            </a:r>
            <a:endParaRPr lang="en-US" sz="1600" dirty="0">
              <a:latin typeface="+mn-ea"/>
            </a:endParaRPr>
          </a:p>
          <a:p>
            <a:pPr algn="just">
              <a:lnSpc>
                <a:spcPct val="200000"/>
              </a:lnSpc>
            </a:pPr>
            <a:r>
              <a:rPr lang="en-US" altLang="zh-CN" sz="1600" b="1" dirty="0" err="1">
                <a:solidFill>
                  <a:srgbClr val="C45C26"/>
                </a:solidFill>
                <a:latin typeface="+mn-ea"/>
              </a:rPr>
              <a:t>微调边际增益有限</a:t>
            </a:r>
            <a:r>
              <a:rPr lang="en-US" altLang="zh-CN" sz="1600" dirty="0">
                <a:solidFill>
                  <a:srgbClr val="1A1D21"/>
                </a:solidFill>
                <a:latin typeface="+mn-ea"/>
                <a:cs typeface="Quattrocento Sans" pitchFamily="34" charset="-120"/>
              </a:rPr>
              <a:t> </a:t>
            </a:r>
            <a:r>
              <a:rPr lang="en-US" sz="1600" dirty="0">
                <a:solidFill>
                  <a:srgbClr val="1A1D21"/>
                </a:solidFill>
                <a:latin typeface="+mn-ea"/>
                <a:cs typeface="Quattrocento Sans" pitchFamily="34" charset="-120"/>
              </a:rPr>
              <a:t>：</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易于理解</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维度基线已接近满分，微调边际增益有限</a:t>
            </a:r>
            <a:endParaRPr lang="en-US" sz="1600" dirty="0">
              <a:latin typeface="+mn-ea"/>
            </a:endParaRPr>
          </a:p>
        </p:txBody>
      </p:sp>
    </p:spTree>
    <p:extLst>
      <p:ext uri="{BB962C8B-B14F-4D97-AF65-F5344CB8AC3E}">
        <p14:creationId xmlns:p14="http://schemas.microsoft.com/office/powerpoint/2010/main" val="1045862295"/>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8226-93EA-4186-32B1-07F9125579C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A0A268-7763-E7A2-0D54-897B18F1D2AE}"/>
              </a:ext>
            </a:extLst>
          </p:cNvPr>
          <p:cNvSpPr>
            <a:spLocks noGrp="1"/>
          </p:cNvSpPr>
          <p:nvPr>
            <p:ph type="title"/>
          </p:nvPr>
        </p:nvSpPr>
        <p:spPr/>
        <p:txBody>
          <a:bodyPr>
            <a:normAutofit/>
          </a:bodyPr>
          <a:lstStyle/>
          <a:p>
            <a:r>
              <a:rPr lang="zh-CN" altLang="en-US" dirty="0"/>
              <a:t>主题分析与典型案例</a:t>
            </a:r>
          </a:p>
        </p:txBody>
      </p:sp>
      <p:sp>
        <p:nvSpPr>
          <p:cNvPr id="21" name="文本占位符 5">
            <a:extLst>
              <a:ext uri="{FF2B5EF4-FFF2-40B4-BE49-F238E27FC236}">
                <a16:creationId xmlns:a16="http://schemas.microsoft.com/office/drawing/2014/main" id="{35B1F3C3-E5B6-9005-AEE4-137FA7746098}"/>
              </a:ext>
            </a:extLst>
          </p:cNvPr>
          <p:cNvSpPr>
            <a:spLocks noGrp="1"/>
          </p:cNvSpPr>
          <p:nvPr>
            <p:ph type="body" sz="quarter" idx="13"/>
          </p:nvPr>
        </p:nvSpPr>
        <p:spPr>
          <a:xfrm>
            <a:off x="4038600" y="-7467"/>
            <a:ext cx="4114800" cy="216775"/>
          </a:xfrm>
        </p:spPr>
        <p:txBody>
          <a:bodyPr/>
          <a:lstStyle/>
          <a:p>
            <a:r>
              <a:rPr lang="zh-CN" altLang="en-US" dirty="0"/>
              <a:t>研究成果</a:t>
            </a:r>
          </a:p>
        </p:txBody>
      </p:sp>
      <p:sp>
        <p:nvSpPr>
          <p:cNvPr id="6" name="Text 5">
            <a:extLst>
              <a:ext uri="{FF2B5EF4-FFF2-40B4-BE49-F238E27FC236}">
                <a16:creationId xmlns:a16="http://schemas.microsoft.com/office/drawing/2014/main" id="{EA70AC14-B982-9C1F-7430-9A633F1A3431}"/>
              </a:ext>
            </a:extLst>
          </p:cNvPr>
          <p:cNvSpPr/>
          <p:nvPr/>
        </p:nvSpPr>
        <p:spPr>
          <a:xfrm>
            <a:off x="355600" y="1227228"/>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各主题综合均分提升幅度（Qwen3-4B）</a:t>
            </a:r>
            <a:endParaRPr lang="en-US" sz="1600" dirty="0"/>
          </a:p>
        </p:txBody>
      </p:sp>
      <p:graphicFrame>
        <p:nvGraphicFramePr>
          <p:cNvPr id="12" name="Chart 0">
            <a:extLst>
              <a:ext uri="{FF2B5EF4-FFF2-40B4-BE49-F238E27FC236}">
                <a16:creationId xmlns:a16="http://schemas.microsoft.com/office/drawing/2014/main" id="{A927082E-36BD-E8F6-A554-9BAFCCC38503}"/>
              </a:ext>
            </a:extLst>
          </p:cNvPr>
          <p:cNvGraphicFramePr/>
          <p:nvPr>
            <p:extLst>
              <p:ext uri="{D42A27DB-BD31-4B8C-83A1-F6EECF244321}">
                <p14:modId xmlns:p14="http://schemas.microsoft.com/office/powerpoint/2010/main" val="1391017006"/>
              </p:ext>
            </p:extLst>
          </p:nvPr>
        </p:nvGraphicFramePr>
        <p:xfrm>
          <a:off x="355601" y="1671728"/>
          <a:ext cx="4883149" cy="3086100"/>
        </p:xfrm>
        <a:graphic>
          <a:graphicData uri="http://schemas.openxmlformats.org/drawingml/2006/chart">
            <c:chart xmlns:c="http://schemas.openxmlformats.org/drawingml/2006/chart" xmlns:r="http://schemas.openxmlformats.org/officeDocument/2006/relationships" r:id="rId2"/>
          </a:graphicData>
        </a:graphic>
      </p:graphicFrame>
      <p:sp>
        <p:nvSpPr>
          <p:cNvPr id="31" name="Text 7">
            <a:extLst>
              <a:ext uri="{FF2B5EF4-FFF2-40B4-BE49-F238E27FC236}">
                <a16:creationId xmlns:a16="http://schemas.microsoft.com/office/drawing/2014/main" id="{066B2BA4-C284-061D-BABC-80ED13020FC0}"/>
              </a:ext>
            </a:extLst>
          </p:cNvPr>
          <p:cNvSpPr/>
          <p:nvPr/>
        </p:nvSpPr>
        <p:spPr>
          <a:xfrm>
            <a:off x="5581650" y="1227228"/>
            <a:ext cx="5804858"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典型案例对比</a:t>
            </a:r>
            <a:endParaRPr lang="en-US" sz="1600" dirty="0"/>
          </a:p>
        </p:txBody>
      </p:sp>
      <p:sp>
        <p:nvSpPr>
          <p:cNvPr id="32" name="Shape 8">
            <a:extLst>
              <a:ext uri="{FF2B5EF4-FFF2-40B4-BE49-F238E27FC236}">
                <a16:creationId xmlns:a16="http://schemas.microsoft.com/office/drawing/2014/main" id="{1F60B4DA-A9BA-C9EA-0E0B-A19DDF639830}"/>
              </a:ext>
            </a:extLst>
          </p:cNvPr>
          <p:cNvSpPr/>
          <p:nvPr/>
        </p:nvSpPr>
        <p:spPr>
          <a:xfrm>
            <a:off x="5581650" y="1709828"/>
            <a:ext cx="6153150" cy="1460500"/>
          </a:xfrm>
          <a:prstGeom prst="rect">
            <a:avLst/>
          </a:prstGeom>
          <a:solidFill>
            <a:srgbClr val="F0F7FF"/>
          </a:solidFill>
          <a:ln>
            <a:solidFill>
              <a:schemeClr val="bg2">
                <a:lumMod val="50000"/>
              </a:schemeClr>
            </a:solidFill>
          </a:ln>
        </p:spPr>
        <p:txBody>
          <a:bodyPr/>
          <a:lstStyle/>
          <a:p>
            <a:endParaRPr lang="zh-CN" altLang="en-US"/>
          </a:p>
        </p:txBody>
      </p:sp>
      <p:sp>
        <p:nvSpPr>
          <p:cNvPr id="33" name="Text 9">
            <a:extLst>
              <a:ext uri="{FF2B5EF4-FFF2-40B4-BE49-F238E27FC236}">
                <a16:creationId xmlns:a16="http://schemas.microsoft.com/office/drawing/2014/main" id="{6BBBB549-62FA-8A0F-7506-3C910A2D57B1}"/>
              </a:ext>
            </a:extLst>
          </p:cNvPr>
          <p:cNvSpPr/>
          <p:nvPr/>
        </p:nvSpPr>
        <p:spPr>
          <a:xfrm>
            <a:off x="5772150" y="1773328"/>
            <a:ext cx="1393166" cy="2794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优秀案例</a:t>
            </a:r>
            <a:endParaRPr lang="en-US" sz="1600" dirty="0"/>
          </a:p>
        </p:txBody>
      </p:sp>
      <p:sp>
        <p:nvSpPr>
          <p:cNvPr id="34" name="Text 10">
            <a:extLst>
              <a:ext uri="{FF2B5EF4-FFF2-40B4-BE49-F238E27FC236}">
                <a16:creationId xmlns:a16="http://schemas.microsoft.com/office/drawing/2014/main" id="{F5624F86-15E0-C2BD-760F-1B151FFFC889}"/>
              </a:ext>
            </a:extLst>
          </p:cNvPr>
          <p:cNvSpPr/>
          <p:nvPr/>
        </p:nvSpPr>
        <p:spPr>
          <a:xfrm>
            <a:off x="5772150" y="2090828"/>
            <a:ext cx="5804858" cy="10795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人工流产主题：基线模型将"中晚期终止妊娠"错误描述为"医生建议的常规选择"；微调后模型准确指出医学指征（胎儿畸形、母体并发症），信息准确、逻辑清晰</a:t>
            </a:r>
            <a:endParaRPr lang="en-US" sz="1600" dirty="0"/>
          </a:p>
        </p:txBody>
      </p:sp>
      <p:sp>
        <p:nvSpPr>
          <p:cNvPr id="35" name="Shape 11">
            <a:extLst>
              <a:ext uri="{FF2B5EF4-FFF2-40B4-BE49-F238E27FC236}">
                <a16:creationId xmlns:a16="http://schemas.microsoft.com/office/drawing/2014/main" id="{44EADAFB-FD11-8417-7A1C-00E5557D1E3B}"/>
              </a:ext>
            </a:extLst>
          </p:cNvPr>
          <p:cNvSpPr/>
          <p:nvPr/>
        </p:nvSpPr>
        <p:spPr>
          <a:xfrm>
            <a:off x="5581650" y="3297328"/>
            <a:ext cx="6153150" cy="1460500"/>
          </a:xfrm>
          <a:prstGeom prst="rect">
            <a:avLst/>
          </a:prstGeom>
          <a:solidFill>
            <a:srgbClr val="FFF5F0"/>
          </a:solidFill>
          <a:ln>
            <a:solidFill>
              <a:schemeClr val="bg2">
                <a:lumMod val="50000"/>
              </a:schemeClr>
            </a:solidFill>
          </a:ln>
        </p:spPr>
        <p:txBody>
          <a:bodyPr/>
          <a:lstStyle/>
          <a:p>
            <a:endParaRPr lang="zh-CN" altLang="en-US"/>
          </a:p>
        </p:txBody>
      </p:sp>
      <p:sp>
        <p:nvSpPr>
          <p:cNvPr id="36" name="Text 12">
            <a:extLst>
              <a:ext uri="{FF2B5EF4-FFF2-40B4-BE49-F238E27FC236}">
                <a16:creationId xmlns:a16="http://schemas.microsoft.com/office/drawing/2014/main" id="{78EB11E2-0D8E-BE95-74EA-9BE7205FD01F}"/>
              </a:ext>
            </a:extLst>
          </p:cNvPr>
          <p:cNvSpPr/>
          <p:nvPr/>
        </p:nvSpPr>
        <p:spPr>
          <a:xfrm>
            <a:off x="5772150" y="3360828"/>
            <a:ext cx="1393166" cy="279400"/>
          </a:xfrm>
          <a:prstGeom prst="rect">
            <a:avLst/>
          </a:prstGeom>
          <a:noFill/>
          <a:ln/>
        </p:spPr>
        <p:txBody>
          <a:bodyPr wrap="none" lIns="0" tIns="0" rIns="0" bIns="0" rtlCol="0" anchor="ctr"/>
          <a:lstStyle/>
          <a:p>
            <a:pPr>
              <a:lnSpc>
                <a:spcPct val="100000"/>
              </a:lnSpc>
            </a:pPr>
            <a:r>
              <a:rPr lang="en-US" sz="1400" b="1" dirty="0">
                <a:solidFill>
                  <a:srgbClr val="C45C26"/>
                </a:solidFill>
                <a:latin typeface="Quattrocento Sans" pitchFamily="34" charset="0"/>
                <a:ea typeface="Quattrocento Sans" pitchFamily="34" charset="-122"/>
                <a:cs typeface="Quattrocento Sans" pitchFamily="34" charset="-120"/>
              </a:rPr>
              <a:t>边界案例</a:t>
            </a:r>
            <a:endParaRPr lang="en-US" sz="1600" dirty="0"/>
          </a:p>
        </p:txBody>
      </p:sp>
      <p:sp>
        <p:nvSpPr>
          <p:cNvPr id="37" name="Text 13">
            <a:extLst>
              <a:ext uri="{FF2B5EF4-FFF2-40B4-BE49-F238E27FC236}">
                <a16:creationId xmlns:a16="http://schemas.microsoft.com/office/drawing/2014/main" id="{45941059-B454-92AE-4468-34809478411E}"/>
              </a:ext>
            </a:extLst>
          </p:cNvPr>
          <p:cNvSpPr/>
          <p:nvPr/>
        </p:nvSpPr>
        <p:spPr>
          <a:xfrm>
            <a:off x="5772150" y="3678328"/>
            <a:ext cx="5804858" cy="10414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男性避孕针：模型将男性避孕针与女性激素避孕针混淆，编造"月经第5-7天注射"等用药规范；二手避孕套：模型认可伪概念并编造获取途径，存在严重安全隐患</a:t>
            </a:r>
            <a:endParaRPr lang="en-US" sz="1600" dirty="0"/>
          </a:p>
        </p:txBody>
      </p:sp>
      <p:sp>
        <p:nvSpPr>
          <p:cNvPr id="40" name="Text 16">
            <a:extLst>
              <a:ext uri="{FF2B5EF4-FFF2-40B4-BE49-F238E27FC236}">
                <a16:creationId xmlns:a16="http://schemas.microsoft.com/office/drawing/2014/main" id="{4EE7A427-FCBD-3797-E19A-22F0594B70F6}"/>
              </a:ext>
            </a:extLst>
          </p:cNvPr>
          <p:cNvSpPr/>
          <p:nvPr/>
        </p:nvSpPr>
        <p:spPr>
          <a:xfrm>
            <a:off x="355601" y="5100728"/>
            <a:ext cx="11379200" cy="1330642"/>
          </a:xfrm>
          <a:prstGeom prst="rect">
            <a:avLst/>
          </a:prstGeom>
          <a:noFill/>
          <a:ln/>
        </p:spPr>
        <p:txBody>
          <a:bodyPr wrap="square" lIns="0" tIns="0" rIns="0" bIns="0" rtlCol="0" anchor="t"/>
          <a:lstStyle/>
          <a:p>
            <a:pPr algn="just">
              <a:lnSpc>
                <a:spcPts val="2800"/>
              </a:lnSpc>
            </a:pPr>
            <a:r>
              <a:rPr lang="en-US" sz="1700" b="1" dirty="0" err="1">
                <a:solidFill>
                  <a:srgbClr val="1A4B8C"/>
                </a:solidFill>
                <a:latin typeface="Quattrocento Sans" pitchFamily="34" charset="0"/>
                <a:cs typeface="Quattrocento Sans" pitchFamily="34" charset="-120"/>
              </a:rPr>
              <a:t>提升梯度</a:t>
            </a:r>
            <a:r>
              <a:rPr lang="en-US" sz="1700" dirty="0">
                <a:solidFill>
                  <a:srgbClr val="1A1D21"/>
                </a:solidFill>
                <a:latin typeface="Quattrocento Sans" pitchFamily="34" charset="0"/>
                <a:cs typeface="Quattrocento Sans" pitchFamily="34" charset="-120"/>
              </a:rPr>
              <a:t>：</a:t>
            </a:r>
            <a:r>
              <a:rPr lang="zh-CN" altLang="en-US" sz="1700" dirty="0">
                <a:solidFill>
                  <a:srgbClr val="1A1D21"/>
                </a:solidFill>
                <a:latin typeface="Quattrocento Sans" pitchFamily="34" charset="0"/>
                <a:cs typeface="Quattrocento Sans" pitchFamily="34" charset="-120"/>
              </a:rPr>
              <a:t>高风险敏感议题（人工流产、体外排精）提升幅度最大，向常规高频议题递减，说明数据集在不同主题覆盖上较为充分且均衡</a:t>
            </a:r>
          </a:p>
          <a:p>
            <a:pPr algn="just">
              <a:lnSpc>
                <a:spcPts val="2800"/>
              </a:lnSpc>
            </a:pPr>
            <a:r>
              <a:rPr lang="zh-CN" altLang="en-US" sz="1700" b="1" dirty="0">
                <a:solidFill>
                  <a:srgbClr val="1A4B8C"/>
                </a:solidFill>
                <a:latin typeface="Quattrocento Sans" pitchFamily="34" charset="0"/>
              </a:rPr>
              <a:t>能力盲区：</a:t>
            </a:r>
            <a:r>
              <a:rPr lang="zh-CN" altLang="en-US" sz="1700" dirty="0">
                <a:solidFill>
                  <a:srgbClr val="1A1D21"/>
                </a:solidFill>
                <a:latin typeface="Quattrocento Sans" pitchFamily="34" charset="0"/>
                <a:cs typeface="Quattrocento Sans" pitchFamily="34" charset="-120"/>
              </a:rPr>
              <a:t>①前沿未定论议题</a:t>
            </a:r>
            <a:r>
              <a:rPr lang="en-US" altLang="zh-CN" sz="1700" dirty="0">
                <a:solidFill>
                  <a:srgbClr val="1A1D21"/>
                </a:solidFill>
                <a:latin typeface="Quattrocento Sans" pitchFamily="34" charset="0"/>
                <a:cs typeface="Quattrocento Sans" pitchFamily="34" charset="-120"/>
              </a:rPr>
              <a:t>——</a:t>
            </a:r>
            <a:r>
              <a:rPr lang="zh-CN" altLang="en-US" sz="1700" dirty="0">
                <a:solidFill>
                  <a:srgbClr val="1A1D21"/>
                </a:solidFill>
                <a:latin typeface="Quattrocento Sans" pitchFamily="34" charset="0"/>
                <a:cs typeface="Quattrocento Sans" pitchFamily="34" charset="-120"/>
              </a:rPr>
              <a:t>模型易混淆研究进展与既有知识，产生幻觉；②伪概念提问</a:t>
            </a:r>
            <a:r>
              <a:rPr lang="en-US" altLang="zh-CN" sz="1700" dirty="0">
                <a:solidFill>
                  <a:srgbClr val="1A1D21"/>
                </a:solidFill>
                <a:latin typeface="Quattrocento Sans" pitchFamily="34" charset="0"/>
                <a:cs typeface="Quattrocento Sans" pitchFamily="34" charset="-120"/>
              </a:rPr>
              <a:t>——</a:t>
            </a:r>
            <a:r>
              <a:rPr lang="zh-CN" altLang="en-US" sz="1700" dirty="0">
                <a:solidFill>
                  <a:srgbClr val="1A1D21"/>
                </a:solidFill>
                <a:latin typeface="Quattrocento Sans" pitchFamily="34" charset="0"/>
                <a:cs typeface="Quattrocento Sans" pitchFamily="34" charset="-120"/>
              </a:rPr>
              <a:t>模型缺乏批判性反驳能力，倾向于迎合式演绎</a:t>
            </a:r>
          </a:p>
          <a:p>
            <a:pPr algn="just">
              <a:lnSpc>
                <a:spcPts val="2800"/>
              </a:lnSpc>
            </a:pPr>
            <a:endParaRPr lang="en-US" sz="1600" dirty="0"/>
          </a:p>
        </p:txBody>
      </p:sp>
      <p:sp>
        <p:nvSpPr>
          <p:cNvPr id="42" name="日期占位符 2">
            <a:extLst>
              <a:ext uri="{FF2B5EF4-FFF2-40B4-BE49-F238E27FC236}">
                <a16:creationId xmlns:a16="http://schemas.microsoft.com/office/drawing/2014/main" id="{C5E74E0C-CB89-8D2D-6459-A33F1DB4403C}"/>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43" name="页脚占位符 3">
            <a:extLst>
              <a:ext uri="{FF2B5EF4-FFF2-40B4-BE49-F238E27FC236}">
                <a16:creationId xmlns:a16="http://schemas.microsoft.com/office/drawing/2014/main" id="{934722F7-DB6E-C536-0992-037EA0205968}"/>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44" name="灯片编号占位符 4">
            <a:extLst>
              <a:ext uri="{FF2B5EF4-FFF2-40B4-BE49-F238E27FC236}">
                <a16:creationId xmlns:a16="http://schemas.microsoft.com/office/drawing/2014/main" id="{07D5BAE9-31F8-5C34-295B-94DB02B631B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22</a:t>
            </a:fld>
            <a:endParaRPr lang="zh-CN" altLang="en-US" dirty="0"/>
          </a:p>
        </p:txBody>
      </p:sp>
    </p:spTree>
    <p:extLst>
      <p:ext uri="{BB962C8B-B14F-4D97-AF65-F5344CB8AC3E}">
        <p14:creationId xmlns:p14="http://schemas.microsoft.com/office/powerpoint/2010/main" val="2577204316"/>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F4FF-F3A9-8E1F-BEF3-02F5341DB6B6}"/>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5E5B72A7-313B-06A6-66CF-827997E1C638}"/>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8073D7B-07F3-009D-135A-BB1256D98ECD}"/>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21ACBB22-F053-59FC-454F-47583D81435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B3570B90-0902-C044-0F93-E6F9EDA4DF46}"/>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13A77957-3CBF-E2C2-0862-670F5C3F5D4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37AA06AA-726A-7599-38FF-631EE0723D4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6EDFFC48-F4C0-D791-5ADF-D4B901F6711F}"/>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E4B7620E-AA0F-FBBC-9453-E3FECE633B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D32E756A-B11C-F036-234B-2387CCCB227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6E62FAC5-74DA-24DB-D33D-16EB41685F3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020BB3D-C87C-6994-CF0D-5FADC64545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F023A1D5-F8F0-7AF9-5317-449319B0644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BCBF7D33-D51F-BA4D-E94A-565661B7F65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4937B9F7-6495-55F1-9051-3353858E129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25E4EC49-4698-4351-3BA5-A3588AD7A92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A00B679D-ECB8-0152-09EC-7BB1E6FDC1C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DC93D291-17E7-B672-9C11-5716DCB2A3F3}"/>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9122F6FD-E229-6A35-30A7-278BF157AA00}"/>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5E68F467-9A75-AAC1-6167-DB6D04DFA235}"/>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8EC57D0F-3E19-EEB6-DCE1-517281E2B1FD}"/>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9D0E9137-2E48-38A3-A3CB-FE60E9A39003}"/>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FFAFC75-CAB9-CAB3-E97F-B3D83857A706}"/>
              </a:ext>
            </a:extLst>
          </p:cNvPr>
          <p:cNvSpPr txBox="1"/>
          <p:nvPr/>
        </p:nvSpPr>
        <p:spPr>
          <a:xfrm>
            <a:off x="1873071" y="2105561"/>
            <a:ext cx="2388795"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04</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35258D23-DA6F-292D-4E4B-D3A08DB0A305}"/>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研究总结与展望</a:t>
            </a:r>
            <a:endParaRPr lang="en-US" altLang="zh-CN" sz="4400" b="1" dirty="0">
              <a:solidFill>
                <a:schemeClr val="bg1"/>
              </a:solidFill>
            </a:endParaRPr>
          </a:p>
        </p:txBody>
      </p:sp>
      <p:sp>
        <p:nvSpPr>
          <p:cNvPr id="13" name="文本占位符 1">
            <a:extLst>
              <a:ext uri="{FF2B5EF4-FFF2-40B4-BE49-F238E27FC236}">
                <a16:creationId xmlns:a16="http://schemas.microsoft.com/office/drawing/2014/main" id="{36453291-D389-8B93-303D-4EB33DCF2CCF}"/>
              </a:ext>
            </a:extLst>
          </p:cNvPr>
          <p:cNvSpPr txBox="1">
            <a:spLocks/>
          </p:cNvSpPr>
          <p:nvPr/>
        </p:nvSpPr>
        <p:spPr>
          <a:xfrm>
            <a:off x="5222839" y="3617144"/>
            <a:ext cx="3347135"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Plan and Arrangement</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6956CE79-7655-5204-0A6C-1F375FAED94F}"/>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47C1DE9F-81A0-4E87-7505-927C8EA5417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6D1FF26-43FB-CBA9-2670-248C6C1DFBA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1F42716-881B-54F1-CCD9-D761FB7F0C00}"/>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159A2499-FC6B-0896-0F44-BDB98C825A0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29208E56-B631-56F2-AFEB-B109FD129F08}"/>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5A522D38-B5C6-B30E-A40E-7B67368986F6}"/>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2720303D-A7B7-45AD-2481-43EACC301357}"/>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ACF79CB3-A34A-B64A-A815-3C2FCDFDD981}"/>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B167274A-7B61-E142-07DF-529FA82CC2B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2C12D985-E96A-DFFC-81D0-04B2B464A735}"/>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B471A47F-7E54-3A6A-B190-BA5490B4015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CCE74C05-4A75-43C6-7C91-AEDAAA344918}"/>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E8FDA081-BA66-FDEF-BFC4-CBF02E27028C}"/>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35F27EC7-8DC3-F3DE-D6FF-86C2336E74E2}"/>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2CEC8607-FAB4-D6C8-4354-BA5CFC89A3D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B4D02AB2-5C59-40C3-73E9-3BFB60BD3D14}"/>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02243D1D-B040-6E7A-7F7B-BFAFEF8DEA51}"/>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C85E974F-46D3-0911-8538-6F5ACA3C6AB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C75811-5E12-7DD9-85A8-80F6469B442F}"/>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2095961B-1D0F-273E-CC55-7996023BACC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BCF31A0C-0E05-C638-45F8-D97AC8F86669}"/>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58B675CE-7B0B-F3D1-1342-7ADFC39C9ADB}"/>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C45381C6-8BB3-7237-2C0F-A4A096F7EB25}"/>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B43B09A5-3852-BA81-5846-1A3A8E3380E0}"/>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19B9288C-D3DA-3376-6C98-49D2CB1955DD}"/>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DDABEF77-C94B-D11A-1A7E-A21C49349AB4}"/>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0D954ABF-AF2A-CA2A-8C0A-F510A92B8AD3}"/>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1D1B6380-05EF-7A42-B137-52C47105021F}"/>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6C196A5-AF44-B8CF-C645-66533D28ACFC}"/>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6F53074A-5F3E-048D-4809-E5BF31E45012}"/>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8EAF5CE4-0FF4-54A7-223B-C53436EAE423}"/>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BFF80D1-6958-C22C-0823-583C9EDA2FF8}"/>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3A4CC34-6E8D-8545-5BA8-DE1811BC8EAE}"/>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A0044AF7-2E68-D238-0FCF-60B05DB51499}"/>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1A7BD690-A19D-2519-60DD-9FF9ED0D3A82}"/>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2687B596-6A41-E687-225C-7BF8D00E0202}"/>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4B9F054-F360-293F-03FA-2204C743B3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222510696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02C7E-4600-126E-C306-5A6AE8F12E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4EEB475-4460-9744-5A96-0C3143634FC5}"/>
              </a:ext>
            </a:extLst>
          </p:cNvPr>
          <p:cNvSpPr>
            <a:spLocks noGrp="1"/>
          </p:cNvSpPr>
          <p:nvPr>
            <p:ph type="title"/>
          </p:nvPr>
        </p:nvSpPr>
        <p:spPr/>
        <p:txBody>
          <a:bodyPr>
            <a:normAutofit/>
          </a:bodyPr>
          <a:lstStyle/>
          <a:p>
            <a:r>
              <a:rPr lang="zh-CN" altLang="en-US" dirty="0"/>
              <a:t>主要结论与创新点</a:t>
            </a:r>
          </a:p>
        </p:txBody>
      </p:sp>
      <p:sp>
        <p:nvSpPr>
          <p:cNvPr id="6" name="文本占位符 5">
            <a:extLst>
              <a:ext uri="{FF2B5EF4-FFF2-40B4-BE49-F238E27FC236}">
                <a16:creationId xmlns:a16="http://schemas.microsoft.com/office/drawing/2014/main" id="{8B778578-18B4-9AEE-A802-9DE93E1BBB37}"/>
              </a:ext>
            </a:extLst>
          </p:cNvPr>
          <p:cNvSpPr>
            <a:spLocks noGrp="1"/>
          </p:cNvSpPr>
          <p:nvPr>
            <p:ph type="body" sz="quarter" idx="13"/>
          </p:nvPr>
        </p:nvSpPr>
        <p:spPr/>
        <p:txBody>
          <a:bodyPr/>
          <a:lstStyle/>
          <a:p>
            <a:r>
              <a:rPr lang="zh-CN" altLang="en-US" dirty="0"/>
              <a:t>研究总结与展望</a:t>
            </a:r>
          </a:p>
          <a:p>
            <a:endParaRPr lang="zh-CN" altLang="en-US" dirty="0"/>
          </a:p>
        </p:txBody>
      </p:sp>
      <p:sp>
        <p:nvSpPr>
          <p:cNvPr id="42" name="Text 5">
            <a:extLst>
              <a:ext uri="{FF2B5EF4-FFF2-40B4-BE49-F238E27FC236}">
                <a16:creationId xmlns:a16="http://schemas.microsoft.com/office/drawing/2014/main" id="{ACA70ADF-45FB-8AE3-FDCD-8DA7A1190A5D}"/>
              </a:ext>
            </a:extLst>
          </p:cNvPr>
          <p:cNvSpPr/>
          <p:nvPr/>
        </p:nvSpPr>
        <p:spPr>
          <a:xfrm>
            <a:off x="571500" y="1487130"/>
            <a:ext cx="2857500" cy="266700"/>
          </a:xfrm>
          <a:prstGeom prst="rect">
            <a:avLst/>
          </a:prstGeom>
          <a:noFill/>
          <a:ln/>
        </p:spPr>
        <p:txBody>
          <a:bodyPr wrap="none" lIns="0" tIns="0" rIns="0" bIns="0" rtlCol="0" anchor="ctr"/>
          <a:lstStyle/>
          <a:p>
            <a:pPr>
              <a:lnSpc>
                <a:spcPct val="100000"/>
              </a:lnSpc>
            </a:pPr>
            <a:r>
              <a:rPr lang="en-US" sz="1600" b="1" dirty="0" err="1">
                <a:solidFill>
                  <a:srgbClr val="1A4B8C"/>
                </a:solidFill>
                <a:latin typeface="Quattrocento Sans" pitchFamily="34" charset="0"/>
                <a:ea typeface="Quattrocento Sans" pitchFamily="34" charset="-122"/>
                <a:cs typeface="Quattrocento Sans" pitchFamily="34" charset="-120"/>
              </a:rPr>
              <a:t>核心</a:t>
            </a:r>
            <a:r>
              <a:rPr lang="zh-CN" altLang="en-US" sz="1600" b="1" dirty="0">
                <a:solidFill>
                  <a:srgbClr val="1A4B8C"/>
                </a:solidFill>
                <a:latin typeface="Quattrocento Sans" pitchFamily="34" charset="0"/>
                <a:ea typeface="Quattrocento Sans" pitchFamily="34" charset="-122"/>
                <a:cs typeface="Quattrocento Sans" pitchFamily="34" charset="-120"/>
              </a:rPr>
              <a:t>成果与</a:t>
            </a:r>
            <a:r>
              <a:rPr lang="en-US" sz="1600" b="1" dirty="0" err="1">
                <a:solidFill>
                  <a:srgbClr val="1A4B8C"/>
                </a:solidFill>
                <a:latin typeface="Quattrocento Sans" pitchFamily="34" charset="0"/>
                <a:ea typeface="Quattrocento Sans" pitchFamily="34" charset="-122"/>
                <a:cs typeface="Quattrocento Sans" pitchFamily="34" charset="-120"/>
              </a:rPr>
              <a:t>发现</a:t>
            </a:r>
            <a:endParaRPr lang="en-US" sz="1600" dirty="0"/>
          </a:p>
        </p:txBody>
      </p:sp>
      <p:sp>
        <p:nvSpPr>
          <p:cNvPr id="43" name="Text 6">
            <a:extLst>
              <a:ext uri="{FF2B5EF4-FFF2-40B4-BE49-F238E27FC236}">
                <a16:creationId xmlns:a16="http://schemas.microsoft.com/office/drawing/2014/main" id="{941F9A4C-6D51-18E3-3234-3561CB6A19FD}"/>
              </a:ext>
            </a:extLst>
          </p:cNvPr>
          <p:cNvSpPr/>
          <p:nvPr/>
        </p:nvSpPr>
        <p:spPr>
          <a:xfrm>
            <a:off x="571500" y="1820504"/>
            <a:ext cx="11049000" cy="1716039"/>
          </a:xfrm>
          <a:prstGeom prst="rect">
            <a:avLst/>
          </a:prstGeom>
          <a:noFill/>
          <a:ln/>
        </p:spPr>
        <p:txBody>
          <a:bodyPr wrap="square" lIns="0" tIns="0" rIns="0" bIns="0" rtlCol="0" anchor="t"/>
          <a:lstStyle/>
          <a:p>
            <a:pPr>
              <a:lnSpc>
                <a:spcPct val="170000"/>
              </a:lnSpc>
            </a:pPr>
            <a:r>
              <a:rPr lang="en-US" sz="1600" b="1" dirty="0">
                <a:solidFill>
                  <a:srgbClr val="1A4B8C"/>
                </a:solidFill>
                <a:latin typeface="+mn-ea"/>
                <a:cs typeface="Quattrocento Sans" pitchFamily="34" charset="-120"/>
              </a:rPr>
              <a:t>①</a:t>
            </a:r>
            <a:r>
              <a:rPr lang="en-US" sz="1600" dirty="0">
                <a:solidFill>
                  <a:srgbClr val="1A1D21"/>
                </a:solidFill>
                <a:latin typeface="+mn-ea"/>
                <a:cs typeface="Quattrocento Sans" pitchFamily="34" charset="-120"/>
              </a:rPr>
              <a:t> 青少年需求呈"头部集中、长尾分布"——基础科普与安全套使用占54.47%，高风险议题认知误区普遍</a:t>
            </a:r>
            <a:endParaRPr lang="en-US" sz="1600" dirty="0">
              <a:latin typeface="+mn-ea"/>
            </a:endParaRPr>
          </a:p>
          <a:p>
            <a:pPr>
              <a:lnSpc>
                <a:spcPct val="170000"/>
              </a:lnSpc>
            </a:pPr>
            <a:r>
              <a:rPr lang="en-US" sz="1600" b="1" dirty="0">
                <a:solidFill>
                  <a:srgbClr val="1A4B8C"/>
                </a:solidFill>
                <a:latin typeface="+mn-ea"/>
                <a:cs typeface="Quattrocento Sans" pitchFamily="34" charset="-120"/>
              </a:rPr>
              <a:t>②</a:t>
            </a:r>
            <a:r>
              <a:rPr lang="en-US" sz="1600" dirty="0">
                <a:solidFill>
                  <a:srgbClr val="1A1D21"/>
                </a:solidFill>
                <a:latin typeface="+mn-ea"/>
                <a:cs typeface="Quattrocento Sans" pitchFamily="34" charset="-120"/>
              </a:rPr>
              <a:t> 用户评论能有效反映真实需求——口语化表达中蕴含传统问卷难以捕捉的敏感困惑与情感诉求</a:t>
            </a:r>
            <a:endParaRPr lang="en-US" sz="1600" dirty="0">
              <a:latin typeface="+mn-ea"/>
            </a:endParaRPr>
          </a:p>
          <a:p>
            <a:pPr>
              <a:lnSpc>
                <a:spcPct val="170000"/>
              </a:lnSpc>
            </a:pPr>
            <a:r>
              <a:rPr lang="en-US" sz="1600" b="1" dirty="0">
                <a:solidFill>
                  <a:srgbClr val="1A4B8C"/>
                </a:solidFill>
                <a:latin typeface="+mn-ea"/>
                <a:cs typeface="Quattrocento Sans" pitchFamily="34" charset="-120"/>
              </a:rPr>
              <a:t>③</a:t>
            </a:r>
            <a:r>
              <a:rPr lang="en-US" sz="1600" dirty="0">
                <a:solidFill>
                  <a:srgbClr val="1A1D21"/>
                </a:solidFill>
                <a:latin typeface="+mn-ea"/>
                <a:cs typeface="Quattrocento Sans" pitchFamily="34" charset="-120"/>
              </a:rPr>
              <a:t> </a:t>
            </a:r>
            <a:r>
              <a:rPr lang="en-US" sz="1600" dirty="0" err="1">
                <a:solidFill>
                  <a:srgbClr val="1A1D21"/>
                </a:solidFill>
                <a:latin typeface="+mn-ea"/>
                <a:cs typeface="Quattrocento Sans" pitchFamily="34" charset="-120"/>
              </a:rPr>
              <a:t>LLM配合人工审核可规模化产出高质量问答对</a:t>
            </a:r>
            <a:r>
              <a:rPr lang="en-US" sz="1600" dirty="0">
                <a:solidFill>
                  <a:srgbClr val="1A1D21"/>
                </a:solidFill>
                <a:latin typeface="+mn-ea"/>
                <a:cs typeface="Quattrocento Sans" pitchFamily="34" charset="-120"/>
              </a:rPr>
              <a:t>——2767条问答对综合均分2.96，达临床应用标准</a:t>
            </a:r>
            <a:endParaRPr lang="en-US" sz="1600" dirty="0">
              <a:latin typeface="+mn-ea"/>
            </a:endParaRPr>
          </a:p>
          <a:p>
            <a:pPr>
              <a:lnSpc>
                <a:spcPct val="170000"/>
              </a:lnSpc>
            </a:pPr>
            <a:r>
              <a:rPr lang="en-US" sz="1600" b="1" dirty="0">
                <a:solidFill>
                  <a:srgbClr val="1A4B8C"/>
                </a:solidFill>
                <a:latin typeface="+mn-ea"/>
                <a:cs typeface="Quattrocento Sans" pitchFamily="34" charset="-120"/>
              </a:rPr>
              <a:t>④</a:t>
            </a:r>
            <a:r>
              <a:rPr lang="en-US" sz="1600" dirty="0">
                <a:solidFill>
                  <a:srgbClr val="1A1D21"/>
                </a:solidFill>
                <a:latin typeface="+mn-ea"/>
                <a:cs typeface="Quattrocento Sans" pitchFamily="34" charset="-120"/>
              </a:rPr>
              <a:t> </a:t>
            </a:r>
            <a:r>
              <a:rPr lang="en-US" sz="1600" dirty="0" err="1">
                <a:solidFill>
                  <a:srgbClr val="1A1D21"/>
                </a:solidFill>
                <a:latin typeface="+mn-ea"/>
                <a:cs typeface="Quattrocento Sans" pitchFamily="34" charset="-120"/>
              </a:rPr>
              <a:t>领域微调显著提升模型专业性，但面对前沿议题和伪概念时幻觉风险仍需关注</a:t>
            </a:r>
            <a:endParaRPr lang="en-US" sz="1600" dirty="0">
              <a:latin typeface="+mn-ea"/>
            </a:endParaRPr>
          </a:p>
        </p:txBody>
      </p:sp>
      <p:sp>
        <p:nvSpPr>
          <p:cNvPr id="44" name="Shape 7">
            <a:extLst>
              <a:ext uri="{FF2B5EF4-FFF2-40B4-BE49-F238E27FC236}">
                <a16:creationId xmlns:a16="http://schemas.microsoft.com/office/drawing/2014/main" id="{216CAD3F-41B1-C8BD-ACE2-92479C8BB922}"/>
              </a:ext>
            </a:extLst>
          </p:cNvPr>
          <p:cNvSpPr/>
          <p:nvPr/>
        </p:nvSpPr>
        <p:spPr>
          <a:xfrm>
            <a:off x="571500" y="3650844"/>
            <a:ext cx="11049000" cy="0"/>
          </a:xfrm>
          <a:prstGeom prst="straightConnector1">
            <a:avLst/>
          </a:prstGeom>
          <a:noFill/>
          <a:ln w="12700">
            <a:solidFill>
              <a:srgbClr val="8A9BB0"/>
            </a:solidFill>
            <a:prstDash val="solid"/>
            <a:headEnd type="none"/>
            <a:tailEnd type="none"/>
          </a:ln>
        </p:spPr>
        <p:txBody>
          <a:bodyPr/>
          <a:lstStyle/>
          <a:p>
            <a:endParaRPr lang="zh-CN" altLang="en-US" sz="1350"/>
          </a:p>
        </p:txBody>
      </p:sp>
      <p:sp>
        <p:nvSpPr>
          <p:cNvPr id="45" name="Text 8">
            <a:extLst>
              <a:ext uri="{FF2B5EF4-FFF2-40B4-BE49-F238E27FC236}">
                <a16:creationId xmlns:a16="http://schemas.microsoft.com/office/drawing/2014/main" id="{CF9B7A5B-19AB-57C0-50E9-97B3623A6973}"/>
              </a:ext>
            </a:extLst>
          </p:cNvPr>
          <p:cNvSpPr/>
          <p:nvPr/>
        </p:nvSpPr>
        <p:spPr>
          <a:xfrm>
            <a:off x="571500" y="3793719"/>
            <a:ext cx="2857500" cy="266700"/>
          </a:xfrm>
          <a:prstGeom prst="rect">
            <a:avLst/>
          </a:prstGeom>
          <a:noFill/>
          <a:ln/>
        </p:spPr>
        <p:txBody>
          <a:bodyPr wrap="none" lIns="0" tIns="0" rIns="0" bIns="0" rtlCol="0" anchor="ctr"/>
          <a:lstStyle/>
          <a:p>
            <a:pPr>
              <a:lnSpc>
                <a:spcPct val="100000"/>
              </a:lnSpc>
            </a:pPr>
            <a:r>
              <a:rPr lang="en-US" sz="1600" b="1" dirty="0" err="1">
                <a:solidFill>
                  <a:srgbClr val="1A4B8C"/>
                </a:solidFill>
                <a:latin typeface="Quattrocento Sans" pitchFamily="34" charset="0"/>
                <a:ea typeface="Quattrocento Sans" pitchFamily="34" charset="-122"/>
                <a:cs typeface="Quattrocento Sans" pitchFamily="34" charset="-120"/>
              </a:rPr>
              <a:t>创新点</a:t>
            </a:r>
            <a:endParaRPr lang="en-US" sz="1600" dirty="0"/>
          </a:p>
        </p:txBody>
      </p:sp>
      <p:sp>
        <p:nvSpPr>
          <p:cNvPr id="46" name="Shape 9">
            <a:extLst>
              <a:ext uri="{FF2B5EF4-FFF2-40B4-BE49-F238E27FC236}">
                <a16:creationId xmlns:a16="http://schemas.microsoft.com/office/drawing/2014/main" id="{7AF80F93-44F3-291C-61EE-8CC64DDA1678}"/>
              </a:ext>
            </a:extLst>
          </p:cNvPr>
          <p:cNvSpPr/>
          <p:nvPr/>
        </p:nvSpPr>
        <p:spPr>
          <a:xfrm>
            <a:off x="571500" y="4174719"/>
            <a:ext cx="25717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48" name="Text 11">
            <a:extLst>
              <a:ext uri="{FF2B5EF4-FFF2-40B4-BE49-F238E27FC236}">
                <a16:creationId xmlns:a16="http://schemas.microsoft.com/office/drawing/2014/main" id="{B8242185-EED7-2A03-EA54-6C294CB485F4}"/>
              </a:ext>
            </a:extLst>
          </p:cNvPr>
          <p:cNvSpPr/>
          <p:nvPr/>
        </p:nvSpPr>
        <p:spPr>
          <a:xfrm>
            <a:off x="762000" y="4482281"/>
            <a:ext cx="21907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研究对象创新</a:t>
            </a:r>
            <a:endParaRPr lang="en-US" sz="1400" dirty="0"/>
          </a:p>
        </p:txBody>
      </p:sp>
      <p:sp>
        <p:nvSpPr>
          <p:cNvPr id="49" name="Text 12">
            <a:extLst>
              <a:ext uri="{FF2B5EF4-FFF2-40B4-BE49-F238E27FC236}">
                <a16:creationId xmlns:a16="http://schemas.microsoft.com/office/drawing/2014/main" id="{AC9681FC-DB21-11B0-2CDF-3F94AB03FC80}"/>
              </a:ext>
            </a:extLst>
          </p:cNvPr>
          <p:cNvSpPr/>
          <p:nvPr/>
        </p:nvSpPr>
        <p:spPr>
          <a:xfrm>
            <a:off x="762000" y="4768031"/>
            <a:ext cx="21907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首次将焦点深入B站青少年用户自发生成的海量真实评论与弹幕文本</a:t>
            </a:r>
            <a:endParaRPr lang="en-US" sz="1600" dirty="0"/>
          </a:p>
        </p:txBody>
      </p:sp>
      <p:sp>
        <p:nvSpPr>
          <p:cNvPr id="50" name="Shape 13">
            <a:extLst>
              <a:ext uri="{FF2B5EF4-FFF2-40B4-BE49-F238E27FC236}">
                <a16:creationId xmlns:a16="http://schemas.microsoft.com/office/drawing/2014/main" id="{4212D2E2-3F59-7DDB-50EE-4EFE349FBE6A}"/>
              </a:ext>
            </a:extLst>
          </p:cNvPr>
          <p:cNvSpPr/>
          <p:nvPr/>
        </p:nvSpPr>
        <p:spPr>
          <a:xfrm>
            <a:off x="3333750" y="4174719"/>
            <a:ext cx="25717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52" name="Text 15">
            <a:extLst>
              <a:ext uri="{FF2B5EF4-FFF2-40B4-BE49-F238E27FC236}">
                <a16:creationId xmlns:a16="http://schemas.microsoft.com/office/drawing/2014/main" id="{31C6A969-59D1-7614-FD11-77C2341428B1}"/>
              </a:ext>
            </a:extLst>
          </p:cNvPr>
          <p:cNvSpPr/>
          <p:nvPr/>
        </p:nvSpPr>
        <p:spPr>
          <a:xfrm>
            <a:off x="3524250" y="4482281"/>
            <a:ext cx="21907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方法路径创新</a:t>
            </a:r>
            <a:endParaRPr lang="en-US" sz="1400" dirty="0"/>
          </a:p>
        </p:txBody>
      </p:sp>
      <p:sp>
        <p:nvSpPr>
          <p:cNvPr id="53" name="Text 16">
            <a:extLst>
              <a:ext uri="{FF2B5EF4-FFF2-40B4-BE49-F238E27FC236}">
                <a16:creationId xmlns:a16="http://schemas.microsoft.com/office/drawing/2014/main" id="{4BEF98E3-7A86-105E-B090-45EAE860149B}"/>
              </a:ext>
            </a:extLst>
          </p:cNvPr>
          <p:cNvSpPr/>
          <p:nvPr/>
        </p:nvSpPr>
        <p:spPr>
          <a:xfrm>
            <a:off x="3524250" y="4768031"/>
            <a:ext cx="21907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构建并实践从原始数据到优化AI模型的完整技术链路，实现闭环转化</a:t>
            </a:r>
            <a:endParaRPr lang="en-US" sz="1600" dirty="0"/>
          </a:p>
        </p:txBody>
      </p:sp>
      <p:sp>
        <p:nvSpPr>
          <p:cNvPr id="54" name="Shape 17">
            <a:extLst>
              <a:ext uri="{FF2B5EF4-FFF2-40B4-BE49-F238E27FC236}">
                <a16:creationId xmlns:a16="http://schemas.microsoft.com/office/drawing/2014/main" id="{604AC57C-06EC-BC88-CE77-0867C5F4878A}"/>
              </a:ext>
            </a:extLst>
          </p:cNvPr>
          <p:cNvSpPr/>
          <p:nvPr/>
        </p:nvSpPr>
        <p:spPr>
          <a:xfrm>
            <a:off x="6096000" y="4174719"/>
            <a:ext cx="25717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56" name="Text 19">
            <a:extLst>
              <a:ext uri="{FF2B5EF4-FFF2-40B4-BE49-F238E27FC236}">
                <a16:creationId xmlns:a16="http://schemas.microsoft.com/office/drawing/2014/main" id="{4171D40E-F4B6-DB45-DF7B-61DEAC3614A9}"/>
              </a:ext>
            </a:extLst>
          </p:cNvPr>
          <p:cNvSpPr/>
          <p:nvPr/>
        </p:nvSpPr>
        <p:spPr>
          <a:xfrm>
            <a:off x="6286500" y="4482281"/>
            <a:ext cx="21907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数据资源创新</a:t>
            </a:r>
            <a:endParaRPr lang="en-US" sz="1400" dirty="0"/>
          </a:p>
        </p:txBody>
      </p:sp>
      <p:sp>
        <p:nvSpPr>
          <p:cNvPr id="57" name="Text 20">
            <a:extLst>
              <a:ext uri="{FF2B5EF4-FFF2-40B4-BE49-F238E27FC236}">
                <a16:creationId xmlns:a16="http://schemas.microsoft.com/office/drawing/2014/main" id="{0E57DDEB-1DD2-215F-3107-F1E5821181F1}"/>
              </a:ext>
            </a:extLst>
          </p:cNvPr>
          <p:cNvSpPr/>
          <p:nvPr/>
        </p:nvSpPr>
        <p:spPr>
          <a:xfrm>
            <a:off x="6286500" y="4768031"/>
            <a:ext cx="21907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国内首个源于社交媒体真实互动场景的青少年生殖健康标准化问答数据集</a:t>
            </a:r>
            <a:endParaRPr lang="en-US" sz="1600" dirty="0"/>
          </a:p>
        </p:txBody>
      </p:sp>
      <p:sp>
        <p:nvSpPr>
          <p:cNvPr id="58" name="Shape 21">
            <a:extLst>
              <a:ext uri="{FF2B5EF4-FFF2-40B4-BE49-F238E27FC236}">
                <a16:creationId xmlns:a16="http://schemas.microsoft.com/office/drawing/2014/main" id="{F1FE9034-A76B-B1CE-F5DD-034BAAF88E19}"/>
              </a:ext>
            </a:extLst>
          </p:cNvPr>
          <p:cNvSpPr/>
          <p:nvPr/>
        </p:nvSpPr>
        <p:spPr>
          <a:xfrm>
            <a:off x="8858250" y="4174719"/>
            <a:ext cx="27622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60" name="Text 23">
            <a:extLst>
              <a:ext uri="{FF2B5EF4-FFF2-40B4-BE49-F238E27FC236}">
                <a16:creationId xmlns:a16="http://schemas.microsoft.com/office/drawing/2014/main" id="{F21BC9F5-5525-BA27-5936-8C07BB77A731}"/>
              </a:ext>
            </a:extLst>
          </p:cNvPr>
          <p:cNvSpPr/>
          <p:nvPr/>
        </p:nvSpPr>
        <p:spPr>
          <a:xfrm>
            <a:off x="9048750" y="4482281"/>
            <a:ext cx="23812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模型应用创新</a:t>
            </a:r>
            <a:endParaRPr lang="en-US" sz="1400" dirty="0"/>
          </a:p>
        </p:txBody>
      </p:sp>
      <p:sp>
        <p:nvSpPr>
          <p:cNvPr id="61" name="Text 24">
            <a:extLst>
              <a:ext uri="{FF2B5EF4-FFF2-40B4-BE49-F238E27FC236}">
                <a16:creationId xmlns:a16="http://schemas.microsoft.com/office/drawing/2014/main" id="{D1BA7C2D-5114-C454-D39A-A08B5ACFEB64}"/>
              </a:ext>
            </a:extLst>
          </p:cNvPr>
          <p:cNvSpPr/>
          <p:nvPr/>
        </p:nvSpPr>
        <p:spPr>
          <a:xfrm>
            <a:off x="9048750" y="4768031"/>
            <a:ext cx="23812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探索中文青少年健康教育垂域大模型的数据构建与评估方法论框架</a:t>
            </a:r>
            <a:endParaRPr lang="en-US" sz="1600" dirty="0"/>
          </a:p>
        </p:txBody>
      </p:sp>
      <p:sp>
        <p:nvSpPr>
          <p:cNvPr id="4" name="日期占位符 2">
            <a:extLst>
              <a:ext uri="{FF2B5EF4-FFF2-40B4-BE49-F238E27FC236}">
                <a16:creationId xmlns:a16="http://schemas.microsoft.com/office/drawing/2014/main" id="{B0D5E155-4BD9-A5A2-ECD0-F81F9A3B06E9}"/>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5" name="页脚占位符 3">
            <a:extLst>
              <a:ext uri="{FF2B5EF4-FFF2-40B4-BE49-F238E27FC236}">
                <a16:creationId xmlns:a16="http://schemas.microsoft.com/office/drawing/2014/main" id="{8A128075-4D29-AEB3-EF98-D0C1C0B5EB9D}"/>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7" name="灯片编号占位符 4">
            <a:extLst>
              <a:ext uri="{FF2B5EF4-FFF2-40B4-BE49-F238E27FC236}">
                <a16:creationId xmlns:a16="http://schemas.microsoft.com/office/drawing/2014/main" id="{2D4E3AC2-BAEA-3DD6-0BB2-3805E9964E2E}"/>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24</a:t>
            </a:fld>
            <a:endParaRPr lang="zh-CN" altLang="en-US" dirty="0"/>
          </a:p>
        </p:txBody>
      </p:sp>
    </p:spTree>
    <p:extLst>
      <p:ext uri="{BB962C8B-B14F-4D97-AF65-F5344CB8AC3E}">
        <p14:creationId xmlns:p14="http://schemas.microsoft.com/office/powerpoint/2010/main" val="4149184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F4C09-A9B7-A768-6988-BF526F1A85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F8AF0FD-B69A-A8B7-1B68-5F5DBA12EEA3}"/>
              </a:ext>
            </a:extLst>
          </p:cNvPr>
          <p:cNvSpPr>
            <a:spLocks noGrp="1"/>
          </p:cNvSpPr>
          <p:nvPr>
            <p:ph type="title"/>
          </p:nvPr>
        </p:nvSpPr>
        <p:spPr/>
        <p:txBody>
          <a:bodyPr>
            <a:normAutofit/>
          </a:bodyPr>
          <a:lstStyle/>
          <a:p>
            <a:r>
              <a:rPr lang="zh-CN" altLang="en-US" dirty="0"/>
              <a:t>局限性与未来方向</a:t>
            </a:r>
          </a:p>
        </p:txBody>
      </p:sp>
      <p:sp>
        <p:nvSpPr>
          <p:cNvPr id="12" name="Shape 6">
            <a:extLst>
              <a:ext uri="{FF2B5EF4-FFF2-40B4-BE49-F238E27FC236}">
                <a16:creationId xmlns:a16="http://schemas.microsoft.com/office/drawing/2014/main" id="{64242534-85C0-3B26-341F-F42C0821760D}"/>
              </a:ext>
            </a:extLst>
          </p:cNvPr>
          <p:cNvSpPr/>
          <p:nvPr/>
        </p:nvSpPr>
        <p:spPr>
          <a:xfrm>
            <a:off x="561668" y="1293813"/>
            <a:ext cx="5334000" cy="4812019"/>
          </a:xfrm>
          <a:prstGeom prst="rect">
            <a:avLst/>
          </a:prstGeom>
          <a:solidFill>
            <a:srgbClr val="FFF5F0"/>
          </a:solidFill>
          <a:ln>
            <a:solidFill>
              <a:schemeClr val="bg2">
                <a:lumMod val="50000"/>
              </a:schemeClr>
            </a:solidFill>
          </a:ln>
        </p:spPr>
        <p:txBody>
          <a:bodyPr/>
          <a:lstStyle/>
          <a:p>
            <a:endParaRPr lang="zh-CN" altLang="en-US" sz="1350"/>
          </a:p>
        </p:txBody>
      </p:sp>
      <p:sp>
        <p:nvSpPr>
          <p:cNvPr id="20" name="Text 8">
            <a:extLst>
              <a:ext uri="{FF2B5EF4-FFF2-40B4-BE49-F238E27FC236}">
                <a16:creationId xmlns:a16="http://schemas.microsoft.com/office/drawing/2014/main" id="{E01A9F78-CB64-7D74-A114-0705E3B5A3F4}"/>
              </a:ext>
            </a:extLst>
          </p:cNvPr>
          <p:cNvSpPr/>
          <p:nvPr/>
        </p:nvSpPr>
        <p:spPr>
          <a:xfrm>
            <a:off x="798255" y="1465263"/>
            <a:ext cx="2857500" cy="266700"/>
          </a:xfrm>
          <a:prstGeom prst="rect">
            <a:avLst/>
          </a:prstGeom>
          <a:noFill/>
          <a:ln/>
        </p:spPr>
        <p:txBody>
          <a:bodyPr wrap="none" lIns="0" tIns="0" rIns="0" bIns="0" rtlCol="0" anchor="ctr"/>
          <a:lstStyle/>
          <a:p>
            <a:pPr>
              <a:lnSpc>
                <a:spcPct val="100000"/>
              </a:lnSpc>
            </a:pPr>
            <a:r>
              <a:rPr lang="en-US" sz="1500" b="1" dirty="0">
                <a:solidFill>
                  <a:srgbClr val="C45C26"/>
                </a:solidFill>
                <a:latin typeface="+mn-ea"/>
                <a:cs typeface="Quattrocento Sans" pitchFamily="34" charset="-120"/>
              </a:rPr>
              <a:t>当前局限</a:t>
            </a:r>
            <a:endParaRPr lang="en-US" sz="1200" dirty="0">
              <a:latin typeface="+mn-ea"/>
            </a:endParaRPr>
          </a:p>
        </p:txBody>
      </p:sp>
      <p:sp>
        <p:nvSpPr>
          <p:cNvPr id="21" name="Text 9">
            <a:extLst>
              <a:ext uri="{FF2B5EF4-FFF2-40B4-BE49-F238E27FC236}">
                <a16:creationId xmlns:a16="http://schemas.microsoft.com/office/drawing/2014/main" id="{98DFDD63-FC20-8778-88BB-25AE65F65C12}"/>
              </a:ext>
            </a:extLst>
          </p:cNvPr>
          <p:cNvSpPr/>
          <p:nvPr/>
        </p:nvSpPr>
        <p:spPr>
          <a:xfrm>
            <a:off x="799793" y="1900237"/>
            <a:ext cx="4857750" cy="4556125"/>
          </a:xfrm>
          <a:prstGeom prst="rect">
            <a:avLst/>
          </a:prstGeom>
          <a:noFill/>
          <a:ln/>
        </p:spPr>
        <p:txBody>
          <a:bodyPr wrap="square" lIns="0" tIns="0" rIns="0" bIns="0" rtlCol="0" anchor="t"/>
          <a:lstStyle/>
          <a:p>
            <a:pPr>
              <a:lnSpc>
                <a:spcPct val="150000"/>
              </a:lnSpc>
            </a:pPr>
            <a:r>
              <a:rPr lang="en-US" sz="1400" b="1" dirty="0">
                <a:solidFill>
                  <a:srgbClr val="C45C26"/>
                </a:solidFill>
                <a:latin typeface="+mn-ea"/>
                <a:cs typeface="Quattrocento Sans" pitchFamily="34" charset="-120"/>
              </a:rPr>
              <a:t>① 数据源局限</a:t>
            </a:r>
            <a:endParaRPr lang="en-US" sz="1400" dirty="0">
              <a:latin typeface="+mn-ea"/>
            </a:endParaRPr>
          </a:p>
          <a:p>
            <a:pPr>
              <a:lnSpc>
                <a:spcPct val="150000"/>
              </a:lnSpc>
            </a:pPr>
            <a:r>
              <a:rPr lang="en-US" sz="1400" dirty="0">
                <a:solidFill>
                  <a:srgbClr val="1A1D21"/>
                </a:solidFill>
                <a:latin typeface="+mn-ea"/>
                <a:cs typeface="Quattrocento Sans" pitchFamily="34" charset="-120"/>
              </a:rPr>
              <a:t>限于Bilibili单一平台，且筛选条件偏向高播放量热门视频，可能遗漏小众但重要的声音</a:t>
            </a:r>
            <a:endParaRPr lang="en-US" sz="1400" dirty="0">
              <a:latin typeface="+mn-ea"/>
            </a:endParaRPr>
          </a:p>
          <a:p>
            <a:pPr>
              <a:lnSpc>
                <a:spcPct val="150000"/>
              </a:lnSpc>
              <a:spcBef>
                <a:spcPts val="900"/>
              </a:spcBef>
            </a:pPr>
            <a:r>
              <a:rPr lang="en-US" sz="1400" b="1" dirty="0">
                <a:solidFill>
                  <a:srgbClr val="C45C26"/>
                </a:solidFill>
                <a:latin typeface="+mn-ea"/>
                <a:cs typeface="Quattrocento Sans" pitchFamily="34" charset="-120"/>
              </a:rPr>
              <a:t>② 模型幻觉风险</a:t>
            </a:r>
            <a:endParaRPr lang="en-US" sz="1400" dirty="0">
              <a:latin typeface="+mn-ea"/>
            </a:endParaRPr>
          </a:p>
          <a:p>
            <a:pPr>
              <a:lnSpc>
                <a:spcPct val="150000"/>
              </a:lnSpc>
            </a:pPr>
            <a:r>
              <a:rPr lang="en-US" sz="1400" dirty="0">
                <a:solidFill>
                  <a:srgbClr val="1A1D21"/>
                </a:solidFill>
                <a:latin typeface="+mn-ea"/>
                <a:cs typeface="Quattrocento Sans" pitchFamily="34" charset="-120"/>
              </a:rPr>
              <a:t>大语言模型幻觉问题未完全根除，面对前沿未定论议题（如男性避孕针）和伪概念提问时，仍可能产生事实性错误或安全隐患</a:t>
            </a:r>
            <a:endParaRPr lang="en-US" sz="1400" dirty="0">
              <a:latin typeface="+mn-ea"/>
            </a:endParaRPr>
          </a:p>
          <a:p>
            <a:pPr>
              <a:lnSpc>
                <a:spcPct val="150000"/>
              </a:lnSpc>
              <a:spcBef>
                <a:spcPts val="900"/>
              </a:spcBef>
            </a:pPr>
            <a:r>
              <a:rPr lang="en-US" sz="1400" b="1" dirty="0">
                <a:solidFill>
                  <a:srgbClr val="C45C26"/>
                </a:solidFill>
                <a:latin typeface="+mn-ea"/>
                <a:cs typeface="Quattrocento Sans" pitchFamily="34" charset="-120"/>
              </a:rPr>
              <a:t>③ 评估样本约束</a:t>
            </a:r>
            <a:endParaRPr lang="en-US" sz="1400" dirty="0">
              <a:latin typeface="+mn-ea"/>
            </a:endParaRPr>
          </a:p>
          <a:p>
            <a:pPr>
              <a:lnSpc>
                <a:spcPct val="150000"/>
              </a:lnSpc>
            </a:pPr>
            <a:r>
              <a:rPr lang="en-US" sz="1400" dirty="0">
                <a:solidFill>
                  <a:srgbClr val="1A1D21"/>
                </a:solidFill>
                <a:latin typeface="+mn-ea"/>
                <a:cs typeface="Quattrocento Sans" pitchFamily="34" charset="-120"/>
              </a:rPr>
              <a:t>人工审核与专家评分受时间与人力资源约束，样本量和覆盖维度仍有进一步扩展空间</a:t>
            </a:r>
            <a:endParaRPr lang="en-US" sz="1400" dirty="0">
              <a:latin typeface="+mn-ea"/>
            </a:endParaRPr>
          </a:p>
        </p:txBody>
      </p:sp>
      <p:sp>
        <p:nvSpPr>
          <p:cNvPr id="22" name="Shape 10">
            <a:extLst>
              <a:ext uri="{FF2B5EF4-FFF2-40B4-BE49-F238E27FC236}">
                <a16:creationId xmlns:a16="http://schemas.microsoft.com/office/drawing/2014/main" id="{47943D74-B01B-0858-2CD2-934614E84A8E}"/>
              </a:ext>
            </a:extLst>
          </p:cNvPr>
          <p:cNvSpPr/>
          <p:nvPr/>
        </p:nvSpPr>
        <p:spPr>
          <a:xfrm>
            <a:off x="6276668" y="1293813"/>
            <a:ext cx="5334000" cy="4812019"/>
          </a:xfrm>
          <a:prstGeom prst="rect">
            <a:avLst/>
          </a:prstGeom>
          <a:solidFill>
            <a:srgbClr val="F0F7FF"/>
          </a:solidFill>
          <a:ln>
            <a:solidFill>
              <a:schemeClr val="bg2">
                <a:lumMod val="50000"/>
              </a:schemeClr>
            </a:solidFill>
          </a:ln>
        </p:spPr>
        <p:txBody>
          <a:bodyPr/>
          <a:lstStyle/>
          <a:p>
            <a:endParaRPr lang="zh-CN" altLang="en-US" sz="1350" dirty="0"/>
          </a:p>
        </p:txBody>
      </p:sp>
      <p:sp>
        <p:nvSpPr>
          <p:cNvPr id="24" name="Text 12">
            <a:extLst>
              <a:ext uri="{FF2B5EF4-FFF2-40B4-BE49-F238E27FC236}">
                <a16:creationId xmlns:a16="http://schemas.microsoft.com/office/drawing/2014/main" id="{1B12BE83-2DE6-E596-0096-C566B621089B}"/>
              </a:ext>
            </a:extLst>
          </p:cNvPr>
          <p:cNvSpPr/>
          <p:nvPr/>
        </p:nvSpPr>
        <p:spPr>
          <a:xfrm>
            <a:off x="6503423" y="1465263"/>
            <a:ext cx="2857500" cy="266700"/>
          </a:xfrm>
          <a:prstGeom prst="rect">
            <a:avLst/>
          </a:prstGeom>
          <a:noFill/>
          <a:ln/>
        </p:spPr>
        <p:txBody>
          <a:bodyPr wrap="none" lIns="0" tIns="0" rIns="0" bIns="0" rtlCol="0" anchor="ctr"/>
          <a:lstStyle/>
          <a:p>
            <a:pPr>
              <a:lnSpc>
                <a:spcPct val="100000"/>
              </a:lnSpc>
            </a:pPr>
            <a:r>
              <a:rPr lang="en-US" sz="1500" b="1" dirty="0">
                <a:solidFill>
                  <a:srgbClr val="1A4B8C"/>
                </a:solidFill>
                <a:latin typeface="+mn-ea"/>
                <a:cs typeface="Quattrocento Sans" pitchFamily="34" charset="-120"/>
              </a:rPr>
              <a:t>未来方向</a:t>
            </a:r>
            <a:endParaRPr lang="en-US" sz="1200" dirty="0">
              <a:latin typeface="+mn-ea"/>
            </a:endParaRPr>
          </a:p>
        </p:txBody>
      </p:sp>
      <p:sp>
        <p:nvSpPr>
          <p:cNvPr id="25" name="Text 13">
            <a:extLst>
              <a:ext uri="{FF2B5EF4-FFF2-40B4-BE49-F238E27FC236}">
                <a16:creationId xmlns:a16="http://schemas.microsoft.com/office/drawing/2014/main" id="{58F0B10B-7CE1-7F82-0515-3BA16B25A079}"/>
              </a:ext>
            </a:extLst>
          </p:cNvPr>
          <p:cNvSpPr/>
          <p:nvPr/>
        </p:nvSpPr>
        <p:spPr>
          <a:xfrm>
            <a:off x="6514793" y="1865313"/>
            <a:ext cx="4857750" cy="4591050"/>
          </a:xfrm>
          <a:prstGeom prst="rect">
            <a:avLst/>
          </a:prstGeom>
          <a:noFill/>
          <a:ln/>
        </p:spPr>
        <p:txBody>
          <a:bodyPr wrap="square" lIns="0" tIns="0" rIns="0" bIns="0" rtlCol="0" anchor="t"/>
          <a:lstStyle/>
          <a:p>
            <a:pPr>
              <a:lnSpc>
                <a:spcPct val="150000"/>
              </a:lnSpc>
            </a:pPr>
            <a:r>
              <a:rPr lang="en-US" sz="1350" b="1" dirty="0">
                <a:solidFill>
                  <a:srgbClr val="1A4B8C"/>
                </a:solidFill>
                <a:latin typeface="+mn-ea"/>
                <a:cs typeface="Quattrocento Sans" pitchFamily="34" charset="-120"/>
              </a:rPr>
              <a:t>① 跨平台比较研究</a:t>
            </a:r>
            <a:endParaRPr lang="en-US" sz="1200" dirty="0">
              <a:latin typeface="+mn-ea"/>
            </a:endParaRPr>
          </a:p>
          <a:p>
            <a:pPr>
              <a:lnSpc>
                <a:spcPct val="150000"/>
              </a:lnSpc>
            </a:pPr>
            <a:r>
              <a:rPr lang="en-US" sz="1350" dirty="0">
                <a:solidFill>
                  <a:srgbClr val="1A1D21"/>
                </a:solidFill>
                <a:latin typeface="+mn-ea"/>
                <a:cs typeface="Quattrocento Sans" pitchFamily="34" charset="-120"/>
              </a:rPr>
              <a:t>拓展至抖音、微博、小红书等多平台，开展跨平台比较研究，验证发现的普适性或揭示平台生态差异对健康传播的影响</a:t>
            </a:r>
            <a:endParaRPr lang="en-US" sz="1200" dirty="0">
              <a:latin typeface="+mn-ea"/>
            </a:endParaRPr>
          </a:p>
          <a:p>
            <a:pPr>
              <a:lnSpc>
                <a:spcPct val="150000"/>
              </a:lnSpc>
              <a:spcBef>
                <a:spcPts val="900"/>
              </a:spcBef>
            </a:pPr>
            <a:r>
              <a:rPr lang="en-US" sz="1350" b="1" dirty="0">
                <a:solidFill>
                  <a:srgbClr val="1A4B8C"/>
                </a:solidFill>
                <a:latin typeface="+mn-ea"/>
                <a:cs typeface="Quattrocento Sans" pitchFamily="34" charset="-120"/>
              </a:rPr>
              <a:t>② 检索增强生成（RAG）</a:t>
            </a:r>
            <a:endParaRPr lang="en-US" sz="1200" dirty="0">
              <a:latin typeface="+mn-ea"/>
            </a:endParaRPr>
          </a:p>
          <a:p>
            <a:pPr>
              <a:lnSpc>
                <a:spcPct val="150000"/>
              </a:lnSpc>
            </a:pPr>
            <a:r>
              <a:rPr lang="en-US" sz="1350" dirty="0">
                <a:solidFill>
                  <a:srgbClr val="1A1D21"/>
                </a:solidFill>
                <a:latin typeface="+mn-ea"/>
                <a:cs typeface="Quattrocento Sans" pitchFamily="34" charset="-120"/>
              </a:rPr>
              <a:t>引入RAG技术，将模型与权威医学知识库动态链接，以缓解幻觉问题并保障答案的时效性与可追溯性</a:t>
            </a:r>
            <a:endParaRPr lang="en-US" sz="1200" dirty="0">
              <a:latin typeface="+mn-ea"/>
            </a:endParaRPr>
          </a:p>
          <a:p>
            <a:pPr>
              <a:lnSpc>
                <a:spcPct val="150000"/>
              </a:lnSpc>
              <a:spcBef>
                <a:spcPts val="900"/>
              </a:spcBef>
            </a:pPr>
            <a:r>
              <a:rPr lang="en-US" sz="1350" b="1" dirty="0">
                <a:solidFill>
                  <a:srgbClr val="1A4B8C"/>
                </a:solidFill>
                <a:latin typeface="+mn-ea"/>
                <a:cs typeface="Quattrocento Sans" pitchFamily="34" charset="-120"/>
              </a:rPr>
              <a:t>③ 多轮对话与个性化交互</a:t>
            </a:r>
            <a:endParaRPr lang="en-US" sz="1200" dirty="0">
              <a:latin typeface="+mn-ea"/>
            </a:endParaRPr>
          </a:p>
          <a:p>
            <a:pPr>
              <a:lnSpc>
                <a:spcPct val="150000"/>
              </a:lnSpc>
            </a:pPr>
            <a:r>
              <a:rPr lang="en-US" sz="1350" dirty="0">
                <a:solidFill>
                  <a:srgbClr val="1A1D21"/>
                </a:solidFill>
                <a:latin typeface="+mn-ea"/>
                <a:cs typeface="Quattrocento Sans" pitchFamily="34" charset="-120"/>
              </a:rPr>
              <a:t>探索多轮对话与个性化交互，模拟真实咨询场景中的追问与澄清机制，提升智能问答系统的实用体验</a:t>
            </a:r>
            <a:endParaRPr lang="en-US" sz="1200" dirty="0">
              <a:latin typeface="+mn-ea"/>
            </a:endParaRPr>
          </a:p>
          <a:p>
            <a:pPr>
              <a:lnSpc>
                <a:spcPct val="150000"/>
              </a:lnSpc>
              <a:spcBef>
                <a:spcPts val="900"/>
              </a:spcBef>
            </a:pPr>
            <a:r>
              <a:rPr lang="en-US" sz="1350" b="1" dirty="0">
                <a:solidFill>
                  <a:srgbClr val="1A4B8C"/>
                </a:solidFill>
                <a:latin typeface="+mn-ea"/>
                <a:cs typeface="Quattrocento Sans" pitchFamily="34" charset="-120"/>
              </a:rPr>
              <a:t>④ 持续扩充数据集</a:t>
            </a:r>
            <a:endParaRPr lang="en-US" sz="1200" dirty="0">
              <a:latin typeface="+mn-ea"/>
            </a:endParaRPr>
          </a:p>
          <a:p>
            <a:pPr>
              <a:lnSpc>
                <a:spcPct val="150000"/>
              </a:lnSpc>
            </a:pPr>
            <a:r>
              <a:rPr lang="en-US" sz="1350" dirty="0">
                <a:solidFill>
                  <a:srgbClr val="1A1D21"/>
                </a:solidFill>
                <a:latin typeface="+mn-ea"/>
                <a:cs typeface="Quattrocento Sans" pitchFamily="34" charset="-120"/>
              </a:rPr>
              <a:t>扩充数据集规模与主题覆盖，特别强化谣言辟谣及边缘议题的系统性收录，以增强模型的鲁棒性与安全性</a:t>
            </a:r>
            <a:endParaRPr lang="en-US" sz="1200" dirty="0">
              <a:latin typeface="+mn-ea"/>
            </a:endParaRPr>
          </a:p>
        </p:txBody>
      </p:sp>
      <p:sp>
        <p:nvSpPr>
          <p:cNvPr id="28" name="文本占位符 5">
            <a:extLst>
              <a:ext uri="{FF2B5EF4-FFF2-40B4-BE49-F238E27FC236}">
                <a16:creationId xmlns:a16="http://schemas.microsoft.com/office/drawing/2014/main" id="{A5C3D4BF-9670-439D-602D-6C38697517E7}"/>
              </a:ext>
            </a:extLst>
          </p:cNvPr>
          <p:cNvSpPr>
            <a:spLocks noGrp="1"/>
          </p:cNvSpPr>
          <p:nvPr>
            <p:ph type="body" sz="quarter" idx="13"/>
          </p:nvPr>
        </p:nvSpPr>
        <p:spPr>
          <a:xfrm>
            <a:off x="4038600" y="-7467"/>
            <a:ext cx="4114800" cy="216775"/>
          </a:xfrm>
        </p:spPr>
        <p:txBody>
          <a:bodyPr/>
          <a:lstStyle/>
          <a:p>
            <a:r>
              <a:rPr lang="zh-CN" altLang="en-US" dirty="0"/>
              <a:t>研究总结与展望</a:t>
            </a:r>
          </a:p>
          <a:p>
            <a:endParaRPr lang="zh-CN" altLang="en-US" dirty="0"/>
          </a:p>
        </p:txBody>
      </p:sp>
      <p:sp>
        <p:nvSpPr>
          <p:cNvPr id="4" name="日期占位符 2">
            <a:extLst>
              <a:ext uri="{FF2B5EF4-FFF2-40B4-BE49-F238E27FC236}">
                <a16:creationId xmlns:a16="http://schemas.microsoft.com/office/drawing/2014/main" id="{BB9E8EB2-458B-89B5-D414-0F43A0EA2035}"/>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5" name="页脚占位符 3">
            <a:extLst>
              <a:ext uri="{FF2B5EF4-FFF2-40B4-BE49-F238E27FC236}">
                <a16:creationId xmlns:a16="http://schemas.microsoft.com/office/drawing/2014/main" id="{3693FC70-2950-EB13-CBFE-1B0E19DFB3C3}"/>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6" name="灯片编号占位符 4">
            <a:extLst>
              <a:ext uri="{FF2B5EF4-FFF2-40B4-BE49-F238E27FC236}">
                <a16:creationId xmlns:a16="http://schemas.microsoft.com/office/drawing/2014/main" id="{DAA981B9-B755-55ED-EA40-9D614BDB255B}"/>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25</a:t>
            </a:fld>
            <a:endParaRPr lang="zh-CN" altLang="en-US" dirty="0"/>
          </a:p>
        </p:txBody>
      </p:sp>
    </p:spTree>
    <p:extLst>
      <p:ext uri="{BB962C8B-B14F-4D97-AF65-F5344CB8AC3E}">
        <p14:creationId xmlns:p14="http://schemas.microsoft.com/office/powerpoint/2010/main" val="3067114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4F2C0-B115-29FB-5269-F9C4AB0DA5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FB0E27-EE46-033F-841D-E03DA3014C34}"/>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87444DD2-E8AA-3DC0-05C9-465EF1A3B294}"/>
              </a:ext>
            </a:extLst>
          </p:cNvPr>
          <p:cNvSpPr>
            <a:spLocks noGrp="1"/>
          </p:cNvSpPr>
          <p:nvPr>
            <p:ph type="dt" sz="half" idx="10"/>
          </p:nvPr>
        </p:nvSpPr>
        <p:spPr>
          <a:xfrm>
            <a:off x="838199" y="6594318"/>
            <a:ext cx="2743200" cy="200578"/>
          </a:xfrm>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D59C8732-6C56-2FBE-146F-3A0CF4E2DA8F}"/>
              </a:ext>
            </a:extLst>
          </p:cNvPr>
          <p:cNvSpPr>
            <a:spLocks noGrp="1"/>
          </p:cNvSpPr>
          <p:nvPr>
            <p:ph type="ftr" sz="quarter" idx="11"/>
          </p:nvPr>
        </p:nvSpPr>
        <p:spPr>
          <a:xfrm>
            <a:off x="4038599" y="6594318"/>
            <a:ext cx="4114800" cy="200578"/>
          </a:xfrm>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F8E84FA-D1C4-F347-C36E-DFE5F525EC7F}"/>
              </a:ext>
            </a:extLst>
          </p:cNvPr>
          <p:cNvSpPr>
            <a:spLocks noGrp="1"/>
          </p:cNvSpPr>
          <p:nvPr>
            <p:ph type="sldNum" sz="quarter" idx="12"/>
          </p:nvPr>
        </p:nvSpPr>
        <p:spPr>
          <a:xfrm>
            <a:off x="8610599" y="6594318"/>
            <a:ext cx="2743200" cy="200578"/>
          </a:xfrm>
        </p:spPr>
        <p:txBody>
          <a:bodyPr/>
          <a:lstStyle/>
          <a:p>
            <a:fld id="{054335CC-B077-4EFF-BFF9-2EFEE3F838E2}" type="slidenum">
              <a:rPr lang="zh-CN" altLang="en-US" smtClean="0"/>
              <a:pPr/>
              <a:t>26</a:t>
            </a:fld>
            <a:endParaRPr lang="zh-CN" altLang="en-US"/>
          </a:p>
        </p:txBody>
      </p:sp>
      <p:sp>
        <p:nvSpPr>
          <p:cNvPr id="6" name="矩形 5">
            <a:extLst>
              <a:ext uri="{FF2B5EF4-FFF2-40B4-BE49-F238E27FC236}">
                <a16:creationId xmlns:a16="http://schemas.microsoft.com/office/drawing/2014/main" id="{93690D9E-1DEE-ECDB-CB10-7A82BEA46AD0}"/>
              </a:ext>
            </a:extLst>
          </p:cNvPr>
          <p:cNvSpPr/>
          <p:nvPr/>
        </p:nvSpPr>
        <p:spPr>
          <a:xfrm>
            <a:off x="658813" y="1115550"/>
            <a:ext cx="10841236" cy="5421464"/>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indent="-457200">
              <a:lnSpc>
                <a:spcPts val="1800"/>
              </a:lnSpc>
            </a:pPr>
            <a:endParaRPr lang="en-US" altLang="zh-CN" sz="11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3F6B77D6-DC73-5CD7-50AF-6C0001265DE4}"/>
              </a:ext>
            </a:extLst>
          </p:cNvPr>
          <p:cNvCxnSpPr>
            <a:cxnSpLocks/>
          </p:cNvCxnSpPr>
          <p:nvPr/>
        </p:nvCxnSpPr>
        <p:spPr>
          <a:xfrm>
            <a:off x="660399" y="1125539"/>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AC6FDEB7-D4FC-A631-EE7E-A1E4845237FC}"/>
              </a:ext>
            </a:extLst>
          </p:cNvPr>
          <p:cNvSpPr/>
          <p:nvPr/>
        </p:nvSpPr>
        <p:spPr>
          <a:xfrm flipH="1">
            <a:off x="10851158" y="5775213"/>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072E5D2A-1B68-4544-E7F1-72E0673BFDC4}"/>
              </a:ext>
            </a:extLst>
          </p:cNvPr>
          <p:cNvSpPr txBox="1"/>
          <p:nvPr/>
        </p:nvSpPr>
        <p:spPr>
          <a:xfrm>
            <a:off x="690365" y="1115550"/>
            <a:ext cx="10663425" cy="6072881"/>
          </a:xfrm>
          <a:prstGeom prst="rect">
            <a:avLst/>
          </a:prstGeom>
          <a:noFill/>
        </p:spPr>
        <p:txBody>
          <a:bodyPr wrap="square" rtlCol="0">
            <a:spAutoFit/>
          </a:bodyPr>
          <a:lstStyle/>
          <a:p>
            <a:pPr indent="-457200">
              <a:lnSpc>
                <a:spcPts val="1800"/>
              </a:lnSpc>
            </a:pPr>
            <a:r>
              <a:rPr lang="en-US" altLang="zh-CN" sz="1200" dirty="0">
                <a:solidFill>
                  <a:schemeClr val="tx1">
                    <a:lumMod val="75000"/>
                    <a:lumOff val="25000"/>
                  </a:schemeClr>
                </a:solidFill>
                <a:latin typeface="+mn-ea"/>
              </a:rPr>
              <a:t>[1]	PATTON G C, SAWYER S M, SANTELLI J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Our future: a Lancet commission on adolescent health and wellbeing[J]. The Lancet, 2016, 387(10036): 2423-2478.</a:t>
            </a:r>
          </a:p>
          <a:p>
            <a:pPr indent="-457200">
              <a:lnSpc>
                <a:spcPts val="1800"/>
              </a:lnSpc>
            </a:pPr>
            <a:r>
              <a:rPr lang="en-US" altLang="zh-CN" sz="1200" dirty="0">
                <a:solidFill>
                  <a:schemeClr val="tx1">
                    <a:lumMod val="75000"/>
                    <a:lumOff val="25000"/>
                  </a:schemeClr>
                </a:solidFill>
                <a:latin typeface="+mn-ea"/>
              </a:rPr>
              <a:t>[2]	WORLD HEALTH ORGANIZATION. Adolescent pregnancy[EB/OL]. [2025-09-15]. https://www.who.int/news-room/fact-sheets/detail/adolescent-pregnancy.</a:t>
            </a:r>
          </a:p>
          <a:p>
            <a:pPr indent="-457200">
              <a:lnSpc>
                <a:spcPts val="1800"/>
              </a:lnSpc>
            </a:pPr>
            <a:r>
              <a:rPr lang="en-US" altLang="zh-CN" sz="1200" dirty="0">
                <a:solidFill>
                  <a:schemeClr val="tx1">
                    <a:lumMod val="75000"/>
                    <a:lumOff val="25000"/>
                  </a:schemeClr>
                </a:solidFill>
                <a:latin typeface="+mn-ea"/>
              </a:rPr>
              <a:t>[3]	</a:t>
            </a:r>
            <a:r>
              <a:rPr lang="zh-CN" altLang="en-US" sz="1200" dirty="0">
                <a:solidFill>
                  <a:schemeClr val="tx1">
                    <a:lumMod val="75000"/>
                    <a:lumOff val="25000"/>
                  </a:schemeClr>
                </a:solidFill>
                <a:latin typeface="+mn-ea"/>
              </a:rPr>
              <a:t>张艺珊</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张雪松</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李晓宇</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青少年生殖健康现状</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中国计划生育和妇产科</a:t>
            </a:r>
            <a:r>
              <a:rPr lang="en-US" altLang="zh-CN" sz="1200" dirty="0">
                <a:solidFill>
                  <a:schemeClr val="tx1">
                    <a:lumMod val="75000"/>
                    <a:lumOff val="25000"/>
                  </a:schemeClr>
                </a:solidFill>
                <a:latin typeface="+mn-ea"/>
              </a:rPr>
              <a:t>, 2020, 12(4): 4-6.</a:t>
            </a:r>
          </a:p>
          <a:p>
            <a:pPr indent="-457200">
              <a:lnSpc>
                <a:spcPts val="1800"/>
              </a:lnSpc>
            </a:pPr>
            <a:r>
              <a:rPr lang="en-US" altLang="zh-CN" sz="1200" dirty="0">
                <a:solidFill>
                  <a:schemeClr val="tx1">
                    <a:lumMod val="75000"/>
                    <a:lumOff val="25000"/>
                  </a:schemeClr>
                </a:solidFill>
                <a:latin typeface="+mn-ea"/>
              </a:rPr>
              <a:t>[4]	ZOU Z, DONG Y, SONG Y,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Strengthening sexual and reproductive health education for children and adolescents in China[J]. The Lancet Child &amp; Adolescent Health, 2023, 7(9): 603-605.</a:t>
            </a:r>
          </a:p>
          <a:p>
            <a:pPr indent="-457200">
              <a:lnSpc>
                <a:spcPts val="1800"/>
              </a:lnSpc>
            </a:pPr>
            <a:r>
              <a:rPr lang="en-US" altLang="zh-CN" sz="1200" dirty="0">
                <a:solidFill>
                  <a:schemeClr val="tx1">
                    <a:lumMod val="75000"/>
                    <a:lumOff val="25000"/>
                  </a:schemeClr>
                </a:solidFill>
                <a:latin typeface="+mn-ea"/>
              </a:rPr>
              <a:t>[5]	</a:t>
            </a:r>
            <a:r>
              <a:rPr lang="zh-CN" altLang="en-US" sz="1200" dirty="0">
                <a:solidFill>
                  <a:schemeClr val="tx1">
                    <a:lumMod val="75000"/>
                    <a:lumOff val="25000"/>
                  </a:schemeClr>
                </a:solidFill>
                <a:latin typeface="+mn-ea"/>
              </a:rPr>
              <a:t>林超龙</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青少年生殖健康知识与行为的相关性研究</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基础医学理论研究</a:t>
            </a:r>
            <a:r>
              <a:rPr lang="en-US" altLang="zh-CN" sz="1200" dirty="0">
                <a:solidFill>
                  <a:schemeClr val="tx1">
                    <a:lumMod val="75000"/>
                    <a:lumOff val="25000"/>
                  </a:schemeClr>
                </a:solidFill>
                <a:latin typeface="+mn-ea"/>
              </a:rPr>
              <a:t>, 2025, 7(1): 51.</a:t>
            </a:r>
          </a:p>
          <a:p>
            <a:pPr indent="-457200">
              <a:lnSpc>
                <a:spcPts val="1800"/>
              </a:lnSpc>
            </a:pPr>
            <a:r>
              <a:rPr lang="en-US" altLang="zh-CN" sz="1200" dirty="0">
                <a:solidFill>
                  <a:schemeClr val="tx1">
                    <a:lumMod val="75000"/>
                    <a:lumOff val="25000"/>
                  </a:schemeClr>
                </a:solidFill>
                <a:latin typeface="+mn-ea"/>
              </a:rPr>
              <a:t>[6]	UNESCO, JOINT UNITED NATIONS PROGRAMME ON HIV/AIDS, UNITED NATIONS CHILDREN’S FUND,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International technical guidance on sexuality education: an evidence-informed approach - UNESCO </a:t>
            </a:r>
            <a:r>
              <a:rPr lang="zh-CN" altLang="en-US" sz="1200" dirty="0">
                <a:solidFill>
                  <a:schemeClr val="tx1">
                    <a:lumMod val="75000"/>
                    <a:lumOff val="25000"/>
                  </a:schemeClr>
                </a:solidFill>
                <a:latin typeface="+mn-ea"/>
              </a:rPr>
              <a:t>数字图书馆</a:t>
            </a:r>
            <a:r>
              <a:rPr lang="en-US" altLang="zh-CN" sz="1200" dirty="0">
                <a:solidFill>
                  <a:schemeClr val="tx1">
                    <a:lumMod val="75000"/>
                    <a:lumOff val="25000"/>
                  </a:schemeClr>
                </a:solidFill>
                <a:latin typeface="+mn-ea"/>
              </a:rPr>
              <a:t>[M/OL]. 2018[2026-03-25]. https://unesdoc.unesco.org/ark:/48223/pf0000260770.</a:t>
            </a:r>
          </a:p>
          <a:p>
            <a:pPr indent="-457200">
              <a:lnSpc>
                <a:spcPts val="1800"/>
              </a:lnSpc>
            </a:pPr>
            <a:r>
              <a:rPr lang="en-US" altLang="zh-CN" sz="1200" dirty="0">
                <a:solidFill>
                  <a:schemeClr val="tx1">
                    <a:lumMod val="75000"/>
                    <a:lumOff val="25000"/>
                  </a:schemeClr>
                </a:solidFill>
                <a:latin typeface="+mn-ea"/>
              </a:rPr>
              <a:t>[7]	QIN Q, ZHANG J. Sex Education in China: Actors and dynamics of China’s policies and practices[J]. Cogent Education, 2023, 10(2): 2270289.</a:t>
            </a:r>
          </a:p>
          <a:p>
            <a:pPr indent="-457200">
              <a:lnSpc>
                <a:spcPts val="1800"/>
              </a:lnSpc>
            </a:pPr>
            <a:r>
              <a:rPr lang="en-US" altLang="zh-CN" sz="1200" dirty="0">
                <a:solidFill>
                  <a:schemeClr val="tx1">
                    <a:lumMod val="75000"/>
                    <a:lumOff val="25000"/>
                  </a:schemeClr>
                </a:solidFill>
                <a:latin typeface="+mn-ea"/>
              </a:rPr>
              <a:t>[8]	QIAO J, WANG Y, LI X,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Lancet Commission on 70 years of women’s reproductive, maternal, newborn, child, and adolescent health in China[J]. The Lancet, 2021, 397(10293): 2497-2536.</a:t>
            </a:r>
          </a:p>
          <a:p>
            <a:pPr indent="-457200">
              <a:lnSpc>
                <a:spcPts val="1800"/>
              </a:lnSpc>
            </a:pPr>
            <a:r>
              <a:rPr lang="en-US" altLang="zh-CN" sz="1200" dirty="0">
                <a:solidFill>
                  <a:schemeClr val="tx1">
                    <a:lumMod val="75000"/>
                    <a:lumOff val="25000"/>
                  </a:schemeClr>
                </a:solidFill>
                <a:latin typeface="+mn-ea"/>
              </a:rPr>
              <a:t>[9]	BHANA D, AGGLETON P, MIEDEMA E,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Beyond controversy – International perspectives on sexual and reproductive health education[J]. Health Education Journal, 2024, 83(8): 821-829.</a:t>
            </a:r>
          </a:p>
          <a:p>
            <a:pPr indent="-457200">
              <a:lnSpc>
                <a:spcPts val="1800"/>
              </a:lnSpc>
            </a:pPr>
            <a:r>
              <a:rPr lang="en-US" altLang="zh-CN" sz="1200" dirty="0">
                <a:solidFill>
                  <a:schemeClr val="tx1">
                    <a:lumMod val="75000"/>
                    <a:lumOff val="25000"/>
                  </a:schemeClr>
                </a:solidFill>
                <a:latin typeface="+mn-ea"/>
              </a:rPr>
              <a:t>[10]	</a:t>
            </a:r>
            <a:r>
              <a:rPr lang="zh-CN" altLang="en-US" sz="1200" dirty="0">
                <a:solidFill>
                  <a:schemeClr val="tx1">
                    <a:lumMod val="75000"/>
                    <a:lumOff val="25000"/>
                  </a:schemeClr>
                </a:solidFill>
                <a:latin typeface="+mn-ea"/>
              </a:rPr>
              <a:t>赵芮</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张磊</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富晓星</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中国</a:t>
            </a:r>
            <a:r>
              <a:rPr lang="en-US" altLang="zh-CN" sz="1200" dirty="0">
                <a:solidFill>
                  <a:schemeClr val="tx1">
                    <a:lumMod val="75000"/>
                    <a:lumOff val="25000"/>
                  </a:schemeClr>
                </a:solidFill>
                <a:latin typeface="+mn-ea"/>
              </a:rPr>
              <a:t>11</a:t>
            </a:r>
            <a:r>
              <a:rPr lang="zh-CN" altLang="en-US" sz="1200" dirty="0">
                <a:solidFill>
                  <a:schemeClr val="tx1">
                    <a:lumMod val="75000"/>
                    <a:lumOff val="25000"/>
                  </a:schemeClr>
                </a:solidFill>
                <a:latin typeface="+mn-ea"/>
              </a:rPr>
              <a:t>省市青少年性与生殖健康知识、态度及行为调查</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中国公共卫生</a:t>
            </a:r>
            <a:r>
              <a:rPr lang="en-US" altLang="zh-CN" sz="1200" dirty="0">
                <a:solidFill>
                  <a:schemeClr val="tx1">
                    <a:lumMod val="75000"/>
                    <a:lumOff val="25000"/>
                  </a:schemeClr>
                </a:solidFill>
                <a:latin typeface="+mn-ea"/>
              </a:rPr>
              <a:t>, 2019, 35(10): 1330-1338.</a:t>
            </a:r>
          </a:p>
          <a:p>
            <a:pPr indent="-457200">
              <a:lnSpc>
                <a:spcPts val="1800"/>
              </a:lnSpc>
            </a:pPr>
            <a:r>
              <a:rPr lang="en-US" altLang="zh-CN" sz="1200" dirty="0">
                <a:solidFill>
                  <a:schemeClr val="tx1">
                    <a:lumMod val="75000"/>
                    <a:lumOff val="25000"/>
                  </a:schemeClr>
                </a:solidFill>
                <a:latin typeface="+mn-ea"/>
              </a:rPr>
              <a:t>[11]	GUO R, XIE H, ZHAO W,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Web-based sexual and reproductive health education for adolescents aged 10-17 years: a systematic review and meta-analysis[J]. BMJ </a:t>
            </a:r>
            <a:r>
              <a:rPr lang="en-US" altLang="zh-CN" sz="1200" dirty="0" err="1">
                <a:solidFill>
                  <a:schemeClr val="tx1">
                    <a:lumMod val="75000"/>
                    <a:lumOff val="25000"/>
                  </a:schemeClr>
                </a:solidFill>
                <a:latin typeface="+mn-ea"/>
              </a:rPr>
              <a:t>paediatrics</a:t>
            </a:r>
            <a:r>
              <a:rPr lang="en-US" altLang="zh-CN" sz="1200" dirty="0">
                <a:solidFill>
                  <a:schemeClr val="tx1">
                    <a:lumMod val="75000"/>
                    <a:lumOff val="25000"/>
                  </a:schemeClr>
                </a:solidFill>
                <a:latin typeface="+mn-ea"/>
              </a:rPr>
              <a:t> open, 2025, 9(1): e003714.</a:t>
            </a:r>
          </a:p>
          <a:p>
            <a:pPr indent="-457200">
              <a:lnSpc>
                <a:spcPts val="1800"/>
              </a:lnSpc>
            </a:pPr>
            <a:r>
              <a:rPr lang="en-US" altLang="zh-CN" sz="1200" dirty="0">
                <a:solidFill>
                  <a:schemeClr val="tx1">
                    <a:lumMod val="75000"/>
                    <a:lumOff val="25000"/>
                  </a:schemeClr>
                </a:solidFill>
                <a:latin typeface="+mn-ea"/>
              </a:rPr>
              <a:t>[12]	ZORI G L, COLLINS S L, WALKER A F. Online Sexual Health Information Seeking of Adolescents: A Content Analysis[J]. American Journal of Sexuality Education, 2023, 18(3): 378-400.</a:t>
            </a:r>
          </a:p>
          <a:p>
            <a:pPr indent="-457200">
              <a:lnSpc>
                <a:spcPts val="1800"/>
              </a:lnSpc>
            </a:pPr>
            <a:r>
              <a:rPr lang="en-US" altLang="zh-CN" sz="1200" dirty="0">
                <a:solidFill>
                  <a:schemeClr val="tx1">
                    <a:lumMod val="75000"/>
                    <a:lumOff val="25000"/>
                  </a:schemeClr>
                </a:solidFill>
                <a:latin typeface="+mn-ea"/>
              </a:rPr>
              <a:t>[13]	GABARRON E, WYNN R. Use of social media for sexual health promotion: a scoping review[J]. Global Health Action, 2016, 9(1): 32193.</a:t>
            </a:r>
          </a:p>
          <a:p>
            <a:pPr indent="-457200">
              <a:lnSpc>
                <a:spcPts val="1800"/>
              </a:lnSpc>
            </a:pPr>
            <a:endParaRPr lang="en-US" altLang="zh-CN" sz="1200" dirty="0">
              <a:solidFill>
                <a:schemeClr val="tx1">
                  <a:lumMod val="75000"/>
                  <a:lumOff val="25000"/>
                </a:schemeClr>
              </a:solidFill>
              <a:latin typeface="+mn-ea"/>
            </a:endParaRPr>
          </a:p>
          <a:p>
            <a:pPr indent="-457200">
              <a:lnSpc>
                <a:spcPts val="1800"/>
              </a:lnSpc>
            </a:pPr>
            <a:endParaRPr lang="en-US" altLang="zh-CN" sz="1200" dirty="0">
              <a:solidFill>
                <a:schemeClr val="tx1">
                  <a:lumMod val="75000"/>
                  <a:lumOff val="25000"/>
                </a:schemeClr>
              </a:solidFill>
              <a:latin typeface="+mn-ea"/>
            </a:endParaRPr>
          </a:p>
        </p:txBody>
      </p:sp>
    </p:spTree>
    <p:extLst>
      <p:ext uri="{BB962C8B-B14F-4D97-AF65-F5344CB8AC3E}">
        <p14:creationId xmlns:p14="http://schemas.microsoft.com/office/powerpoint/2010/main" val="2378533726"/>
      </p:ext>
    </p:extLst>
  </p:cSld>
  <p:clrMapOvr>
    <a:masterClrMapping/>
  </p:clrMapOvr>
  <p:transition>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D651-7414-1476-7B1D-48C5AD7D6C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09E51A-9962-4DE7-D957-68EDD188A1DE}"/>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2092EE91-25C7-4C27-F6A2-86068B38FAE2}"/>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A3B092CE-C83B-370A-DD1B-A9ED242661C1}"/>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304B4D2-A2C7-6085-A516-51048A5BED27}"/>
              </a:ext>
            </a:extLst>
          </p:cNvPr>
          <p:cNvSpPr>
            <a:spLocks noGrp="1"/>
          </p:cNvSpPr>
          <p:nvPr>
            <p:ph type="sldNum" sz="quarter" idx="12"/>
          </p:nvPr>
        </p:nvSpPr>
        <p:spPr/>
        <p:txBody>
          <a:bodyPr/>
          <a:lstStyle/>
          <a:p>
            <a:fld id="{054335CC-B077-4EFF-BFF9-2EFEE3F838E2}" type="slidenum">
              <a:rPr lang="zh-CN" altLang="en-US" smtClean="0"/>
              <a:pPr/>
              <a:t>27</a:t>
            </a:fld>
            <a:endParaRPr lang="zh-CN" altLang="en-US"/>
          </a:p>
        </p:txBody>
      </p:sp>
      <p:sp>
        <p:nvSpPr>
          <p:cNvPr id="6" name="矩形 5">
            <a:extLst>
              <a:ext uri="{FF2B5EF4-FFF2-40B4-BE49-F238E27FC236}">
                <a16:creationId xmlns:a16="http://schemas.microsoft.com/office/drawing/2014/main" id="{07D9CF76-26B2-91BA-50A8-7A043BE7F938}"/>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a:lnSpc>
                <a:spcPct val="125000"/>
              </a:lnSpc>
            </a:pPr>
            <a:endParaRPr lang="en-US" altLang="zh-CN" sz="11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BB545E8A-7F0D-7CE5-09E8-3979D8B70010}"/>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3F62ADED-A640-9BB0-70E7-189B7D18B163}"/>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48068345-3F4A-057C-D599-3821AAB4D035}"/>
              </a:ext>
            </a:extLst>
          </p:cNvPr>
          <p:cNvSpPr txBox="1"/>
          <p:nvPr/>
        </p:nvSpPr>
        <p:spPr>
          <a:xfrm>
            <a:off x="690364" y="1178673"/>
            <a:ext cx="10663425" cy="5380384"/>
          </a:xfrm>
          <a:prstGeom prst="rect">
            <a:avLst/>
          </a:prstGeom>
          <a:noFill/>
        </p:spPr>
        <p:txBody>
          <a:bodyPr wrap="square" rtlCol="0">
            <a:spAutoFit/>
          </a:bodyPr>
          <a:lstStyle/>
          <a:p>
            <a:pPr indent="-457200">
              <a:lnSpc>
                <a:spcPts val="1800"/>
              </a:lnSpc>
            </a:pPr>
            <a:r>
              <a:rPr lang="en-US" altLang="zh-CN" sz="1200" dirty="0">
                <a:latin typeface="+mn-ea"/>
              </a:rPr>
              <a:t>[14]	CHEN J, WANG Y. Social Media Use for Health Purposes: Systematic Review[J]. Journal of Medical Internet Research, 2021, 23(5): e17917.</a:t>
            </a:r>
          </a:p>
          <a:p>
            <a:pPr indent="-457200">
              <a:lnSpc>
                <a:spcPts val="1800"/>
              </a:lnSpc>
            </a:pPr>
            <a:r>
              <a:rPr lang="en-US" altLang="zh-CN" sz="1200" dirty="0">
                <a:solidFill>
                  <a:schemeClr val="tx1">
                    <a:lumMod val="75000"/>
                    <a:lumOff val="25000"/>
                  </a:schemeClr>
                </a:solidFill>
                <a:latin typeface="+mn-ea"/>
              </a:rPr>
              <a:t>[15]	DÖRING N, CONDE M. Sexual health information on social media: a systematic scoping review[J]. </a:t>
            </a:r>
            <a:r>
              <a:rPr lang="en-US" altLang="zh-CN" sz="1200" dirty="0" err="1">
                <a:solidFill>
                  <a:schemeClr val="tx1">
                    <a:lumMod val="75000"/>
                    <a:lumOff val="25000"/>
                  </a:schemeClr>
                </a:solidFill>
                <a:latin typeface="+mn-ea"/>
              </a:rPr>
              <a:t>Bundesgesundheitsblatt</a:t>
            </a:r>
            <a:r>
              <a:rPr lang="en-US" altLang="zh-CN" sz="1200" dirty="0">
                <a:solidFill>
                  <a:schemeClr val="tx1">
                    <a:lumMod val="75000"/>
                    <a:lumOff val="25000"/>
                  </a:schemeClr>
                </a:solidFill>
                <a:latin typeface="+mn-ea"/>
              </a:rPr>
              <a:t>, </a:t>
            </a:r>
            <a:r>
              <a:rPr lang="en-US" altLang="zh-CN" sz="1200" dirty="0" err="1">
                <a:solidFill>
                  <a:schemeClr val="tx1">
                    <a:lumMod val="75000"/>
                    <a:lumOff val="25000"/>
                  </a:schemeClr>
                </a:solidFill>
                <a:latin typeface="+mn-ea"/>
              </a:rPr>
              <a:t>Gesundheitsforschung</a:t>
            </a:r>
            <a:r>
              <a:rPr lang="en-US" altLang="zh-CN" sz="1200" dirty="0">
                <a:solidFill>
                  <a:schemeClr val="tx1">
                    <a:lumMod val="75000"/>
                    <a:lumOff val="25000"/>
                  </a:schemeClr>
                </a:solidFill>
                <a:latin typeface="+mn-ea"/>
              </a:rPr>
              <a:t>, </a:t>
            </a:r>
            <a:r>
              <a:rPr lang="en-US" altLang="zh-CN" sz="1200" dirty="0" err="1">
                <a:solidFill>
                  <a:schemeClr val="tx1">
                    <a:lumMod val="75000"/>
                    <a:lumOff val="25000"/>
                  </a:schemeClr>
                </a:solidFill>
                <a:latin typeface="+mn-ea"/>
              </a:rPr>
              <a:t>Gesundheitsschutz</a:t>
            </a:r>
            <a:r>
              <a:rPr lang="en-US" altLang="zh-CN" sz="1200" dirty="0">
                <a:solidFill>
                  <a:schemeClr val="tx1">
                    <a:lumMod val="75000"/>
                    <a:lumOff val="25000"/>
                  </a:schemeClr>
                </a:solidFill>
                <a:latin typeface="+mn-ea"/>
              </a:rPr>
              <a:t>, 2021, 64(11): 1416.</a:t>
            </a:r>
          </a:p>
          <a:p>
            <a:pPr indent="-457200">
              <a:lnSpc>
                <a:spcPts val="1800"/>
              </a:lnSpc>
            </a:pPr>
            <a:r>
              <a:rPr lang="en-US" altLang="zh-CN" sz="1200" dirty="0">
                <a:solidFill>
                  <a:schemeClr val="tx1">
                    <a:lumMod val="75000"/>
                    <a:lumOff val="25000"/>
                  </a:schemeClr>
                </a:solidFill>
                <a:latin typeface="+mn-ea"/>
              </a:rPr>
              <a:t>[16]	SUAREZ-LLEDO V, ALVAREZ-GALVEZ J. Prevalence of Health Misinformation on Social Media: Systematic Review[J]. Journal of Medical Internet Research, 2021, 23(1): e17187.</a:t>
            </a:r>
          </a:p>
          <a:p>
            <a:pPr indent="-457200">
              <a:lnSpc>
                <a:spcPts val="1800"/>
              </a:lnSpc>
            </a:pPr>
            <a:r>
              <a:rPr lang="en-US" altLang="zh-CN" sz="1200" dirty="0">
                <a:solidFill>
                  <a:schemeClr val="tx1">
                    <a:lumMod val="75000"/>
                    <a:lumOff val="25000"/>
                  </a:schemeClr>
                </a:solidFill>
                <a:latin typeface="+mn-ea"/>
              </a:rPr>
              <a:t>[17]	</a:t>
            </a:r>
            <a:r>
              <a:rPr lang="zh-CN" altLang="en-US" sz="1200" dirty="0">
                <a:solidFill>
                  <a:schemeClr val="tx1">
                    <a:lumMod val="75000"/>
                    <a:lumOff val="25000"/>
                  </a:schemeClr>
                </a:solidFill>
                <a:latin typeface="+mn-ea"/>
              </a:rPr>
              <a:t>郑杰心</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健康科普类短视频的传播策略研究 </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以抖音为例</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电视技术</a:t>
            </a:r>
            <a:r>
              <a:rPr lang="en-US" altLang="zh-CN" sz="1200" dirty="0">
                <a:solidFill>
                  <a:schemeClr val="tx1">
                    <a:lumMod val="75000"/>
                    <a:lumOff val="25000"/>
                  </a:schemeClr>
                </a:solidFill>
                <a:latin typeface="+mn-ea"/>
              </a:rPr>
              <a:t>, 2021, 5(45): 34-37.</a:t>
            </a:r>
          </a:p>
          <a:p>
            <a:pPr indent="-457200">
              <a:lnSpc>
                <a:spcPts val="1800"/>
              </a:lnSpc>
            </a:pPr>
            <a:r>
              <a:rPr lang="en-US" altLang="zh-CN" sz="1200" dirty="0">
                <a:solidFill>
                  <a:schemeClr val="tx1">
                    <a:lumMod val="75000"/>
                    <a:lumOff val="25000"/>
                  </a:schemeClr>
                </a:solidFill>
                <a:latin typeface="+mn-ea"/>
              </a:rPr>
              <a:t>[18]	UHAWENIMANA T C, MUSABWASONI M G S, NSENGIYUMVA R,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Sexuality and Sexual and Reproductive Health Depiction in Social Media: Content Analysis of Kinyarwanda YouTube Channels[J]. Journal of Medical Internet Research, 2023, 25: e46488.</a:t>
            </a:r>
          </a:p>
          <a:p>
            <a:pPr indent="-457200">
              <a:lnSpc>
                <a:spcPts val="1800"/>
              </a:lnSpc>
            </a:pPr>
            <a:r>
              <a:rPr lang="en-US" altLang="zh-CN" sz="1200" dirty="0">
                <a:solidFill>
                  <a:schemeClr val="tx1">
                    <a:lumMod val="75000"/>
                    <a:lumOff val="25000"/>
                  </a:schemeClr>
                </a:solidFill>
                <a:latin typeface="+mn-ea"/>
              </a:rPr>
              <a:t>[19]	WANG L, SHU X, HUANG J,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Quality and Reliability of Adolescent Sexuality Education on Chinese Video Platforms: Sentiment-Topic Analysis and Cross-Sectional Study[J]. JMIR Formative Research, 2025, 9: e77100.</a:t>
            </a:r>
          </a:p>
          <a:p>
            <a:pPr indent="-457200">
              <a:lnSpc>
                <a:spcPts val="1800"/>
              </a:lnSpc>
            </a:pPr>
            <a:r>
              <a:rPr lang="en-US" altLang="zh-CN" sz="1200" dirty="0">
                <a:solidFill>
                  <a:schemeClr val="tx1">
                    <a:lumMod val="75000"/>
                    <a:lumOff val="25000"/>
                  </a:schemeClr>
                </a:solidFill>
                <a:latin typeface="+mn-ea"/>
              </a:rPr>
              <a:t>[20]	</a:t>
            </a:r>
            <a:r>
              <a:rPr lang="zh-CN" altLang="en-US" sz="1200" dirty="0">
                <a:solidFill>
                  <a:schemeClr val="tx1">
                    <a:lumMod val="75000"/>
                    <a:lumOff val="25000"/>
                  </a:schemeClr>
                </a:solidFill>
                <a:latin typeface="+mn-ea"/>
              </a:rPr>
              <a:t>陈明红</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黄嘉乐</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连晓丽</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弹幕视角下健康视频需求主题特征及其对视频播放的影响</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情报杂志</a:t>
            </a:r>
            <a:r>
              <a:rPr lang="en-US" altLang="zh-CN" sz="1200" dirty="0">
                <a:solidFill>
                  <a:schemeClr val="tx1">
                    <a:lumMod val="75000"/>
                    <a:lumOff val="25000"/>
                  </a:schemeClr>
                </a:solidFill>
                <a:latin typeface="+mn-ea"/>
              </a:rPr>
              <a:t>, 2023: 148-155.</a:t>
            </a:r>
          </a:p>
          <a:p>
            <a:pPr indent="-457200">
              <a:lnSpc>
                <a:spcPts val="1800"/>
              </a:lnSpc>
            </a:pPr>
            <a:r>
              <a:rPr lang="en-US" altLang="zh-CN" sz="1200" dirty="0">
                <a:solidFill>
                  <a:schemeClr val="tx1">
                    <a:lumMod val="75000"/>
                    <a:lumOff val="25000"/>
                  </a:schemeClr>
                </a:solidFill>
                <a:latin typeface="+mn-ea"/>
              </a:rPr>
              <a:t>[21]	THIRUNAVUKARASU A J, TING D S J, ELANGOVAN K,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Large language models in medicine[J]. Nature Medicine, 2023, 29(8): 1930-1940.</a:t>
            </a:r>
          </a:p>
          <a:p>
            <a:pPr indent="-457200">
              <a:lnSpc>
                <a:spcPts val="1800"/>
              </a:lnSpc>
            </a:pPr>
            <a:r>
              <a:rPr lang="en-US" altLang="zh-CN" sz="1200" dirty="0">
                <a:solidFill>
                  <a:schemeClr val="tx1">
                    <a:lumMod val="75000"/>
                    <a:lumOff val="25000"/>
                  </a:schemeClr>
                </a:solidFill>
                <a:latin typeface="+mn-ea"/>
              </a:rPr>
              <a:t>[22]	SINGHAL K, TU T, GOTTWEIS J,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Toward expert-level medical question answering with large language models[J]. Nature Medicine, 2025, 31(3): 943-950.</a:t>
            </a:r>
          </a:p>
          <a:p>
            <a:pPr indent="-457200">
              <a:lnSpc>
                <a:spcPts val="1800"/>
              </a:lnSpc>
            </a:pPr>
            <a:r>
              <a:rPr lang="en-US" altLang="zh-CN" sz="1200" dirty="0">
                <a:solidFill>
                  <a:schemeClr val="tx1">
                    <a:lumMod val="75000"/>
                    <a:lumOff val="25000"/>
                  </a:schemeClr>
                </a:solidFill>
                <a:latin typeface="+mn-ea"/>
              </a:rPr>
              <a:t>[23]	TH K, M C, A M,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Performance of ChatGPT on USMLE: Potential for AI-assisted medical education using large language models[J/OL]. PLOS digital health, 2023, 2(2)[2026-03-22]. https://pubmed.ncbi.nlm.nih.gov/36812645/.</a:t>
            </a:r>
          </a:p>
          <a:p>
            <a:pPr indent="-457200">
              <a:lnSpc>
                <a:spcPts val="1800"/>
              </a:lnSpc>
            </a:pPr>
            <a:r>
              <a:rPr lang="en-US" altLang="zh-CN" sz="1200" dirty="0">
                <a:solidFill>
                  <a:schemeClr val="tx1">
                    <a:lumMod val="75000"/>
                    <a:lumOff val="25000"/>
                  </a:schemeClr>
                </a:solidFill>
                <a:latin typeface="+mn-ea"/>
              </a:rPr>
              <a:t>[24]	AYERS J W, POLIAK A, DREDZE M,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Comparing Physician and Artificial Intelligence Chatbot Responses to Patient Questions Posted to a Public Social Media Forum[J]. JAMA Internal Medicine, 2023, 183(6): 589-596.</a:t>
            </a:r>
          </a:p>
          <a:p>
            <a:pPr indent="-457200">
              <a:lnSpc>
                <a:spcPts val="1800"/>
              </a:lnSpc>
            </a:pPr>
            <a:r>
              <a:rPr lang="en-US" altLang="zh-CN" sz="1200" dirty="0">
                <a:solidFill>
                  <a:schemeClr val="tx1">
                    <a:lumMod val="75000"/>
                    <a:lumOff val="25000"/>
                  </a:schemeClr>
                </a:solidFill>
                <a:latin typeface="+mn-ea"/>
              </a:rPr>
              <a:t>[25]	CHANDRA-MOULI V, NEAL S, MOLLER A B. Adolescent sexual and reproductive health for all in sub-Saharan Africa: a spotlight on inequalities[J]. Reproductive Health, 2021, 18(S1): 118, s12978-021-01145-4.</a:t>
            </a:r>
          </a:p>
          <a:p>
            <a:pPr indent="-457200">
              <a:lnSpc>
                <a:spcPts val="1800"/>
              </a:lnSpc>
            </a:pPr>
            <a:r>
              <a:rPr lang="en-US" altLang="zh-CN" sz="1200" dirty="0">
                <a:solidFill>
                  <a:schemeClr val="tx1">
                    <a:lumMod val="75000"/>
                    <a:lumOff val="25000"/>
                  </a:schemeClr>
                </a:solidFill>
                <a:latin typeface="+mn-ea"/>
              </a:rPr>
              <a:t>[26]	SHI W, LIN Y, ZHANG Z,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Gender Differences in Sex Education in China: A Structural Topic Modeling Analysis Based on Online Knowledge Community </a:t>
            </a:r>
            <a:r>
              <a:rPr lang="en-US" altLang="zh-CN" sz="1200" dirty="0" err="1">
                <a:solidFill>
                  <a:schemeClr val="tx1">
                    <a:lumMod val="75000"/>
                    <a:lumOff val="25000"/>
                  </a:schemeClr>
                </a:solidFill>
                <a:latin typeface="+mn-ea"/>
              </a:rPr>
              <a:t>Zhihu</a:t>
            </a:r>
            <a:r>
              <a:rPr lang="en-US" altLang="zh-CN" sz="1200" dirty="0">
                <a:solidFill>
                  <a:schemeClr val="tx1">
                    <a:lumMod val="75000"/>
                    <a:lumOff val="25000"/>
                  </a:schemeClr>
                </a:solidFill>
                <a:latin typeface="+mn-ea"/>
              </a:rPr>
              <a:t>[J/OL]. Children, 2022, 9(5)[2026-03-22]. https://www.mdpi.com/2227-9067/9/5/615.</a:t>
            </a:r>
          </a:p>
          <a:p>
            <a:pPr indent="-457200">
              <a:lnSpc>
                <a:spcPts val="1800"/>
              </a:lnSpc>
            </a:pPr>
            <a:endParaRPr lang="en-US" altLang="zh-CN" sz="1200" dirty="0">
              <a:solidFill>
                <a:schemeClr val="tx1">
                  <a:lumMod val="75000"/>
                  <a:lumOff val="25000"/>
                </a:schemeClr>
              </a:solidFill>
              <a:latin typeface="+mn-ea"/>
            </a:endParaRPr>
          </a:p>
        </p:txBody>
      </p:sp>
    </p:spTree>
    <p:extLst>
      <p:ext uri="{BB962C8B-B14F-4D97-AF65-F5344CB8AC3E}">
        <p14:creationId xmlns:p14="http://schemas.microsoft.com/office/powerpoint/2010/main" val="3415632978"/>
      </p:ext>
    </p:extLst>
  </p:cSld>
  <p:clrMapOvr>
    <a:masterClrMapping/>
  </p:clrMapOvr>
  <p:transition>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F110F-CC7D-0384-E208-053CC26909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6E4163-6575-2E36-77A8-E9957F189F61}"/>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B1A83599-CABB-3760-2A46-B2FDC30428BD}"/>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37E4394C-8C48-D6B4-6375-9DA2D57FCDF1}"/>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F715A037-79F2-5097-0247-E2C556CC40AF}"/>
              </a:ext>
            </a:extLst>
          </p:cNvPr>
          <p:cNvSpPr>
            <a:spLocks noGrp="1"/>
          </p:cNvSpPr>
          <p:nvPr>
            <p:ph type="sldNum" sz="quarter" idx="12"/>
          </p:nvPr>
        </p:nvSpPr>
        <p:spPr/>
        <p:txBody>
          <a:bodyPr/>
          <a:lstStyle/>
          <a:p>
            <a:fld id="{054335CC-B077-4EFF-BFF9-2EFEE3F838E2}" type="slidenum">
              <a:rPr lang="zh-CN" altLang="en-US" smtClean="0"/>
              <a:pPr/>
              <a:t>28</a:t>
            </a:fld>
            <a:endParaRPr lang="zh-CN" altLang="en-US"/>
          </a:p>
        </p:txBody>
      </p:sp>
      <p:sp>
        <p:nvSpPr>
          <p:cNvPr id="6" name="矩形 5">
            <a:extLst>
              <a:ext uri="{FF2B5EF4-FFF2-40B4-BE49-F238E27FC236}">
                <a16:creationId xmlns:a16="http://schemas.microsoft.com/office/drawing/2014/main" id="{43051B28-B397-48D3-F121-F1BA6C6403A8}"/>
              </a:ext>
            </a:extLst>
          </p:cNvPr>
          <p:cNvSpPr/>
          <p:nvPr/>
        </p:nvSpPr>
        <p:spPr>
          <a:xfrm>
            <a:off x="658813"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a:lnSpc>
                <a:spcPct val="125000"/>
              </a:lnSpc>
            </a:pPr>
            <a:endParaRPr lang="en-US" altLang="zh-CN" sz="12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D381B3F5-A251-3966-F78B-E8C92A1B1C94}"/>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0B719A00-4CE1-FDF5-323F-13A4D3DD8EEC}"/>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7B5E938B-5F91-F60B-1DE2-9B337CBFA3A4}"/>
              </a:ext>
            </a:extLst>
          </p:cNvPr>
          <p:cNvSpPr txBox="1"/>
          <p:nvPr/>
        </p:nvSpPr>
        <p:spPr>
          <a:xfrm>
            <a:off x="690364" y="1182744"/>
            <a:ext cx="10663425" cy="5149551"/>
          </a:xfrm>
          <a:prstGeom prst="rect">
            <a:avLst/>
          </a:prstGeom>
          <a:noFill/>
        </p:spPr>
        <p:txBody>
          <a:bodyPr wrap="square" rtlCol="0">
            <a:spAutoFit/>
          </a:bodyPr>
          <a:lstStyle/>
          <a:p>
            <a:pPr indent="-457200">
              <a:lnSpc>
                <a:spcPts val="1800"/>
              </a:lnSpc>
            </a:pPr>
            <a:r>
              <a:rPr lang="en-US" altLang="zh-CN" sz="1200" dirty="0">
                <a:solidFill>
                  <a:schemeClr val="tx1">
                    <a:lumMod val="75000"/>
                    <a:lumOff val="25000"/>
                  </a:schemeClr>
                </a:solidFill>
                <a:latin typeface="+mn-ea"/>
              </a:rPr>
              <a:t>[27]	GUO H, NA X, HOU L,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Classifying Chinese Questions Related to Health Care Posted by Consumers Via the Internet[J]. Journal of Medical Internet Research, 2017, 19(6): e7156.</a:t>
            </a:r>
          </a:p>
          <a:p>
            <a:pPr indent="-457200">
              <a:lnSpc>
                <a:spcPts val="1800"/>
              </a:lnSpc>
            </a:pPr>
            <a:r>
              <a:rPr lang="en-US" altLang="zh-CN" sz="1200" dirty="0">
                <a:solidFill>
                  <a:schemeClr val="tx1">
                    <a:lumMod val="75000"/>
                    <a:lumOff val="25000"/>
                  </a:schemeClr>
                </a:solidFill>
                <a:latin typeface="+mn-ea"/>
              </a:rPr>
              <a:t>[28]	LATT P M, AUNG E T, HTAIK K,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Evaluation of artificial intelligence (AI) chatbots for providing sexual health information: a consensus study using real-world clinical queries[J]. BMC Public Health, 2025, 25(1): 1788.</a:t>
            </a:r>
          </a:p>
          <a:p>
            <a:pPr indent="-457200">
              <a:lnSpc>
                <a:spcPts val="1800"/>
              </a:lnSpc>
            </a:pPr>
            <a:r>
              <a:rPr lang="en-US" altLang="zh-CN" sz="1200" dirty="0">
                <a:solidFill>
                  <a:schemeClr val="tx1">
                    <a:lumMod val="75000"/>
                    <a:lumOff val="25000"/>
                  </a:schemeClr>
                </a:solidFill>
                <a:latin typeface="+mn-ea"/>
              </a:rPr>
              <a:t>[29]	</a:t>
            </a:r>
            <a:r>
              <a:rPr lang="zh-CN" altLang="en-US" sz="1200" dirty="0">
                <a:solidFill>
                  <a:schemeClr val="tx1">
                    <a:lumMod val="75000"/>
                    <a:lumOff val="25000"/>
                  </a:schemeClr>
                </a:solidFill>
                <a:latin typeface="+mn-ea"/>
              </a:rPr>
              <a:t>郭守运</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林腾</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抖音短视频平台健康信息的媒介传播及管理策略探析</a:t>
            </a:r>
            <a:r>
              <a:rPr lang="en-US" altLang="zh-CN" sz="1200" dirty="0">
                <a:solidFill>
                  <a:schemeClr val="tx1">
                    <a:lumMod val="75000"/>
                    <a:lumOff val="25000"/>
                  </a:schemeClr>
                </a:solidFill>
                <a:latin typeface="+mn-ea"/>
              </a:rPr>
              <a:t>[J/OL]. </a:t>
            </a:r>
            <a:r>
              <a:rPr lang="zh-CN" altLang="en-US" sz="1200" dirty="0">
                <a:solidFill>
                  <a:schemeClr val="tx1">
                    <a:lumMod val="75000"/>
                    <a:lumOff val="25000"/>
                  </a:schemeClr>
                </a:solidFill>
                <a:latin typeface="+mn-ea"/>
              </a:rPr>
              <a:t>东吴学术</a:t>
            </a:r>
            <a:r>
              <a:rPr lang="en-US" altLang="zh-CN" sz="1200" dirty="0">
                <a:solidFill>
                  <a:schemeClr val="tx1">
                    <a:lumMod val="75000"/>
                    <a:lumOff val="25000"/>
                  </a:schemeClr>
                </a:solidFill>
                <a:latin typeface="+mn-ea"/>
              </a:rPr>
              <a:t>, 2023[2026-03-22]. https://xueshu.baidu.com/ndscholar/browse/detail?paperid=1p1u0ap0by3y0j201t6002p06q223316&amp;site=xueshu_se.</a:t>
            </a:r>
          </a:p>
          <a:p>
            <a:pPr indent="-457200">
              <a:lnSpc>
                <a:spcPts val="1800"/>
              </a:lnSpc>
            </a:pPr>
            <a:r>
              <a:rPr lang="en-US" altLang="zh-CN" sz="1200" dirty="0">
                <a:solidFill>
                  <a:schemeClr val="tx1">
                    <a:lumMod val="75000"/>
                    <a:lumOff val="25000"/>
                  </a:schemeClr>
                </a:solidFill>
                <a:latin typeface="+mn-ea"/>
              </a:rPr>
              <a:t>[30]	SANABRIA G, GREENE K Y, TRAN J 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Great Way to Start the Conversation”: Evidence for the Use of an Adolescent Mental Health Chatbot Navigator for Youth at Risk of HIV and Other STIs[J]. Journal of Technology in Behavioral Science, 2023: 1-10.</a:t>
            </a:r>
          </a:p>
          <a:p>
            <a:pPr indent="-457200">
              <a:lnSpc>
                <a:spcPts val="1800"/>
              </a:lnSpc>
            </a:pPr>
            <a:r>
              <a:rPr lang="en-US" altLang="zh-CN" sz="1200" dirty="0">
                <a:solidFill>
                  <a:schemeClr val="tx1">
                    <a:lumMod val="75000"/>
                    <a:lumOff val="25000"/>
                  </a:schemeClr>
                </a:solidFill>
                <a:latin typeface="+mn-ea"/>
              </a:rPr>
              <a:t>[31]	NAIR I, PATEL S P, BOLEN A,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Reproductive Health Experiences Shared on TikTok by Young People: Content Analysis[J]. JMIR </a:t>
            </a:r>
            <a:r>
              <a:rPr lang="en-US" altLang="zh-CN" sz="1200" dirty="0" err="1">
                <a:solidFill>
                  <a:schemeClr val="tx1">
                    <a:lumMod val="75000"/>
                    <a:lumOff val="25000"/>
                  </a:schemeClr>
                </a:solidFill>
                <a:latin typeface="+mn-ea"/>
              </a:rPr>
              <a:t>Infodemiology</a:t>
            </a:r>
            <a:r>
              <a:rPr lang="en-US" altLang="zh-CN" sz="1200" dirty="0">
                <a:solidFill>
                  <a:schemeClr val="tx1">
                    <a:lumMod val="75000"/>
                    <a:lumOff val="25000"/>
                  </a:schemeClr>
                </a:solidFill>
                <a:latin typeface="+mn-ea"/>
              </a:rPr>
              <a:t>, 2023, 3: e42810.</a:t>
            </a:r>
          </a:p>
          <a:p>
            <a:pPr indent="-457200">
              <a:lnSpc>
                <a:spcPts val="1800"/>
              </a:lnSpc>
            </a:pPr>
            <a:r>
              <a:rPr lang="en-US" altLang="zh-CN" sz="1200" dirty="0">
                <a:solidFill>
                  <a:schemeClr val="tx1">
                    <a:lumMod val="75000"/>
                    <a:lumOff val="25000"/>
                  </a:schemeClr>
                </a:solidFill>
                <a:latin typeface="+mn-ea"/>
              </a:rPr>
              <a:t>[32]	AREZOO SAEDI, AFSANEH FATEMI, MOHAMMAD ALI NEMATBAKHSH. Representation-centric approach for classification of Consumer Health Questions[J]. Expert Systems with Applications, 2023, 229: 120436.</a:t>
            </a:r>
          </a:p>
          <a:p>
            <a:pPr indent="-457200">
              <a:lnSpc>
                <a:spcPts val="1800"/>
              </a:lnSpc>
            </a:pPr>
            <a:r>
              <a:rPr lang="en-US" altLang="zh-CN" sz="1200" dirty="0">
                <a:solidFill>
                  <a:schemeClr val="tx1">
                    <a:lumMod val="75000"/>
                    <a:lumOff val="25000"/>
                  </a:schemeClr>
                </a:solidFill>
                <a:latin typeface="+mn-ea"/>
              </a:rPr>
              <a:t>[33]	HE Y, WANG Y, LAI L,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comparison of the performance of Chinese large language models and ChatGPT throughout the entire clinical workflow[J]. Scientific Reports, 2025, 15(1): 36322</a:t>
            </a:r>
          </a:p>
          <a:p>
            <a:pPr indent="-457200">
              <a:lnSpc>
                <a:spcPts val="1800"/>
              </a:lnSpc>
            </a:pPr>
            <a:r>
              <a:rPr lang="en-US" altLang="zh-CN" sz="1200" dirty="0">
                <a:solidFill>
                  <a:schemeClr val="tx1">
                    <a:lumMod val="75000"/>
                    <a:lumOff val="25000"/>
                  </a:schemeClr>
                </a:solidFill>
                <a:latin typeface="+mn-ea"/>
              </a:rPr>
              <a:t>[34]	GOODMAN R S, PATRINELY J R, STONE C A Jr,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Accuracy and Reliability of Chatbot Responses to Physician Questions[J]. JAMA Network Open, 2023, 6(10): e2336483.</a:t>
            </a:r>
          </a:p>
          <a:p>
            <a:pPr indent="-457200">
              <a:lnSpc>
                <a:spcPts val="1800"/>
              </a:lnSpc>
            </a:pPr>
            <a:r>
              <a:rPr lang="en-US" altLang="zh-CN" sz="1200" dirty="0">
                <a:solidFill>
                  <a:schemeClr val="tx1">
                    <a:lumMod val="75000"/>
                    <a:lumOff val="25000"/>
                  </a:schemeClr>
                </a:solidFill>
                <a:latin typeface="+mn-ea"/>
              </a:rPr>
              <a:t>[35]	FOWLER L R, SCHOEN L, SMITH H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Sex Education on TikTok: A Content Analysis of Themes[J]. Health Promotion Practice, 2022, 23(5): 739-742.</a:t>
            </a:r>
          </a:p>
          <a:p>
            <a:pPr indent="-457200">
              <a:lnSpc>
                <a:spcPts val="1800"/>
              </a:lnSpc>
            </a:pPr>
            <a:r>
              <a:rPr lang="en-US" altLang="zh-CN" sz="1200" dirty="0">
                <a:solidFill>
                  <a:schemeClr val="tx1">
                    <a:lumMod val="75000"/>
                    <a:lumOff val="25000"/>
                  </a:schemeClr>
                </a:solidFill>
                <a:latin typeface="+mn-ea"/>
              </a:rPr>
              <a:t>[36]	SEO J, CHOI D, KIM 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Evaluation Framework of Large Language Models in Medical Documentation: Development and Usability Study[J]. Journal of Medical Internet Research, 2024, 26: e58329.</a:t>
            </a:r>
          </a:p>
          <a:p>
            <a:pPr indent="-457200">
              <a:lnSpc>
                <a:spcPts val="1800"/>
              </a:lnSpc>
            </a:pPr>
            <a:r>
              <a:rPr lang="en-US" altLang="zh-CN" sz="1200" dirty="0">
                <a:solidFill>
                  <a:schemeClr val="tx1">
                    <a:lumMod val="75000"/>
                    <a:lumOff val="25000"/>
                  </a:schemeClr>
                </a:solidFill>
                <a:latin typeface="+mn-ea"/>
              </a:rPr>
              <a:t>[37]	HO C N, TIAN T, AYERS A 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Qualitative metrics from the biomedical literature for evaluating large language models in clinical decision-making: a narrative review[J]. BMC Medical Informatics and Decision Making, 2024, 24: 357.</a:t>
            </a:r>
          </a:p>
        </p:txBody>
      </p:sp>
    </p:spTree>
    <p:extLst>
      <p:ext uri="{BB962C8B-B14F-4D97-AF65-F5344CB8AC3E}">
        <p14:creationId xmlns:p14="http://schemas.microsoft.com/office/powerpoint/2010/main" val="860011241"/>
      </p:ext>
    </p:extLst>
  </p:cSld>
  <p:clrMapOvr>
    <a:masterClrMapping/>
  </p:clrMapOvr>
  <p:transition>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C14F-041E-E1F0-2127-3DD3D5174A0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50F1B6-8555-C835-DE05-7792A01DD4C7}"/>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89DAECE0-46C0-6F87-DDE4-42EE475401C5}"/>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B2D0AD8D-C24F-4257-5873-3CB6AB3DAF78}"/>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2DD5CB5-00D9-462E-D848-E84A426B5F78}"/>
              </a:ext>
            </a:extLst>
          </p:cNvPr>
          <p:cNvSpPr>
            <a:spLocks noGrp="1"/>
          </p:cNvSpPr>
          <p:nvPr>
            <p:ph type="sldNum" sz="quarter" idx="12"/>
          </p:nvPr>
        </p:nvSpPr>
        <p:spPr/>
        <p:txBody>
          <a:bodyPr/>
          <a:lstStyle/>
          <a:p>
            <a:fld id="{054335CC-B077-4EFF-BFF9-2EFEE3F838E2}" type="slidenum">
              <a:rPr lang="zh-CN" altLang="en-US" smtClean="0"/>
              <a:pPr/>
              <a:t>29</a:t>
            </a:fld>
            <a:endParaRPr lang="zh-CN" altLang="en-US"/>
          </a:p>
        </p:txBody>
      </p:sp>
      <p:sp>
        <p:nvSpPr>
          <p:cNvPr id="6" name="矩形 5">
            <a:extLst>
              <a:ext uri="{FF2B5EF4-FFF2-40B4-BE49-F238E27FC236}">
                <a16:creationId xmlns:a16="http://schemas.microsoft.com/office/drawing/2014/main" id="{D2AA7119-1E11-F9EE-6F53-C7B484E76DD1}"/>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ctr">
            <a:noAutofit/>
          </a:bodyPr>
          <a:lstStyle/>
          <a:p>
            <a:pPr>
              <a:lnSpc>
                <a:spcPts val="1800"/>
              </a:lnSpc>
            </a:pPr>
            <a:endParaRPr lang="en-US" altLang="zh-CN" sz="12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BD108430-CE5A-4B91-F8AB-164FA273C0E4}"/>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DAFB6728-AA77-6559-6AA1-784F3C353B21}"/>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691FB90-C05F-6E23-3757-351311ED2CAF}"/>
              </a:ext>
            </a:extLst>
          </p:cNvPr>
          <p:cNvSpPr txBox="1"/>
          <p:nvPr/>
        </p:nvSpPr>
        <p:spPr>
          <a:xfrm>
            <a:off x="838200" y="1294166"/>
            <a:ext cx="10012959" cy="3046988"/>
          </a:xfrm>
          <a:prstGeom prst="rect">
            <a:avLst/>
          </a:prstGeom>
          <a:noFill/>
        </p:spPr>
        <p:txBody>
          <a:bodyPr wrap="square" rtlCol="0">
            <a:spAutoFit/>
          </a:bodyPr>
          <a:lstStyle/>
          <a:p>
            <a:pPr>
              <a:lnSpc>
                <a:spcPts val="1800"/>
              </a:lnSpc>
            </a:pPr>
            <a:r>
              <a:rPr lang="en-US" altLang="zh-CN" sz="1200" dirty="0">
                <a:solidFill>
                  <a:schemeClr val="tx1">
                    <a:lumMod val="75000"/>
                    <a:lumOff val="25000"/>
                  </a:schemeClr>
                </a:solidFill>
                <a:latin typeface="+mn-ea"/>
              </a:rPr>
              <a:t>[38]	YINGCHUN Z, DANCHEN L, XIAOYUE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Application of ChatGPT-based artificial intelligence in the diagnosis and management of polycystic ovary syndrome[J/OL]. BMC medical informatics and decision making, 2025, 25(1)[2026-04-25]. https://pubmed.ncbi.nlm.nih.gov/40682078/.</a:t>
            </a:r>
          </a:p>
          <a:p>
            <a:pPr>
              <a:lnSpc>
                <a:spcPts val="1800"/>
              </a:lnSpc>
            </a:pPr>
            <a:r>
              <a:rPr lang="en-US" altLang="zh-CN" sz="1200" dirty="0">
                <a:solidFill>
                  <a:schemeClr val="tx1">
                    <a:lumMod val="75000"/>
                    <a:lumOff val="25000"/>
                  </a:schemeClr>
                </a:solidFill>
                <a:latin typeface="+mn-ea"/>
              </a:rPr>
              <a:t>[39]	SAFRAN E, YILDIRIM S. A cross-sectional study on ChatGPT’s alignment with clinical practice guidelines in musculoskeletal rehabilitation[J]. BMC Musculoskeletal Disorders, 2025, 26(1): 411.</a:t>
            </a:r>
          </a:p>
          <a:p>
            <a:pPr>
              <a:lnSpc>
                <a:spcPts val="1800"/>
              </a:lnSpc>
            </a:pPr>
            <a:r>
              <a:rPr lang="en-US" altLang="zh-CN" sz="1200" dirty="0">
                <a:solidFill>
                  <a:schemeClr val="tx1">
                    <a:lumMod val="75000"/>
                    <a:lumOff val="25000"/>
                  </a:schemeClr>
                </a:solidFill>
                <a:latin typeface="+mn-ea"/>
              </a:rPr>
              <a:t>[40]	TAM T Y C, SIVARAJKUMAR S, KAPOOR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framework for human evaluation of large language models in healthcare derived from literature review[J]. </a:t>
            </a:r>
            <a:r>
              <a:rPr lang="en-US" altLang="zh-CN" sz="1200" dirty="0" err="1">
                <a:solidFill>
                  <a:schemeClr val="tx1">
                    <a:lumMod val="75000"/>
                    <a:lumOff val="25000"/>
                  </a:schemeClr>
                </a:solidFill>
                <a:latin typeface="+mn-ea"/>
              </a:rPr>
              <a:t>npj</a:t>
            </a:r>
            <a:r>
              <a:rPr lang="en-US" altLang="zh-CN" sz="1200" dirty="0">
                <a:solidFill>
                  <a:schemeClr val="tx1">
                    <a:lumMod val="75000"/>
                    <a:lumOff val="25000"/>
                  </a:schemeClr>
                </a:solidFill>
                <a:latin typeface="+mn-ea"/>
              </a:rPr>
              <a:t> Digital Medicine, 2024, 7(1): 258.</a:t>
            </a:r>
          </a:p>
          <a:p>
            <a:pPr>
              <a:lnSpc>
                <a:spcPts val="1800"/>
              </a:lnSpc>
            </a:pPr>
            <a:r>
              <a:rPr lang="en-US" altLang="zh-CN" sz="1200" dirty="0">
                <a:solidFill>
                  <a:schemeClr val="tx1">
                    <a:lumMod val="75000"/>
                    <a:lumOff val="25000"/>
                  </a:schemeClr>
                </a:solidFill>
                <a:latin typeface="+mn-ea"/>
              </a:rPr>
              <a:t>[41]	CASOLA S, LIU Y J, PENG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References Matter: Investigating the Impact of Reference Set Variation on Summarization Evaluation[EB/OL]. (2025)[2026-04-25]. https://www.semanticscholar.org/paper/References-Matter%3A-Investigating-the-Impact-of-Set-Casola-Liu/d09d576c33b72bcd57a5d6e8fbb5fa24f018ed47.</a:t>
            </a:r>
          </a:p>
          <a:p>
            <a:pPr>
              <a:lnSpc>
                <a:spcPts val="1800"/>
              </a:lnSpc>
            </a:pPr>
            <a:r>
              <a:rPr lang="en-US" altLang="zh-CN" sz="1200" dirty="0">
                <a:solidFill>
                  <a:schemeClr val="tx1">
                    <a:lumMod val="75000"/>
                    <a:lumOff val="25000"/>
                  </a:schemeClr>
                </a:solidFill>
                <a:latin typeface="+mn-ea"/>
              </a:rPr>
              <a:t>[42]	DENISE WELSCH, MARKUS NEUHÄUSER. Wilcoxon-Signed-Rank Test[M/OL]. [2026][2026-04-25]. https://link.springer.com/rwe/10.1007/978-3-662-69359-9_722.</a:t>
            </a:r>
          </a:p>
          <a:p>
            <a:endParaRPr lang="zh-CN" altLang="en-US" sz="1200" dirty="0">
              <a:latin typeface="+mn-ea"/>
            </a:endParaRPr>
          </a:p>
        </p:txBody>
      </p:sp>
    </p:spTree>
    <p:extLst>
      <p:ext uri="{BB962C8B-B14F-4D97-AF65-F5344CB8AC3E}">
        <p14:creationId xmlns:p14="http://schemas.microsoft.com/office/powerpoint/2010/main" val="1659877567"/>
      </p:ext>
    </p:extLst>
  </p:cSld>
  <p:clrMapOvr>
    <a:masterClrMapping/>
  </p:clrMapOvr>
  <p:transition>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EFF0407-06D8-4C23-8B46-35116B4CA561}"/>
              </a:ext>
            </a:extLst>
          </p:cNvPr>
          <p:cNvSpPr/>
          <p:nvPr/>
        </p:nvSpPr>
        <p:spPr>
          <a:xfrm>
            <a:off x="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文本框 187">
            <a:extLst>
              <a:ext uri="{FF2B5EF4-FFF2-40B4-BE49-F238E27FC236}">
                <a16:creationId xmlns:a16="http://schemas.microsoft.com/office/drawing/2014/main" id="{9AB48168-9664-43D7-B268-F65D3F8F3773}"/>
              </a:ext>
            </a:extLst>
          </p:cNvPr>
          <p:cNvSpPr txBox="1"/>
          <p:nvPr/>
        </p:nvSpPr>
        <p:spPr>
          <a:xfrm>
            <a:off x="3014804" y="3378079"/>
            <a:ext cx="8504096" cy="338554"/>
          </a:xfrm>
          <a:prstGeom prst="rect">
            <a:avLst/>
          </a:prstGeom>
          <a:noFill/>
        </p:spPr>
        <p:txBody>
          <a:bodyPr wrap="square" rtlCol="0">
            <a:spAutoFit/>
          </a:bodyPr>
          <a:lstStyle/>
          <a:p>
            <a:pPr algn="dist"/>
            <a:r>
              <a:rPr lang="en-US" altLang="zh-CN" sz="1600" dirty="0">
                <a:solidFill>
                  <a:schemeClr val="bg1">
                    <a:alpha val="50000"/>
                  </a:schemeClr>
                </a:solidFill>
              </a:rPr>
              <a:t>Research on the Development History of Nanjing Medical University</a:t>
            </a:r>
            <a:endParaRPr lang="zh-CN" altLang="en-US" sz="1600" dirty="0">
              <a:solidFill>
                <a:schemeClr val="bg1">
                  <a:alpha val="50000"/>
                </a:schemeClr>
              </a:solidFill>
            </a:endParaRPr>
          </a:p>
        </p:txBody>
      </p:sp>
      <p:sp>
        <p:nvSpPr>
          <p:cNvPr id="13" name="矩形 12">
            <a:extLst>
              <a:ext uri="{FF2B5EF4-FFF2-40B4-BE49-F238E27FC236}">
                <a16:creationId xmlns:a16="http://schemas.microsoft.com/office/drawing/2014/main" id="{7C163D62-1A2E-4BCE-B8BD-8D4D73D41FDB}"/>
              </a:ext>
            </a:extLst>
          </p:cNvPr>
          <p:cNvSpPr/>
          <p:nvPr/>
        </p:nvSpPr>
        <p:spPr>
          <a:xfrm>
            <a:off x="1042416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hidden="1">
            <a:extLst>
              <a:ext uri="{FF2B5EF4-FFF2-40B4-BE49-F238E27FC236}">
                <a16:creationId xmlns:a16="http://schemas.microsoft.com/office/drawing/2014/main" id="{F5CE5ED4-88CD-4ECE-8B47-2E3F000202EB}"/>
              </a:ext>
            </a:extLst>
          </p:cNvPr>
          <p:cNvSpPr/>
          <p:nvPr/>
        </p:nvSpPr>
        <p:spPr>
          <a:xfrm>
            <a:off x="3940789" y="385378"/>
            <a:ext cx="4519411" cy="5946592"/>
          </a:xfrm>
          <a:prstGeom prst="rect">
            <a:avLst/>
          </a:prstGeom>
          <a:blipFill dpi="0" rotWithShape="1">
            <a:blip r:embed="rId3">
              <a:alphaModFix amt="8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2C7AD8C4-F5E6-4F82-85CF-7049979C8881}"/>
              </a:ext>
            </a:extLst>
          </p:cNvPr>
          <p:cNvGrpSpPr/>
          <p:nvPr/>
        </p:nvGrpSpPr>
        <p:grpSpPr>
          <a:xfrm>
            <a:off x="4111891" y="3692472"/>
            <a:ext cx="3968218" cy="400110"/>
            <a:chOff x="5354955" y="4169576"/>
            <a:chExt cx="3968218" cy="400110"/>
          </a:xfrm>
        </p:grpSpPr>
        <p:grpSp>
          <p:nvGrpSpPr>
            <p:cNvPr id="855" name="组合 854">
              <a:extLst>
                <a:ext uri="{FF2B5EF4-FFF2-40B4-BE49-F238E27FC236}">
                  <a16:creationId xmlns:a16="http://schemas.microsoft.com/office/drawing/2014/main" id="{1FB8DCDB-9D66-469C-B4A9-401B0C8B7C41}"/>
                </a:ext>
              </a:extLst>
            </p:cNvPr>
            <p:cNvGrpSpPr/>
            <p:nvPr/>
          </p:nvGrpSpPr>
          <p:grpSpPr>
            <a:xfrm>
              <a:off x="5354955" y="4169576"/>
              <a:ext cx="3968218" cy="400110"/>
              <a:chOff x="3825884" y="3951339"/>
              <a:chExt cx="3968218" cy="400110"/>
            </a:xfrm>
          </p:grpSpPr>
          <p:sp>
            <p:nvSpPr>
              <p:cNvPr id="853" name="文本框 852">
                <a:extLst>
                  <a:ext uri="{FF2B5EF4-FFF2-40B4-BE49-F238E27FC236}">
                    <a16:creationId xmlns:a16="http://schemas.microsoft.com/office/drawing/2014/main" id="{F7416D5D-8DE2-4E3B-AAAB-76C1B7C6D11F}"/>
                  </a:ext>
                </a:extLst>
              </p:cNvPr>
              <p:cNvSpPr txBox="1"/>
              <p:nvPr/>
            </p:nvSpPr>
            <p:spPr>
              <a:xfrm>
                <a:off x="3825884" y="3951339"/>
                <a:ext cx="1980029" cy="400110"/>
              </a:xfrm>
              <a:prstGeom prst="rect">
                <a:avLst/>
              </a:prstGeom>
              <a:noFill/>
            </p:spPr>
            <p:txBody>
              <a:bodyPr wrap="none" rtlCol="0">
                <a:spAutoFit/>
              </a:bodyPr>
              <a:lstStyle/>
              <a:p>
                <a:r>
                  <a:rPr lang="zh-CN" altLang="en-US" sz="2000" dirty="0">
                    <a:solidFill>
                      <a:schemeClr val="accent1"/>
                    </a:solidFill>
                  </a:rPr>
                  <a:t>汇报人：周子轩</a:t>
                </a:r>
              </a:p>
            </p:txBody>
          </p:sp>
          <p:sp>
            <p:nvSpPr>
              <p:cNvPr id="854" name="文本框 853">
                <a:extLst>
                  <a:ext uri="{FF2B5EF4-FFF2-40B4-BE49-F238E27FC236}">
                    <a16:creationId xmlns:a16="http://schemas.microsoft.com/office/drawing/2014/main" id="{2EA87474-B562-404B-8D65-D041246708A5}"/>
                  </a:ext>
                </a:extLst>
              </p:cNvPr>
              <p:cNvSpPr txBox="1"/>
              <p:nvPr/>
            </p:nvSpPr>
            <p:spPr>
              <a:xfrm>
                <a:off x="6070553" y="3951339"/>
                <a:ext cx="1723549" cy="400110"/>
              </a:xfrm>
              <a:prstGeom prst="rect">
                <a:avLst/>
              </a:prstGeom>
              <a:noFill/>
            </p:spPr>
            <p:txBody>
              <a:bodyPr wrap="none" rtlCol="0">
                <a:spAutoFit/>
              </a:bodyPr>
              <a:lstStyle/>
              <a:p>
                <a:r>
                  <a:rPr lang="zh-CN" altLang="en-US" sz="2000" dirty="0">
                    <a:solidFill>
                      <a:schemeClr val="accent1"/>
                    </a:solidFill>
                  </a:rPr>
                  <a:t>导师：黄若尘</a:t>
                </a:r>
              </a:p>
            </p:txBody>
          </p:sp>
        </p:grpSp>
        <p:cxnSp>
          <p:nvCxnSpPr>
            <p:cNvPr id="9" name="直接连接符 8">
              <a:extLst>
                <a:ext uri="{FF2B5EF4-FFF2-40B4-BE49-F238E27FC236}">
                  <a16:creationId xmlns:a16="http://schemas.microsoft.com/office/drawing/2014/main" id="{2ACED1BA-F8D2-49F6-B077-F09B8C99DD6B}"/>
                </a:ext>
              </a:extLst>
            </p:cNvPr>
            <p:cNvCxnSpPr>
              <a:cxnSpLocks/>
            </p:cNvCxnSpPr>
            <p:nvPr/>
          </p:nvCxnSpPr>
          <p:spPr>
            <a:xfrm>
              <a:off x="7458073" y="4257674"/>
              <a:ext cx="0" cy="24765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BC1A1158-91C4-4124-923B-BD5C7D95C2CD}"/>
              </a:ext>
            </a:extLst>
          </p:cNvPr>
          <p:cNvSpPr txBox="1"/>
          <p:nvPr/>
        </p:nvSpPr>
        <p:spPr>
          <a:xfrm>
            <a:off x="3233678" y="2321736"/>
            <a:ext cx="5724644" cy="923330"/>
          </a:xfrm>
          <a:prstGeom prst="rect">
            <a:avLst/>
          </a:prstGeom>
          <a:noFill/>
        </p:spPr>
        <p:txBody>
          <a:bodyPr wrap="none" rtlCol="0">
            <a:spAutoFit/>
          </a:bodyPr>
          <a:lstStyle/>
          <a:p>
            <a:pPr algn="ctr"/>
            <a:r>
              <a:rPr lang="zh-CN" altLang="en-US" sz="5400" b="1" dirty="0">
                <a:solidFill>
                  <a:schemeClr val="accent1"/>
                </a:solidFill>
                <a:latin typeface="+mj-ea"/>
                <a:ea typeface="+mj-ea"/>
              </a:rPr>
              <a:t>敬请老师批评指正</a:t>
            </a:r>
          </a:p>
        </p:txBody>
      </p:sp>
      <p:cxnSp>
        <p:nvCxnSpPr>
          <p:cNvPr id="8" name="直接连接符 7">
            <a:extLst>
              <a:ext uri="{FF2B5EF4-FFF2-40B4-BE49-F238E27FC236}">
                <a16:creationId xmlns:a16="http://schemas.microsoft.com/office/drawing/2014/main" id="{ABA4F529-5649-4D4B-8A89-2317D4C1CD86}"/>
              </a:ext>
            </a:extLst>
          </p:cNvPr>
          <p:cNvCxnSpPr/>
          <p:nvPr/>
        </p:nvCxnSpPr>
        <p:spPr>
          <a:xfrm>
            <a:off x="3383280" y="3485150"/>
            <a:ext cx="54254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F84A6B9-9D8A-4B0C-BAAE-82B2732D494E}"/>
              </a:ext>
            </a:extLst>
          </p:cNvPr>
          <p:cNvCxnSpPr>
            <a:cxnSpLocks/>
          </p:cNvCxnSpPr>
          <p:nvPr/>
        </p:nvCxnSpPr>
        <p:spPr>
          <a:xfrm>
            <a:off x="5537835" y="3485150"/>
            <a:ext cx="111633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43058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标准">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16997</TotalTime>
  <Words>4785</Words>
  <Application>Microsoft Office PowerPoint</Application>
  <PresentationFormat>宽屏</PresentationFormat>
  <Paragraphs>501</Paragraphs>
  <Slides>30</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华文中宋</vt:lpstr>
      <vt:lpstr>微软雅黑</vt:lpstr>
      <vt:lpstr>Arial</vt:lpstr>
      <vt:lpstr>Impact</vt:lpstr>
      <vt:lpstr>Quattrocento Sans</vt:lpstr>
      <vt:lpstr>Times New Roman</vt:lpstr>
      <vt:lpstr>Wingdings</vt:lpstr>
      <vt:lpstr>Office 主题​​</vt:lpstr>
      <vt:lpstr>PowerPoint 演示文稿</vt:lpstr>
      <vt:lpstr>PowerPoint 演示文稿</vt:lpstr>
      <vt:lpstr>PowerPoint 演示文稿</vt:lpstr>
      <vt:lpstr>研究背景 - 严峻的现实挑战</vt:lpstr>
      <vt:lpstr>研究背景 - 传统教育的局限与新渠道的兴起</vt:lpstr>
      <vt:lpstr>研究意义</vt:lpstr>
      <vt:lpstr>PowerPoint 演示文稿</vt:lpstr>
      <vt:lpstr>研究目标及内容</vt:lpstr>
      <vt:lpstr>技术路线</vt:lpstr>
      <vt:lpstr>数据来源与处理方法</vt:lpstr>
      <vt:lpstr>问题规范化与答案生成</vt:lpstr>
      <vt:lpstr>人工修订与专家审核</vt:lpstr>
      <vt:lpstr>数据集质量评估方法与结果</vt:lpstr>
      <vt:lpstr>数据集质量评估方法与结果</vt:lpstr>
      <vt:lpstr>数据集质量评估方法与结果</vt:lpstr>
      <vt:lpstr>模型微调方法</vt:lpstr>
      <vt:lpstr>模型微调方法</vt:lpstr>
      <vt:lpstr>PowerPoint 演示文稿</vt:lpstr>
      <vt:lpstr>问题分类分析结果</vt:lpstr>
      <vt:lpstr>模型效果评估结果</vt:lpstr>
      <vt:lpstr>模型效果评估结果</vt:lpstr>
      <vt:lpstr>主题分析与典型案例</vt:lpstr>
      <vt:lpstr>PowerPoint 演示文稿</vt:lpstr>
      <vt:lpstr>主要结论与创新点</vt:lpstr>
      <vt:lpstr>局限性与未来方向</vt:lpstr>
      <vt:lpstr>参考文献</vt:lpstr>
      <vt:lpstr>参考文献</vt:lpstr>
      <vt:lpstr>参考文献</vt:lpstr>
      <vt:lpstr>参考文献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冰棍 ruoruo</dc:creator>
  <cp:lastModifiedBy>Zixuan Zhou</cp:lastModifiedBy>
  <cp:revision>942</cp:revision>
  <dcterms:created xsi:type="dcterms:W3CDTF">2018-12-19T06:50:31Z</dcterms:created>
  <dcterms:modified xsi:type="dcterms:W3CDTF">2026-05-13T14:36:01Z</dcterms:modified>
</cp:coreProperties>
</file>