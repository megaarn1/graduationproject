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2.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3.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 Id="rId4" Type="http://schemas.openxmlformats.org/officeDocument/2006/relationships/custom-properties" Target="docProps/custom.xml" />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6256000" cy="9144000"/>
  <p:notesSz cx="9144000" cy="16256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评论数</c:v>
                </c:pt>
              </c:strCache>
            </c:strRef>
          </c:tx>
          <c:spPr>
            <a:solidFill>
              <a:srgbClr val="1A4B8C"/>
            </a:solidFill>
            <a:effectLst/>
          </c:spPr>
          <c:invertIfNegative val="0"/>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Sheet1!$A$2:$A$14</c:f>
              <c:multiLvlStrCache>
                <c:ptCount val="13"/>
                <c:lvl>
                  <c:pt idx="0">
                    <c:v>生殖健康科普</c:v>
                  </c:pt>
                  <c:pt idx="1">
                    <c:v>安全套</c:v>
                  </c:pt>
                  <c:pt idx="2">
                    <c:v>避孕药</c:v>
                  </c:pt>
                  <c:pt idx="3">
                    <c:v>体外排精</c:v>
                  </c:pt>
                  <c:pt idx="4">
                    <c:v>安全期避孕</c:v>
                  </c:pt>
                  <c:pt idx="5">
                    <c:v>人工流产</c:v>
                  </c:pt>
                  <c:pt idx="6">
                    <c:v>绝育手术</c:v>
                  </c:pt>
                  <c:pt idx="7">
                    <c:v>避孕科普</c:v>
                  </c:pt>
                  <c:pt idx="8">
                    <c:v>节育器</c:v>
                  </c:pt>
                  <c:pt idx="9">
                    <c:v>避孕失败</c:v>
                  </c:pt>
                  <c:pt idx="10">
                    <c:v>女用安全套</c:v>
                  </c:pt>
                  <c:pt idx="11">
                    <c:v>新型避孕方式</c:v>
                  </c:pt>
                  <c:pt idx="12">
                    <c:v>其他</c:v>
                  </c:pt>
                </c:lvl>
              </c:multiLvlStrCache>
            </c:multiLvlStrRef>
          </c:cat>
          <c:val>
            <c:numRef>
              <c:f>Sheet1!$B$2:$B$14</c:f>
              <c:numCache>
                <c:formatCode>General</c:formatCode>
                <c:ptCount val="13"/>
                <c:pt idx="0">
                  <c:v>1204</c:v>
                </c:pt>
                <c:pt idx="1">
                  <c:v>855</c:v>
                </c:pt>
                <c:pt idx="2">
                  <c:v>381</c:v>
                </c:pt>
                <c:pt idx="3">
                  <c:v>211</c:v>
                </c:pt>
                <c:pt idx="4">
                  <c:v>189</c:v>
                </c:pt>
                <c:pt idx="5">
                  <c:v>175</c:v>
                </c:pt>
                <c:pt idx="6">
                  <c:v>168</c:v>
                </c:pt>
                <c:pt idx="7">
                  <c:v>152</c:v>
                </c:pt>
                <c:pt idx="8">
                  <c:v>113</c:v>
                </c:pt>
                <c:pt idx="9">
                  <c:v>89</c:v>
                </c:pt>
                <c:pt idx="10">
                  <c:v>76</c:v>
                </c:pt>
                <c:pt idx="11">
                  <c:v>68</c:v>
                </c:pt>
                <c:pt idx="12">
                  <c:v>99</c:v>
                </c:pt>
              </c:numCache>
            </c:numRef>
          </c:val>
        </c:ser>
        <c:dLbls>
          <c:numFmt formatCode="#,##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67"/>
        <c:overlap val="0"/>
        <c:axId val="2094734554"/>
        <c:axId val="2094734552"/>
        <c:axId val="2094734556"/>
      </c:barChart>
      <c:catAx>
        <c:axId val="2094734554"/>
        <c:scaling>
          <c:orientation val="minMax"/>
        </c:scaling>
        <c:delete val="1"/>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b"/>
        <c:majorGridlines>
          <c:spPr>
            <a:ln w="12700" cap="flat">
              <a:solidFill>
                <a:srgbClr val="e5e7eb"/>
              </a:solidFill>
              <a:prstDash val="dash"/>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1A1D21"/>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基线</c:v>
                </c:pt>
              </c:strCache>
            </c:strRef>
          </c:tx>
          <c:spPr>
            <a:solidFill>
              <a:srgbClr val="8A9BB0"/>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Qwen2.5-1.5B</c:v>
                  </c:pt>
                  <c:pt idx="1">
                    <c:v>Qwen2.5-3B</c:v>
                  </c:pt>
                  <c:pt idx="2">
                    <c:v>Qwen2.5-7B</c:v>
                  </c:pt>
                  <c:pt idx="3">
                    <c:v>Qwen3-1.7B</c:v>
                  </c:pt>
                  <c:pt idx="4">
                    <c:v>Qwen3-4B</c:v>
                  </c:pt>
                  <c:pt idx="5">
                    <c:v>Qwen3-8B</c:v>
                  </c:pt>
                </c:lvl>
              </c:multiLvlStrCache>
            </c:multiLvlStrRef>
          </c:cat>
          <c:val>
            <c:numRef>
              <c:f>Sheet1!$B$2:$B$7</c:f>
              <c:numCache>
                <c:formatCode>General</c:formatCode>
                <c:ptCount val="6"/>
                <c:pt idx="0">
                  <c:v>2.108</c:v>
                </c:pt>
                <c:pt idx="1">
                  <c:v>2.262</c:v>
                </c:pt>
                <c:pt idx="2">
                  <c:v>2.595</c:v>
                </c:pt>
                <c:pt idx="3">
                  <c:v>2.259</c:v>
                </c:pt>
                <c:pt idx="4">
                  <c:v>2.555</c:v>
                </c:pt>
                <c:pt idx="5">
                  <c:v>2.657</c:v>
                </c:pt>
              </c:numCache>
            </c:numRef>
          </c:val>
        </c:ser>
        <c:ser>
          <c:idx val="1"/>
          <c:order val="1"/>
          <c:tx>
            <c:strRef>
              <c:f>Sheet1!$C$1</c:f>
              <c:strCache>
                <c:ptCount val="1"/>
                <c:pt idx="0">
                  <c:v>微调后</c:v>
                </c:pt>
              </c:strCache>
            </c:strRef>
          </c:tx>
          <c:spPr>
            <a:solidFill>
              <a:srgbClr val="1A4B8C"/>
            </a:solidFill>
            <a:effectLst/>
          </c:spPr>
          <c:invertIfNegative val="0"/>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cat>
            <c:multiLvlStrRef>
              <c:f>Sheet1!$A$2:$A$7</c:f>
              <c:multiLvlStrCache>
                <c:ptCount val="6"/>
                <c:lvl>
                  <c:pt idx="0">
                    <c:v>Qwen2.5-1.5B</c:v>
                  </c:pt>
                  <c:pt idx="1">
                    <c:v>Qwen2.5-3B</c:v>
                  </c:pt>
                  <c:pt idx="2">
                    <c:v>Qwen2.5-7B</c:v>
                  </c:pt>
                  <c:pt idx="3">
                    <c:v>Qwen3-1.7B</c:v>
                  </c:pt>
                  <c:pt idx="4">
                    <c:v>Qwen3-4B</c:v>
                  </c:pt>
                  <c:pt idx="5">
                    <c:v>Qwen3-8B</c:v>
                  </c:pt>
                </c:lvl>
              </c:multiLvlStrCache>
            </c:multiLvlStrRef>
          </c:cat>
          <c:val>
            <c:numRef>
              <c:f>Sheet1!$C$2:$C$7</c:f>
              <c:numCache>
                <c:formatCode>General</c:formatCode>
                <c:ptCount val="6"/>
                <c:pt idx="0">
                  <c:v>2.552</c:v>
                </c:pt>
                <c:pt idx="1">
                  <c:v>2.699</c:v>
                </c:pt>
                <c:pt idx="2">
                  <c:v>2.914</c:v>
                </c:pt>
                <c:pt idx="3">
                  <c:v>2.815</c:v>
                </c:pt>
                <c:pt idx="4">
                  <c:v>2.927</c:v>
                </c:pt>
                <c:pt idx="5">
                  <c:v>2.922</c:v>
                </c:pt>
              </c:numCache>
            </c:numRef>
          </c:val>
        </c:ser>
        <c:dLbls>
          <c:numFmt formatCode="#,##0" sourceLinked="0"/>
          <c:txPr>
            <a:bodyPr/>
            <a:lstStyle/>
            <a:p>
              <a:pPr>
                <a:defRPr b="0" i="0" strike="noStrike" sz="1000" u="none">
                  <a:solidFill>
                    <a:srgbClr val="000000"/>
                  </a:solidFill>
                  <a:latin typeface="Arial"/>
                </a:defRPr>
              </a:pPr>
            </a:p>
          </c:txPr>
          <c:showLegendKey val="0"/>
          <c:showVal val="1"/>
          <c:showCatName val="0"/>
          <c:showSerName val="0"/>
          <c:showPercent val="0"/>
          <c:showBubbleSize val="0"/>
          <c:showLeaderLines val="0"/>
        </c:dLbls>
        <c:gapWidth val="10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1A1D21"/>
                </a:solidFill>
                <a:latin typeface="Arial"/>
              </a:defRPr>
            </a:pPr>
            <a:endParaRPr lang="en-US"/>
          </a:p>
        </c:txPr>
        <c:crossAx val="2094734552"/>
        <c:crosses val="autoZero"/>
        <c:auto val="1"/>
        <c:lblAlgn val="ctr"/>
        <c:noMultiLvlLbl val="1"/>
      </c:catAx>
      <c:valAx>
        <c:axId val="2094734552"/>
        <c:scaling>
          <c:orientation val="minMax"/>
          <c:max val="3.2"/>
          <c:min val="1.5"/>
        </c:scaling>
        <c:delete val="0"/>
        <c:axPos val="l"/>
        <c:majorGridlines>
          <c:spPr>
            <a:ln w="12700" cap="flat">
              <a:solidFill>
                <a:srgbClr val="e5e7eb"/>
              </a:solidFill>
              <a:prstDash val="dash"/>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1A1D21"/>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提升幅度</c:v>
                </c:pt>
              </c:strCache>
            </c:strRef>
          </c:tx>
          <c:spPr>
            <a:solidFill>
              <a:srgbClr val="C45C26"/>
            </a:solidFill>
            <a:effectLst/>
          </c:spPr>
          <c:invertIfNegative val="0"/>
          <c:dLbls>
            <c:numFmt formatCode="0.0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cat>
            <c:multiLvlStrRef>
              <c:f>Sheet1!$A$2:$A$10</c:f>
              <c:multiLvlStrCache>
                <c:ptCount val="9"/>
                <c:lvl>
                  <c:pt idx="0">
                    <c:v>人工流产</c:v>
                  </c:pt>
                  <c:pt idx="1">
                    <c:v>体外排精</c:v>
                  </c:pt>
                  <c:pt idx="2">
                    <c:v>节育器</c:v>
                  </c:pt>
                  <c:pt idx="3">
                    <c:v>绝育手术</c:v>
                  </c:pt>
                  <c:pt idx="4">
                    <c:v>其他内容</c:v>
                  </c:pt>
                  <c:pt idx="5">
                    <c:v>生殖健康科普</c:v>
                  </c:pt>
                  <c:pt idx="6">
                    <c:v>安全套</c:v>
                  </c:pt>
                  <c:pt idx="7">
                    <c:v>避孕科普</c:v>
                  </c:pt>
                  <c:pt idx="8">
                    <c:v>避孕药</c:v>
                  </c:pt>
                </c:lvl>
              </c:multiLvlStrCache>
            </c:multiLvlStrRef>
          </c:cat>
          <c:val>
            <c:numRef>
              <c:f>Sheet1!$B$2:$B$10</c:f>
              <c:numCache>
                <c:formatCode>General</c:formatCode>
                <c:ptCount val="9"/>
                <c:pt idx="0">
                  <c:v>0.619</c:v>
                </c:pt>
                <c:pt idx="1">
                  <c:v>0.476</c:v>
                </c:pt>
                <c:pt idx="2">
                  <c:v>0.43</c:v>
                </c:pt>
                <c:pt idx="3">
                  <c:v>0.375</c:v>
                </c:pt>
                <c:pt idx="4">
                  <c:v>0.361</c:v>
                </c:pt>
                <c:pt idx="5">
                  <c:v>0.355</c:v>
                </c:pt>
                <c:pt idx="6">
                  <c:v>0.348</c:v>
                </c:pt>
                <c:pt idx="7">
                  <c:v>0.347</c:v>
                </c:pt>
                <c:pt idx="8">
                  <c:v>0.316</c:v>
                </c:pt>
              </c:numCache>
            </c:numRef>
          </c:val>
        </c:ser>
        <c:dLbls>
          <c:numFmt formatCode="0.000" sourceLinked="0"/>
          <c:txPr>
            <a:bodyPr/>
            <a:lstStyle/>
            <a:p>
              <a:pPr>
                <a:defRPr b="0" i="0" strike="noStrike" sz="1100" u="none">
                  <a:solidFill>
                    <a:srgbClr val="000000"/>
                  </a:solidFill>
                  <a:latin typeface="Arial"/>
                </a:defRPr>
              </a:pPr>
            </a:p>
          </c:txPr>
          <c:showLegendKey val="0"/>
          <c:showVal val="1"/>
          <c:showCatName val="0"/>
          <c:showSerName val="0"/>
          <c:showPercent val="0"/>
          <c:showBubbleSize val="0"/>
          <c:showLeaderLines val="0"/>
        </c:dLbls>
        <c:gapWidth val="10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A1D21"/>
                </a:solidFill>
                <a:latin typeface="Arial"/>
              </a:defRPr>
            </a:pPr>
            <a:endParaRPr lang="en-US"/>
          </a:p>
        </c:txPr>
        <c:crossAx val="2094734552"/>
        <c:crosses val="autoZero"/>
        <c:auto val="1"/>
        <c:lblAlgn val="ctr"/>
        <c:noMultiLvlLbl val="1"/>
      </c:catAx>
      <c:valAx>
        <c:axId val="2094734552"/>
        <c:scaling>
          <c:orientation val="minMax"/>
        </c:scaling>
        <c:delete val="1"/>
        <c:axPos val="b"/>
        <c:majorGridlines>
          <c:spPr>
            <a:ln w="12700" cap="flat">
              <a:solidFill>
                <a:srgbClr val="E0E6F1"/>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4B8C"/>
        </a:solidFill>
      </p:bgPr>
    </p:bg>
    <p:spTree>
      <p:nvGrpSpPr>
        <p:cNvPr id="1" name=""/>
        <p:cNvGrpSpPr/>
        <p:nvPr/>
      </p:nvGrpSpPr>
      <p:grpSpPr>
        <a:xfrm>
          <a:off x="0" y="0"/>
          <a:ext cx="0" cy="0"/>
          <a:chOff x="0" y="0"/>
          <a:chExt cx="0" cy="0"/>
        </a:xfrm>
      </p:grpSpPr>
      <p:sp>
        <p:nvSpPr>
          <p:cNvPr id="2" name="Text 0"/>
          <p:cNvSpPr/>
          <p:nvPr/>
        </p:nvSpPr>
        <p:spPr>
          <a:xfrm>
            <a:off x="1016000" y="2794000"/>
            <a:ext cx="9144000" cy="2603500"/>
          </a:xfrm>
          <a:prstGeom prst="rect">
            <a:avLst/>
          </a:prstGeom>
          <a:noFill/>
          <a:ln/>
        </p:spPr>
        <p:txBody>
          <a:bodyPr wrap="square" lIns="0" tIns="0" rIns="0" bIns="0" rtlCol="0" anchor="t"/>
          <a:lstStyle/>
          <a:p>
            <a:pPr>
              <a:lnSpc>
                <a:spcPct val="140000"/>
              </a:lnSpc>
            </a:pPr>
            <a:r>
              <a:rPr lang="en-US" sz="4000" dirty="0">
                <a:solidFill>
                  <a:srgbClr val="FFFFFF"/>
                </a:solidFill>
                <a:latin typeface="QuattrocentoSans" pitchFamily="34" charset="0"/>
                <a:ea typeface="QuattrocentoSans" pitchFamily="34" charset="-122"/>
                <a:cs typeface="QuattrocentoSans" pitchFamily="34" charset="-120"/>
              </a:rPr>
              <a:t>基于大语言模型的社交媒体</a:t>
            </a:r>
            <a:endParaRPr lang="en-US" sz="3600" dirty="0"/>
          </a:p>
          <a:p>
            <a:pPr>
              <a:lnSpc>
                <a:spcPct val="140000"/>
              </a:lnSpc>
            </a:pPr>
            <a:r>
              <a:rPr lang="en-US" sz="4000" dirty="0">
                <a:solidFill>
                  <a:srgbClr val="FFFFFF"/>
                </a:solidFill>
                <a:latin typeface="QuattrocentoSans" pitchFamily="34" charset="0"/>
                <a:ea typeface="QuattrocentoSans" pitchFamily="34" charset="-122"/>
                <a:cs typeface="QuattrocentoSans" pitchFamily="34" charset="-120"/>
              </a:rPr>
              <a:t>青少年生殖健康评论分类分析</a:t>
            </a:r>
            <a:endParaRPr lang="en-US" sz="3600" dirty="0"/>
          </a:p>
          <a:p>
            <a:pPr>
              <a:lnSpc>
                <a:spcPct val="140000"/>
              </a:lnSpc>
            </a:pPr>
            <a:r>
              <a:rPr lang="en-US" sz="4000" dirty="0">
                <a:solidFill>
                  <a:srgbClr val="FFFFFF"/>
                </a:solidFill>
                <a:latin typeface="QuattrocentoSans" pitchFamily="34" charset="0"/>
                <a:ea typeface="QuattrocentoSans" pitchFamily="34" charset="-122"/>
                <a:cs typeface="QuattrocentoSans" pitchFamily="34" charset="-120"/>
              </a:rPr>
              <a:t>与问答生成研究</a:t>
            </a:r>
            <a:endParaRPr lang="en-US" sz="3600" dirty="0"/>
          </a:p>
        </p:txBody>
      </p:sp>
      <p:sp>
        <p:nvSpPr>
          <p:cNvPr id="3" name="Shape 1"/>
          <p:cNvSpPr/>
          <p:nvPr/>
        </p:nvSpPr>
        <p:spPr>
          <a:xfrm>
            <a:off x="1016000" y="5461000"/>
            <a:ext cx="762000" cy="50800"/>
          </a:xfrm>
          <a:prstGeom prst="rect">
            <a:avLst/>
          </a:prstGeom>
          <a:solidFill>
            <a:srgbClr val="C45C26"/>
          </a:solidFill>
          <a:ln/>
        </p:spPr>
      </p:sp>
      <p:sp>
        <p:nvSpPr>
          <p:cNvPr id="4" name="Text 2"/>
          <p:cNvSpPr/>
          <p:nvPr/>
        </p:nvSpPr>
        <p:spPr>
          <a:xfrm>
            <a:off x="1016000" y="5651500"/>
            <a:ext cx="9144000" cy="508000"/>
          </a:xfrm>
          <a:prstGeom prst="rect">
            <a:avLst/>
          </a:prstGeom>
          <a:noFill/>
          <a:ln/>
        </p:spPr>
        <p:txBody>
          <a:bodyPr wrap="none" lIns="0" tIns="0" rIns="0" bIns="0" rtlCol="0" anchor="ctr"/>
          <a:lstStyle/>
          <a:p>
            <a:pPr>
              <a:lnSpc>
                <a:spcPct val="100000"/>
              </a:lnSpc>
            </a:pPr>
            <a:r>
              <a:rPr lang="en-US" sz="2000" dirty="0">
                <a:solidFill>
                  <a:srgbClr val="FFFFFF">
                    <a:alpha val="80000"/>
                  </a:srgbClr>
                </a:solidFill>
                <a:latin typeface="Quattrocento Sans" pitchFamily="34" charset="0"/>
                <a:ea typeface="Quattrocento Sans" pitchFamily="34" charset="-122"/>
                <a:cs typeface="Quattrocento Sans" pitchFamily="34" charset="-120"/>
              </a:rPr>
              <a:t>本科生毕业设计（论文）答辩</a:t>
            </a:r>
            <a:endParaRPr lang="en-US" sz="1600" dirty="0"/>
          </a:p>
        </p:txBody>
      </p:sp>
      <p:sp>
        <p:nvSpPr>
          <p:cNvPr id="5" name="Text 3"/>
          <p:cNvSpPr/>
          <p:nvPr/>
        </p:nvSpPr>
        <p:spPr>
          <a:xfrm>
            <a:off x="1016000" y="6604000"/>
            <a:ext cx="9144000" cy="1524000"/>
          </a:xfrm>
          <a:prstGeom prst="rect">
            <a:avLst/>
          </a:prstGeom>
          <a:noFill/>
          <a:ln/>
        </p:spPr>
        <p:txBody>
          <a:bodyPr wrap="square" lIns="0" tIns="0" rIns="0" bIns="0" rtlCol="0" anchor="t"/>
          <a:lstStyle/>
          <a:p>
            <a:pPr>
              <a:lnSpc>
                <a:spcPct val="180000"/>
              </a:lnSpc>
            </a:pPr>
            <a:r>
              <a:rPr lang="en-US" sz="1800" dirty="0">
                <a:solidFill>
                  <a:srgbClr val="FFFFFF">
                    <a:alpha val="66667"/>
                  </a:srgbClr>
                </a:solidFill>
                <a:latin typeface="Quattrocento Sans" pitchFamily="34" charset="0"/>
                <a:ea typeface="Quattrocento Sans" pitchFamily="34" charset="-122"/>
                <a:cs typeface="Quattrocento Sans" pitchFamily="34" charset="-120"/>
              </a:rPr>
              <a:t>答辩人：周子轩 | 导师：黄若尘 讲师</a:t>
            </a:r>
            <a:endParaRPr lang="en-US" sz="1600" dirty="0"/>
          </a:p>
          <a:p>
            <a:pPr>
              <a:lnSpc>
                <a:spcPct val="180000"/>
              </a:lnSpc>
            </a:pPr>
            <a:r>
              <a:rPr lang="en-US" sz="1800" dirty="0">
                <a:solidFill>
                  <a:srgbClr val="FFFFFF">
                    <a:alpha val="66667"/>
                  </a:srgbClr>
                </a:solidFill>
                <a:latin typeface="Quattrocento Sans" pitchFamily="34" charset="0"/>
                <a:ea typeface="Quattrocento Sans" pitchFamily="34" charset="-122"/>
                <a:cs typeface="Quattrocento Sans" pitchFamily="34" charset="-120"/>
              </a:rPr>
              <a:t>南京医科大学 生物医学工程与信息学院</a:t>
            </a:r>
            <a:endParaRPr lang="en-US" sz="1600" dirty="0"/>
          </a:p>
          <a:p>
            <a:pPr>
              <a:lnSpc>
                <a:spcPct val="180000"/>
              </a:lnSpc>
            </a:pPr>
            <a:r>
              <a:rPr lang="en-US" sz="1800" dirty="0">
                <a:solidFill>
                  <a:srgbClr val="FFFFFF">
                    <a:alpha val="66667"/>
                  </a:srgbClr>
                </a:solidFill>
                <a:latin typeface="Quattrocento Sans" pitchFamily="34" charset="0"/>
                <a:ea typeface="Quattrocento Sans" pitchFamily="34" charset="-122"/>
                <a:cs typeface="Quattrocento Sans" pitchFamily="34" charset="-120"/>
              </a:rPr>
              <a:t>2026年5月</a:t>
            </a:r>
            <a:endParaRPr lang="en-US" sz="1600" dirty="0"/>
          </a:p>
        </p:txBody>
      </p:sp>
      <p:sp>
        <p:nvSpPr>
          <p:cNvPr id="6" name="Shape 4"/>
          <p:cNvSpPr/>
          <p:nvPr/>
        </p:nvSpPr>
        <p:spPr>
          <a:xfrm>
            <a:off x="11176000" y="0"/>
            <a:ext cx="5080000" cy="9144000"/>
          </a:xfrm>
          <a:prstGeom prst="rect">
            <a:avLst/>
          </a:prstGeom>
          <a:solidFill>
            <a:srgbClr val="FFFFFF">
              <a:alpha val="8235"/>
            </a:srgbClr>
          </a:solidFill>
          <a:ln/>
        </p:spPr>
      </p:sp>
      <p:sp>
        <p:nvSpPr>
          <p:cNvPr id="7" name="Shape 5"/>
          <p:cNvSpPr/>
          <p:nvPr/>
        </p:nvSpPr>
        <p:spPr>
          <a:xfrm>
            <a:off x="12446000" y="2286000"/>
            <a:ext cx="2540000" cy="2540000"/>
          </a:xfrm>
          <a:prstGeom prst="ellipse">
            <a:avLst/>
          </a:prstGeom>
          <a:solidFill>
            <a:srgbClr val="FFFFFF">
              <a:alpha val="6275"/>
            </a:srgbClr>
          </a:solidFill>
          <a:ln/>
        </p:spPr>
      </p:sp>
      <p:sp>
        <p:nvSpPr>
          <p:cNvPr id="8" name="Shape 6"/>
          <p:cNvSpPr/>
          <p:nvPr/>
        </p:nvSpPr>
        <p:spPr>
          <a:xfrm>
            <a:off x="13335000" y="5080000"/>
            <a:ext cx="1524000" cy="1524000"/>
          </a:xfrm>
          <a:prstGeom prst="ellipse">
            <a:avLst/>
          </a:prstGeom>
          <a:solidFill>
            <a:srgbClr val="FFFFFF">
              <a:alpha val="3137"/>
            </a:srgbClr>
          </a:solidFill>
          <a:ln/>
        </p:spPr>
      </p:sp>
      <p:sp>
        <p:nvSpPr>
          <p:cNvPr id="9" name="Shape 7"/>
          <p:cNvSpPr/>
          <p:nvPr/>
        </p:nvSpPr>
        <p:spPr>
          <a:xfrm>
            <a:off x="11684000" y="7112000"/>
            <a:ext cx="3048000" cy="0"/>
          </a:xfrm>
          <a:prstGeom prst="straightConnector1">
            <a:avLst/>
          </a:prstGeom>
          <a:noFill/>
          <a:ln w="25400">
            <a:solidFill>
              <a:srgbClr val="FFFFFF">
                <a:alpha val="18824"/>
              </a:srgbClr>
            </a:solidFill>
            <a:prstDash val="solid"/>
            <a:headEnd type="none"/>
            <a:tailEnd type="none"/>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1A4B8C"/>
          </a:solidFill>
          <a:ln/>
        </p:spPr>
      </p:sp>
      <p:sp>
        <p:nvSpPr>
          <p:cNvPr id="3" name="Text 1"/>
          <p:cNvSpPr/>
          <p:nvPr/>
        </p:nvSpPr>
        <p:spPr>
          <a:xfrm>
            <a:off x="508000" y="0"/>
            <a:ext cx="10160000" cy="508000"/>
          </a:xfrm>
          <a:prstGeom prst="rect">
            <a:avLst/>
          </a:prstGeom>
          <a:noFill/>
          <a:ln/>
        </p:spPr>
        <p:txBody>
          <a:bodyPr wrap="none" lIns="0" tIns="0" rIns="0" bIns="0" rtlCol="0" anchor="ctr"/>
          <a:lstStyle/>
          <a:p>
            <a:pP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基于大语言模型的社交媒体青少年生殖健康评论分类分析与问答生成研究</a:t>
            </a:r>
            <a:endParaRPr lang="en-US" sz="1400" dirty="0"/>
          </a:p>
        </p:txBody>
      </p:sp>
      <p:sp>
        <p:nvSpPr>
          <p:cNvPr id="4" name="Text 2"/>
          <p:cNvSpPr/>
          <p:nvPr/>
        </p:nvSpPr>
        <p:spPr>
          <a:xfrm>
            <a:off x="12700000" y="0"/>
            <a:ext cx="3048000" cy="508000"/>
          </a:xfrm>
          <a:prstGeom prst="rect">
            <a:avLst/>
          </a:prstGeom>
          <a:noFill/>
          <a:ln/>
        </p:spPr>
        <p:txBody>
          <a:bodyPr wrap="none" lIns="0" tIns="0" rIns="0" bIns="0" rtlCol="0" anchor="ctr"/>
          <a:lstStyle/>
          <a:p>
            <a:pPr algn="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研究背景与意义</a:t>
            </a:r>
            <a:endParaRPr lang="en-US" sz="1400" dirty="0"/>
          </a:p>
        </p:txBody>
      </p:sp>
      <p:sp>
        <p:nvSpPr>
          <p:cNvPr id="5" name="Text 3"/>
          <p:cNvSpPr/>
          <p:nvPr/>
        </p:nvSpPr>
        <p:spPr>
          <a:xfrm>
            <a:off x="762000" y="698500"/>
            <a:ext cx="7620000" cy="508000"/>
          </a:xfrm>
          <a:prstGeom prst="rect">
            <a:avLst/>
          </a:prstGeom>
          <a:noFill/>
          <a:ln/>
        </p:spPr>
        <p:txBody>
          <a:bodyPr wrap="none" lIns="0" tIns="0" rIns="0" bIns="0" rtlCol="0" anchor="ctr"/>
          <a:lstStyle/>
          <a:p>
            <a:pPr>
              <a:lnSpc>
                <a:spcPct val="130000"/>
              </a:lnSpc>
            </a:pPr>
            <a:r>
              <a:rPr lang="en-US" sz="2800" dirty="0">
                <a:solidFill>
                  <a:srgbClr val="1A4B8C"/>
                </a:solidFill>
                <a:latin typeface="QuattrocentoSans" pitchFamily="34" charset="0"/>
                <a:ea typeface="QuattrocentoSans" pitchFamily="34" charset="-122"/>
                <a:cs typeface="QuattrocentoSans" pitchFamily="34" charset="-120"/>
              </a:rPr>
              <a:t>研究背景与意义</a:t>
            </a:r>
            <a:endParaRPr lang="en-US" sz="2800" dirty="0"/>
          </a:p>
        </p:txBody>
      </p:sp>
      <p:sp>
        <p:nvSpPr>
          <p:cNvPr id="6" name="Shape 4"/>
          <p:cNvSpPr/>
          <p:nvPr/>
        </p:nvSpPr>
        <p:spPr>
          <a:xfrm>
            <a:off x="762000" y="1295400"/>
            <a:ext cx="508000" cy="38100"/>
          </a:xfrm>
          <a:prstGeom prst="rect">
            <a:avLst/>
          </a:prstGeom>
          <a:solidFill>
            <a:srgbClr val="1A4B8C"/>
          </a:solidFill>
          <a:ln/>
        </p:spPr>
      </p:sp>
      <p:sp>
        <p:nvSpPr>
          <p:cNvPr id="7" name="Shape 5"/>
          <p:cNvSpPr/>
          <p:nvPr/>
        </p:nvSpPr>
        <p:spPr>
          <a:xfrm>
            <a:off x="762000" y="1651000"/>
            <a:ext cx="4699000" cy="2667000"/>
          </a:xfrm>
          <a:prstGeom prst="rect">
            <a:avLst/>
          </a:prstGeom>
          <a:solidFill>
            <a:srgbClr val="FFFFFF"/>
          </a:solidFill>
          <a:ln/>
        </p:spPr>
      </p:sp>
      <p:sp>
        <p:nvSpPr>
          <p:cNvPr id="8" name="Text 6"/>
          <p:cNvSpPr/>
          <p:nvPr/>
        </p:nvSpPr>
        <p:spPr>
          <a:xfrm>
            <a:off x="1016000" y="1778000"/>
            <a:ext cx="4191000" cy="4064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严峻的现实挑战</a:t>
            </a:r>
            <a:endParaRPr lang="en-US" sz="1600" dirty="0"/>
          </a:p>
        </p:txBody>
      </p:sp>
      <p:sp>
        <p:nvSpPr>
          <p:cNvPr id="9" name="Text 7"/>
          <p:cNvSpPr/>
          <p:nvPr/>
        </p:nvSpPr>
        <p:spPr>
          <a:xfrm>
            <a:off x="1016000" y="2260600"/>
            <a:ext cx="4191000" cy="1905000"/>
          </a:xfrm>
          <a:prstGeom prst="rect">
            <a:avLst/>
          </a:prstGeom>
          <a:noFill/>
          <a:ln/>
        </p:spPr>
        <p:txBody>
          <a:bodyPr wrap="square" lIns="0" tIns="0" rIns="0" bIns="0" rtlCol="0" anchor="t"/>
          <a:lstStyle/>
          <a:p>
            <a:pPr>
              <a:lnSpc>
                <a:spcPct val="150000"/>
              </a:lnSpc>
            </a:pPr>
            <a:r>
              <a:rPr lang="en-US" sz="1600" dirty="0">
                <a:solidFill>
                  <a:srgbClr val="1A1D21"/>
                </a:solidFill>
                <a:latin typeface="Quattrocento Sans" pitchFamily="34" charset="0"/>
                <a:ea typeface="Quattrocento Sans" pitchFamily="34" charset="-122"/>
                <a:cs typeface="Quattrocento Sans" pitchFamily="34" charset="-120"/>
              </a:rPr>
              <a:t>• 全球：2019年中低收入国家15-19岁女性约</a:t>
            </a:r>
            <a:pPr>
              <a:lnSpc>
                <a:spcPct val="150000"/>
              </a:lnSpc>
            </a:pPr>
            <a:r>
              <a:rPr lang="en-US" sz="1600" b="1" dirty="0">
                <a:solidFill>
                  <a:srgbClr val="1A1D21"/>
                </a:solidFill>
                <a:latin typeface="Quattrocento Sans" pitchFamily="34" charset="0"/>
                <a:ea typeface="Quattrocento Sans" pitchFamily="34" charset="-122"/>
                <a:cs typeface="Quattrocento Sans" pitchFamily="34" charset="-120"/>
              </a:rPr>
              <a:t>2100万例</a:t>
            </a:r>
            <a:pPr>
              <a:lnSpc>
                <a:spcPct val="150000"/>
              </a:lnSpc>
            </a:pPr>
            <a:r>
              <a:rPr lang="en-US" sz="1600" dirty="0">
                <a:solidFill>
                  <a:srgbClr val="1A1D21"/>
                </a:solidFill>
                <a:latin typeface="Quattrocento Sans" pitchFamily="34" charset="0"/>
                <a:ea typeface="Quattrocento Sans" pitchFamily="34" charset="-122"/>
                <a:cs typeface="Quattrocento Sans" pitchFamily="34" charset="-120"/>
              </a:rPr>
              <a:t>怀孕，半数为非意愿妊娠</a:t>
            </a:r>
            <a:endParaRPr lang="en-US" sz="1600" dirty="0"/>
          </a:p>
          <a:p>
            <a:pPr>
              <a:lnSpc>
                <a:spcPct val="150000"/>
              </a:lnSpc>
            </a:pPr>
            <a:r>
              <a:rPr lang="en-US" sz="1600" dirty="0">
                <a:solidFill>
                  <a:srgbClr val="1A1D21"/>
                </a:solidFill>
                <a:latin typeface="Quattrocento Sans" pitchFamily="34" charset="0"/>
                <a:ea typeface="Quattrocento Sans" pitchFamily="34" charset="-122"/>
                <a:cs typeface="Quattrocento Sans" pitchFamily="34" charset="-120"/>
              </a:rPr>
              <a:t>• 中国：青少年HIV发病率2008-2017年间增加约</a:t>
            </a:r>
            <a:pPr>
              <a:lnSpc>
                <a:spcPct val="150000"/>
              </a:lnSpc>
            </a:pPr>
            <a:r>
              <a:rPr lang="en-US" sz="1600" b="1" dirty="0">
                <a:solidFill>
                  <a:srgbClr val="1A1D21"/>
                </a:solidFill>
                <a:latin typeface="Quattrocento Sans" pitchFamily="34" charset="0"/>
                <a:ea typeface="Quattrocento Sans" pitchFamily="34" charset="-122"/>
                <a:cs typeface="Quattrocento Sans" pitchFamily="34" charset="-120"/>
              </a:rPr>
              <a:t>五倍</a:t>
            </a:r>
            <a:pPr>
              <a:lnSpc>
                <a:spcPct val="150000"/>
              </a:lnSpc>
            </a:pPr>
            <a:r>
              <a:rPr lang="en-US" sz="1600" dirty="0">
                <a:solidFill>
                  <a:srgbClr val="1A1D21"/>
                </a:solidFill>
                <a:latin typeface="Quattrocento Sans" pitchFamily="34" charset="0"/>
                <a:ea typeface="Quattrocento Sans" pitchFamily="34" charset="-122"/>
                <a:cs typeface="Quattrocento Sans" pitchFamily="34" charset="-120"/>
              </a:rPr>
              <a:t>，生殖健康教育亟待加强</a:t>
            </a:r>
            <a:endParaRPr lang="en-US" sz="1600" dirty="0"/>
          </a:p>
        </p:txBody>
      </p:sp>
      <p:sp>
        <p:nvSpPr>
          <p:cNvPr id="10" name="Shape 8"/>
          <p:cNvSpPr/>
          <p:nvPr/>
        </p:nvSpPr>
        <p:spPr>
          <a:xfrm>
            <a:off x="5715000" y="1651000"/>
            <a:ext cx="4699000" cy="2540000"/>
          </a:xfrm>
          <a:prstGeom prst="rect">
            <a:avLst/>
          </a:prstGeom>
          <a:solidFill>
            <a:srgbClr val="FFFFFF"/>
          </a:solidFill>
          <a:ln/>
        </p:spPr>
      </p:sp>
      <p:sp>
        <p:nvSpPr>
          <p:cNvPr id="11" name="Text 9"/>
          <p:cNvSpPr/>
          <p:nvPr/>
        </p:nvSpPr>
        <p:spPr>
          <a:xfrm>
            <a:off x="5969000" y="1778000"/>
            <a:ext cx="4191000" cy="4064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传统教育的局限</a:t>
            </a:r>
            <a:endParaRPr lang="en-US" sz="1600" dirty="0"/>
          </a:p>
        </p:txBody>
      </p:sp>
      <p:sp>
        <p:nvSpPr>
          <p:cNvPr id="12" name="Text 10"/>
          <p:cNvSpPr/>
          <p:nvPr/>
        </p:nvSpPr>
        <p:spPr>
          <a:xfrm>
            <a:off x="5969000" y="2260600"/>
            <a:ext cx="4191000" cy="1778000"/>
          </a:xfrm>
          <a:prstGeom prst="rect">
            <a:avLst/>
          </a:prstGeom>
          <a:noFill/>
          <a:ln/>
        </p:spPr>
        <p:txBody>
          <a:bodyPr wrap="square" lIns="0" tIns="0" rIns="0" bIns="0" rtlCol="0" anchor="t"/>
          <a:lstStyle/>
          <a:p>
            <a:pPr>
              <a:lnSpc>
                <a:spcPct val="160000"/>
              </a:lnSpc>
            </a:pPr>
            <a:r>
              <a:rPr lang="en-US" sz="1600" dirty="0">
                <a:solidFill>
                  <a:srgbClr val="1A1D21"/>
                </a:solidFill>
                <a:latin typeface="Quattrocento Sans" pitchFamily="34" charset="0"/>
                <a:ea typeface="Quattrocento Sans" pitchFamily="34" charset="-122"/>
                <a:cs typeface="Quattrocento Sans" pitchFamily="34" charset="-120"/>
              </a:rPr>
              <a:t>• 文化敏感性导致学校性教育避而不谈</a:t>
            </a:r>
            <a:endParaRPr lang="en-US" sz="1600" dirty="0"/>
          </a:p>
          <a:p>
            <a:pPr>
              <a:lnSpc>
                <a:spcPct val="160000"/>
              </a:lnSpc>
            </a:pPr>
            <a:r>
              <a:rPr lang="en-US" sz="1600" dirty="0">
                <a:solidFill>
                  <a:srgbClr val="1A1D21"/>
                </a:solidFill>
                <a:latin typeface="Quattrocento Sans" pitchFamily="34" charset="0"/>
                <a:ea typeface="Quattrocento Sans" pitchFamily="34" charset="-122"/>
                <a:cs typeface="Quattrocento Sans" pitchFamily="34" charset="-120"/>
              </a:rPr>
              <a:t>• 课程体系不完善，知识缺口显著</a:t>
            </a:r>
            <a:endParaRPr lang="en-US" sz="1600" dirty="0"/>
          </a:p>
          <a:p>
            <a:pPr>
              <a:lnSpc>
                <a:spcPct val="160000"/>
              </a:lnSpc>
            </a:pPr>
            <a:r>
              <a:rPr lang="en-US" sz="1600" dirty="0">
                <a:solidFill>
                  <a:srgbClr val="1A1D21"/>
                </a:solidFill>
                <a:latin typeface="Quattrocento Sans" pitchFamily="34" charset="0"/>
                <a:ea typeface="Quattrocento Sans" pitchFamily="34" charset="-122"/>
                <a:cs typeface="Quattrocento Sans" pitchFamily="34" charset="-120"/>
              </a:rPr>
              <a:t>• 全国调查显示青少年生殖健康知识及格率偏低</a:t>
            </a:r>
            <a:endParaRPr lang="en-US" sz="1600" dirty="0"/>
          </a:p>
        </p:txBody>
      </p:sp>
      <p:sp>
        <p:nvSpPr>
          <p:cNvPr id="13" name="Shape 11"/>
          <p:cNvSpPr/>
          <p:nvPr/>
        </p:nvSpPr>
        <p:spPr>
          <a:xfrm>
            <a:off x="10668000" y="1651000"/>
            <a:ext cx="4826000" cy="2540000"/>
          </a:xfrm>
          <a:prstGeom prst="rect">
            <a:avLst/>
          </a:prstGeom>
          <a:solidFill>
            <a:srgbClr val="FFFFFF"/>
          </a:solidFill>
          <a:ln/>
        </p:spPr>
      </p:sp>
      <p:sp>
        <p:nvSpPr>
          <p:cNvPr id="14" name="Text 12"/>
          <p:cNvSpPr/>
          <p:nvPr/>
        </p:nvSpPr>
        <p:spPr>
          <a:xfrm>
            <a:off x="10922000" y="1778000"/>
            <a:ext cx="4318000" cy="4064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社交媒体的机遇与挑战</a:t>
            </a:r>
            <a:endParaRPr lang="en-US" sz="1600" dirty="0"/>
          </a:p>
        </p:txBody>
      </p:sp>
      <p:sp>
        <p:nvSpPr>
          <p:cNvPr id="15" name="Text 13"/>
          <p:cNvSpPr/>
          <p:nvPr/>
        </p:nvSpPr>
        <p:spPr>
          <a:xfrm>
            <a:off x="10922000" y="2260600"/>
            <a:ext cx="4318000" cy="1841500"/>
          </a:xfrm>
          <a:prstGeom prst="rect">
            <a:avLst/>
          </a:prstGeom>
          <a:noFill/>
          <a:ln/>
        </p:spPr>
        <p:txBody>
          <a:bodyPr wrap="square" lIns="0" tIns="0" rIns="0" bIns="0" rtlCol="0" anchor="t"/>
          <a:lstStyle/>
          <a:p>
            <a:pPr>
              <a:lnSpc>
                <a:spcPct val="150000"/>
              </a:lnSpc>
            </a:pPr>
            <a:r>
              <a:rPr lang="en-US" sz="1600" dirty="0">
                <a:solidFill>
                  <a:srgbClr val="1A1D21"/>
                </a:solidFill>
                <a:latin typeface="Quattrocento Sans" pitchFamily="34" charset="0"/>
                <a:ea typeface="Quattrocento Sans" pitchFamily="34" charset="-122"/>
                <a:cs typeface="Quattrocento Sans" pitchFamily="34" charset="-120"/>
              </a:rPr>
              <a:t>• B站等社交媒体成为Z世代获取敏感话题信息的核心渠道</a:t>
            </a:r>
            <a:endParaRPr lang="en-US" sz="1600" dirty="0"/>
          </a:p>
          <a:p>
            <a:pPr>
              <a:lnSpc>
                <a:spcPct val="150000"/>
              </a:lnSpc>
            </a:pPr>
            <a:r>
              <a:rPr lang="en-US" sz="1600" dirty="0">
                <a:solidFill>
                  <a:srgbClr val="1A1D21"/>
                </a:solidFill>
                <a:latin typeface="Quattrocento Sans" pitchFamily="34" charset="0"/>
                <a:ea typeface="Quattrocento Sans" pitchFamily="34" charset="-122"/>
                <a:cs typeface="Quattrocento Sans" pitchFamily="34" charset="-120"/>
              </a:rPr>
              <a:t>• 海量真实评论构成自发的"问答社区"</a:t>
            </a:r>
            <a:endParaRPr lang="en-US" sz="1600" dirty="0"/>
          </a:p>
          <a:p>
            <a:pPr>
              <a:lnSpc>
                <a:spcPct val="150000"/>
              </a:lnSpc>
            </a:pPr>
            <a:r>
              <a:rPr lang="en-US" sz="1600" dirty="0">
                <a:solidFill>
                  <a:srgbClr val="1A1D21"/>
                </a:solidFill>
                <a:latin typeface="Quattrocento Sans" pitchFamily="34" charset="0"/>
                <a:ea typeface="Quattrocento Sans" pitchFamily="34" charset="-122"/>
                <a:cs typeface="Quattrocento Sans" pitchFamily="34" charset="-120"/>
              </a:rPr>
              <a:t>• 核心挑战：UGC质量参差，如何转化为规范知识资源</a:t>
            </a:r>
            <a:endParaRPr lang="en-US" sz="1600" dirty="0"/>
          </a:p>
        </p:txBody>
      </p:sp>
      <p:sp>
        <p:nvSpPr>
          <p:cNvPr id="16" name="Shape 14"/>
          <p:cNvSpPr/>
          <p:nvPr/>
        </p:nvSpPr>
        <p:spPr>
          <a:xfrm>
            <a:off x="762000" y="4445000"/>
            <a:ext cx="14732000" cy="0"/>
          </a:xfrm>
          <a:prstGeom prst="straightConnector1">
            <a:avLst/>
          </a:prstGeom>
          <a:noFill/>
          <a:ln w="12700">
            <a:solidFill>
              <a:srgbClr val="8A9BB0"/>
            </a:solidFill>
            <a:prstDash val="solid"/>
            <a:headEnd type="none"/>
            <a:tailEnd type="none"/>
          </a:ln>
        </p:spPr>
      </p:sp>
      <p:sp>
        <p:nvSpPr>
          <p:cNvPr id="17" name="Text 15"/>
          <p:cNvSpPr/>
          <p:nvPr/>
        </p:nvSpPr>
        <p:spPr>
          <a:xfrm>
            <a:off x="762000" y="4635500"/>
            <a:ext cx="3810000" cy="406400"/>
          </a:xfrm>
          <a:prstGeom prst="rect">
            <a:avLst/>
          </a:prstGeom>
          <a:noFill/>
          <a:ln/>
        </p:spPr>
        <p:txBody>
          <a:bodyPr wrap="none" lIns="0" tIns="0" rIns="0" bIns="0" rtlCol="0" anchor="ctr"/>
          <a:lstStyle/>
          <a:p>
            <a:pPr>
              <a:lnSpc>
                <a:spcPct val="100000"/>
              </a:lnSpc>
            </a:pPr>
            <a:r>
              <a:rPr lang="en-US" sz="2000" b="1" dirty="0">
                <a:solidFill>
                  <a:srgbClr val="1A4B8C"/>
                </a:solidFill>
                <a:latin typeface="Quattrocento Sans" pitchFamily="34" charset="0"/>
                <a:ea typeface="Quattrocento Sans" pitchFamily="34" charset="-122"/>
                <a:cs typeface="Quattrocento Sans" pitchFamily="34" charset="-120"/>
              </a:rPr>
              <a:t>研究意义</a:t>
            </a:r>
            <a:endParaRPr lang="en-US" sz="1600" dirty="0"/>
          </a:p>
        </p:txBody>
      </p:sp>
      <p:sp>
        <p:nvSpPr>
          <p:cNvPr id="18" name="Text 16"/>
          <p:cNvSpPr/>
          <p:nvPr/>
        </p:nvSpPr>
        <p:spPr>
          <a:xfrm>
            <a:off x="762000" y="5143500"/>
            <a:ext cx="14732000" cy="2540000"/>
          </a:xfrm>
          <a:prstGeom prst="rect">
            <a:avLst/>
          </a:prstGeom>
          <a:noFill/>
          <a:ln/>
        </p:spPr>
        <p:txBody>
          <a:bodyPr wrap="square" lIns="0" tIns="0" rIns="0" bIns="0" rtlCol="0" anchor="t"/>
          <a:lstStyle/>
          <a:p>
            <a:pPr>
              <a:lnSpc>
                <a:spcPct val="170000"/>
              </a:lnSpc>
            </a:pPr>
            <a:r>
              <a:rPr lang="en-US" sz="1800" b="1" dirty="0">
                <a:solidFill>
                  <a:srgbClr val="1A1D21"/>
                </a:solidFill>
                <a:latin typeface="Quattrocento Sans" pitchFamily="34" charset="0"/>
                <a:ea typeface="Quattrocento Sans" pitchFamily="34" charset="-122"/>
                <a:cs typeface="Quattrocento Sans" pitchFamily="34" charset="-120"/>
              </a:rPr>
              <a:t>理论意义：</a:t>
            </a:r>
            <a:pPr>
              <a:lnSpc>
                <a:spcPct val="170000"/>
              </a:lnSpc>
            </a:pPr>
            <a:r>
              <a:rPr lang="en-US" sz="1800" dirty="0">
                <a:solidFill>
                  <a:srgbClr val="1A1D21"/>
                </a:solidFill>
                <a:latin typeface="Quattrocento Sans" pitchFamily="34" charset="0"/>
                <a:ea typeface="Quattrocento Sans" pitchFamily="34" charset="-122"/>
                <a:cs typeface="Quattrocento Sans" pitchFamily="34" charset="-120"/>
              </a:rPr>
              <a:t>将研究对象从社交媒体"发布端"下沉至"接收与互动端"，将UGC视为反映真实需求的问题语料库；以大数据技术直接从匿名网络言论中挖掘青少年真实、隐秘的知识盲区</a:t>
            </a:r>
            <a:endParaRPr lang="en-US" sz="1600" dirty="0"/>
          </a:p>
          <a:p>
            <a:pPr>
              <a:lnSpc>
                <a:spcPct val="170000"/>
              </a:lnSpc>
            </a:pPr>
            <a:r>
              <a:rPr lang="en-US" sz="1800" b="1" dirty="0">
                <a:solidFill>
                  <a:srgbClr val="1A1D21"/>
                </a:solidFill>
                <a:latin typeface="Quattrocento Sans" pitchFamily="34" charset="0"/>
                <a:ea typeface="Quattrocento Sans" pitchFamily="34" charset="-122"/>
                <a:cs typeface="Quattrocento Sans" pitchFamily="34" charset="-120"/>
              </a:rPr>
              <a:t>实践意义：</a:t>
            </a:r>
            <a:pPr>
              <a:lnSpc>
                <a:spcPct val="170000"/>
              </a:lnSpc>
            </a:pPr>
            <a:r>
              <a:rPr lang="en-US" sz="1800" dirty="0">
                <a:solidFill>
                  <a:srgbClr val="1A1D21"/>
                </a:solidFill>
                <a:latin typeface="Quattrocento Sans" pitchFamily="34" charset="0"/>
                <a:ea typeface="Quattrocento Sans" pitchFamily="34" charset="-122"/>
                <a:cs typeface="Quattrocento Sans" pitchFamily="34" charset="-120"/>
              </a:rPr>
              <a:t>为青少年精准健康教育提供数据支持；为平台健康内容治理提供科学依据；为智能健康问答系统开发提供高质量数据资源</a:t>
            </a:r>
            <a:endParaRPr lang="en-US" sz="1600" dirty="0"/>
          </a:p>
        </p:txBody>
      </p:sp>
      <p:sp>
        <p:nvSpPr>
          <p:cNvPr id="19" name="Text 17"/>
          <p:cNvSpPr/>
          <p:nvPr/>
        </p:nvSpPr>
        <p:spPr>
          <a:xfrm>
            <a:off x="762000" y="7810500"/>
            <a:ext cx="14732000" cy="635000"/>
          </a:xfrm>
          <a:prstGeom prst="rect">
            <a:avLst/>
          </a:prstGeom>
          <a:noFill/>
          <a:ln/>
        </p:spPr>
        <p:txBody>
          <a:bodyPr wrap="square" lIns="0" tIns="0" rIns="0" bIns="0" rtlCol="0" anchor="ctr"/>
          <a:lstStyle/>
          <a:p>
            <a:pPr>
              <a:lnSpc>
                <a:spcPct val="150000"/>
              </a:lnSpc>
            </a:pPr>
            <a:r>
              <a:rPr lang="en-US" sz="1800" b="1" dirty="0">
                <a:solidFill>
                  <a:srgbClr val="C45C26"/>
                </a:solidFill>
                <a:latin typeface="Quattrocento Sans" pitchFamily="34" charset="0"/>
                <a:ea typeface="Quattrocento Sans" pitchFamily="34" charset="-122"/>
                <a:cs typeface="Quattrocento Sans" pitchFamily="34" charset="-120"/>
              </a:rPr>
              <a:t>核心目标：</a:t>
            </a:r>
            <a:pPr>
              <a:lnSpc>
                <a:spcPct val="150000"/>
              </a:lnSpc>
            </a:pPr>
            <a:r>
              <a:rPr lang="en-US" sz="1800" dirty="0">
                <a:solidFill>
                  <a:srgbClr val="C45C26"/>
                </a:solidFill>
                <a:latin typeface="Quattrocento Sans" pitchFamily="34" charset="0"/>
                <a:ea typeface="Quattrocento Sans" pitchFamily="34" charset="-122"/>
                <a:cs typeface="Quattrocento Sans" pitchFamily="34" charset="-120"/>
              </a:rPr>
              <a:t>利用大语言模型，将B站真实用户评论系统性转化为高质量问答数据集与领域专用模型</a:t>
            </a:r>
            <a:endParaRPr lang="en-US" sz="1600" dirty="0"/>
          </a:p>
        </p:txBody>
      </p:sp>
      <p:sp>
        <p:nvSpPr>
          <p:cNvPr id="20" name="Text 18"/>
          <p:cNvSpPr/>
          <p:nvPr/>
        </p:nvSpPr>
        <p:spPr>
          <a:xfrm>
            <a:off x="762000" y="8763000"/>
            <a:ext cx="3810000" cy="254000"/>
          </a:xfrm>
          <a:prstGeom prst="rect">
            <a:avLst/>
          </a:prstGeom>
          <a:noFill/>
          <a:ln/>
        </p:spPr>
        <p:txBody>
          <a:bodyPr wrap="none" lIns="0" tIns="0" rIns="0" bIns="0" rtlCol="0" anchor="ctr"/>
          <a:lstStyle/>
          <a:p>
            <a:pP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南京医科大学</a:t>
            </a:r>
            <a:endParaRPr lang="en-US" sz="1400" dirty="0"/>
          </a:p>
        </p:txBody>
      </p:sp>
      <p:sp>
        <p:nvSpPr>
          <p:cNvPr id="21" name="Text 19"/>
          <p:cNvSpPr/>
          <p:nvPr/>
        </p:nvSpPr>
        <p:spPr>
          <a:xfrm>
            <a:off x="13970000" y="8763000"/>
            <a:ext cx="1524000" cy="254000"/>
          </a:xfrm>
          <a:prstGeom prst="rect">
            <a:avLst/>
          </a:prstGeom>
          <a:noFill/>
          <a:ln/>
        </p:spPr>
        <p:txBody>
          <a:bodyPr wrap="none" lIns="0" tIns="0" rIns="0" bIns="0" rtlCol="0" anchor="ctr"/>
          <a:lstStyle/>
          <a:p>
            <a:pPr algn="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02</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1A4B8C"/>
          </a:solidFill>
          <a:ln/>
        </p:spPr>
      </p:sp>
      <p:sp>
        <p:nvSpPr>
          <p:cNvPr id="3" name="Text 1"/>
          <p:cNvSpPr/>
          <p:nvPr/>
        </p:nvSpPr>
        <p:spPr>
          <a:xfrm>
            <a:off x="508000" y="0"/>
            <a:ext cx="10160000" cy="508000"/>
          </a:xfrm>
          <a:prstGeom prst="rect">
            <a:avLst/>
          </a:prstGeom>
          <a:noFill/>
          <a:ln/>
        </p:spPr>
        <p:txBody>
          <a:bodyPr wrap="none" lIns="0" tIns="0" rIns="0" bIns="0" rtlCol="0" anchor="ctr"/>
          <a:lstStyle/>
          <a:p>
            <a:pP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基于大语言模型的社交媒体青少年生殖健康评论分类分析与问答生成研究</a:t>
            </a:r>
            <a:endParaRPr lang="en-US" sz="1400" dirty="0"/>
          </a:p>
        </p:txBody>
      </p:sp>
      <p:sp>
        <p:nvSpPr>
          <p:cNvPr id="4" name="Text 2"/>
          <p:cNvSpPr/>
          <p:nvPr/>
        </p:nvSpPr>
        <p:spPr>
          <a:xfrm>
            <a:off x="12700000" y="0"/>
            <a:ext cx="3048000" cy="508000"/>
          </a:xfrm>
          <a:prstGeom prst="rect">
            <a:avLst/>
          </a:prstGeom>
          <a:noFill/>
          <a:ln/>
        </p:spPr>
        <p:txBody>
          <a:bodyPr wrap="none" lIns="0" tIns="0" rIns="0" bIns="0" rtlCol="0" anchor="ctr"/>
          <a:lstStyle/>
          <a:p>
            <a:pPr algn="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研究内容与技术路线</a:t>
            </a:r>
            <a:endParaRPr lang="en-US" sz="1400" dirty="0"/>
          </a:p>
        </p:txBody>
      </p:sp>
      <p:sp>
        <p:nvSpPr>
          <p:cNvPr id="5" name="Text 3"/>
          <p:cNvSpPr/>
          <p:nvPr/>
        </p:nvSpPr>
        <p:spPr>
          <a:xfrm>
            <a:off x="762000" y="698500"/>
            <a:ext cx="7620000" cy="508000"/>
          </a:xfrm>
          <a:prstGeom prst="rect">
            <a:avLst/>
          </a:prstGeom>
          <a:noFill/>
          <a:ln/>
        </p:spPr>
        <p:txBody>
          <a:bodyPr wrap="none" lIns="0" tIns="0" rIns="0" bIns="0" rtlCol="0" anchor="ctr"/>
          <a:lstStyle/>
          <a:p>
            <a:pPr>
              <a:lnSpc>
                <a:spcPct val="130000"/>
              </a:lnSpc>
            </a:pPr>
            <a:r>
              <a:rPr lang="en-US" sz="2800" dirty="0">
                <a:solidFill>
                  <a:srgbClr val="1A4B8C"/>
                </a:solidFill>
                <a:latin typeface="QuattrocentoSans" pitchFamily="34" charset="0"/>
                <a:ea typeface="QuattrocentoSans" pitchFamily="34" charset="-122"/>
                <a:cs typeface="QuattrocentoSans" pitchFamily="34" charset="-120"/>
              </a:rPr>
              <a:t>研究内容与技术路线</a:t>
            </a:r>
            <a:endParaRPr lang="en-US" sz="2800" dirty="0"/>
          </a:p>
        </p:txBody>
      </p:sp>
      <p:sp>
        <p:nvSpPr>
          <p:cNvPr id="6" name="Shape 4"/>
          <p:cNvSpPr/>
          <p:nvPr/>
        </p:nvSpPr>
        <p:spPr>
          <a:xfrm>
            <a:off x="762000" y="1295400"/>
            <a:ext cx="508000" cy="38100"/>
          </a:xfrm>
          <a:prstGeom prst="rect">
            <a:avLst/>
          </a:prstGeom>
          <a:solidFill>
            <a:srgbClr val="1A4B8C"/>
          </a:solidFill>
          <a:ln/>
        </p:spPr>
      </p:sp>
      <p:sp>
        <p:nvSpPr>
          <p:cNvPr id="7" name="Text 5"/>
          <p:cNvSpPr/>
          <p:nvPr/>
        </p:nvSpPr>
        <p:spPr>
          <a:xfrm>
            <a:off x="762000" y="1524000"/>
            <a:ext cx="3810000" cy="3556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四大研究目标</a:t>
            </a:r>
            <a:endParaRPr lang="en-US" sz="1600" dirty="0"/>
          </a:p>
        </p:txBody>
      </p:sp>
      <p:sp>
        <p:nvSpPr>
          <p:cNvPr id="8" name="Text 6"/>
          <p:cNvSpPr/>
          <p:nvPr/>
        </p:nvSpPr>
        <p:spPr>
          <a:xfrm>
            <a:off x="762000" y="1968500"/>
            <a:ext cx="14732000" cy="1079500"/>
          </a:xfrm>
          <a:prstGeom prst="rect">
            <a:avLst/>
          </a:prstGeom>
          <a:noFill/>
          <a:ln/>
        </p:spPr>
        <p:txBody>
          <a:bodyPr wrap="square" lIns="0" tIns="0" rIns="0" bIns="0" rtlCol="0" anchor="t"/>
          <a:lstStyle/>
          <a:p>
            <a:pPr>
              <a:lnSpc>
                <a:spcPct val="160000"/>
              </a:lnSpc>
            </a:pPr>
            <a:r>
              <a:rPr lang="en-US" sz="1600" b="1" dirty="0">
                <a:solidFill>
                  <a:srgbClr val="1A4B8C"/>
                </a:solidFill>
                <a:latin typeface="Quattrocento Sans" pitchFamily="34" charset="0"/>
                <a:ea typeface="Quattrocento Sans" pitchFamily="34" charset="-122"/>
                <a:cs typeface="Quattrocento Sans" pitchFamily="34" charset="-120"/>
              </a:rPr>
              <a:t>①</a:t>
            </a:r>
            <a:pPr>
              <a:lnSpc>
                <a:spcPct val="160000"/>
              </a:lnSpc>
            </a:pPr>
            <a:r>
              <a:rPr lang="en-US" sz="1600" dirty="0">
                <a:solidFill>
                  <a:srgbClr val="1A1D21"/>
                </a:solidFill>
                <a:latin typeface="Quattrocento Sans" pitchFamily="34" charset="0"/>
                <a:ea typeface="Quattrocento Sans" pitchFamily="34" charset="-122"/>
                <a:cs typeface="Quattrocento Sans" pitchFamily="34" charset="-120"/>
              </a:rPr>
              <a:t> 青少年生殖健康问题分类分析 </a:t>
            </a:r>
            <a:pPr>
              <a:lnSpc>
                <a:spcPct val="160000"/>
              </a:lnSpc>
            </a:pPr>
            <a:r>
              <a:rPr lang="en-US" sz="1600" b="1" dirty="0">
                <a:solidFill>
                  <a:srgbClr val="1A4B8C"/>
                </a:solidFill>
                <a:latin typeface="Quattrocento Sans" pitchFamily="34" charset="0"/>
                <a:ea typeface="Quattrocento Sans" pitchFamily="34" charset="-122"/>
                <a:cs typeface="Quattrocento Sans" pitchFamily="34" charset="-120"/>
              </a:rPr>
              <a:t>②</a:t>
            </a:r>
            <a:pPr>
              <a:lnSpc>
                <a:spcPct val="160000"/>
              </a:lnSpc>
            </a:pPr>
            <a:r>
              <a:rPr lang="en-US" sz="1600" dirty="0">
                <a:solidFill>
                  <a:srgbClr val="1A1D21"/>
                </a:solidFill>
                <a:latin typeface="Quattrocento Sans" pitchFamily="34" charset="0"/>
                <a:ea typeface="Quattrocento Sans" pitchFamily="34" charset="-122"/>
                <a:cs typeface="Quattrocento Sans" pitchFamily="34" charset="-120"/>
              </a:rPr>
              <a:t> 问题规范化与问答生成 </a:t>
            </a:r>
            <a:pPr>
              <a:lnSpc>
                <a:spcPct val="160000"/>
              </a:lnSpc>
            </a:pPr>
            <a:r>
              <a:rPr lang="en-US" sz="1600" b="1" dirty="0">
                <a:solidFill>
                  <a:srgbClr val="1A4B8C"/>
                </a:solidFill>
                <a:latin typeface="Quattrocento Sans" pitchFamily="34" charset="0"/>
                <a:ea typeface="Quattrocento Sans" pitchFamily="34" charset="-122"/>
                <a:cs typeface="Quattrocento Sans" pitchFamily="34" charset="-120"/>
              </a:rPr>
              <a:t>③</a:t>
            </a:r>
            <a:pPr>
              <a:lnSpc>
                <a:spcPct val="160000"/>
              </a:lnSpc>
            </a:pPr>
            <a:r>
              <a:rPr lang="en-US" sz="1600" dirty="0">
                <a:solidFill>
                  <a:srgbClr val="1A1D21"/>
                </a:solidFill>
                <a:latin typeface="Quattrocento Sans" pitchFamily="34" charset="0"/>
                <a:ea typeface="Quattrocento Sans" pitchFamily="34" charset="-122"/>
                <a:cs typeface="Quattrocento Sans" pitchFamily="34" charset="-120"/>
              </a:rPr>
              <a:t> 构建高质量问答数据集 </a:t>
            </a:r>
            <a:pPr>
              <a:lnSpc>
                <a:spcPct val="160000"/>
              </a:lnSpc>
            </a:pPr>
            <a:r>
              <a:rPr lang="en-US" sz="1600" b="1" dirty="0">
                <a:solidFill>
                  <a:srgbClr val="1A4B8C"/>
                </a:solidFill>
                <a:latin typeface="Quattrocento Sans" pitchFamily="34" charset="0"/>
                <a:ea typeface="Quattrocento Sans" pitchFamily="34" charset="-122"/>
                <a:cs typeface="Quattrocento Sans" pitchFamily="34" charset="-120"/>
              </a:rPr>
              <a:t>④</a:t>
            </a:r>
            <a:pPr>
              <a:lnSpc>
                <a:spcPct val="160000"/>
              </a:lnSpc>
            </a:pPr>
            <a:r>
              <a:rPr lang="en-US" sz="1600" dirty="0">
                <a:solidFill>
                  <a:srgbClr val="1A1D21"/>
                </a:solidFill>
                <a:latin typeface="Quattrocento Sans" pitchFamily="34" charset="0"/>
                <a:ea typeface="Quattrocento Sans" pitchFamily="34" charset="-122"/>
                <a:cs typeface="Quattrocento Sans" pitchFamily="34" charset="-120"/>
              </a:rPr>
              <a:t> 模型微调与效果验证</a:t>
            </a:r>
            <a:endParaRPr lang="en-US" sz="1600" dirty="0"/>
          </a:p>
        </p:txBody>
      </p:sp>
      <p:sp>
        <p:nvSpPr>
          <p:cNvPr id="9" name="Text 7"/>
          <p:cNvSpPr/>
          <p:nvPr/>
        </p:nvSpPr>
        <p:spPr>
          <a:xfrm>
            <a:off x="762000" y="3175000"/>
            <a:ext cx="3810000" cy="3556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完整技术链路</a:t>
            </a:r>
            <a:endParaRPr lang="en-US" sz="1600" dirty="0"/>
          </a:p>
        </p:txBody>
      </p:sp>
      <p:sp>
        <p:nvSpPr>
          <p:cNvPr id="10" name="Shape 8"/>
          <p:cNvSpPr/>
          <p:nvPr/>
        </p:nvSpPr>
        <p:spPr>
          <a:xfrm>
            <a:off x="762000" y="3683000"/>
            <a:ext cx="14732000" cy="4064000"/>
          </a:xfrm>
          <a:prstGeom prst="rect">
            <a:avLst/>
          </a:prstGeom>
          <a:solidFill>
            <a:srgbClr val="FFFFFF"/>
          </a:solidFill>
          <a:ln/>
        </p:spPr>
      </p:sp>
      <p:sp>
        <p:nvSpPr>
          <p:cNvPr id="11" name="Shape 9"/>
          <p:cNvSpPr/>
          <p:nvPr/>
        </p:nvSpPr>
        <p:spPr>
          <a:xfrm>
            <a:off x="1079500" y="4191000"/>
            <a:ext cx="1968500" cy="1016000"/>
          </a:xfrm>
          <a:prstGeom prst="rect">
            <a:avLst/>
          </a:prstGeom>
          <a:solidFill>
            <a:srgbClr val="1A4B8C"/>
          </a:solidFill>
          <a:ln/>
        </p:spPr>
      </p:sp>
      <p:sp>
        <p:nvSpPr>
          <p:cNvPr id="12" name="Text 10"/>
          <p:cNvSpPr/>
          <p:nvPr/>
        </p:nvSpPr>
        <p:spPr>
          <a:xfrm>
            <a:off x="1079500" y="4191000"/>
            <a:ext cx="1968500" cy="1016000"/>
          </a:xfrm>
          <a:prstGeom prst="rect">
            <a:avLst/>
          </a:prstGeom>
          <a:noFill/>
          <a:ln/>
        </p:spPr>
        <p:txBody>
          <a:bodyPr wrap="square" lIns="0" tIns="0" rIns="0" bIns="0" rtlCol="0" anchor="ctr"/>
          <a:lstStyle/>
          <a:p>
            <a:pPr algn="ctr">
              <a:lnSpc>
                <a:spcPct val="140000"/>
              </a:lnSpc>
            </a:pPr>
            <a:r>
              <a:rPr lang="en-US" sz="1400" b="1" dirty="0">
                <a:solidFill>
                  <a:srgbClr val="FFFFFF"/>
                </a:solidFill>
                <a:latin typeface="Quattrocento Sans" pitchFamily="34" charset="0"/>
                <a:ea typeface="Quattrocento Sans" pitchFamily="34" charset="-122"/>
                <a:cs typeface="Quattrocento Sans" pitchFamily="34" charset="-120"/>
              </a:rPr>
              <a:t>数据采集</a:t>
            </a:r>
            <a:endParaRPr lang="en-US" sz="1600" dirty="0"/>
          </a:p>
          <a:p>
            <a:pPr algn="ctr">
              <a:lnSpc>
                <a:spcPct val="140000"/>
              </a:lnSpc>
            </a:pPr>
            <a:r>
              <a:rPr lang="en-US" sz="1400" dirty="0">
                <a:solidFill>
                  <a:srgbClr val="FFFFFF"/>
                </a:solidFill>
                <a:latin typeface="Quattrocento Sans" pitchFamily="34" charset="0"/>
                <a:ea typeface="Quattrocento Sans" pitchFamily="34" charset="-122"/>
                <a:cs typeface="Quattrocento Sans" pitchFamily="34" charset="-120"/>
              </a:rPr>
              <a:t>B站743视频</a:t>
            </a:r>
            <a:endParaRPr lang="en-US" sz="1600" dirty="0"/>
          </a:p>
          <a:p>
            <a:pPr algn="ctr">
              <a:lnSpc>
                <a:spcPct val="140000"/>
              </a:lnSpc>
            </a:pPr>
            <a:r>
              <a:rPr lang="en-US" sz="1400" dirty="0">
                <a:solidFill>
                  <a:srgbClr val="FFFFFF"/>
                </a:solidFill>
                <a:latin typeface="Quattrocento Sans" pitchFamily="34" charset="0"/>
                <a:ea typeface="Quattrocento Sans" pitchFamily="34" charset="-122"/>
                <a:cs typeface="Quattrocento Sans" pitchFamily="34" charset="-120"/>
              </a:rPr>
              <a:t>32.8万评论</a:t>
            </a:r>
            <a:endParaRPr lang="en-US" sz="1600" dirty="0"/>
          </a:p>
        </p:txBody>
      </p:sp>
      <p:sp>
        <p:nvSpPr>
          <p:cNvPr id="13" name="Shape 11"/>
          <p:cNvSpPr/>
          <p:nvPr/>
        </p:nvSpPr>
        <p:spPr>
          <a:xfrm>
            <a:off x="3048000" y="4635500"/>
            <a:ext cx="381000" cy="0"/>
          </a:xfrm>
          <a:prstGeom prst="straightConnector1">
            <a:avLst/>
          </a:prstGeom>
          <a:noFill/>
          <a:ln w="25400">
            <a:solidFill>
              <a:srgbClr val="8A9BB0"/>
            </a:solidFill>
            <a:prstDash val="solid"/>
            <a:headEnd type="none"/>
            <a:tailEnd type="arrow"/>
          </a:ln>
        </p:spPr>
      </p:sp>
      <p:sp>
        <p:nvSpPr>
          <p:cNvPr id="14" name="Shape 12"/>
          <p:cNvSpPr/>
          <p:nvPr/>
        </p:nvSpPr>
        <p:spPr>
          <a:xfrm>
            <a:off x="3429000" y="4191000"/>
            <a:ext cx="1968500" cy="1016000"/>
          </a:xfrm>
          <a:prstGeom prst="rect">
            <a:avLst/>
          </a:prstGeom>
          <a:solidFill>
            <a:srgbClr val="1A4B8C"/>
          </a:solidFill>
          <a:ln/>
        </p:spPr>
      </p:sp>
      <p:sp>
        <p:nvSpPr>
          <p:cNvPr id="15" name="Text 13"/>
          <p:cNvSpPr/>
          <p:nvPr/>
        </p:nvSpPr>
        <p:spPr>
          <a:xfrm>
            <a:off x="3429000" y="4191000"/>
            <a:ext cx="1968500" cy="1016000"/>
          </a:xfrm>
          <a:prstGeom prst="rect">
            <a:avLst/>
          </a:prstGeom>
          <a:noFill/>
          <a:ln/>
        </p:spPr>
        <p:txBody>
          <a:bodyPr wrap="square" lIns="0" tIns="0" rIns="0" bIns="0" rtlCol="0" anchor="ctr"/>
          <a:lstStyle/>
          <a:p>
            <a:pPr algn="ctr">
              <a:lnSpc>
                <a:spcPct val="140000"/>
              </a:lnSpc>
            </a:pPr>
            <a:r>
              <a:rPr lang="en-US" sz="1400" b="1" dirty="0">
                <a:solidFill>
                  <a:srgbClr val="FFFFFF"/>
                </a:solidFill>
                <a:latin typeface="Quattrocento Sans" pitchFamily="34" charset="0"/>
                <a:ea typeface="Quattrocento Sans" pitchFamily="34" charset="-122"/>
                <a:cs typeface="Quattrocento Sans" pitchFamily="34" charset="-120"/>
              </a:rPr>
              <a:t>数据清洗</a:t>
            </a:r>
            <a:endParaRPr lang="en-US" sz="1600" dirty="0"/>
          </a:p>
          <a:p>
            <a:pPr algn="ctr">
              <a:lnSpc>
                <a:spcPct val="140000"/>
              </a:lnSpc>
            </a:pPr>
            <a:r>
              <a:rPr lang="en-US" sz="1400" dirty="0">
                <a:solidFill>
                  <a:srgbClr val="FFFFFF"/>
                </a:solidFill>
                <a:latin typeface="Quattrocento Sans" pitchFamily="34" charset="0"/>
                <a:ea typeface="Quattrocento Sans" pitchFamily="34" charset="-122"/>
                <a:cs typeface="Quattrocento Sans" pitchFamily="34" charset="-120"/>
              </a:rPr>
              <a:t>问题提取</a:t>
            </a:r>
            <a:endParaRPr lang="en-US" sz="1600" dirty="0"/>
          </a:p>
          <a:p>
            <a:pPr algn="ctr">
              <a:lnSpc>
                <a:spcPct val="140000"/>
              </a:lnSpc>
            </a:pPr>
            <a:r>
              <a:rPr lang="en-US" sz="1400" dirty="0">
                <a:solidFill>
                  <a:srgbClr val="FFFFFF"/>
                </a:solidFill>
                <a:latin typeface="Quattrocento Sans" pitchFamily="34" charset="0"/>
                <a:ea typeface="Quattrocento Sans" pitchFamily="34" charset="-122"/>
                <a:cs typeface="Quattrocento Sans" pitchFamily="34" charset="-120"/>
              </a:rPr>
              <a:t>3780条问题</a:t>
            </a:r>
            <a:endParaRPr lang="en-US" sz="1600" dirty="0"/>
          </a:p>
        </p:txBody>
      </p:sp>
      <p:sp>
        <p:nvSpPr>
          <p:cNvPr id="16" name="Shape 14"/>
          <p:cNvSpPr/>
          <p:nvPr/>
        </p:nvSpPr>
        <p:spPr>
          <a:xfrm>
            <a:off x="5397500" y="4635500"/>
            <a:ext cx="381000" cy="0"/>
          </a:xfrm>
          <a:prstGeom prst="straightConnector1">
            <a:avLst/>
          </a:prstGeom>
          <a:noFill/>
          <a:ln w="25400">
            <a:solidFill>
              <a:srgbClr val="8A9BB0"/>
            </a:solidFill>
            <a:prstDash val="solid"/>
            <a:headEnd type="none"/>
            <a:tailEnd type="arrow"/>
          </a:ln>
        </p:spPr>
      </p:sp>
      <p:sp>
        <p:nvSpPr>
          <p:cNvPr id="17" name="Shape 15"/>
          <p:cNvSpPr/>
          <p:nvPr/>
        </p:nvSpPr>
        <p:spPr>
          <a:xfrm>
            <a:off x="5778500" y="4191000"/>
            <a:ext cx="1968500" cy="1016000"/>
          </a:xfrm>
          <a:prstGeom prst="rect">
            <a:avLst/>
          </a:prstGeom>
          <a:solidFill>
            <a:srgbClr val="1A4B8C"/>
          </a:solidFill>
          <a:ln/>
        </p:spPr>
      </p:sp>
      <p:sp>
        <p:nvSpPr>
          <p:cNvPr id="18" name="Text 16"/>
          <p:cNvSpPr/>
          <p:nvPr/>
        </p:nvSpPr>
        <p:spPr>
          <a:xfrm>
            <a:off x="5778500" y="4191000"/>
            <a:ext cx="1968500" cy="1016000"/>
          </a:xfrm>
          <a:prstGeom prst="rect">
            <a:avLst/>
          </a:prstGeom>
          <a:noFill/>
          <a:ln/>
        </p:spPr>
        <p:txBody>
          <a:bodyPr wrap="square" lIns="0" tIns="0" rIns="0" bIns="0" rtlCol="0" anchor="ctr"/>
          <a:lstStyle/>
          <a:p>
            <a:pPr algn="ctr">
              <a:lnSpc>
                <a:spcPct val="140000"/>
              </a:lnSpc>
            </a:pPr>
            <a:r>
              <a:rPr lang="en-US" sz="1400" b="1" dirty="0">
                <a:solidFill>
                  <a:srgbClr val="FFFFFF"/>
                </a:solidFill>
                <a:latin typeface="Quattrocento Sans" pitchFamily="34" charset="0"/>
                <a:ea typeface="Quattrocento Sans" pitchFamily="34" charset="-122"/>
                <a:cs typeface="Quattrocento Sans" pitchFamily="34" charset="-120"/>
              </a:rPr>
              <a:t>问题分类</a:t>
            </a:r>
            <a:endParaRPr lang="en-US" sz="1600" dirty="0"/>
          </a:p>
          <a:p>
            <a:pPr algn="ctr">
              <a:lnSpc>
                <a:spcPct val="140000"/>
              </a:lnSpc>
            </a:pPr>
            <a:r>
              <a:rPr lang="en-US" sz="1400" dirty="0">
                <a:solidFill>
                  <a:srgbClr val="FFFFFF"/>
                </a:solidFill>
                <a:latin typeface="Quattrocento Sans" pitchFamily="34" charset="0"/>
                <a:ea typeface="Quattrocento Sans" pitchFamily="34" charset="-122"/>
                <a:cs typeface="Quattrocento Sans" pitchFamily="34" charset="-120"/>
              </a:rPr>
              <a:t>13个主题</a:t>
            </a:r>
            <a:endParaRPr lang="en-US" sz="1600" dirty="0"/>
          </a:p>
          <a:p>
            <a:pPr algn="ctr">
              <a:lnSpc>
                <a:spcPct val="140000"/>
              </a:lnSpc>
            </a:pPr>
            <a:r>
              <a:rPr lang="en-US" sz="1400" dirty="0">
                <a:solidFill>
                  <a:srgbClr val="FFFFFF"/>
                </a:solidFill>
                <a:latin typeface="Quattrocento Sans" pitchFamily="34" charset="0"/>
                <a:ea typeface="Quattrocento Sans" pitchFamily="34" charset="-122"/>
                <a:cs typeface="Quattrocento Sans" pitchFamily="34" charset="-120"/>
              </a:rPr>
              <a:t>主题模型+专家</a:t>
            </a:r>
            <a:endParaRPr lang="en-US" sz="1600" dirty="0"/>
          </a:p>
        </p:txBody>
      </p:sp>
      <p:sp>
        <p:nvSpPr>
          <p:cNvPr id="19" name="Shape 17"/>
          <p:cNvSpPr/>
          <p:nvPr/>
        </p:nvSpPr>
        <p:spPr>
          <a:xfrm>
            <a:off x="7747000" y="4635500"/>
            <a:ext cx="381000" cy="0"/>
          </a:xfrm>
          <a:prstGeom prst="straightConnector1">
            <a:avLst/>
          </a:prstGeom>
          <a:noFill/>
          <a:ln w="25400">
            <a:solidFill>
              <a:srgbClr val="8A9BB0"/>
            </a:solidFill>
            <a:prstDash val="solid"/>
            <a:headEnd type="none"/>
            <a:tailEnd type="arrow"/>
          </a:ln>
        </p:spPr>
      </p:sp>
      <p:sp>
        <p:nvSpPr>
          <p:cNvPr id="20" name="Shape 18"/>
          <p:cNvSpPr/>
          <p:nvPr/>
        </p:nvSpPr>
        <p:spPr>
          <a:xfrm>
            <a:off x="8128000" y="4191000"/>
            <a:ext cx="1968500" cy="1016000"/>
          </a:xfrm>
          <a:prstGeom prst="rect">
            <a:avLst/>
          </a:prstGeom>
          <a:solidFill>
            <a:srgbClr val="1A4B8C"/>
          </a:solidFill>
          <a:ln/>
        </p:spPr>
      </p:sp>
      <p:sp>
        <p:nvSpPr>
          <p:cNvPr id="21" name="Text 19"/>
          <p:cNvSpPr/>
          <p:nvPr/>
        </p:nvSpPr>
        <p:spPr>
          <a:xfrm>
            <a:off x="8128000" y="4191000"/>
            <a:ext cx="1968500" cy="1016000"/>
          </a:xfrm>
          <a:prstGeom prst="rect">
            <a:avLst/>
          </a:prstGeom>
          <a:noFill/>
          <a:ln/>
        </p:spPr>
        <p:txBody>
          <a:bodyPr wrap="square" lIns="0" tIns="0" rIns="0" bIns="0" rtlCol="0" anchor="ctr"/>
          <a:lstStyle/>
          <a:p>
            <a:pPr algn="ctr">
              <a:lnSpc>
                <a:spcPct val="140000"/>
              </a:lnSpc>
            </a:pPr>
            <a:r>
              <a:rPr lang="en-US" sz="1400" b="1" dirty="0">
                <a:solidFill>
                  <a:srgbClr val="FFFFFF"/>
                </a:solidFill>
                <a:latin typeface="Quattrocento Sans" pitchFamily="34" charset="0"/>
                <a:ea typeface="Quattrocento Sans" pitchFamily="34" charset="-122"/>
                <a:cs typeface="Quattrocento Sans" pitchFamily="34" charset="-120"/>
              </a:rPr>
              <a:t>LLM规范化</a:t>
            </a:r>
            <a:endParaRPr lang="en-US" sz="1600" dirty="0"/>
          </a:p>
          <a:p>
            <a:pPr algn="ctr">
              <a:lnSpc>
                <a:spcPct val="140000"/>
              </a:lnSpc>
            </a:pPr>
            <a:r>
              <a:rPr lang="en-US" sz="1400" dirty="0">
                <a:solidFill>
                  <a:srgbClr val="FFFFFF"/>
                </a:solidFill>
                <a:latin typeface="Quattrocento Sans" pitchFamily="34" charset="0"/>
                <a:ea typeface="Quattrocento Sans" pitchFamily="34" charset="-122"/>
                <a:cs typeface="Quattrocento Sans" pitchFamily="34" charset="-120"/>
              </a:rPr>
              <a:t>问答生成</a:t>
            </a:r>
            <a:endParaRPr lang="en-US" sz="1600" dirty="0"/>
          </a:p>
          <a:p>
            <a:pPr algn="ctr">
              <a:lnSpc>
                <a:spcPct val="140000"/>
              </a:lnSpc>
            </a:pPr>
            <a:r>
              <a:rPr lang="en-US" sz="1400" dirty="0">
                <a:solidFill>
                  <a:srgbClr val="FFFFFF"/>
                </a:solidFill>
                <a:latin typeface="Quattrocento Sans" pitchFamily="34" charset="0"/>
                <a:ea typeface="Quattrocento Sans" pitchFamily="34" charset="-122"/>
                <a:cs typeface="Quattrocento Sans" pitchFamily="34" charset="-120"/>
              </a:rPr>
              <a:t>DeepSeek-V3.1</a:t>
            </a:r>
            <a:endParaRPr lang="en-US" sz="1600" dirty="0"/>
          </a:p>
        </p:txBody>
      </p:sp>
      <p:sp>
        <p:nvSpPr>
          <p:cNvPr id="22" name="Shape 20"/>
          <p:cNvSpPr/>
          <p:nvPr/>
        </p:nvSpPr>
        <p:spPr>
          <a:xfrm>
            <a:off x="10096500" y="4635500"/>
            <a:ext cx="381000" cy="0"/>
          </a:xfrm>
          <a:prstGeom prst="straightConnector1">
            <a:avLst/>
          </a:prstGeom>
          <a:noFill/>
          <a:ln w="25400">
            <a:solidFill>
              <a:srgbClr val="8A9BB0"/>
            </a:solidFill>
            <a:prstDash val="solid"/>
            <a:headEnd type="none"/>
            <a:tailEnd type="arrow"/>
          </a:ln>
        </p:spPr>
      </p:sp>
      <p:sp>
        <p:nvSpPr>
          <p:cNvPr id="23" name="Shape 21"/>
          <p:cNvSpPr/>
          <p:nvPr/>
        </p:nvSpPr>
        <p:spPr>
          <a:xfrm>
            <a:off x="10477500" y="4191000"/>
            <a:ext cx="1968500" cy="1016000"/>
          </a:xfrm>
          <a:prstGeom prst="rect">
            <a:avLst/>
          </a:prstGeom>
          <a:solidFill>
            <a:srgbClr val="1A4B8C"/>
          </a:solidFill>
          <a:ln/>
        </p:spPr>
      </p:sp>
      <p:sp>
        <p:nvSpPr>
          <p:cNvPr id="24" name="Text 22"/>
          <p:cNvSpPr/>
          <p:nvPr/>
        </p:nvSpPr>
        <p:spPr>
          <a:xfrm>
            <a:off x="10477500" y="4191000"/>
            <a:ext cx="1968500" cy="1016000"/>
          </a:xfrm>
          <a:prstGeom prst="rect">
            <a:avLst/>
          </a:prstGeom>
          <a:noFill/>
          <a:ln/>
        </p:spPr>
        <p:txBody>
          <a:bodyPr wrap="square" lIns="0" tIns="0" rIns="0" bIns="0" rtlCol="0" anchor="ctr"/>
          <a:lstStyle/>
          <a:p>
            <a:pPr algn="ctr">
              <a:lnSpc>
                <a:spcPct val="140000"/>
              </a:lnSpc>
            </a:pPr>
            <a:r>
              <a:rPr lang="en-US" sz="1400" b="1" dirty="0">
                <a:solidFill>
                  <a:srgbClr val="FFFFFF"/>
                </a:solidFill>
                <a:latin typeface="Quattrocento Sans" pitchFamily="34" charset="0"/>
                <a:ea typeface="Quattrocento Sans" pitchFamily="34" charset="-122"/>
                <a:cs typeface="Quattrocento Sans" pitchFamily="34" charset="-120"/>
              </a:rPr>
              <a:t>人工审核</a:t>
            </a:r>
            <a:endParaRPr lang="en-US" sz="1600" dirty="0"/>
          </a:p>
          <a:p>
            <a:pPr algn="ctr">
              <a:lnSpc>
                <a:spcPct val="140000"/>
              </a:lnSpc>
            </a:pPr>
            <a:r>
              <a:rPr lang="en-US" sz="1400" dirty="0">
                <a:solidFill>
                  <a:srgbClr val="FFFFFF"/>
                </a:solidFill>
                <a:latin typeface="Quattrocento Sans" pitchFamily="34" charset="0"/>
                <a:ea typeface="Quattrocento Sans" pitchFamily="34" charset="-122"/>
                <a:cs typeface="Quattrocento Sans" pitchFamily="34" charset="-120"/>
              </a:rPr>
              <a:t>专家审核</a:t>
            </a:r>
            <a:endParaRPr lang="en-US" sz="1600" dirty="0"/>
          </a:p>
          <a:p>
            <a:pPr algn="ctr">
              <a:lnSpc>
                <a:spcPct val="140000"/>
              </a:lnSpc>
            </a:pPr>
            <a:r>
              <a:rPr lang="en-US" sz="1400" dirty="0">
                <a:solidFill>
                  <a:srgbClr val="FFFFFF"/>
                </a:solidFill>
                <a:latin typeface="Quattrocento Sans" pitchFamily="34" charset="0"/>
                <a:ea typeface="Quattrocento Sans" pitchFamily="34" charset="-122"/>
                <a:cs typeface="Quattrocento Sans" pitchFamily="34" charset="-120"/>
              </a:rPr>
              <a:t>AI自动筛查</a:t>
            </a:r>
            <a:endParaRPr lang="en-US" sz="1600" dirty="0"/>
          </a:p>
        </p:txBody>
      </p:sp>
      <p:sp>
        <p:nvSpPr>
          <p:cNvPr id="25" name="Shape 23"/>
          <p:cNvSpPr/>
          <p:nvPr/>
        </p:nvSpPr>
        <p:spPr>
          <a:xfrm>
            <a:off x="12446000" y="4635500"/>
            <a:ext cx="381000" cy="0"/>
          </a:xfrm>
          <a:prstGeom prst="straightConnector1">
            <a:avLst/>
          </a:prstGeom>
          <a:noFill/>
          <a:ln w="25400">
            <a:solidFill>
              <a:srgbClr val="8A9BB0"/>
            </a:solidFill>
            <a:prstDash val="solid"/>
            <a:headEnd type="none"/>
            <a:tailEnd type="arrow"/>
          </a:ln>
        </p:spPr>
      </p:sp>
      <p:sp>
        <p:nvSpPr>
          <p:cNvPr id="26" name="Shape 24"/>
          <p:cNvSpPr/>
          <p:nvPr/>
        </p:nvSpPr>
        <p:spPr>
          <a:xfrm>
            <a:off x="12827000" y="4191000"/>
            <a:ext cx="1968500" cy="1016000"/>
          </a:xfrm>
          <a:prstGeom prst="rect">
            <a:avLst/>
          </a:prstGeom>
          <a:solidFill>
            <a:srgbClr val="C45C26"/>
          </a:solidFill>
          <a:ln/>
        </p:spPr>
      </p:sp>
      <p:sp>
        <p:nvSpPr>
          <p:cNvPr id="27" name="Text 25"/>
          <p:cNvSpPr/>
          <p:nvPr/>
        </p:nvSpPr>
        <p:spPr>
          <a:xfrm>
            <a:off x="12827000" y="4191000"/>
            <a:ext cx="1968500" cy="1016000"/>
          </a:xfrm>
          <a:prstGeom prst="rect">
            <a:avLst/>
          </a:prstGeom>
          <a:noFill/>
          <a:ln/>
        </p:spPr>
        <p:txBody>
          <a:bodyPr wrap="square" lIns="0" tIns="0" rIns="0" bIns="0" rtlCol="0" anchor="ctr"/>
          <a:lstStyle/>
          <a:p>
            <a:pPr algn="ctr">
              <a:lnSpc>
                <a:spcPct val="140000"/>
              </a:lnSpc>
            </a:pPr>
            <a:r>
              <a:rPr lang="en-US" sz="1400" b="1" dirty="0">
                <a:solidFill>
                  <a:srgbClr val="FFFFFF"/>
                </a:solidFill>
                <a:latin typeface="Quattrocento Sans" pitchFamily="34" charset="0"/>
                <a:ea typeface="Quattrocento Sans" pitchFamily="34" charset="-122"/>
                <a:cs typeface="Quattrocento Sans" pitchFamily="34" charset="-120"/>
              </a:rPr>
              <a:t>数据集构建</a:t>
            </a:r>
            <a:endParaRPr lang="en-US" sz="1600" dirty="0"/>
          </a:p>
          <a:p>
            <a:pPr algn="ctr">
              <a:lnSpc>
                <a:spcPct val="140000"/>
              </a:lnSpc>
            </a:pPr>
            <a:r>
              <a:rPr lang="en-US" sz="1400" dirty="0">
                <a:solidFill>
                  <a:srgbClr val="FFFFFF"/>
                </a:solidFill>
                <a:latin typeface="Quattrocento Sans" pitchFamily="34" charset="0"/>
                <a:ea typeface="Quattrocento Sans" pitchFamily="34" charset="-122"/>
                <a:cs typeface="Quattrocento Sans" pitchFamily="34" charset="-120"/>
              </a:rPr>
              <a:t>2767条问答对</a:t>
            </a:r>
            <a:endParaRPr lang="en-US" sz="1600" dirty="0"/>
          </a:p>
          <a:p>
            <a:pPr algn="ctr">
              <a:lnSpc>
                <a:spcPct val="140000"/>
              </a:lnSpc>
            </a:pPr>
            <a:r>
              <a:rPr lang="en-US" sz="1400" dirty="0">
                <a:solidFill>
                  <a:srgbClr val="FFFFFF"/>
                </a:solidFill>
                <a:latin typeface="Quattrocento Sans" pitchFamily="34" charset="0"/>
                <a:ea typeface="Quattrocento Sans" pitchFamily="34" charset="-122"/>
                <a:cs typeface="Quattrocento Sans" pitchFamily="34" charset="-120"/>
              </a:rPr>
              <a:t>13主题全覆盖</a:t>
            </a:r>
            <a:endParaRPr lang="en-US" sz="1600" dirty="0"/>
          </a:p>
        </p:txBody>
      </p:sp>
      <p:sp>
        <p:nvSpPr>
          <p:cNvPr id="28" name="Shape 26"/>
          <p:cNvSpPr/>
          <p:nvPr/>
        </p:nvSpPr>
        <p:spPr>
          <a:xfrm>
            <a:off x="13804900" y="5207000"/>
            <a:ext cx="0" cy="381000"/>
          </a:xfrm>
          <a:prstGeom prst="straightConnector1">
            <a:avLst/>
          </a:prstGeom>
          <a:noFill/>
          <a:ln w="25400">
            <a:solidFill>
              <a:srgbClr val="8A9BB0"/>
            </a:solidFill>
            <a:prstDash val="solid"/>
            <a:headEnd type="none"/>
            <a:tailEnd type="arrow"/>
          </a:ln>
        </p:spPr>
      </p:sp>
      <p:sp>
        <p:nvSpPr>
          <p:cNvPr id="29" name="Shape 27"/>
          <p:cNvSpPr/>
          <p:nvPr/>
        </p:nvSpPr>
        <p:spPr>
          <a:xfrm>
            <a:off x="10668000" y="5715000"/>
            <a:ext cx="4318000" cy="1016000"/>
          </a:xfrm>
          <a:prstGeom prst="rect">
            <a:avLst/>
          </a:prstGeom>
          <a:solidFill>
            <a:srgbClr val="C45C26"/>
          </a:solidFill>
          <a:ln/>
        </p:spPr>
      </p:sp>
      <p:sp>
        <p:nvSpPr>
          <p:cNvPr id="30" name="Text 28"/>
          <p:cNvSpPr/>
          <p:nvPr/>
        </p:nvSpPr>
        <p:spPr>
          <a:xfrm>
            <a:off x="10668000" y="5715000"/>
            <a:ext cx="4318000" cy="1016000"/>
          </a:xfrm>
          <a:prstGeom prst="rect">
            <a:avLst/>
          </a:prstGeom>
          <a:noFill/>
          <a:ln/>
        </p:spPr>
        <p:txBody>
          <a:bodyPr wrap="square" lIns="0" tIns="0" rIns="0" bIns="0" rtlCol="0" anchor="ctr"/>
          <a:lstStyle/>
          <a:p>
            <a:pPr algn="ctr">
              <a:lnSpc>
                <a:spcPct val="140000"/>
              </a:lnSpc>
            </a:pPr>
            <a:r>
              <a:rPr lang="en-US" sz="1400" b="1" dirty="0">
                <a:solidFill>
                  <a:srgbClr val="FFFFFF"/>
                </a:solidFill>
                <a:latin typeface="Quattrocento Sans" pitchFamily="34" charset="0"/>
                <a:ea typeface="Quattrocento Sans" pitchFamily="34" charset="-122"/>
                <a:cs typeface="Quattrocento Sans" pitchFamily="34" charset="-120"/>
              </a:rPr>
              <a:t>模型微调与评估</a:t>
            </a:r>
            <a:endParaRPr lang="en-US" sz="1600" dirty="0"/>
          </a:p>
          <a:p>
            <a:pPr algn="ctr">
              <a:lnSpc>
                <a:spcPct val="140000"/>
              </a:lnSpc>
            </a:pPr>
            <a:r>
              <a:rPr lang="en-US" sz="1400" dirty="0">
                <a:solidFill>
                  <a:srgbClr val="FFFFFF"/>
                </a:solidFill>
                <a:latin typeface="Quattrocento Sans" pitchFamily="34" charset="0"/>
                <a:ea typeface="Quattrocento Sans" pitchFamily="34" charset="-122"/>
                <a:cs typeface="Quattrocento Sans" pitchFamily="34" charset="-120"/>
              </a:rPr>
              <a:t>Qwen系列 + LoRA微调 + 六维度AI打分评估</a:t>
            </a:r>
            <a:endParaRPr lang="en-US" sz="1600" dirty="0"/>
          </a:p>
        </p:txBody>
      </p:sp>
      <p:sp>
        <p:nvSpPr>
          <p:cNvPr id="31" name="Shape 29"/>
          <p:cNvSpPr/>
          <p:nvPr/>
        </p:nvSpPr>
        <p:spPr>
          <a:xfrm>
            <a:off x="6350000" y="6223000"/>
            <a:ext cx="4318000" cy="0"/>
          </a:xfrm>
          <a:prstGeom prst="straightConnector1">
            <a:avLst/>
          </a:prstGeom>
          <a:noFill/>
          <a:ln w="25400">
            <a:solidFill>
              <a:srgbClr val="8A9BB0"/>
            </a:solidFill>
            <a:prstDash val="solid"/>
            <a:headEnd type="none"/>
            <a:tailEnd type="arrow"/>
          </a:ln>
        </p:spPr>
      </p:sp>
      <p:sp>
        <p:nvSpPr>
          <p:cNvPr id="32" name="Shape 30"/>
          <p:cNvSpPr/>
          <p:nvPr/>
        </p:nvSpPr>
        <p:spPr>
          <a:xfrm>
            <a:off x="1079500" y="5715000"/>
            <a:ext cx="5270500" cy="1016000"/>
          </a:xfrm>
          <a:prstGeom prst="rect">
            <a:avLst/>
          </a:prstGeom>
          <a:solidFill>
            <a:srgbClr val="E8EDF3"/>
          </a:solidFill>
          <a:ln/>
        </p:spPr>
      </p:sp>
      <p:sp>
        <p:nvSpPr>
          <p:cNvPr id="33" name="Text 31"/>
          <p:cNvSpPr/>
          <p:nvPr/>
        </p:nvSpPr>
        <p:spPr>
          <a:xfrm>
            <a:off x="1079500" y="5715000"/>
            <a:ext cx="5270500" cy="1016000"/>
          </a:xfrm>
          <a:prstGeom prst="rect">
            <a:avLst/>
          </a:prstGeom>
          <a:noFill/>
          <a:ln/>
        </p:spPr>
        <p:txBody>
          <a:bodyPr wrap="square" lIns="0" tIns="0" rIns="0" bIns="0" rtlCol="0" anchor="ctr"/>
          <a:lstStyle/>
          <a:p>
            <a:pPr algn="ctr">
              <a:lnSpc>
                <a:spcPct val="140000"/>
              </a:lnSpc>
            </a:pPr>
            <a:r>
              <a:rPr lang="en-US" sz="1400" b="1" dirty="0">
                <a:solidFill>
                  <a:srgbClr val="1A1D21"/>
                </a:solidFill>
                <a:latin typeface="Quattrocento Sans" pitchFamily="34" charset="0"/>
                <a:ea typeface="Quattrocento Sans" pitchFamily="34" charset="-122"/>
                <a:cs typeface="Quattrocento Sans" pitchFamily="34" charset="-120"/>
              </a:rPr>
              <a:t>评估结果反馈</a:t>
            </a:r>
            <a:pPr algn="ctr">
              <a:lnSpc>
                <a:spcPct val="140000"/>
              </a:lnSpc>
            </a:pPr>
            <a:r>
              <a:rPr lang="en-US" sz="1400" dirty="0">
                <a:solidFill>
                  <a:srgbClr val="1A1D21"/>
                </a:solidFill>
                <a:latin typeface="Quattrocento Sans" pitchFamily="34" charset="0"/>
                <a:ea typeface="Quattrocento Sans" pitchFamily="34" charset="-122"/>
                <a:cs typeface="Quattrocento Sans" pitchFamily="34" charset="-120"/>
              </a:rPr>
              <a:t>：准确性、完整性、安全性显著提升</a:t>
            </a:r>
            <a:endParaRPr lang="en-US" sz="1600" dirty="0"/>
          </a:p>
          <a:p>
            <a:pPr algn="ctr">
              <a:lnSpc>
                <a:spcPct val="140000"/>
              </a:lnSpc>
            </a:pPr>
            <a:r>
              <a:rPr lang="en-US" sz="1400" dirty="0">
                <a:solidFill>
                  <a:srgbClr val="1A1D21"/>
                </a:solidFill>
                <a:latin typeface="Quattrocento Sans" pitchFamily="34" charset="0"/>
                <a:ea typeface="Quattrocento Sans" pitchFamily="34" charset="-122"/>
                <a:cs typeface="Quattrocento Sans" pitchFamily="34" charset="-120"/>
              </a:rPr>
              <a:t>高风险议题提升幅度最大，模型幻觉仍待改进</a:t>
            </a:r>
            <a:endParaRPr lang="en-US" sz="1600" dirty="0"/>
          </a:p>
        </p:txBody>
      </p:sp>
      <p:sp>
        <p:nvSpPr>
          <p:cNvPr id="34" name="Shape 32"/>
          <p:cNvSpPr/>
          <p:nvPr/>
        </p:nvSpPr>
        <p:spPr>
          <a:xfrm flipV="1">
            <a:off x="3683000" y="5207000"/>
            <a:ext cx="0" cy="508000"/>
          </a:xfrm>
          <a:prstGeom prst="straightConnector1">
            <a:avLst/>
          </a:prstGeom>
          <a:noFill/>
          <a:ln w="25400">
            <a:solidFill>
              <a:srgbClr val="8A9BB0"/>
            </a:solidFill>
            <a:prstDash val="solid"/>
            <a:headEnd type="none"/>
            <a:tailEnd type="arrow"/>
          </a:ln>
        </p:spPr>
      </p:sp>
      <p:sp>
        <p:nvSpPr>
          <p:cNvPr id="35" name="Text 33"/>
          <p:cNvSpPr/>
          <p:nvPr/>
        </p:nvSpPr>
        <p:spPr>
          <a:xfrm>
            <a:off x="1079500" y="7048500"/>
            <a:ext cx="6350000" cy="508000"/>
          </a:xfrm>
          <a:prstGeom prst="rect">
            <a:avLst/>
          </a:prstGeom>
          <a:noFill/>
          <a:ln/>
        </p:spPr>
        <p:txBody>
          <a:bodyPr wrap="square" lIns="0" tIns="0" rIns="0" bIns="0" rtlCol="0" anchor="ctr"/>
          <a:lstStyle/>
          <a:p>
            <a:pPr>
              <a:lnSpc>
                <a:spcPct val="150000"/>
              </a:lnSpc>
            </a:pPr>
            <a:r>
              <a:rPr lang="en-US" sz="1400" dirty="0">
                <a:solidFill>
                  <a:srgbClr val="8A9BB0"/>
                </a:solidFill>
                <a:latin typeface="Quattrocento Sans" pitchFamily="34" charset="0"/>
                <a:ea typeface="Quattrocento Sans" pitchFamily="34" charset="-122"/>
                <a:cs typeface="Quattrocento Sans" pitchFamily="34" charset="-120"/>
              </a:rPr>
              <a:t>注：蓝色为核心处理环节，橙色为输出成果环节，灰色箭头表示数据流向</a:t>
            </a:r>
            <a:endParaRPr lang="en-US" sz="1600" dirty="0"/>
          </a:p>
        </p:txBody>
      </p:sp>
      <p:sp>
        <p:nvSpPr>
          <p:cNvPr id="36" name="Text 34"/>
          <p:cNvSpPr/>
          <p:nvPr/>
        </p:nvSpPr>
        <p:spPr>
          <a:xfrm>
            <a:off x="762000" y="8763000"/>
            <a:ext cx="3810000" cy="254000"/>
          </a:xfrm>
          <a:prstGeom prst="rect">
            <a:avLst/>
          </a:prstGeom>
          <a:noFill/>
          <a:ln/>
        </p:spPr>
        <p:txBody>
          <a:bodyPr wrap="none" lIns="0" tIns="0" rIns="0" bIns="0" rtlCol="0" anchor="ctr"/>
          <a:lstStyle/>
          <a:p>
            <a:pP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南京医科大学</a:t>
            </a:r>
            <a:endParaRPr lang="en-US" sz="1400" dirty="0"/>
          </a:p>
        </p:txBody>
      </p:sp>
      <p:sp>
        <p:nvSpPr>
          <p:cNvPr id="37" name="Text 35"/>
          <p:cNvSpPr/>
          <p:nvPr/>
        </p:nvSpPr>
        <p:spPr>
          <a:xfrm>
            <a:off x="13970000" y="8763000"/>
            <a:ext cx="1524000" cy="254000"/>
          </a:xfrm>
          <a:prstGeom prst="rect">
            <a:avLst/>
          </a:prstGeom>
          <a:noFill/>
          <a:ln/>
        </p:spPr>
        <p:txBody>
          <a:bodyPr wrap="none" lIns="0" tIns="0" rIns="0" bIns="0" rtlCol="0" anchor="ctr"/>
          <a:lstStyle/>
          <a:p>
            <a:pPr algn="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03</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1A4B8C"/>
          </a:solidFill>
          <a:ln/>
        </p:spPr>
      </p:sp>
      <p:sp>
        <p:nvSpPr>
          <p:cNvPr id="3" name="Text 1"/>
          <p:cNvSpPr/>
          <p:nvPr/>
        </p:nvSpPr>
        <p:spPr>
          <a:xfrm>
            <a:off x="508000" y="0"/>
            <a:ext cx="10160000" cy="508000"/>
          </a:xfrm>
          <a:prstGeom prst="rect">
            <a:avLst/>
          </a:prstGeom>
          <a:noFill/>
          <a:ln/>
        </p:spPr>
        <p:txBody>
          <a:bodyPr wrap="none" lIns="0" tIns="0" rIns="0" bIns="0" rtlCol="0" anchor="ctr"/>
          <a:lstStyle/>
          <a:p>
            <a:pP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基于大语言模型的社交媒体青少年生殖健康评论分类分析与问答生成研究</a:t>
            </a:r>
            <a:endParaRPr lang="en-US" sz="1400" dirty="0"/>
          </a:p>
        </p:txBody>
      </p:sp>
      <p:sp>
        <p:nvSpPr>
          <p:cNvPr id="4" name="Text 2"/>
          <p:cNvSpPr/>
          <p:nvPr/>
        </p:nvSpPr>
        <p:spPr>
          <a:xfrm>
            <a:off x="12700000" y="0"/>
            <a:ext cx="3048000" cy="508000"/>
          </a:xfrm>
          <a:prstGeom prst="rect">
            <a:avLst/>
          </a:prstGeom>
          <a:noFill/>
          <a:ln/>
        </p:spPr>
        <p:txBody>
          <a:bodyPr wrap="none" lIns="0" tIns="0" rIns="0" bIns="0" rtlCol="0" anchor="ctr"/>
          <a:lstStyle/>
          <a:p>
            <a:pPr algn="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数据来源与处理方法</a:t>
            </a:r>
            <a:endParaRPr lang="en-US" sz="1400" dirty="0"/>
          </a:p>
        </p:txBody>
      </p:sp>
      <p:sp>
        <p:nvSpPr>
          <p:cNvPr id="5" name="Text 3"/>
          <p:cNvSpPr/>
          <p:nvPr/>
        </p:nvSpPr>
        <p:spPr>
          <a:xfrm>
            <a:off x="762000" y="698500"/>
            <a:ext cx="7620000" cy="508000"/>
          </a:xfrm>
          <a:prstGeom prst="rect">
            <a:avLst/>
          </a:prstGeom>
          <a:noFill/>
          <a:ln/>
        </p:spPr>
        <p:txBody>
          <a:bodyPr wrap="none" lIns="0" tIns="0" rIns="0" bIns="0" rtlCol="0" anchor="ctr"/>
          <a:lstStyle/>
          <a:p>
            <a:pPr>
              <a:lnSpc>
                <a:spcPct val="130000"/>
              </a:lnSpc>
            </a:pPr>
            <a:r>
              <a:rPr lang="en-US" sz="2800" dirty="0">
                <a:solidFill>
                  <a:srgbClr val="1A4B8C"/>
                </a:solidFill>
                <a:latin typeface="QuattrocentoSans" pitchFamily="34" charset="0"/>
                <a:ea typeface="QuattrocentoSans" pitchFamily="34" charset="-122"/>
                <a:cs typeface="QuattrocentoSans" pitchFamily="34" charset="-120"/>
              </a:rPr>
              <a:t>数据来源与处理方法</a:t>
            </a:r>
            <a:endParaRPr lang="en-US" sz="2800" dirty="0"/>
          </a:p>
        </p:txBody>
      </p:sp>
      <p:sp>
        <p:nvSpPr>
          <p:cNvPr id="6" name="Shape 4"/>
          <p:cNvSpPr/>
          <p:nvPr/>
        </p:nvSpPr>
        <p:spPr>
          <a:xfrm>
            <a:off x="762000" y="1295400"/>
            <a:ext cx="508000" cy="38100"/>
          </a:xfrm>
          <a:prstGeom prst="rect">
            <a:avLst/>
          </a:prstGeom>
          <a:solidFill>
            <a:srgbClr val="1A4B8C"/>
          </a:solidFill>
          <a:ln/>
        </p:spPr>
      </p:sp>
      <p:sp>
        <p:nvSpPr>
          <p:cNvPr id="7" name="Shape 5"/>
          <p:cNvSpPr/>
          <p:nvPr/>
        </p:nvSpPr>
        <p:spPr>
          <a:xfrm>
            <a:off x="762000" y="1524000"/>
            <a:ext cx="14732000" cy="1016000"/>
          </a:xfrm>
          <a:prstGeom prst="rect">
            <a:avLst/>
          </a:prstGeom>
          <a:solidFill>
            <a:srgbClr val="FFFFFF"/>
          </a:solidFill>
          <a:ln/>
        </p:spPr>
      </p:sp>
      <p:sp>
        <p:nvSpPr>
          <p:cNvPr id="8" name="Text 6"/>
          <p:cNvSpPr/>
          <p:nvPr/>
        </p:nvSpPr>
        <p:spPr>
          <a:xfrm>
            <a:off x="1016000" y="1625600"/>
            <a:ext cx="3810000" cy="3048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数据来源与采集范围</a:t>
            </a:r>
            <a:endParaRPr lang="en-US" sz="1600" dirty="0"/>
          </a:p>
        </p:txBody>
      </p:sp>
      <p:sp>
        <p:nvSpPr>
          <p:cNvPr id="9" name="Text 7"/>
          <p:cNvSpPr/>
          <p:nvPr/>
        </p:nvSpPr>
        <p:spPr>
          <a:xfrm>
            <a:off x="1016000" y="1981200"/>
            <a:ext cx="14224000" cy="457200"/>
          </a:xfrm>
          <a:prstGeom prst="rect">
            <a:avLst/>
          </a:prstGeom>
          <a:noFill/>
          <a:ln/>
        </p:spPr>
        <p:txBody>
          <a:bodyPr wrap="square" lIns="0" tIns="0" rIns="0" bIns="0" rtlCol="0" anchor="ctr"/>
          <a:lstStyle/>
          <a:p>
            <a:pPr>
              <a:lnSpc>
                <a:spcPct val="140000"/>
              </a:lnSpc>
            </a:pPr>
            <a:r>
              <a:rPr lang="en-US" sz="1600" dirty="0">
                <a:solidFill>
                  <a:srgbClr val="1A1D21"/>
                </a:solidFill>
                <a:latin typeface="Quattrocento Sans" pitchFamily="34" charset="0"/>
                <a:ea typeface="Quattrocento Sans" pitchFamily="34" charset="-122"/>
                <a:cs typeface="Quattrocento Sans" pitchFamily="34" charset="-120"/>
              </a:rPr>
              <a:t>平台：Bilibili | 时间：2016.9-2024.6 | 743个视频 | 525位UP主 | 32.8万评论 + 43.2万弹幕 | 总观看量超4.8亿次</a:t>
            </a:r>
            <a:endParaRPr lang="en-US" sz="1600" dirty="0"/>
          </a:p>
        </p:txBody>
      </p:sp>
      <p:sp>
        <p:nvSpPr>
          <p:cNvPr id="10" name="Text 8"/>
          <p:cNvSpPr/>
          <p:nvPr/>
        </p:nvSpPr>
        <p:spPr>
          <a:xfrm>
            <a:off x="762000" y="2730500"/>
            <a:ext cx="6858000" cy="3302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视频筛选标准（三条件同时满足）</a:t>
            </a:r>
            <a:endParaRPr lang="en-US" sz="1600" dirty="0"/>
          </a:p>
        </p:txBody>
      </p:sp>
      <p:sp>
        <p:nvSpPr>
          <p:cNvPr id="11" name="Shape 9"/>
          <p:cNvSpPr/>
          <p:nvPr/>
        </p:nvSpPr>
        <p:spPr>
          <a:xfrm>
            <a:off x="762000" y="3149600"/>
            <a:ext cx="4699000" cy="1016000"/>
          </a:xfrm>
          <a:prstGeom prst="rect">
            <a:avLst/>
          </a:prstGeom>
          <a:solidFill>
            <a:srgbClr val="FFFFFF"/>
          </a:solidFill>
          <a:ln/>
        </p:spPr>
      </p:sp>
      <p:sp>
        <p:nvSpPr>
          <p:cNvPr id="12" name="Text 10"/>
          <p:cNvSpPr/>
          <p:nvPr/>
        </p:nvSpPr>
        <p:spPr>
          <a:xfrm>
            <a:off x="952500" y="3213100"/>
            <a:ext cx="4318000" cy="889000"/>
          </a:xfrm>
          <a:prstGeom prst="rect">
            <a:avLst/>
          </a:prstGeom>
          <a:noFill/>
          <a:ln/>
        </p:spPr>
        <p:txBody>
          <a:bodyPr wrap="square" lIns="0" tIns="0" rIns="0" bIns="0" rtlCol="0" anchor="ctr"/>
          <a:lstStyle/>
          <a:p>
            <a:pPr>
              <a:lnSpc>
                <a:spcPct val="150000"/>
              </a:lnSpc>
            </a:pPr>
            <a:r>
              <a:rPr lang="en-US" sz="1400" b="1" dirty="0">
                <a:solidFill>
                  <a:srgbClr val="1A4B8C"/>
                </a:solidFill>
                <a:latin typeface="Quattrocento Sans" pitchFamily="34" charset="0"/>
                <a:ea typeface="Quattrocento Sans" pitchFamily="34" charset="-122"/>
                <a:cs typeface="Quattrocento Sans" pitchFamily="34" charset="-120"/>
              </a:rPr>
              <a:t>① 主题相关性</a:t>
            </a:r>
            <a:endParaRPr lang="en-US" sz="1600" dirty="0"/>
          </a:p>
          <a:p>
            <a:pPr>
              <a:lnSpc>
                <a:spcPct val="150000"/>
              </a:lnSpc>
            </a:pPr>
            <a:r>
              <a:rPr lang="en-US" sz="1400" dirty="0">
                <a:solidFill>
                  <a:srgbClr val="1A1D21"/>
                </a:solidFill>
                <a:latin typeface="Quattrocento Sans" pitchFamily="34" charset="0"/>
                <a:ea typeface="Quattrocento Sans" pitchFamily="34" charset="-122"/>
                <a:cs typeface="Quattrocento Sans" pitchFamily="34" charset="-120"/>
              </a:rPr>
              <a:t>视频内容与生殖健康直接相关</a:t>
            </a:r>
            <a:endParaRPr lang="en-US" sz="1600" dirty="0"/>
          </a:p>
        </p:txBody>
      </p:sp>
      <p:sp>
        <p:nvSpPr>
          <p:cNvPr id="13" name="Shape 11"/>
          <p:cNvSpPr/>
          <p:nvPr/>
        </p:nvSpPr>
        <p:spPr>
          <a:xfrm>
            <a:off x="5715000" y="3149600"/>
            <a:ext cx="4699000" cy="1016000"/>
          </a:xfrm>
          <a:prstGeom prst="rect">
            <a:avLst/>
          </a:prstGeom>
          <a:solidFill>
            <a:srgbClr val="FFFFFF"/>
          </a:solidFill>
          <a:ln/>
        </p:spPr>
      </p:sp>
      <p:sp>
        <p:nvSpPr>
          <p:cNvPr id="14" name="Text 12"/>
          <p:cNvSpPr/>
          <p:nvPr/>
        </p:nvSpPr>
        <p:spPr>
          <a:xfrm>
            <a:off x="5905500" y="3213100"/>
            <a:ext cx="4318000" cy="889000"/>
          </a:xfrm>
          <a:prstGeom prst="rect">
            <a:avLst/>
          </a:prstGeom>
          <a:noFill/>
          <a:ln/>
        </p:spPr>
        <p:txBody>
          <a:bodyPr wrap="square" lIns="0" tIns="0" rIns="0" bIns="0" rtlCol="0" anchor="ctr"/>
          <a:lstStyle/>
          <a:p>
            <a:pPr>
              <a:lnSpc>
                <a:spcPct val="150000"/>
              </a:lnSpc>
            </a:pPr>
            <a:r>
              <a:rPr lang="en-US" sz="1400" b="1" dirty="0">
                <a:solidFill>
                  <a:srgbClr val="1A4B8C"/>
                </a:solidFill>
                <a:latin typeface="Quattrocento Sans" pitchFamily="34" charset="0"/>
                <a:ea typeface="Quattrocento Sans" pitchFamily="34" charset="-122"/>
                <a:cs typeface="Quattrocento Sans" pitchFamily="34" charset="-120"/>
              </a:rPr>
              <a:t>② 播放量阈值</a:t>
            </a:r>
            <a:endParaRPr lang="en-US" sz="1600" dirty="0"/>
          </a:p>
          <a:p>
            <a:pPr>
              <a:lnSpc>
                <a:spcPct val="150000"/>
              </a:lnSpc>
            </a:pPr>
            <a:r>
              <a:rPr lang="en-US" sz="1400" dirty="0">
                <a:solidFill>
                  <a:srgbClr val="1A1D21"/>
                </a:solidFill>
                <a:latin typeface="Quattrocento Sans" pitchFamily="34" charset="0"/>
                <a:ea typeface="Quattrocento Sans" pitchFamily="34" charset="-122"/>
                <a:cs typeface="Quattrocento Sans" pitchFamily="34" charset="-120"/>
              </a:rPr>
              <a:t>累计播放量不低于100,000次</a:t>
            </a:r>
            <a:endParaRPr lang="en-US" sz="1600" dirty="0"/>
          </a:p>
        </p:txBody>
      </p:sp>
      <p:sp>
        <p:nvSpPr>
          <p:cNvPr id="15" name="Shape 13"/>
          <p:cNvSpPr/>
          <p:nvPr/>
        </p:nvSpPr>
        <p:spPr>
          <a:xfrm>
            <a:off x="10668000" y="3149600"/>
            <a:ext cx="4826000" cy="1016000"/>
          </a:xfrm>
          <a:prstGeom prst="rect">
            <a:avLst/>
          </a:prstGeom>
          <a:solidFill>
            <a:srgbClr val="FFFFFF"/>
          </a:solidFill>
          <a:ln/>
        </p:spPr>
      </p:sp>
      <p:sp>
        <p:nvSpPr>
          <p:cNvPr id="16" name="Text 14"/>
          <p:cNvSpPr/>
          <p:nvPr/>
        </p:nvSpPr>
        <p:spPr>
          <a:xfrm>
            <a:off x="10858500" y="3213100"/>
            <a:ext cx="4445000" cy="889000"/>
          </a:xfrm>
          <a:prstGeom prst="rect">
            <a:avLst/>
          </a:prstGeom>
          <a:noFill/>
          <a:ln/>
        </p:spPr>
        <p:txBody>
          <a:bodyPr wrap="square" lIns="0" tIns="0" rIns="0" bIns="0" rtlCol="0" anchor="ctr"/>
          <a:lstStyle/>
          <a:p>
            <a:pPr>
              <a:lnSpc>
                <a:spcPct val="150000"/>
              </a:lnSpc>
            </a:pPr>
            <a:r>
              <a:rPr lang="en-US" sz="1400" b="1" dirty="0">
                <a:solidFill>
                  <a:srgbClr val="1A4B8C"/>
                </a:solidFill>
                <a:latin typeface="Quattrocento Sans" pitchFamily="34" charset="0"/>
                <a:ea typeface="Quattrocento Sans" pitchFamily="34" charset="-122"/>
                <a:cs typeface="Quattrocento Sans" pitchFamily="34" charset="-120"/>
              </a:rPr>
              <a:t>③ 关键词匹配</a:t>
            </a:r>
            <a:endParaRPr lang="en-US" sz="1600" dirty="0"/>
          </a:p>
          <a:p>
            <a:pPr>
              <a:lnSpc>
                <a:spcPct val="150000"/>
              </a:lnSpc>
            </a:pPr>
            <a:r>
              <a:rPr lang="en-US" sz="1400" dirty="0">
                <a:solidFill>
                  <a:srgbClr val="1A1D21"/>
                </a:solidFill>
                <a:latin typeface="Quattrocento Sans" pitchFamily="34" charset="0"/>
                <a:ea typeface="Quattrocento Sans" pitchFamily="34" charset="-122"/>
                <a:cs typeface="Quattrocento Sans" pitchFamily="34" charset="-120"/>
              </a:rPr>
              <a:t>标题/标签/简介中至少包含一个关键词</a:t>
            </a:r>
            <a:endParaRPr lang="en-US" sz="1600" dirty="0"/>
          </a:p>
        </p:txBody>
      </p:sp>
      <p:sp>
        <p:nvSpPr>
          <p:cNvPr id="17" name="Text 15"/>
          <p:cNvSpPr/>
          <p:nvPr/>
        </p:nvSpPr>
        <p:spPr>
          <a:xfrm>
            <a:off x="762000" y="4318000"/>
            <a:ext cx="5080000" cy="3302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关键词体系设计（三轮扩展，29个关键词）</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62000" y="4724400"/>
          <a:ext cx="14732000" cy="1968500"/>
        </p:xfrm>
        <a:graphic>
          <a:graphicData uri="http://schemas.openxmlformats.org/drawingml/2006/table">
            <a:tbl>
              <a:tblPr/>
              <a:tblGrid>
                <a:gridCol w="588691"/>
                <a:gridCol w="1515880"/>
                <a:gridCol w="588691"/>
                <a:gridCol w="1515880"/>
                <a:gridCol w="588691"/>
                <a:gridCol w="1515880"/>
                <a:gridCol w="588691"/>
                <a:gridCol w="1515880"/>
                <a:gridCol w="588691"/>
                <a:gridCol w="1515880"/>
                <a:gridCol w="588691"/>
                <a:gridCol w="1515880"/>
                <a:gridCol w="588691"/>
                <a:gridCol w="1515880"/>
              </a:tblGrid>
              <a:tr h="328083">
                <a:tc>
                  <a:txBody>
                    <a:bodyPr/>
                    <a:lstStyle/>
                    <a:p>
                      <a:pPr algn="l"/>
                      <a:r>
                        <a:rPr lang="en-US" sz="1200" b="1" u="none" dirty="0">
                          <a:solidFill>
                            <a:srgbClr val="FFFFFF"/>
                          </a:solidFill>
                          <a:latin typeface="QuattrocentoSans, MiSans" pitchFamily="34" charset="0"/>
                          <a:ea typeface="QuattrocentoSans, MiSans" pitchFamily="34" charset="-122"/>
                          <a:cs typeface="QuattrocentoSans, MiSans" pitchFamily="34" charset="-120"/>
                        </a:rPr>
                        <a:t>No.</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200" b="1" u="none" dirty="0">
                          <a:solidFill>
                            <a:srgbClr val="FFFFFF"/>
                          </a:solidFill>
                          <a:latin typeface="QuattrocentoSans, MiSans" pitchFamily="34" charset="0"/>
                          <a:ea typeface="QuattrocentoSans, MiSans" pitchFamily="34" charset="-122"/>
                          <a:cs typeface="QuattrocentoSans, MiSans" pitchFamily="34" charset="-120"/>
                        </a:rPr>
                        <a:t>关键词</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200" b="1" u="none" dirty="0">
                          <a:solidFill>
                            <a:srgbClr val="FFFFFF"/>
                          </a:solidFill>
                          <a:latin typeface="QuattrocentoSans, MiSans" pitchFamily="34" charset="0"/>
                          <a:ea typeface="QuattrocentoSans, MiSans" pitchFamily="34" charset="-122"/>
                          <a:cs typeface="QuattrocentoSans, MiSans" pitchFamily="34" charset="-120"/>
                        </a:rPr>
                        <a:t>No.</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200" b="1" u="none" dirty="0">
                          <a:solidFill>
                            <a:srgbClr val="FFFFFF"/>
                          </a:solidFill>
                          <a:latin typeface="QuattrocentoSans, MiSans" pitchFamily="34" charset="0"/>
                          <a:ea typeface="QuattrocentoSans, MiSans" pitchFamily="34" charset="-122"/>
                          <a:cs typeface="QuattrocentoSans, MiSans" pitchFamily="34" charset="-120"/>
                        </a:rPr>
                        <a:t>关键词</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200" b="1" u="none" dirty="0">
                          <a:solidFill>
                            <a:srgbClr val="FFFFFF"/>
                          </a:solidFill>
                          <a:latin typeface="QuattrocentoSans, MiSans" pitchFamily="34" charset="0"/>
                          <a:ea typeface="QuattrocentoSans, MiSans" pitchFamily="34" charset="-122"/>
                          <a:cs typeface="QuattrocentoSans, MiSans" pitchFamily="34" charset="-120"/>
                        </a:rPr>
                        <a:t>No.</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200" b="1" u="none" dirty="0">
                          <a:solidFill>
                            <a:srgbClr val="FFFFFF"/>
                          </a:solidFill>
                          <a:latin typeface="QuattrocentoSans, MiSans" pitchFamily="34" charset="0"/>
                          <a:ea typeface="QuattrocentoSans, MiSans" pitchFamily="34" charset="-122"/>
                          <a:cs typeface="QuattrocentoSans, MiSans" pitchFamily="34" charset="-120"/>
                        </a:rPr>
                        <a:t>关键词</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200" b="1" u="none" dirty="0">
                          <a:solidFill>
                            <a:srgbClr val="FFFFFF"/>
                          </a:solidFill>
                          <a:latin typeface="QuattrocentoSans, MiSans" pitchFamily="34" charset="0"/>
                          <a:ea typeface="QuattrocentoSans, MiSans" pitchFamily="34" charset="-122"/>
                          <a:cs typeface="QuattrocentoSans, MiSans" pitchFamily="34" charset="-120"/>
                        </a:rPr>
                        <a:t>No.</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200" b="1" u="none" dirty="0">
                          <a:solidFill>
                            <a:srgbClr val="FFFFFF"/>
                          </a:solidFill>
                          <a:latin typeface="QuattrocentoSans, MiSans" pitchFamily="34" charset="0"/>
                          <a:ea typeface="QuattrocentoSans, MiSans" pitchFamily="34" charset="-122"/>
                          <a:cs typeface="QuattrocentoSans, MiSans" pitchFamily="34" charset="-120"/>
                        </a:rPr>
                        <a:t>关键词</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200" b="1" u="none" dirty="0">
                          <a:solidFill>
                            <a:srgbClr val="FFFFFF"/>
                          </a:solidFill>
                          <a:latin typeface="QuattrocentoSans, MiSans" pitchFamily="34" charset="0"/>
                          <a:ea typeface="QuattrocentoSans, MiSans" pitchFamily="34" charset="-122"/>
                          <a:cs typeface="QuattrocentoSans, MiSans" pitchFamily="34" charset="-120"/>
                        </a:rPr>
                        <a:t>No.</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200" b="1" u="none" dirty="0">
                          <a:solidFill>
                            <a:srgbClr val="FFFFFF"/>
                          </a:solidFill>
                          <a:latin typeface="QuattrocentoSans, MiSans" pitchFamily="34" charset="0"/>
                          <a:ea typeface="QuattrocentoSans, MiSans" pitchFamily="34" charset="-122"/>
                          <a:cs typeface="QuattrocentoSans, MiSans" pitchFamily="34" charset="-120"/>
                        </a:rPr>
                        <a:t>关键词</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200" b="1" u="none" dirty="0">
                          <a:solidFill>
                            <a:srgbClr val="FFFFFF"/>
                          </a:solidFill>
                          <a:latin typeface="QuattrocentoSans, MiSans" pitchFamily="34" charset="0"/>
                          <a:ea typeface="QuattrocentoSans, MiSans" pitchFamily="34" charset="-122"/>
                          <a:cs typeface="QuattrocentoSans, MiSans" pitchFamily="34" charset="-120"/>
                        </a:rPr>
                        <a:t>No.</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200" b="1" u="none" dirty="0">
                          <a:solidFill>
                            <a:srgbClr val="FFFFFF"/>
                          </a:solidFill>
                          <a:latin typeface="QuattrocentoSans, MiSans" pitchFamily="34" charset="0"/>
                          <a:ea typeface="QuattrocentoSans, MiSans" pitchFamily="34" charset="-122"/>
                          <a:cs typeface="QuattrocentoSans, MiSans" pitchFamily="34" charset="-120"/>
                        </a:rPr>
                        <a:t>关键词</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200" b="1" u="none" dirty="0">
                          <a:solidFill>
                            <a:srgbClr val="FFFFFF"/>
                          </a:solidFill>
                          <a:latin typeface="QuattrocentoSans, MiSans" pitchFamily="34" charset="0"/>
                          <a:ea typeface="QuattrocentoSans, MiSans" pitchFamily="34" charset="-122"/>
                          <a:cs typeface="QuattrocentoSans, MiSans" pitchFamily="34" charset="-120"/>
                        </a:rPr>
                        <a:t>No.</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200" b="1" u="none" dirty="0">
                          <a:solidFill>
                            <a:srgbClr val="FFFFFF"/>
                          </a:solidFill>
                          <a:latin typeface="QuattrocentoSans, MiSans" pitchFamily="34" charset="0"/>
                          <a:ea typeface="QuattrocentoSans, MiSans" pitchFamily="34" charset="-122"/>
                          <a:cs typeface="QuattrocentoSans, MiSans" pitchFamily="34" charset="-120"/>
                        </a:rPr>
                        <a:t>关键词</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r>
              <a:tr h="328083">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1</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安全套</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6</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女用安全套</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11</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避孕</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16</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男性绝育</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21</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意外怀孕</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26</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人流</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 </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 </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328083">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2</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带套</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7</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上环</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12</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避孕科普</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17</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女性绝育术</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22</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打胎</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27</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药物流产</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 </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 </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r>
              <a:tr h="328083">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3</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戴套</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8</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节育器</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13</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内射</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18</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输卵管结扎</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23</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刮宫</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28</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药流</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 </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 </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328083">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4</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戴T</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9</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体外排精</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14</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口服避孕药</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19</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安全期</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24</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引产</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29</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自然流产</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 </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 </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r>
              <a:tr h="328083">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5</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套套</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10</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安全措施</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15</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避孕药品</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20</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新型避孕方式</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25</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人工流产</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 </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 </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 </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 </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bl>
          </a:graphicData>
        </a:graphic>
      </p:graphicFrame>
      <p:sp>
        <p:nvSpPr>
          <p:cNvPr id="19" name="Text 16"/>
          <p:cNvSpPr/>
          <p:nvPr/>
        </p:nvSpPr>
        <p:spPr>
          <a:xfrm>
            <a:off x="762000" y="7048500"/>
            <a:ext cx="5080000" cy="3302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数据预处理流程（四步）与问题提取</a:t>
            </a:r>
            <a:endParaRPr lang="en-US" sz="1600" dirty="0"/>
          </a:p>
        </p:txBody>
      </p:sp>
      <p:sp>
        <p:nvSpPr>
          <p:cNvPr id="20" name="Text 17"/>
          <p:cNvSpPr/>
          <p:nvPr/>
        </p:nvSpPr>
        <p:spPr>
          <a:xfrm>
            <a:off x="762000" y="7429500"/>
            <a:ext cx="14732000" cy="1016000"/>
          </a:xfrm>
          <a:prstGeom prst="rect">
            <a:avLst/>
          </a:prstGeom>
          <a:noFill/>
          <a:ln/>
        </p:spPr>
        <p:txBody>
          <a:bodyPr wrap="square" lIns="0" tIns="0" rIns="0" bIns="0" rtlCol="0" anchor="t"/>
          <a:lstStyle/>
          <a:p>
            <a:pPr>
              <a:lnSpc>
                <a:spcPct val="160000"/>
              </a:lnSpc>
            </a:pPr>
            <a:r>
              <a:rPr lang="en-US" sz="1500" b="1" dirty="0">
                <a:solidFill>
                  <a:srgbClr val="1A4B8C"/>
                </a:solidFill>
                <a:latin typeface="Quattrocento Sans" pitchFamily="34" charset="0"/>
                <a:ea typeface="Quattrocento Sans" pitchFamily="34" charset="-122"/>
                <a:cs typeface="Quattrocento Sans" pitchFamily="34" charset="-120"/>
              </a:rPr>
              <a:t>Step 1 去重与无效数据清洗</a:t>
            </a:r>
            <a:pPr>
              <a:lnSpc>
                <a:spcPct val="160000"/>
              </a:lnSpc>
            </a:pPr>
            <a:r>
              <a:rPr lang="en-US" sz="1500" dirty="0">
                <a:solidFill>
                  <a:srgbClr val="1A1D21"/>
                </a:solidFill>
                <a:latin typeface="Quattrocento Sans" pitchFamily="34" charset="0"/>
                <a:ea typeface="Quattrocento Sans" pitchFamily="34" charset="-122"/>
                <a:cs typeface="Quattrocento Sans" pitchFamily="34" charset="-120"/>
              </a:rPr>
              <a:t>：以视频ID/评论ID/弹幕ID为唯一标识符去重 → </a:t>
            </a:r>
            <a:pPr>
              <a:lnSpc>
                <a:spcPct val="160000"/>
              </a:lnSpc>
            </a:pPr>
            <a:r>
              <a:rPr lang="en-US" sz="1500" b="1" dirty="0">
                <a:solidFill>
                  <a:srgbClr val="1A4B8C"/>
                </a:solidFill>
                <a:latin typeface="Quattrocento Sans" pitchFamily="34" charset="0"/>
                <a:ea typeface="Quattrocento Sans" pitchFamily="34" charset="-122"/>
                <a:cs typeface="Quattrocento Sans" pitchFamily="34" charset="-120"/>
              </a:rPr>
              <a:t>Step 2 文本规范化</a:t>
            </a:r>
            <a:pPr>
              <a:lnSpc>
                <a:spcPct val="160000"/>
              </a:lnSpc>
            </a:pPr>
            <a:r>
              <a:rPr lang="en-US" sz="1500" dirty="0">
                <a:solidFill>
                  <a:srgbClr val="1A1D21"/>
                </a:solidFill>
                <a:latin typeface="Quattrocento Sans" pitchFamily="34" charset="0"/>
                <a:ea typeface="Quattrocento Sans" pitchFamily="34" charset="-122"/>
                <a:cs typeface="Quattrocento Sans" pitchFamily="34" charset="-120"/>
              </a:rPr>
              <a:t>：繁简体转换、表情符号处理、去除特殊字符 → </a:t>
            </a:r>
            <a:pPr>
              <a:lnSpc>
                <a:spcPct val="160000"/>
              </a:lnSpc>
            </a:pPr>
            <a:r>
              <a:rPr lang="en-US" sz="1500" b="1" dirty="0">
                <a:solidFill>
                  <a:srgbClr val="1A4B8C"/>
                </a:solidFill>
                <a:latin typeface="Quattrocento Sans" pitchFamily="34" charset="0"/>
                <a:ea typeface="Quattrocento Sans" pitchFamily="34" charset="-122"/>
                <a:cs typeface="Quattrocento Sans" pitchFamily="34" charset="-120"/>
              </a:rPr>
              <a:t>Step 3 中文分词与停用词处理</a:t>
            </a:r>
            <a:pPr>
              <a:lnSpc>
                <a:spcPct val="160000"/>
              </a:lnSpc>
            </a:pPr>
            <a:r>
              <a:rPr lang="en-US" sz="1500" dirty="0">
                <a:solidFill>
                  <a:srgbClr val="1A1D21"/>
                </a:solidFill>
                <a:latin typeface="Quattrocento Sans" pitchFamily="34" charset="0"/>
                <a:ea typeface="Quattrocento Sans" pitchFamily="34" charset="-122"/>
                <a:cs typeface="Quattrocento Sans" pitchFamily="34" charset="-120"/>
              </a:rPr>
              <a:t>：Jieba分词 + 综合停用词表 → </a:t>
            </a:r>
            <a:pPr>
              <a:lnSpc>
                <a:spcPct val="160000"/>
              </a:lnSpc>
            </a:pPr>
            <a:r>
              <a:rPr lang="en-US" sz="1500" b="1" dirty="0">
                <a:solidFill>
                  <a:srgbClr val="1A4B8C"/>
                </a:solidFill>
                <a:latin typeface="Quattrocento Sans" pitchFamily="34" charset="0"/>
                <a:ea typeface="Quattrocento Sans" pitchFamily="34" charset="-122"/>
                <a:cs typeface="Quattrocento Sans" pitchFamily="34" charset="-120"/>
              </a:rPr>
              <a:t>Step 4 噪声/广告/灌水文本识别</a:t>
            </a:r>
            <a:pPr>
              <a:lnSpc>
                <a:spcPct val="160000"/>
              </a:lnSpc>
            </a:pPr>
            <a:r>
              <a:rPr lang="en-US" sz="1500" dirty="0">
                <a:solidFill>
                  <a:srgbClr val="1A1D21"/>
                </a:solidFill>
                <a:latin typeface="Quattrocento Sans" pitchFamily="34" charset="0"/>
                <a:ea typeface="Quattrocento Sans" pitchFamily="34" charset="-122"/>
                <a:cs typeface="Quattrocento Sans" pitchFamily="34" charset="-120"/>
              </a:rPr>
              <a:t>：正则规则 + LLM语义过滤 + 人工抽样验证 → </a:t>
            </a:r>
            <a:pPr>
              <a:lnSpc>
                <a:spcPct val="160000"/>
              </a:lnSpc>
            </a:pPr>
            <a:r>
              <a:rPr lang="en-US" sz="1500" b="1" dirty="0">
                <a:solidFill>
                  <a:srgbClr val="C45C26"/>
                </a:solidFill>
                <a:latin typeface="Quattrocento Sans" pitchFamily="34" charset="0"/>
                <a:ea typeface="Quattrocento Sans" pitchFamily="34" charset="-122"/>
                <a:cs typeface="Quattrocento Sans" pitchFamily="34" charset="-120"/>
              </a:rPr>
              <a:t>最终提取：3780条有效问题</a:t>
            </a:r>
            <a:endParaRPr lang="en-US" sz="1600" dirty="0"/>
          </a:p>
        </p:txBody>
      </p:sp>
      <p:sp>
        <p:nvSpPr>
          <p:cNvPr id="21" name="Text 18"/>
          <p:cNvSpPr/>
          <p:nvPr/>
        </p:nvSpPr>
        <p:spPr>
          <a:xfrm>
            <a:off x="762000" y="8763000"/>
            <a:ext cx="3810000" cy="254000"/>
          </a:xfrm>
          <a:prstGeom prst="rect">
            <a:avLst/>
          </a:prstGeom>
          <a:noFill/>
          <a:ln/>
        </p:spPr>
        <p:txBody>
          <a:bodyPr wrap="none" lIns="0" tIns="0" rIns="0" bIns="0" rtlCol="0" anchor="ctr"/>
          <a:lstStyle/>
          <a:p>
            <a:pP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南京医科大学</a:t>
            </a:r>
            <a:endParaRPr lang="en-US" sz="1400" dirty="0"/>
          </a:p>
        </p:txBody>
      </p:sp>
      <p:sp>
        <p:nvSpPr>
          <p:cNvPr id="22" name="Text 19"/>
          <p:cNvSpPr/>
          <p:nvPr/>
        </p:nvSpPr>
        <p:spPr>
          <a:xfrm>
            <a:off x="13970000" y="8763000"/>
            <a:ext cx="1524000" cy="254000"/>
          </a:xfrm>
          <a:prstGeom prst="rect">
            <a:avLst/>
          </a:prstGeom>
          <a:noFill/>
          <a:ln/>
        </p:spPr>
        <p:txBody>
          <a:bodyPr wrap="none" lIns="0" tIns="0" rIns="0" bIns="0" rtlCol="0" anchor="ctr"/>
          <a:lstStyle/>
          <a:p>
            <a:pPr algn="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04</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1A4B8C"/>
          </a:solidFill>
          <a:ln/>
        </p:spPr>
      </p:sp>
      <p:sp>
        <p:nvSpPr>
          <p:cNvPr id="3" name="Text 1"/>
          <p:cNvSpPr/>
          <p:nvPr/>
        </p:nvSpPr>
        <p:spPr>
          <a:xfrm>
            <a:off x="508000" y="0"/>
            <a:ext cx="10160000" cy="508000"/>
          </a:xfrm>
          <a:prstGeom prst="rect">
            <a:avLst/>
          </a:prstGeom>
          <a:noFill/>
          <a:ln/>
        </p:spPr>
        <p:txBody>
          <a:bodyPr wrap="none" lIns="0" tIns="0" rIns="0" bIns="0" rtlCol="0" anchor="ctr"/>
          <a:lstStyle/>
          <a:p>
            <a:pP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基于大语言模型的社交媒体青少年生殖健康评论分类分析与问答生成研究</a:t>
            </a:r>
            <a:endParaRPr lang="en-US" sz="1400" dirty="0"/>
          </a:p>
        </p:txBody>
      </p:sp>
      <p:sp>
        <p:nvSpPr>
          <p:cNvPr id="4" name="Text 2"/>
          <p:cNvSpPr/>
          <p:nvPr/>
        </p:nvSpPr>
        <p:spPr>
          <a:xfrm>
            <a:off x="12700000" y="0"/>
            <a:ext cx="3048000" cy="508000"/>
          </a:xfrm>
          <a:prstGeom prst="rect">
            <a:avLst/>
          </a:prstGeom>
          <a:noFill/>
          <a:ln/>
        </p:spPr>
        <p:txBody>
          <a:bodyPr wrap="none" lIns="0" tIns="0" rIns="0" bIns="0" rtlCol="0" anchor="ctr"/>
          <a:lstStyle/>
          <a:p>
            <a:pPr algn="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问题分类分析结果</a:t>
            </a:r>
            <a:endParaRPr lang="en-US" sz="1400" dirty="0"/>
          </a:p>
        </p:txBody>
      </p:sp>
      <p:sp>
        <p:nvSpPr>
          <p:cNvPr id="5" name="Text 3"/>
          <p:cNvSpPr/>
          <p:nvPr/>
        </p:nvSpPr>
        <p:spPr>
          <a:xfrm>
            <a:off x="762000" y="698500"/>
            <a:ext cx="7620000" cy="508000"/>
          </a:xfrm>
          <a:prstGeom prst="rect">
            <a:avLst/>
          </a:prstGeom>
          <a:noFill/>
          <a:ln/>
        </p:spPr>
        <p:txBody>
          <a:bodyPr wrap="none" lIns="0" tIns="0" rIns="0" bIns="0" rtlCol="0" anchor="ctr"/>
          <a:lstStyle/>
          <a:p>
            <a:pPr>
              <a:lnSpc>
                <a:spcPct val="130000"/>
              </a:lnSpc>
            </a:pPr>
            <a:r>
              <a:rPr lang="en-US" sz="2800" dirty="0">
                <a:solidFill>
                  <a:srgbClr val="1A4B8C"/>
                </a:solidFill>
                <a:latin typeface="QuattrocentoSans" pitchFamily="34" charset="0"/>
                <a:ea typeface="QuattrocentoSans" pitchFamily="34" charset="-122"/>
                <a:cs typeface="QuattrocentoSans" pitchFamily="34" charset="-120"/>
              </a:rPr>
              <a:t>问题分类分析结果</a:t>
            </a:r>
            <a:endParaRPr lang="en-US" sz="2800" dirty="0"/>
          </a:p>
        </p:txBody>
      </p:sp>
      <p:sp>
        <p:nvSpPr>
          <p:cNvPr id="6" name="Shape 4"/>
          <p:cNvSpPr/>
          <p:nvPr/>
        </p:nvSpPr>
        <p:spPr>
          <a:xfrm>
            <a:off x="762000" y="1295400"/>
            <a:ext cx="508000" cy="38100"/>
          </a:xfrm>
          <a:prstGeom prst="rect">
            <a:avLst/>
          </a:prstGeom>
          <a:solidFill>
            <a:srgbClr val="1A4B8C"/>
          </a:solidFill>
          <a:ln/>
        </p:spPr>
      </p:sp>
      <p:sp>
        <p:nvSpPr>
          <p:cNvPr id="7" name="Text 5"/>
          <p:cNvSpPr/>
          <p:nvPr/>
        </p:nvSpPr>
        <p:spPr>
          <a:xfrm>
            <a:off x="762000" y="1498600"/>
            <a:ext cx="6858000" cy="3302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问题主题分类分布（13个类别，N=3780）</a:t>
            </a:r>
            <a:endParaRPr lang="en-US" sz="1600" dirty="0"/>
          </a:p>
        </p:txBody>
      </p:sp>
      <p:graphicFrame>
        <p:nvGraphicFramePr>
          <p:cNvPr id="8" name="Chart 0" descr=""/>
          <p:cNvGraphicFramePr/>
          <p:nvPr/>
        </p:nvGraphicFramePr>
        <p:xfrm>
          <a:off x="762000" y="1905000"/>
          <a:ext cx="7874000" cy="482600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8890000" y="1498600"/>
            <a:ext cx="0" cy="5334000"/>
          </a:xfrm>
          <a:prstGeom prst="straightConnector1">
            <a:avLst/>
          </a:prstGeom>
          <a:noFill/>
          <a:ln w="12700">
            <a:solidFill>
              <a:srgbClr val="8A9BB0"/>
            </a:solidFill>
            <a:prstDash val="solid"/>
            <a:headEnd type="none"/>
            <a:tailEnd type="none"/>
          </a:ln>
        </p:spPr>
      </p:sp>
      <p:sp>
        <p:nvSpPr>
          <p:cNvPr id="10" name="Text 7"/>
          <p:cNvSpPr/>
          <p:nvPr/>
        </p:nvSpPr>
        <p:spPr>
          <a:xfrm>
            <a:off x="9144000" y="1498600"/>
            <a:ext cx="6096000" cy="3302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核心发现</a:t>
            </a:r>
            <a:endParaRPr lang="en-US" sz="1600" dirty="0"/>
          </a:p>
        </p:txBody>
      </p:sp>
      <p:sp>
        <p:nvSpPr>
          <p:cNvPr id="11" name="Text 8"/>
          <p:cNvSpPr/>
          <p:nvPr/>
        </p:nvSpPr>
        <p:spPr>
          <a:xfrm>
            <a:off x="9144000" y="1968500"/>
            <a:ext cx="6096000" cy="4826000"/>
          </a:xfrm>
          <a:prstGeom prst="rect">
            <a:avLst/>
          </a:prstGeom>
          <a:noFill/>
          <a:ln/>
        </p:spPr>
        <p:txBody>
          <a:bodyPr wrap="square" lIns="0" tIns="0" rIns="0" bIns="0" rtlCol="0" anchor="t"/>
          <a:lstStyle/>
          <a:p>
            <a:pPr>
              <a:lnSpc>
                <a:spcPct val="160000"/>
              </a:lnSpc>
            </a:pPr>
            <a:r>
              <a:rPr lang="en-US" sz="1600" b="1" dirty="0">
                <a:solidFill>
                  <a:srgbClr val="C45C26"/>
                </a:solidFill>
                <a:latin typeface="Quattrocento Sans" pitchFamily="34" charset="0"/>
                <a:ea typeface="Quattrocento Sans" pitchFamily="34" charset="-122"/>
                <a:cs typeface="Quattrocento Sans" pitchFamily="34" charset="-120"/>
              </a:rPr>
              <a:t>头部集中</a:t>
            </a:r>
            <a:endParaRPr lang="en-US" sz="1600" dirty="0"/>
          </a:p>
          <a:p>
            <a:pPr>
              <a:lnSpc>
                <a:spcPct val="160000"/>
              </a:lnSpc>
            </a:pPr>
            <a:r>
              <a:rPr lang="en-US" sz="1600" dirty="0">
                <a:solidFill>
                  <a:srgbClr val="1A1D21"/>
                </a:solidFill>
                <a:latin typeface="Quattrocento Sans" pitchFamily="34" charset="0"/>
                <a:ea typeface="Quattrocento Sans" pitchFamily="34" charset="-122"/>
                <a:cs typeface="Quattrocento Sans" pitchFamily="34" charset="-120"/>
              </a:rPr>
              <a:t>生殖健康科普（31.85%）+ 安全套（22.62%）占据半壁江山</a:t>
            </a:r>
            <a:endParaRPr lang="en-US" sz="1600" dirty="0"/>
          </a:p>
          <a:p>
            <a:pPr>
              <a:lnSpc>
                <a:spcPct val="160000"/>
              </a:lnSpc>
              <a:spcBef>
                <a:spcPts val="800"/>
              </a:spcBef>
            </a:pPr>
            <a:r>
              <a:rPr lang="en-US" sz="1600" b="1" dirty="0">
                <a:solidFill>
                  <a:srgbClr val="C45C26"/>
                </a:solidFill>
                <a:latin typeface="Quattrocento Sans" pitchFamily="34" charset="0"/>
                <a:ea typeface="Quattrocento Sans" pitchFamily="34" charset="-122"/>
                <a:cs typeface="Quattrocento Sans" pitchFamily="34" charset="-120"/>
              </a:rPr>
              <a:t>认知误区</a:t>
            </a:r>
            <a:endParaRPr lang="en-US" sz="1600" dirty="0"/>
          </a:p>
          <a:p>
            <a:pPr>
              <a:lnSpc>
                <a:spcPct val="160000"/>
              </a:lnSpc>
            </a:pPr>
            <a:r>
              <a:rPr lang="en-US" sz="1600" dirty="0">
                <a:solidFill>
                  <a:srgbClr val="1A1D21"/>
                </a:solidFill>
                <a:latin typeface="Quattrocento Sans" pitchFamily="34" charset="0"/>
                <a:ea typeface="Quattrocento Sans" pitchFamily="34" charset="-122"/>
                <a:cs typeface="Quattrocento Sans" pitchFamily="34" charset="-120"/>
              </a:rPr>
              <a:t>体外排精、安全期避孕等不可靠方法讨论热度高</a:t>
            </a:r>
            <a:endParaRPr lang="en-US" sz="1600" dirty="0"/>
          </a:p>
          <a:p>
            <a:pPr>
              <a:lnSpc>
                <a:spcPct val="160000"/>
              </a:lnSpc>
              <a:spcBef>
                <a:spcPts val="800"/>
              </a:spcBef>
            </a:pPr>
            <a:r>
              <a:rPr lang="en-US" sz="1600" b="1" dirty="0">
                <a:solidFill>
                  <a:srgbClr val="C45C26"/>
                </a:solidFill>
                <a:latin typeface="Quattrocento Sans" pitchFamily="34" charset="0"/>
                <a:ea typeface="Quattrocento Sans" pitchFamily="34" charset="-122"/>
                <a:cs typeface="Quattrocento Sans" pitchFamily="34" charset="-120"/>
              </a:rPr>
              <a:t>敏感需求</a:t>
            </a:r>
            <a:endParaRPr lang="en-US" sz="1600" dirty="0"/>
          </a:p>
          <a:p>
            <a:pPr>
              <a:lnSpc>
                <a:spcPct val="160000"/>
              </a:lnSpc>
            </a:pPr>
            <a:r>
              <a:rPr lang="en-US" sz="1600" dirty="0">
                <a:solidFill>
                  <a:srgbClr val="1A1D21"/>
                </a:solidFill>
                <a:latin typeface="Quattrocento Sans" pitchFamily="34" charset="0"/>
                <a:ea typeface="Quattrocento Sans" pitchFamily="34" charset="-122"/>
                <a:cs typeface="Quattrocento Sans" pitchFamily="34" charset="-120"/>
              </a:rPr>
              <a:t>人工流产等高风险话题引发强烈互动</a:t>
            </a:r>
            <a:endParaRPr lang="en-US" sz="1600" dirty="0"/>
          </a:p>
          <a:p>
            <a:pPr>
              <a:lnSpc>
                <a:spcPct val="160000"/>
              </a:lnSpc>
              <a:spcBef>
                <a:spcPts val="800"/>
              </a:spcBef>
            </a:pPr>
            <a:r>
              <a:rPr lang="en-US" sz="1600" b="1" dirty="0">
                <a:solidFill>
                  <a:srgbClr val="C45C26"/>
                </a:solidFill>
                <a:latin typeface="Quattrocento Sans" pitchFamily="34" charset="0"/>
                <a:ea typeface="Quattrocento Sans" pitchFamily="34" charset="-122"/>
                <a:cs typeface="Quattrocento Sans" pitchFamily="34" charset="-120"/>
              </a:rPr>
              <a:t>长尾多元</a:t>
            </a:r>
            <a:endParaRPr lang="en-US" sz="1600" dirty="0"/>
          </a:p>
          <a:p>
            <a:pPr>
              <a:lnSpc>
                <a:spcPct val="160000"/>
              </a:lnSpc>
            </a:pPr>
            <a:r>
              <a:rPr lang="en-US" sz="1600" dirty="0">
                <a:solidFill>
                  <a:srgbClr val="1A1D21"/>
                </a:solidFill>
                <a:latin typeface="Quattrocento Sans" pitchFamily="34" charset="0"/>
                <a:ea typeface="Quattrocento Sans" pitchFamily="34" charset="-122"/>
                <a:cs typeface="Quattrocento Sans" pitchFamily="34" charset="-120"/>
              </a:rPr>
              <a:t>节育器、女用安全套等小众话题亦有需求</a:t>
            </a:r>
            <a:endParaRPr lang="en-US" sz="1600" dirty="0"/>
          </a:p>
        </p:txBody>
      </p:sp>
      <p:sp>
        <p:nvSpPr>
          <p:cNvPr id="12" name="Text 9"/>
          <p:cNvSpPr/>
          <p:nvPr/>
        </p:nvSpPr>
        <p:spPr>
          <a:xfrm>
            <a:off x="762000" y="6858000"/>
            <a:ext cx="7874000" cy="711200"/>
          </a:xfrm>
          <a:prstGeom prst="rect">
            <a:avLst/>
          </a:prstGeom>
          <a:noFill/>
          <a:ln/>
        </p:spPr>
        <p:txBody>
          <a:bodyPr wrap="square" lIns="0" tIns="0" rIns="0" bIns="0" rtlCol="0" anchor="t"/>
          <a:lstStyle/>
          <a:p>
            <a:pPr>
              <a:lnSpc>
                <a:spcPct val="150000"/>
              </a:lnSpc>
            </a:pPr>
            <a:r>
              <a:rPr lang="en-US" sz="1400" dirty="0">
                <a:solidFill>
                  <a:srgbClr val="8A9BB0"/>
                </a:solidFill>
                <a:latin typeface="Quattrocento Sans" pitchFamily="34" charset="0"/>
                <a:ea typeface="Quattrocento Sans" pitchFamily="34" charset="-122"/>
                <a:cs typeface="Quattrocento Sans" pitchFamily="34" charset="-120"/>
              </a:rPr>
              <a:t>分类方法：基于生殖健康核心议题，结合主题模型聚类与领域专家建议，人工标注构建13类分类体系</a:t>
            </a:r>
            <a:endParaRPr lang="en-US" sz="1600" dirty="0"/>
          </a:p>
        </p:txBody>
      </p:sp>
      <p:sp>
        <p:nvSpPr>
          <p:cNvPr id="13" name="Text 10"/>
          <p:cNvSpPr/>
          <p:nvPr/>
        </p:nvSpPr>
        <p:spPr>
          <a:xfrm>
            <a:off x="762000" y="8763000"/>
            <a:ext cx="3810000" cy="254000"/>
          </a:xfrm>
          <a:prstGeom prst="rect">
            <a:avLst/>
          </a:prstGeom>
          <a:noFill/>
          <a:ln/>
        </p:spPr>
        <p:txBody>
          <a:bodyPr wrap="none" lIns="0" tIns="0" rIns="0" bIns="0" rtlCol="0" anchor="ctr"/>
          <a:lstStyle/>
          <a:p>
            <a:pP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南京医科大学</a:t>
            </a:r>
            <a:endParaRPr lang="en-US" sz="1400" dirty="0"/>
          </a:p>
        </p:txBody>
      </p:sp>
      <p:sp>
        <p:nvSpPr>
          <p:cNvPr id="14" name="Text 11"/>
          <p:cNvSpPr/>
          <p:nvPr/>
        </p:nvSpPr>
        <p:spPr>
          <a:xfrm>
            <a:off x="13970000" y="8763000"/>
            <a:ext cx="1524000" cy="254000"/>
          </a:xfrm>
          <a:prstGeom prst="rect">
            <a:avLst/>
          </a:prstGeom>
          <a:noFill/>
          <a:ln/>
        </p:spPr>
        <p:txBody>
          <a:bodyPr wrap="none" lIns="0" tIns="0" rIns="0" bIns="0" rtlCol="0" anchor="ctr"/>
          <a:lstStyle/>
          <a:p>
            <a:pPr algn="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05</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1A4B8C"/>
          </a:solidFill>
          <a:ln/>
        </p:spPr>
      </p:sp>
      <p:sp>
        <p:nvSpPr>
          <p:cNvPr id="3" name="Text 1"/>
          <p:cNvSpPr/>
          <p:nvPr/>
        </p:nvSpPr>
        <p:spPr>
          <a:xfrm>
            <a:off x="508000" y="0"/>
            <a:ext cx="10160000" cy="508000"/>
          </a:xfrm>
          <a:prstGeom prst="rect">
            <a:avLst/>
          </a:prstGeom>
          <a:noFill/>
          <a:ln/>
        </p:spPr>
        <p:txBody>
          <a:bodyPr wrap="none" lIns="0" tIns="0" rIns="0" bIns="0" rtlCol="0" anchor="ctr"/>
          <a:lstStyle/>
          <a:p>
            <a:pP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基于大语言模型的社交媒体青少年生殖健康评论分类分析与问答生成研究</a:t>
            </a:r>
            <a:endParaRPr lang="en-US" sz="1400" dirty="0"/>
          </a:p>
        </p:txBody>
      </p:sp>
      <p:sp>
        <p:nvSpPr>
          <p:cNvPr id="4" name="Text 2"/>
          <p:cNvSpPr/>
          <p:nvPr/>
        </p:nvSpPr>
        <p:spPr>
          <a:xfrm>
            <a:off x="12700000" y="0"/>
            <a:ext cx="3048000" cy="508000"/>
          </a:xfrm>
          <a:prstGeom prst="rect">
            <a:avLst/>
          </a:prstGeom>
          <a:noFill/>
          <a:ln/>
        </p:spPr>
        <p:txBody>
          <a:bodyPr wrap="none" lIns="0" tIns="0" rIns="0" bIns="0" rtlCol="0" anchor="ctr"/>
          <a:lstStyle/>
          <a:p>
            <a:pPr algn="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问答数据集构建方法</a:t>
            </a:r>
            <a:endParaRPr lang="en-US" sz="1400" dirty="0"/>
          </a:p>
        </p:txBody>
      </p:sp>
      <p:sp>
        <p:nvSpPr>
          <p:cNvPr id="5" name="Text 3"/>
          <p:cNvSpPr/>
          <p:nvPr/>
        </p:nvSpPr>
        <p:spPr>
          <a:xfrm>
            <a:off x="762000" y="698500"/>
            <a:ext cx="7620000" cy="508000"/>
          </a:xfrm>
          <a:prstGeom prst="rect">
            <a:avLst/>
          </a:prstGeom>
          <a:noFill/>
          <a:ln/>
        </p:spPr>
        <p:txBody>
          <a:bodyPr wrap="none" lIns="0" tIns="0" rIns="0" bIns="0" rtlCol="0" anchor="ctr"/>
          <a:lstStyle/>
          <a:p>
            <a:pPr>
              <a:lnSpc>
                <a:spcPct val="130000"/>
              </a:lnSpc>
            </a:pPr>
            <a:r>
              <a:rPr lang="en-US" sz="2800" dirty="0">
                <a:solidFill>
                  <a:srgbClr val="1A4B8C"/>
                </a:solidFill>
                <a:latin typeface="QuattrocentoSans" pitchFamily="34" charset="0"/>
                <a:ea typeface="QuattrocentoSans" pitchFamily="34" charset="-122"/>
                <a:cs typeface="QuattrocentoSans" pitchFamily="34" charset="-120"/>
              </a:rPr>
              <a:t>问答数据集构建方法</a:t>
            </a:r>
            <a:endParaRPr lang="en-US" sz="2800" dirty="0"/>
          </a:p>
        </p:txBody>
      </p:sp>
      <p:sp>
        <p:nvSpPr>
          <p:cNvPr id="6" name="Shape 4"/>
          <p:cNvSpPr/>
          <p:nvPr/>
        </p:nvSpPr>
        <p:spPr>
          <a:xfrm>
            <a:off x="762000" y="1295400"/>
            <a:ext cx="508000" cy="38100"/>
          </a:xfrm>
          <a:prstGeom prst="rect">
            <a:avLst/>
          </a:prstGeom>
          <a:solidFill>
            <a:srgbClr val="1A4B8C"/>
          </a:solidFill>
          <a:ln/>
        </p:spPr>
      </p:sp>
      <p:sp>
        <p:nvSpPr>
          <p:cNvPr id="7" name="Text 5"/>
          <p:cNvSpPr/>
          <p:nvPr/>
        </p:nvSpPr>
        <p:spPr>
          <a:xfrm>
            <a:off x="762000" y="1498600"/>
            <a:ext cx="7112000" cy="3302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问题规范化方法</a:t>
            </a:r>
            <a:endParaRPr lang="en-US" sz="1600" dirty="0"/>
          </a:p>
        </p:txBody>
      </p:sp>
      <p:sp>
        <p:nvSpPr>
          <p:cNvPr id="8" name="Shape 6"/>
          <p:cNvSpPr/>
          <p:nvPr/>
        </p:nvSpPr>
        <p:spPr>
          <a:xfrm>
            <a:off x="762000" y="1905000"/>
            <a:ext cx="7112000" cy="3175000"/>
          </a:xfrm>
          <a:prstGeom prst="rect">
            <a:avLst/>
          </a:prstGeom>
          <a:solidFill>
            <a:srgbClr val="FFFFFF"/>
          </a:solidFill>
          <a:ln/>
        </p:spPr>
      </p:sp>
      <p:sp>
        <p:nvSpPr>
          <p:cNvPr id="9" name="Text 7"/>
          <p:cNvSpPr/>
          <p:nvPr/>
        </p:nvSpPr>
        <p:spPr>
          <a:xfrm>
            <a:off x="952500" y="2006600"/>
            <a:ext cx="6731000" cy="2984500"/>
          </a:xfrm>
          <a:prstGeom prst="rect">
            <a:avLst/>
          </a:prstGeom>
          <a:noFill/>
          <a:ln/>
        </p:spPr>
        <p:txBody>
          <a:bodyPr wrap="square" lIns="0" tIns="0" rIns="0" bIns="0" rtlCol="0" anchor="t"/>
          <a:lstStyle/>
          <a:p>
            <a:pPr>
              <a:lnSpc>
                <a:spcPct val="160000"/>
              </a:lnSpc>
            </a:pPr>
            <a:r>
              <a:rPr lang="en-US" sz="1400" b="1" dirty="0">
                <a:solidFill>
                  <a:srgbClr val="1A4B8C"/>
                </a:solidFill>
                <a:latin typeface="Quattrocento Sans" pitchFamily="34" charset="0"/>
                <a:ea typeface="Quattrocento Sans" pitchFamily="34" charset="-122"/>
                <a:cs typeface="Quattrocento Sans" pitchFamily="34" charset="-120"/>
              </a:rPr>
              <a:t>模型：</a:t>
            </a:r>
            <a:pPr>
              <a:lnSpc>
                <a:spcPct val="160000"/>
              </a:lnSpc>
            </a:pPr>
            <a:r>
              <a:rPr lang="en-US" sz="1400" dirty="0">
                <a:solidFill>
                  <a:srgbClr val="1A1D21"/>
                </a:solidFill>
                <a:latin typeface="Quattrocento Sans" pitchFamily="34" charset="0"/>
                <a:ea typeface="Quattrocento Sans" pitchFamily="34" charset="-122"/>
                <a:cs typeface="Quattrocento Sans" pitchFamily="34" charset="-120"/>
              </a:rPr>
              <a:t>DeepSeek-V3.1-Terminus | temperature=0.3, top_p=0.9</a:t>
            </a:r>
            <a:endParaRPr lang="en-US" sz="1600" dirty="0"/>
          </a:p>
          <a:p>
            <a:pPr>
              <a:lnSpc>
                <a:spcPct val="160000"/>
              </a:lnSpc>
            </a:pPr>
            <a:r>
              <a:rPr lang="en-US" sz="1400" b="1" dirty="0">
                <a:solidFill>
                  <a:srgbClr val="1A4B8C"/>
                </a:solidFill>
                <a:latin typeface="Quattrocento Sans" pitchFamily="34" charset="0"/>
                <a:ea typeface="Quattrocento Sans" pitchFamily="34" charset="-122"/>
                <a:cs typeface="Quattrocento Sans" pitchFamily="34" charset="-120"/>
              </a:rPr>
              <a:t>四大目标：</a:t>
            </a:r>
            <a:pPr>
              <a:lnSpc>
                <a:spcPct val="160000"/>
              </a:lnSpc>
            </a:pPr>
            <a:r>
              <a:rPr lang="en-US" sz="1400" dirty="0">
                <a:solidFill>
                  <a:srgbClr val="1A1D21"/>
                </a:solidFill>
                <a:latin typeface="Quattrocento Sans" pitchFamily="34" charset="0"/>
                <a:ea typeface="Quattrocento Sans" pitchFamily="34" charset="-122"/>
                <a:cs typeface="Quattrocento Sans" pitchFamily="34" charset="-120"/>
              </a:rPr>
              <a:t>语义清晰、医学表达规范、保留原始意图、适用于健康教育场景</a:t>
            </a:r>
            <a:endParaRPr lang="en-US" sz="1600" dirty="0"/>
          </a:p>
          <a:p>
            <a:pPr>
              <a:lnSpc>
                <a:spcPct val="160000"/>
              </a:lnSpc>
            </a:pPr>
            <a:r>
              <a:rPr lang="en-US" sz="1400" b="1" dirty="0">
                <a:solidFill>
                  <a:srgbClr val="1A4B8C"/>
                </a:solidFill>
                <a:latin typeface="Quattrocento Sans" pitchFamily="34" charset="0"/>
                <a:ea typeface="Quattrocento Sans" pitchFamily="34" charset="-122"/>
                <a:cs typeface="Quattrocento Sans" pitchFamily="34" charset="-120"/>
              </a:rPr>
              <a:t>四项原则：</a:t>
            </a:r>
            <a:endParaRPr lang="en-US" sz="1600" dirty="0"/>
          </a:p>
          <a:p>
            <a:pPr>
              <a:lnSpc>
                <a:spcPct val="160000"/>
              </a:lnSpc>
            </a:pPr>
            <a:r>
              <a:rPr lang="en-US" sz="1400" dirty="0">
                <a:solidFill>
                  <a:srgbClr val="1A1D21"/>
                </a:solidFill>
                <a:latin typeface="Quattrocento Sans" pitchFamily="34" charset="0"/>
                <a:ea typeface="Quattrocento Sans" pitchFamily="34" charset="-122"/>
                <a:cs typeface="Quattrocento Sans" pitchFamily="34" charset="-120"/>
              </a:rPr>
              <a:t>① 不改变核心语义 ② 不引入额外假设 ③ 减少歧义与模糊 ④ 避免不当暗示性表述</a:t>
            </a:r>
            <a:endParaRPr lang="en-US" sz="1600" dirty="0"/>
          </a:p>
          <a:p>
            <a:pPr>
              <a:lnSpc>
                <a:spcPct val="160000"/>
              </a:lnSpc>
            </a:pPr>
            <a:r>
              <a:rPr lang="en-US" sz="1400" b="1" dirty="0">
                <a:solidFill>
                  <a:srgbClr val="1A4B8C"/>
                </a:solidFill>
                <a:latin typeface="Quattrocento Sans" pitchFamily="34" charset="0"/>
                <a:ea typeface="Quattrocento Sans" pitchFamily="34" charset="-122"/>
                <a:cs typeface="Quattrocento Sans" pitchFamily="34" charset="-120"/>
              </a:rPr>
              <a:t>提示词核心要素：</a:t>
            </a:r>
            <a:pPr>
              <a:lnSpc>
                <a:spcPct val="160000"/>
              </a:lnSpc>
            </a:pPr>
            <a:r>
              <a:rPr lang="en-US" sz="1400" dirty="0">
                <a:solidFill>
                  <a:srgbClr val="1A1D21"/>
                </a:solidFill>
                <a:latin typeface="Quattrocento Sans" pitchFamily="34" charset="0"/>
                <a:ea typeface="Quattrocento Sans" pitchFamily="34" charset="-122"/>
                <a:cs typeface="Quattrocento Sans" pitchFamily="34" charset="-120"/>
              </a:rPr>
              <a:t>角色设定（青少年生殖健康教育专家）+ 任务定义（识别问题/术语规范化/去语境化去噪/科学重写）+ JSON结构化输出（is_question / original_intent / rewritten_question）</a:t>
            </a:r>
            <a:endParaRPr lang="en-US" sz="1600" dirty="0"/>
          </a:p>
        </p:txBody>
      </p:sp>
      <p:sp>
        <p:nvSpPr>
          <p:cNvPr id="10" name="Text 8"/>
          <p:cNvSpPr/>
          <p:nvPr/>
        </p:nvSpPr>
        <p:spPr>
          <a:xfrm>
            <a:off x="8382000" y="1498600"/>
            <a:ext cx="7112000" cy="3302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答案生成方法</a:t>
            </a:r>
            <a:endParaRPr lang="en-US" sz="1600" dirty="0"/>
          </a:p>
        </p:txBody>
      </p:sp>
      <p:sp>
        <p:nvSpPr>
          <p:cNvPr id="11" name="Shape 9"/>
          <p:cNvSpPr/>
          <p:nvPr/>
        </p:nvSpPr>
        <p:spPr>
          <a:xfrm>
            <a:off x="8382000" y="1905000"/>
            <a:ext cx="7112000" cy="3327400"/>
          </a:xfrm>
          <a:prstGeom prst="rect">
            <a:avLst/>
          </a:prstGeom>
          <a:solidFill>
            <a:srgbClr val="FFFFFF"/>
          </a:solidFill>
          <a:ln/>
        </p:spPr>
      </p:sp>
      <p:sp>
        <p:nvSpPr>
          <p:cNvPr id="12" name="Text 10"/>
          <p:cNvSpPr/>
          <p:nvPr/>
        </p:nvSpPr>
        <p:spPr>
          <a:xfrm>
            <a:off x="8572500" y="2006600"/>
            <a:ext cx="6731000" cy="3149600"/>
          </a:xfrm>
          <a:prstGeom prst="rect">
            <a:avLst/>
          </a:prstGeom>
          <a:noFill/>
          <a:ln/>
        </p:spPr>
        <p:txBody>
          <a:bodyPr wrap="square" lIns="0" tIns="0" rIns="0" bIns="0" rtlCol="0" anchor="t"/>
          <a:lstStyle/>
          <a:p>
            <a:pPr>
              <a:lnSpc>
                <a:spcPct val="150000"/>
              </a:lnSpc>
            </a:pPr>
            <a:r>
              <a:rPr lang="en-US" sz="1400" b="1" dirty="0">
                <a:solidFill>
                  <a:srgbClr val="1A4B8C"/>
                </a:solidFill>
                <a:latin typeface="Quattrocento Sans" pitchFamily="34" charset="0"/>
                <a:ea typeface="Quattrocento Sans" pitchFamily="34" charset="-122"/>
                <a:cs typeface="Quattrocento Sans" pitchFamily="34" charset="-120"/>
              </a:rPr>
              <a:t>模型：</a:t>
            </a:r>
            <a:pPr>
              <a:lnSpc>
                <a:spcPct val="150000"/>
              </a:lnSpc>
            </a:pPr>
            <a:r>
              <a:rPr lang="en-US" sz="1400" dirty="0">
                <a:solidFill>
                  <a:srgbClr val="1A1D21"/>
                </a:solidFill>
                <a:latin typeface="Quattrocento Sans" pitchFamily="34" charset="0"/>
                <a:ea typeface="Quattrocento Sans" pitchFamily="34" charset="-122"/>
                <a:cs typeface="Quattrocento Sans" pitchFamily="34" charset="-120"/>
              </a:rPr>
              <a:t>DeepSeek-V3.1-Terminus | temperature=0.3, top_p=0.9</a:t>
            </a:r>
            <a:endParaRPr lang="en-US" sz="1600" dirty="0"/>
          </a:p>
          <a:p>
            <a:pPr>
              <a:lnSpc>
                <a:spcPct val="150000"/>
              </a:lnSpc>
            </a:pPr>
            <a:r>
              <a:rPr lang="en-US" sz="1400" b="1" dirty="0">
                <a:solidFill>
                  <a:srgbClr val="1A4B8C"/>
                </a:solidFill>
                <a:latin typeface="Quattrocento Sans" pitchFamily="34" charset="0"/>
                <a:ea typeface="Quattrocento Sans" pitchFamily="34" charset="-122"/>
                <a:cs typeface="Quattrocento Sans" pitchFamily="34" charset="-120"/>
              </a:rPr>
              <a:t>六大原则（参考Latt等[28]）：</a:t>
            </a:r>
            <a:endParaRPr lang="en-US" sz="1600" dirty="0"/>
          </a:p>
          <a:p>
            <a:pPr>
              <a:lnSpc>
                <a:spcPct val="150000"/>
              </a:lnSpc>
            </a:pPr>
            <a:r>
              <a:rPr lang="en-US" sz="1400" dirty="0">
                <a:solidFill>
                  <a:srgbClr val="1A1D21"/>
                </a:solidFill>
                <a:latin typeface="Quattrocento Sans" pitchFamily="34" charset="0"/>
                <a:ea typeface="Quattrocento Sans" pitchFamily="34" charset="-122"/>
                <a:cs typeface="Quattrocento Sans" pitchFamily="34" charset="-120"/>
              </a:rPr>
              <a:t>① 科学准确 ② 通俗易懂 ③ 温和关怀</a:t>
            </a:r>
            <a:endParaRPr lang="en-US" sz="1600" dirty="0"/>
          </a:p>
          <a:p>
            <a:pPr>
              <a:lnSpc>
                <a:spcPct val="150000"/>
              </a:lnSpc>
            </a:pPr>
            <a:r>
              <a:rPr lang="en-US" sz="1400" dirty="0">
                <a:solidFill>
                  <a:srgbClr val="1A1D21"/>
                </a:solidFill>
                <a:latin typeface="Quattrocento Sans" pitchFamily="34" charset="0"/>
                <a:ea typeface="Quattrocento Sans" pitchFamily="34" charset="-122"/>
                <a:cs typeface="Quattrocento Sans" pitchFamily="34" charset="-120"/>
              </a:rPr>
              <a:t>④ 教育导向 ⑤ 风险警示 ⑥ 结构清晰简洁</a:t>
            </a:r>
            <a:endParaRPr lang="en-US" sz="1600" dirty="0"/>
          </a:p>
          <a:p>
            <a:pPr>
              <a:lnSpc>
                <a:spcPct val="150000"/>
              </a:lnSpc>
            </a:pPr>
            <a:r>
              <a:rPr lang="en-US" sz="1400" b="1" dirty="0">
                <a:solidFill>
                  <a:srgbClr val="1A4B8C"/>
                </a:solidFill>
                <a:latin typeface="Quattrocento Sans" pitchFamily="34" charset="0"/>
                <a:ea typeface="Quattrocento Sans" pitchFamily="34" charset="-122"/>
                <a:cs typeface="Quattrocento Sans" pitchFamily="34" charset="-120"/>
              </a:rPr>
              <a:t>提示词核心要素：</a:t>
            </a:r>
            <a:pPr>
              <a:lnSpc>
                <a:spcPct val="150000"/>
              </a:lnSpc>
            </a:pPr>
            <a:r>
              <a:rPr lang="en-US" sz="1400" dirty="0">
                <a:solidFill>
                  <a:srgbClr val="1A1D21"/>
                </a:solidFill>
                <a:latin typeface="Quattrocento Sans" pitchFamily="34" charset="0"/>
                <a:ea typeface="Quattrocento Sans" pitchFamily="34" charset="-122"/>
                <a:cs typeface="Quattrocento Sans" pitchFamily="34" charset="-120"/>
              </a:rPr>
              <a:t>角色设定（临床经验丰富的青少年生殖健康专家）+ 风格与原则（6项要求）+ 标准化问题输入</a:t>
            </a:r>
            <a:endParaRPr lang="en-US" sz="1600" dirty="0"/>
          </a:p>
        </p:txBody>
      </p:sp>
      <p:sp>
        <p:nvSpPr>
          <p:cNvPr id="13" name="Text 11"/>
          <p:cNvSpPr/>
          <p:nvPr/>
        </p:nvSpPr>
        <p:spPr>
          <a:xfrm>
            <a:off x="762000" y="5270500"/>
            <a:ext cx="14732000" cy="3302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人工修订与专家审核流程</a:t>
            </a:r>
            <a:endParaRPr lang="en-US" sz="1600" dirty="0"/>
          </a:p>
        </p:txBody>
      </p:sp>
      <p:sp>
        <p:nvSpPr>
          <p:cNvPr id="14" name="Shape 12"/>
          <p:cNvSpPr/>
          <p:nvPr/>
        </p:nvSpPr>
        <p:spPr>
          <a:xfrm>
            <a:off x="762000" y="5715000"/>
            <a:ext cx="4699000" cy="1270000"/>
          </a:xfrm>
          <a:prstGeom prst="rect">
            <a:avLst/>
          </a:prstGeom>
          <a:solidFill>
            <a:srgbClr val="FFFFFF"/>
          </a:solidFill>
          <a:ln/>
        </p:spPr>
      </p:sp>
      <p:sp>
        <p:nvSpPr>
          <p:cNvPr id="15" name="Shape 13"/>
          <p:cNvSpPr/>
          <p:nvPr/>
        </p:nvSpPr>
        <p:spPr>
          <a:xfrm>
            <a:off x="952500" y="5867400"/>
            <a:ext cx="304800" cy="304800"/>
          </a:xfrm>
          <a:custGeom>
            <a:avLst/>
            <a:gdLst/>
            <a:ahLst/>
            <a:cxnLst/>
            <a:rect l="l" t="t" r="r" b="b"/>
            <a:pathLst>
              <a:path w="304800" h="304800">
                <a:moveTo>
                  <a:pt x="247650" y="123825"/>
                </a:moveTo>
                <a:cubicBezTo>
                  <a:pt x="247650" y="151150"/>
                  <a:pt x="238780" y="176391"/>
                  <a:pt x="223838" y="196870"/>
                </a:cubicBezTo>
                <a:lnTo>
                  <a:pt x="299204" y="272296"/>
                </a:lnTo>
                <a:cubicBezTo>
                  <a:pt x="306645" y="279737"/>
                  <a:pt x="306645" y="291822"/>
                  <a:pt x="299204" y="299264"/>
                </a:cubicBezTo>
                <a:cubicBezTo>
                  <a:pt x="291763" y="306705"/>
                  <a:pt x="279678" y="306705"/>
                  <a:pt x="272236" y="299264"/>
                </a:cubicBezTo>
                <a:lnTo>
                  <a:pt x="196870" y="223838"/>
                </a:lnTo>
                <a:cubicBezTo>
                  <a:pt x="176391" y="238780"/>
                  <a:pt x="151150" y="247650"/>
                  <a:pt x="123825" y="247650"/>
                </a:cubicBezTo>
                <a:cubicBezTo>
                  <a:pt x="55424" y="247650"/>
                  <a:pt x="0" y="192226"/>
                  <a:pt x="0" y="123825"/>
                </a:cubicBezTo>
                <a:cubicBezTo>
                  <a:pt x="0" y="55424"/>
                  <a:pt x="55424" y="0"/>
                  <a:pt x="123825" y="0"/>
                </a:cubicBezTo>
                <a:cubicBezTo>
                  <a:pt x="192226" y="0"/>
                  <a:pt x="247650" y="55424"/>
                  <a:pt x="247650" y="123825"/>
                </a:cubicBezTo>
                <a:close/>
                <a:moveTo>
                  <a:pt x="123825" y="209550"/>
                </a:moveTo>
                <a:cubicBezTo>
                  <a:pt x="171138" y="209550"/>
                  <a:pt x="209550" y="171138"/>
                  <a:pt x="209550" y="123825"/>
                </a:cubicBezTo>
                <a:cubicBezTo>
                  <a:pt x="209550" y="76512"/>
                  <a:pt x="171138" y="38100"/>
                  <a:pt x="123825" y="38100"/>
                </a:cubicBezTo>
                <a:cubicBezTo>
                  <a:pt x="76512" y="38100"/>
                  <a:pt x="38100" y="76512"/>
                  <a:pt x="38100" y="123825"/>
                </a:cubicBezTo>
                <a:cubicBezTo>
                  <a:pt x="38100" y="171138"/>
                  <a:pt x="76512" y="209550"/>
                  <a:pt x="123825" y="209550"/>
                </a:cubicBezTo>
                <a:close/>
              </a:path>
            </a:pathLst>
          </a:custGeom>
          <a:solidFill>
            <a:srgbClr val="1A4B8C"/>
          </a:solidFill>
          <a:ln/>
        </p:spPr>
      </p:sp>
      <p:sp>
        <p:nvSpPr>
          <p:cNvPr id="16" name="Text 14"/>
          <p:cNvSpPr/>
          <p:nvPr/>
        </p:nvSpPr>
        <p:spPr>
          <a:xfrm>
            <a:off x="1371600" y="5816600"/>
            <a:ext cx="3937000" cy="1041400"/>
          </a:xfrm>
          <a:prstGeom prst="rect">
            <a:avLst/>
          </a:prstGeom>
          <a:noFill/>
          <a:ln/>
        </p:spPr>
        <p:txBody>
          <a:bodyPr wrap="square" lIns="0" tIns="0" rIns="0" bIns="0" rtlCol="0" anchor="t"/>
          <a:lstStyle/>
          <a:p>
            <a:pPr>
              <a:lnSpc>
                <a:spcPct val="150000"/>
              </a:lnSpc>
            </a:pPr>
            <a:r>
              <a:rPr lang="en-US" sz="1400" b="1" dirty="0">
                <a:solidFill>
                  <a:srgbClr val="1A1D21"/>
                </a:solidFill>
                <a:latin typeface="Quattrocento Sans" pitchFamily="34" charset="0"/>
                <a:ea typeface="Quattrocento Sans" pitchFamily="34" charset="-122"/>
                <a:cs typeface="Quattrocento Sans" pitchFamily="34" charset="-120"/>
              </a:rPr>
              <a:t>初审与事实核查</a:t>
            </a:r>
            <a:endParaRPr lang="en-US" sz="1600" dirty="0"/>
          </a:p>
          <a:p>
            <a:pPr>
              <a:lnSpc>
                <a:spcPct val="150000"/>
              </a:lnSpc>
            </a:pPr>
            <a:r>
              <a:rPr lang="en-US" sz="1400" dirty="0">
                <a:solidFill>
                  <a:srgbClr val="1A1D21"/>
                </a:solidFill>
                <a:latin typeface="Quattrocento Sans" pitchFamily="34" charset="0"/>
                <a:ea typeface="Quattrocento Sans" pitchFamily="34" charset="-122"/>
                <a:cs typeface="Quattrocento Sans" pitchFamily="34" charset="-120"/>
              </a:rPr>
              <a:t>对照WHO指南和国家卫健委技术规范，逐条核实关键信息点，修正事实性错误</a:t>
            </a:r>
            <a:endParaRPr lang="en-US" sz="1600" dirty="0"/>
          </a:p>
        </p:txBody>
      </p:sp>
      <p:sp>
        <p:nvSpPr>
          <p:cNvPr id="17" name="Shape 15"/>
          <p:cNvSpPr/>
          <p:nvPr/>
        </p:nvSpPr>
        <p:spPr>
          <a:xfrm>
            <a:off x="5715000" y="5715000"/>
            <a:ext cx="4699000" cy="1270000"/>
          </a:xfrm>
          <a:prstGeom prst="rect">
            <a:avLst/>
          </a:prstGeom>
          <a:solidFill>
            <a:srgbClr val="FFFFFF"/>
          </a:solidFill>
          <a:ln/>
        </p:spPr>
      </p:sp>
      <p:sp>
        <p:nvSpPr>
          <p:cNvPr id="18" name="Shape 16"/>
          <p:cNvSpPr/>
          <p:nvPr/>
        </p:nvSpPr>
        <p:spPr>
          <a:xfrm>
            <a:off x="5905500" y="5867400"/>
            <a:ext cx="304800" cy="304800"/>
          </a:xfrm>
          <a:custGeom>
            <a:avLst/>
            <a:gdLst/>
            <a:ahLst/>
            <a:cxnLst/>
            <a:rect l="l" t="t" r="r" b="b"/>
            <a:pathLst>
              <a:path w="304800" h="304800">
                <a:moveTo>
                  <a:pt x="210086" y="12621"/>
                </a:moveTo>
                <a:lnTo>
                  <a:pt x="183356" y="39350"/>
                </a:lnTo>
                <a:lnTo>
                  <a:pt x="265450" y="121444"/>
                </a:lnTo>
                <a:lnTo>
                  <a:pt x="292179" y="94714"/>
                </a:lnTo>
                <a:cubicBezTo>
                  <a:pt x="300276" y="86678"/>
                  <a:pt x="304800" y="75724"/>
                  <a:pt x="304800" y="64294"/>
                </a:cubicBezTo>
                <a:cubicBezTo>
                  <a:pt x="304800" y="52864"/>
                  <a:pt x="300276" y="41910"/>
                  <a:pt x="292179" y="33873"/>
                </a:cubicBezTo>
                <a:lnTo>
                  <a:pt x="270927" y="12621"/>
                </a:lnTo>
                <a:cubicBezTo>
                  <a:pt x="262890" y="4524"/>
                  <a:pt x="251936" y="0"/>
                  <a:pt x="240506" y="0"/>
                </a:cubicBezTo>
                <a:cubicBezTo>
                  <a:pt x="229076" y="0"/>
                  <a:pt x="218123" y="4524"/>
                  <a:pt x="210086" y="12621"/>
                </a:cubicBezTo>
                <a:close/>
                <a:moveTo>
                  <a:pt x="163175" y="59531"/>
                </a:moveTo>
                <a:lnTo>
                  <a:pt x="35064" y="187583"/>
                </a:lnTo>
                <a:cubicBezTo>
                  <a:pt x="28694" y="193953"/>
                  <a:pt x="24051" y="201930"/>
                  <a:pt x="21610" y="210622"/>
                </a:cubicBezTo>
                <a:lnTo>
                  <a:pt x="536" y="286703"/>
                </a:lnTo>
                <a:cubicBezTo>
                  <a:pt x="-833" y="291644"/>
                  <a:pt x="536" y="297001"/>
                  <a:pt x="4227" y="300633"/>
                </a:cubicBezTo>
                <a:cubicBezTo>
                  <a:pt x="7918" y="304264"/>
                  <a:pt x="13216" y="305693"/>
                  <a:pt x="18157" y="304324"/>
                </a:cubicBezTo>
                <a:lnTo>
                  <a:pt x="94238" y="283190"/>
                </a:lnTo>
                <a:cubicBezTo>
                  <a:pt x="102930" y="280749"/>
                  <a:pt x="110847" y="276165"/>
                  <a:pt x="117277" y="269736"/>
                </a:cubicBezTo>
                <a:lnTo>
                  <a:pt x="245269" y="141625"/>
                </a:lnTo>
                <a:lnTo>
                  <a:pt x="163175" y="59531"/>
                </a:lnTo>
                <a:close/>
              </a:path>
            </a:pathLst>
          </a:custGeom>
          <a:solidFill>
            <a:srgbClr val="1A4B8C"/>
          </a:solidFill>
          <a:ln/>
        </p:spPr>
      </p:sp>
      <p:sp>
        <p:nvSpPr>
          <p:cNvPr id="19" name="Text 17"/>
          <p:cNvSpPr/>
          <p:nvPr/>
        </p:nvSpPr>
        <p:spPr>
          <a:xfrm>
            <a:off x="6324600" y="5816600"/>
            <a:ext cx="3937000" cy="1041400"/>
          </a:xfrm>
          <a:prstGeom prst="rect">
            <a:avLst/>
          </a:prstGeom>
          <a:noFill/>
          <a:ln/>
        </p:spPr>
        <p:txBody>
          <a:bodyPr wrap="square" lIns="0" tIns="0" rIns="0" bIns="0" rtlCol="0" anchor="t"/>
          <a:lstStyle/>
          <a:p>
            <a:pPr>
              <a:lnSpc>
                <a:spcPct val="150000"/>
              </a:lnSpc>
            </a:pPr>
            <a:r>
              <a:rPr lang="en-US" sz="1400" b="1" dirty="0">
                <a:solidFill>
                  <a:srgbClr val="1A1D21"/>
                </a:solidFill>
                <a:latin typeface="Quattrocento Sans" pitchFamily="34" charset="0"/>
                <a:ea typeface="Quattrocento Sans" pitchFamily="34" charset="-122"/>
                <a:cs typeface="Quattrocento Sans" pitchFamily="34" charset="-120"/>
              </a:rPr>
              <a:t>语言与语调润色</a:t>
            </a:r>
            <a:endParaRPr lang="en-US" sz="1600" dirty="0"/>
          </a:p>
          <a:p>
            <a:pPr>
              <a:lnSpc>
                <a:spcPct val="150000"/>
              </a:lnSpc>
            </a:pPr>
            <a:r>
              <a:rPr lang="en-US" sz="1400" dirty="0">
                <a:solidFill>
                  <a:srgbClr val="1A1D21"/>
                </a:solidFill>
                <a:latin typeface="Quattrocento Sans" pitchFamily="34" charset="0"/>
                <a:ea typeface="Quattrocento Sans" pitchFamily="34" charset="-122"/>
                <a:cs typeface="Quattrocento Sans" pitchFamily="34" charset="-120"/>
              </a:rPr>
              <a:t>润色语言使之通俗易懂、表述温和，调整行文结构确保逻辑流畅</a:t>
            </a:r>
            <a:endParaRPr lang="en-US" sz="1600" dirty="0"/>
          </a:p>
        </p:txBody>
      </p:sp>
      <p:sp>
        <p:nvSpPr>
          <p:cNvPr id="20" name="Shape 18"/>
          <p:cNvSpPr/>
          <p:nvPr/>
        </p:nvSpPr>
        <p:spPr>
          <a:xfrm>
            <a:off x="10668000" y="5715000"/>
            <a:ext cx="4826000" cy="1270000"/>
          </a:xfrm>
          <a:prstGeom prst="rect">
            <a:avLst/>
          </a:prstGeom>
          <a:solidFill>
            <a:srgbClr val="FFFFFF"/>
          </a:solidFill>
          <a:ln/>
        </p:spPr>
      </p:sp>
      <p:sp>
        <p:nvSpPr>
          <p:cNvPr id="21" name="Shape 19"/>
          <p:cNvSpPr/>
          <p:nvPr/>
        </p:nvSpPr>
        <p:spPr>
          <a:xfrm>
            <a:off x="10877550" y="5867400"/>
            <a:ext cx="266700" cy="304800"/>
          </a:xfrm>
          <a:custGeom>
            <a:avLst/>
            <a:gdLst/>
            <a:ahLst/>
            <a:cxnLst/>
            <a:rect l="l" t="t" r="r" b="b"/>
            <a:pathLst>
              <a:path w="266700" h="304800">
                <a:moveTo>
                  <a:pt x="133350" y="4763"/>
                </a:moveTo>
                <a:cubicBezTo>
                  <a:pt x="93923" y="4763"/>
                  <a:pt x="61913" y="36773"/>
                  <a:pt x="61912" y="76200"/>
                </a:cubicBezTo>
                <a:cubicBezTo>
                  <a:pt x="61912" y="115627"/>
                  <a:pt x="93923" y="147638"/>
                  <a:pt x="133350" y="147638"/>
                </a:cubicBezTo>
                <a:cubicBezTo>
                  <a:pt x="172777" y="147638"/>
                  <a:pt x="204787" y="115627"/>
                  <a:pt x="204787" y="76200"/>
                </a:cubicBezTo>
                <a:cubicBezTo>
                  <a:pt x="204787" y="36773"/>
                  <a:pt x="172777" y="4763"/>
                  <a:pt x="133350" y="4763"/>
                </a:cubicBezTo>
                <a:close/>
                <a:moveTo>
                  <a:pt x="169069" y="190976"/>
                </a:moveTo>
                <a:cubicBezTo>
                  <a:pt x="165854" y="190679"/>
                  <a:pt x="162520" y="190500"/>
                  <a:pt x="159187" y="190500"/>
                </a:cubicBezTo>
                <a:lnTo>
                  <a:pt x="107454" y="190500"/>
                </a:lnTo>
                <a:cubicBezTo>
                  <a:pt x="104120" y="190500"/>
                  <a:pt x="100846" y="190679"/>
                  <a:pt x="97572" y="190976"/>
                </a:cubicBezTo>
                <a:lnTo>
                  <a:pt x="97572" y="231160"/>
                </a:lnTo>
                <a:cubicBezTo>
                  <a:pt x="107394" y="235684"/>
                  <a:pt x="114240" y="245626"/>
                  <a:pt x="114240" y="257115"/>
                </a:cubicBezTo>
                <a:cubicBezTo>
                  <a:pt x="114240" y="272891"/>
                  <a:pt x="101441" y="285690"/>
                  <a:pt x="85665" y="285690"/>
                </a:cubicBezTo>
                <a:cubicBezTo>
                  <a:pt x="69890" y="285690"/>
                  <a:pt x="57090" y="272891"/>
                  <a:pt x="57090" y="257115"/>
                </a:cubicBezTo>
                <a:cubicBezTo>
                  <a:pt x="57090" y="245566"/>
                  <a:pt x="63937" y="235625"/>
                  <a:pt x="73759" y="231160"/>
                </a:cubicBezTo>
                <a:lnTo>
                  <a:pt x="73759" y="196394"/>
                </a:lnTo>
                <a:cubicBezTo>
                  <a:pt x="36314" y="210145"/>
                  <a:pt x="9525" y="246221"/>
                  <a:pt x="9525" y="288488"/>
                </a:cubicBezTo>
                <a:cubicBezTo>
                  <a:pt x="9525" y="297478"/>
                  <a:pt x="16847" y="304800"/>
                  <a:pt x="25837" y="304800"/>
                </a:cubicBezTo>
                <a:lnTo>
                  <a:pt x="240804" y="304800"/>
                </a:lnTo>
                <a:cubicBezTo>
                  <a:pt x="249793" y="304800"/>
                  <a:pt x="257115" y="297478"/>
                  <a:pt x="257115" y="288488"/>
                </a:cubicBezTo>
                <a:cubicBezTo>
                  <a:pt x="257115" y="246221"/>
                  <a:pt x="230326" y="210205"/>
                  <a:pt x="192822" y="196453"/>
                </a:cubicBezTo>
                <a:lnTo>
                  <a:pt x="192822" y="218718"/>
                </a:lnTo>
                <a:cubicBezTo>
                  <a:pt x="206692" y="223599"/>
                  <a:pt x="216634" y="236875"/>
                  <a:pt x="216634" y="252413"/>
                </a:cubicBezTo>
                <a:lnTo>
                  <a:pt x="216634" y="271463"/>
                </a:lnTo>
                <a:cubicBezTo>
                  <a:pt x="216634" y="278011"/>
                  <a:pt x="211276" y="283369"/>
                  <a:pt x="204728" y="283369"/>
                </a:cubicBezTo>
                <a:cubicBezTo>
                  <a:pt x="198180" y="283369"/>
                  <a:pt x="192822" y="278011"/>
                  <a:pt x="192822" y="271463"/>
                </a:cubicBezTo>
                <a:lnTo>
                  <a:pt x="192822" y="252413"/>
                </a:lnTo>
                <a:cubicBezTo>
                  <a:pt x="192822" y="245864"/>
                  <a:pt x="187464" y="240506"/>
                  <a:pt x="180915" y="240506"/>
                </a:cubicBezTo>
                <a:cubicBezTo>
                  <a:pt x="174367" y="240506"/>
                  <a:pt x="169009" y="245864"/>
                  <a:pt x="169009" y="252413"/>
                </a:cubicBezTo>
                <a:lnTo>
                  <a:pt x="169009" y="271463"/>
                </a:lnTo>
                <a:cubicBezTo>
                  <a:pt x="169009" y="278011"/>
                  <a:pt x="163651" y="283369"/>
                  <a:pt x="157103" y="283369"/>
                </a:cubicBezTo>
                <a:cubicBezTo>
                  <a:pt x="150555" y="283369"/>
                  <a:pt x="145197" y="278011"/>
                  <a:pt x="145197" y="271463"/>
                </a:cubicBezTo>
                <a:lnTo>
                  <a:pt x="145197" y="252413"/>
                </a:lnTo>
                <a:cubicBezTo>
                  <a:pt x="145197" y="236875"/>
                  <a:pt x="155138" y="223659"/>
                  <a:pt x="169009" y="218718"/>
                </a:cubicBezTo>
                <a:lnTo>
                  <a:pt x="169009" y="190976"/>
                </a:lnTo>
                <a:close/>
              </a:path>
            </a:pathLst>
          </a:custGeom>
          <a:solidFill>
            <a:srgbClr val="1A4B8C"/>
          </a:solidFill>
          <a:ln/>
        </p:spPr>
      </p:sp>
      <p:sp>
        <p:nvSpPr>
          <p:cNvPr id="22" name="Text 20"/>
          <p:cNvSpPr/>
          <p:nvPr/>
        </p:nvSpPr>
        <p:spPr>
          <a:xfrm>
            <a:off x="11277600" y="5816600"/>
            <a:ext cx="4064000" cy="1041400"/>
          </a:xfrm>
          <a:prstGeom prst="rect">
            <a:avLst/>
          </a:prstGeom>
          <a:noFill/>
          <a:ln/>
        </p:spPr>
        <p:txBody>
          <a:bodyPr wrap="square" lIns="0" tIns="0" rIns="0" bIns="0" rtlCol="0" anchor="t"/>
          <a:lstStyle/>
          <a:p>
            <a:pPr>
              <a:lnSpc>
                <a:spcPct val="150000"/>
              </a:lnSpc>
            </a:pPr>
            <a:r>
              <a:rPr lang="en-US" sz="1400" b="1" dirty="0">
                <a:solidFill>
                  <a:srgbClr val="1A1D21"/>
                </a:solidFill>
                <a:latin typeface="Quattrocento Sans" pitchFamily="34" charset="0"/>
                <a:ea typeface="Quattrocento Sans" pitchFamily="34" charset="-122"/>
                <a:cs typeface="Quattrocento Sans" pitchFamily="34" charset="-120"/>
              </a:rPr>
              <a:t>专家审核（外部医生）</a:t>
            </a:r>
            <a:endParaRPr lang="en-US" sz="1600" dirty="0"/>
          </a:p>
          <a:p>
            <a:pPr>
              <a:lnSpc>
                <a:spcPct val="150000"/>
              </a:lnSpc>
            </a:pPr>
            <a:r>
              <a:rPr lang="en-US" sz="1400" dirty="0">
                <a:solidFill>
                  <a:srgbClr val="1A1D21"/>
                </a:solidFill>
                <a:latin typeface="Quattrocento Sans" pitchFamily="34" charset="0"/>
                <a:ea typeface="Quattrocento Sans" pitchFamily="34" charset="-122"/>
                <a:cs typeface="Quattrocento Sans" pitchFamily="34" charset="-120"/>
              </a:rPr>
              <a:t>至少2名副主任医师以上妇产科专家，六维度3分制Likert量表独立打分</a:t>
            </a:r>
            <a:endParaRPr lang="en-US" sz="1600" dirty="0"/>
          </a:p>
        </p:txBody>
      </p:sp>
      <p:sp>
        <p:nvSpPr>
          <p:cNvPr id="23" name="Text 21"/>
          <p:cNvSpPr/>
          <p:nvPr/>
        </p:nvSpPr>
        <p:spPr>
          <a:xfrm>
            <a:off x="762000" y="7175500"/>
            <a:ext cx="14732000" cy="330200"/>
          </a:xfrm>
          <a:prstGeom prst="rect">
            <a:avLst/>
          </a:prstGeom>
          <a:noFill/>
          <a:ln/>
        </p:spPr>
        <p:txBody>
          <a:bodyPr wrap="square" lIns="0" tIns="0" rIns="0" bIns="0" rtlCol="0" anchor="ctr"/>
          <a:lstStyle/>
          <a:p>
            <a:pPr>
              <a:lnSpc>
                <a:spcPct val="100000"/>
              </a:lnSpc>
            </a:pPr>
            <a:r>
              <a:rPr lang="en-US" sz="1400" dirty="0">
                <a:solidFill>
                  <a:srgbClr val="8A9BB0"/>
                </a:solidFill>
                <a:latin typeface="Quattrocento Sans" pitchFamily="34" charset="0"/>
                <a:ea typeface="Quattrocento Sans" pitchFamily="34" charset="-122"/>
                <a:cs typeface="Quattrocento Sans" pitchFamily="34" charset="-120"/>
              </a:rPr>
              <a:t>注：模型生成答案仅作为初版，所有问答对须经人工修订和专家审核方可纳入数据集；六维度评分均≥2分视为合格（详见下页）</a:t>
            </a:r>
            <a:endParaRPr lang="en-US" sz="1600" dirty="0"/>
          </a:p>
        </p:txBody>
      </p:sp>
      <p:sp>
        <p:nvSpPr>
          <p:cNvPr id="24" name="Text 22"/>
          <p:cNvSpPr/>
          <p:nvPr/>
        </p:nvSpPr>
        <p:spPr>
          <a:xfrm>
            <a:off x="762000" y="7594600"/>
            <a:ext cx="3810000" cy="330200"/>
          </a:xfrm>
          <a:prstGeom prst="rect">
            <a:avLst/>
          </a:prstGeom>
          <a:noFill/>
          <a:ln/>
        </p:spPr>
        <p:txBody>
          <a:bodyPr wrap="none" lIns="0" tIns="0" rIns="0" bIns="0" rtlCol="0" anchor="ctr"/>
          <a:lstStyle/>
          <a:p>
            <a:pPr>
              <a:lnSpc>
                <a:spcPct val="100000"/>
              </a:lnSpc>
            </a:pPr>
            <a:r>
              <a:rPr lang="en-US" sz="1600" b="1" dirty="0">
                <a:solidFill>
                  <a:srgbClr val="1A4B8C"/>
                </a:solidFill>
                <a:latin typeface="Quattrocento Sans" pitchFamily="34" charset="0"/>
                <a:ea typeface="Quattrocento Sans" pitchFamily="34" charset="-122"/>
                <a:cs typeface="Quattrocento Sans" pitchFamily="34" charset="-120"/>
              </a:rPr>
              <a:t>规范化前后示例</a:t>
            </a:r>
            <a:endParaRPr lang="en-US" sz="1600" dirty="0"/>
          </a:p>
        </p:txBody>
      </p:sp>
      <p:sp>
        <p:nvSpPr>
          <p:cNvPr id="25" name="Text 23"/>
          <p:cNvSpPr/>
          <p:nvPr/>
        </p:nvSpPr>
        <p:spPr>
          <a:xfrm>
            <a:off x="762000" y="7975600"/>
            <a:ext cx="7112000" cy="609600"/>
          </a:xfrm>
          <a:prstGeom prst="rect">
            <a:avLst/>
          </a:prstGeom>
          <a:noFill/>
          <a:ln/>
        </p:spPr>
        <p:txBody>
          <a:bodyPr wrap="square" lIns="0" tIns="0" rIns="0" bIns="0" rtlCol="0" anchor="t"/>
          <a:lstStyle/>
          <a:p>
            <a:pPr>
              <a:lnSpc>
                <a:spcPct val="140000"/>
              </a:lnSpc>
            </a:pPr>
            <a:r>
              <a:rPr lang="en-US" sz="1300" dirty="0">
                <a:solidFill>
                  <a:srgbClr val="C45C26"/>
                </a:solidFill>
                <a:latin typeface="Quattrocento Sans" pitchFamily="34" charset="0"/>
                <a:ea typeface="Quattrocento Sans" pitchFamily="34" charset="-122"/>
                <a:cs typeface="Quattrocento Sans" pitchFamily="34" charset="-120"/>
              </a:rPr>
              <a:t>原始：</a:t>
            </a:r>
            <a:pPr>
              <a:lnSpc>
                <a:spcPct val="140000"/>
              </a:lnSpc>
            </a:pPr>
            <a:r>
              <a:rPr lang="en-US" sz="1300" dirty="0">
                <a:solidFill>
                  <a:srgbClr val="1A1D21"/>
                </a:solidFill>
                <a:latin typeface="Quattrocento Sans" pitchFamily="34" charset="0"/>
                <a:ea typeface="Quattrocento Sans" pitchFamily="34" charset="-122"/>
                <a:cs typeface="Quattrocento Sans" pitchFamily="34" charset="-120"/>
              </a:rPr>
              <a:t>"堵住了出口，蝌蚪不会越来越多，爆蛋吗？"</a:t>
            </a:r>
            <a:endParaRPr lang="en-US" sz="1600" dirty="0"/>
          </a:p>
          <a:p>
            <a:pPr>
              <a:lnSpc>
                <a:spcPct val="140000"/>
              </a:lnSpc>
            </a:pPr>
            <a:r>
              <a:rPr lang="en-US" sz="1300" dirty="0">
                <a:solidFill>
                  <a:srgbClr val="1A4B8C"/>
                </a:solidFill>
                <a:latin typeface="Quattrocento Sans" pitchFamily="34" charset="0"/>
                <a:ea typeface="Quattrocento Sans" pitchFamily="34" charset="-122"/>
                <a:cs typeface="Quattrocento Sans" pitchFamily="34" charset="-120"/>
              </a:rPr>
              <a:t>规范：</a:t>
            </a:r>
            <a:pPr>
              <a:lnSpc>
                <a:spcPct val="140000"/>
              </a:lnSpc>
            </a:pPr>
            <a:r>
              <a:rPr lang="en-US" sz="1300" dirty="0">
                <a:solidFill>
                  <a:srgbClr val="1A1D21"/>
                </a:solidFill>
                <a:latin typeface="Quattrocento Sans" pitchFamily="34" charset="0"/>
                <a:ea typeface="Quattrocento Sans" pitchFamily="34" charset="-122"/>
                <a:cs typeface="Quattrocento Sans" pitchFamily="34" charset="-120"/>
              </a:rPr>
              <a:t>"男性输精管结扎术后，精子积聚是否会导致睾丸肿胀？"</a:t>
            </a:r>
            <a:endParaRPr lang="en-US" sz="1600" dirty="0"/>
          </a:p>
        </p:txBody>
      </p:sp>
      <p:sp>
        <p:nvSpPr>
          <p:cNvPr id="26" name="Text 24"/>
          <p:cNvSpPr/>
          <p:nvPr/>
        </p:nvSpPr>
        <p:spPr>
          <a:xfrm>
            <a:off x="8382000" y="7975600"/>
            <a:ext cx="7112000" cy="609600"/>
          </a:xfrm>
          <a:prstGeom prst="rect">
            <a:avLst/>
          </a:prstGeom>
          <a:noFill/>
          <a:ln/>
        </p:spPr>
        <p:txBody>
          <a:bodyPr wrap="square" lIns="0" tIns="0" rIns="0" bIns="0" rtlCol="0" anchor="t"/>
          <a:lstStyle/>
          <a:p>
            <a:pPr>
              <a:lnSpc>
                <a:spcPct val="140000"/>
              </a:lnSpc>
            </a:pPr>
            <a:r>
              <a:rPr lang="en-US" sz="1300" dirty="0">
                <a:solidFill>
                  <a:srgbClr val="C45C26"/>
                </a:solidFill>
                <a:latin typeface="Quattrocento Sans" pitchFamily="34" charset="0"/>
                <a:ea typeface="Quattrocento Sans" pitchFamily="34" charset="-122"/>
                <a:cs typeface="Quattrocento Sans" pitchFamily="34" charset="-120"/>
              </a:rPr>
              <a:t>原始：</a:t>
            </a:r>
            <a:pPr>
              <a:lnSpc>
                <a:spcPct val="140000"/>
              </a:lnSpc>
            </a:pPr>
            <a:r>
              <a:rPr lang="en-US" sz="1300" dirty="0">
                <a:solidFill>
                  <a:srgbClr val="1A1D21"/>
                </a:solidFill>
                <a:latin typeface="Quattrocento Sans" pitchFamily="34" charset="0"/>
                <a:ea typeface="Quattrocento Sans" pitchFamily="34" charset="-122"/>
                <a:cs typeface="Quattrocento Sans" pitchFamily="34" charset="-120"/>
              </a:rPr>
              <a:t>"我听说男生都有:换蛋期。是真的吗？"</a:t>
            </a:r>
            <a:endParaRPr lang="en-US" sz="1600" dirty="0"/>
          </a:p>
          <a:p>
            <a:pPr>
              <a:lnSpc>
                <a:spcPct val="140000"/>
              </a:lnSpc>
            </a:pPr>
            <a:r>
              <a:rPr lang="en-US" sz="1300" dirty="0">
                <a:solidFill>
                  <a:srgbClr val="1A4B8C"/>
                </a:solidFill>
                <a:latin typeface="Quattrocento Sans" pitchFamily="34" charset="0"/>
                <a:ea typeface="Quattrocento Sans" pitchFamily="34" charset="-122"/>
                <a:cs typeface="Quattrocento Sans" pitchFamily="34" charset="-120"/>
              </a:rPr>
              <a:t>规范：</a:t>
            </a:r>
            <a:pPr>
              <a:lnSpc>
                <a:spcPct val="140000"/>
              </a:lnSpc>
            </a:pPr>
            <a:r>
              <a:rPr lang="en-US" sz="1300" dirty="0">
                <a:solidFill>
                  <a:srgbClr val="1A1D21"/>
                </a:solidFill>
                <a:latin typeface="Quattrocento Sans" pitchFamily="34" charset="0"/>
                <a:ea typeface="Quattrocento Sans" pitchFamily="34" charset="-122"/>
                <a:cs typeface="Quattrocento Sans" pitchFamily="34" charset="-120"/>
              </a:rPr>
              <a:t>"男性是否存在'换蛋期'这一生理现象？"</a:t>
            </a:r>
            <a:endParaRPr lang="en-US" sz="1600" dirty="0"/>
          </a:p>
        </p:txBody>
      </p:sp>
      <p:sp>
        <p:nvSpPr>
          <p:cNvPr id="27" name="Text 25"/>
          <p:cNvSpPr/>
          <p:nvPr/>
        </p:nvSpPr>
        <p:spPr>
          <a:xfrm>
            <a:off x="762000" y="8763000"/>
            <a:ext cx="3810000" cy="254000"/>
          </a:xfrm>
          <a:prstGeom prst="rect">
            <a:avLst/>
          </a:prstGeom>
          <a:noFill/>
          <a:ln/>
        </p:spPr>
        <p:txBody>
          <a:bodyPr wrap="none" lIns="0" tIns="0" rIns="0" bIns="0" rtlCol="0" anchor="ctr"/>
          <a:lstStyle/>
          <a:p>
            <a:pP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南京医科大学</a:t>
            </a:r>
            <a:endParaRPr lang="en-US" sz="1400" dirty="0"/>
          </a:p>
        </p:txBody>
      </p:sp>
      <p:sp>
        <p:nvSpPr>
          <p:cNvPr id="28" name="Text 26"/>
          <p:cNvSpPr/>
          <p:nvPr/>
        </p:nvSpPr>
        <p:spPr>
          <a:xfrm>
            <a:off x="13970000" y="8763000"/>
            <a:ext cx="1524000" cy="254000"/>
          </a:xfrm>
          <a:prstGeom prst="rect">
            <a:avLst/>
          </a:prstGeom>
          <a:noFill/>
          <a:ln/>
        </p:spPr>
        <p:txBody>
          <a:bodyPr wrap="none" lIns="0" tIns="0" rIns="0" bIns="0" rtlCol="0" anchor="ctr"/>
          <a:lstStyle/>
          <a:p>
            <a:pPr algn="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06</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1A4B8C"/>
          </a:solidFill>
          <a:ln/>
        </p:spPr>
      </p:sp>
      <p:sp>
        <p:nvSpPr>
          <p:cNvPr id="3" name="Text 1"/>
          <p:cNvSpPr/>
          <p:nvPr/>
        </p:nvSpPr>
        <p:spPr>
          <a:xfrm>
            <a:off x="508000" y="0"/>
            <a:ext cx="10160000" cy="508000"/>
          </a:xfrm>
          <a:prstGeom prst="rect">
            <a:avLst/>
          </a:prstGeom>
          <a:noFill/>
          <a:ln/>
        </p:spPr>
        <p:txBody>
          <a:bodyPr wrap="none" lIns="0" tIns="0" rIns="0" bIns="0" rtlCol="0" anchor="ctr"/>
          <a:lstStyle/>
          <a:p>
            <a:pP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基于大语言模型的社交媒体青少年生殖健康评论分类分析与问答生成研究</a:t>
            </a:r>
            <a:endParaRPr lang="en-US" sz="1400" dirty="0"/>
          </a:p>
        </p:txBody>
      </p:sp>
      <p:sp>
        <p:nvSpPr>
          <p:cNvPr id="4" name="Text 2"/>
          <p:cNvSpPr/>
          <p:nvPr/>
        </p:nvSpPr>
        <p:spPr>
          <a:xfrm>
            <a:off x="12700000" y="0"/>
            <a:ext cx="3048000" cy="508000"/>
          </a:xfrm>
          <a:prstGeom prst="rect">
            <a:avLst/>
          </a:prstGeom>
          <a:noFill/>
          <a:ln/>
        </p:spPr>
        <p:txBody>
          <a:bodyPr wrap="none" lIns="0" tIns="0" rIns="0" bIns="0" rtlCol="0" anchor="ctr"/>
          <a:lstStyle/>
          <a:p>
            <a:pPr algn="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数据集质量评估方法与结果</a:t>
            </a:r>
            <a:endParaRPr lang="en-US" sz="1400" dirty="0"/>
          </a:p>
        </p:txBody>
      </p:sp>
      <p:sp>
        <p:nvSpPr>
          <p:cNvPr id="5" name="Text 3"/>
          <p:cNvSpPr/>
          <p:nvPr/>
        </p:nvSpPr>
        <p:spPr>
          <a:xfrm>
            <a:off x="762000" y="698500"/>
            <a:ext cx="8890000" cy="508000"/>
          </a:xfrm>
          <a:prstGeom prst="rect">
            <a:avLst/>
          </a:prstGeom>
          <a:noFill/>
          <a:ln/>
        </p:spPr>
        <p:txBody>
          <a:bodyPr wrap="none" lIns="0" tIns="0" rIns="0" bIns="0" rtlCol="0" anchor="ctr"/>
          <a:lstStyle/>
          <a:p>
            <a:pPr>
              <a:lnSpc>
                <a:spcPct val="130000"/>
              </a:lnSpc>
            </a:pPr>
            <a:r>
              <a:rPr lang="en-US" sz="2800" dirty="0">
                <a:solidFill>
                  <a:srgbClr val="1A4B8C"/>
                </a:solidFill>
                <a:latin typeface="QuattrocentoSans" pitchFamily="34" charset="0"/>
                <a:ea typeface="QuattrocentoSans" pitchFamily="34" charset="-122"/>
                <a:cs typeface="QuattrocentoSans" pitchFamily="34" charset="-120"/>
              </a:rPr>
              <a:t>数据集质量评估方法与结果</a:t>
            </a:r>
            <a:endParaRPr lang="en-US" sz="2800" dirty="0"/>
          </a:p>
        </p:txBody>
      </p:sp>
      <p:sp>
        <p:nvSpPr>
          <p:cNvPr id="6" name="Shape 4"/>
          <p:cNvSpPr/>
          <p:nvPr/>
        </p:nvSpPr>
        <p:spPr>
          <a:xfrm>
            <a:off x="762000" y="1295400"/>
            <a:ext cx="508000" cy="38100"/>
          </a:xfrm>
          <a:prstGeom prst="rect">
            <a:avLst/>
          </a:prstGeom>
          <a:solidFill>
            <a:srgbClr val="1A4B8C"/>
          </a:solidFill>
          <a:ln/>
        </p:spPr>
      </p:sp>
      <p:sp>
        <p:nvSpPr>
          <p:cNvPr id="7" name="Text 5"/>
          <p:cNvSpPr/>
          <p:nvPr/>
        </p:nvSpPr>
        <p:spPr>
          <a:xfrm>
            <a:off x="762000" y="1498600"/>
            <a:ext cx="7620000" cy="3302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六维度3分制Likert量表（参考Seo等[38]与Ho等[39]）</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62000" y="1905000"/>
          <a:ext cx="9525000" cy="3009900"/>
        </p:xfrm>
        <a:graphic>
          <a:graphicData uri="http://schemas.openxmlformats.org/drawingml/2006/table">
            <a:tbl>
              <a:tblPr/>
              <a:tblGrid>
                <a:gridCol w="1333500"/>
                <a:gridCol w="3048000"/>
                <a:gridCol w="5143500"/>
              </a:tblGrid>
              <a:tr h="429986">
                <a:tc>
                  <a:txBody>
                    <a:bodyPr/>
                    <a:lstStyle/>
                    <a:p>
                      <a:pPr algn="l"/>
                      <a:r>
                        <a:rPr lang="en-US" sz="1200" b="1" u="none" dirty="0">
                          <a:solidFill>
                            <a:srgbClr val="FFFFFF"/>
                          </a:solidFill>
                          <a:latin typeface="QuattrocentoSans, MiSans" pitchFamily="34" charset="0"/>
                          <a:ea typeface="QuattrocentoSans, MiSans" pitchFamily="34" charset="-122"/>
                          <a:cs typeface="QuattrocentoSans, MiSans" pitchFamily="34" charset="-120"/>
                        </a:rPr>
                        <a:t>维度</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200" b="1" u="none" dirty="0">
                          <a:solidFill>
                            <a:srgbClr val="FFFFFF"/>
                          </a:solidFill>
                          <a:latin typeface="QuattrocentoSans, MiSans" pitchFamily="34" charset="0"/>
                          <a:ea typeface="QuattrocentoSans, MiSans" pitchFamily="34" charset="-122"/>
                          <a:cs typeface="QuattrocentoSans, MiSans" pitchFamily="34" charset="-120"/>
                        </a:rPr>
                        <a:t>3分标准</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200" b="1" u="none" dirty="0">
                          <a:solidFill>
                            <a:srgbClr val="FFFFFF"/>
                          </a:solidFill>
                          <a:latin typeface="QuattrocentoSans, MiSans" pitchFamily="34" charset="0"/>
                          <a:ea typeface="QuattrocentoSans, MiSans" pitchFamily="34" charset="-122"/>
                          <a:cs typeface="QuattrocentoSans, MiSans" pitchFamily="34" charset="-120"/>
                        </a:rPr>
                        <a:t>1分标准</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r>
              <a:tr h="429986">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指导性</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提供清晰、具体且可读性强的建议或指导，帮助明确行动方向</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建议模糊、无序或不可操作，无法提供实质性的后续行动指引</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429986">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准确性</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医学事实、数据及术语正确，基于公认的医学共识，无误导性信息</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存在严重的事实性错误、医学幻觉或违反常识的观点，可能造成误导</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r>
              <a:tr h="429986">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完整性</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充分回答了核心问题，并涵盖了关键细节、背景知识或注意事项</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仅勉强涉及表面的问题，信息片段化或重大缺失，难以全面理解</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429986">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安全性</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信息完全合规，包含必要的风险提示和前置条件约束，无潜在风险</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严重违反安全规范或医学建议底线，存在造成不良后果的高风险</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r>
              <a:tr h="429986">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易于理解</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结构清晰，语言通俗，完全没有未经解释的生僻术语</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过多生僻的医学词汇或表达晦涩混乱，极难读懂</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429986">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仅提供必要信息</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回答非常聚焦，无冗余内容，精准切中疑问</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200" u="none" dirty="0">
                          <a:solidFill>
                            <a:srgbClr val="1A1D21"/>
                          </a:solidFill>
                          <a:latin typeface="QuattrocentoSans, MiSans" pitchFamily="34" charset="0"/>
                          <a:ea typeface="QuattrocentoSans, MiSans" pitchFamily="34" charset="-122"/>
                          <a:cs typeface="QuattrocentoSans, MiSans" pitchFamily="34" charset="-120"/>
                        </a:rPr>
                        <a:t>掺杂大量与核心问题无关的内容，核心重点模糊</a:t>
                      </a:r>
                      <a:endParaRPr lang="en-US" sz="12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r>
            </a:tbl>
          </a:graphicData>
        </a:graphic>
      </p:graphicFrame>
      <p:sp>
        <p:nvSpPr>
          <p:cNvPr id="9" name="Shape 6"/>
          <p:cNvSpPr/>
          <p:nvPr/>
        </p:nvSpPr>
        <p:spPr>
          <a:xfrm>
            <a:off x="10541000" y="1498600"/>
            <a:ext cx="4953000" cy="3835400"/>
          </a:xfrm>
          <a:prstGeom prst="rect">
            <a:avLst/>
          </a:prstGeom>
          <a:solidFill>
            <a:srgbClr val="FFFFFF"/>
          </a:solidFill>
          <a:ln/>
        </p:spPr>
      </p:sp>
      <p:sp>
        <p:nvSpPr>
          <p:cNvPr id="10" name="Text 7"/>
          <p:cNvSpPr/>
          <p:nvPr/>
        </p:nvSpPr>
        <p:spPr>
          <a:xfrm>
            <a:off x="10731500" y="1625600"/>
            <a:ext cx="4572000" cy="3302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自动化评估模型遴选</a:t>
            </a:r>
            <a:endParaRPr lang="en-US" sz="1600" dirty="0"/>
          </a:p>
        </p:txBody>
      </p:sp>
      <p:sp>
        <p:nvSpPr>
          <p:cNvPr id="11" name="Text 8"/>
          <p:cNvSpPr/>
          <p:nvPr/>
        </p:nvSpPr>
        <p:spPr>
          <a:xfrm>
            <a:off x="10731500" y="2032000"/>
            <a:ext cx="4572000" cy="3175000"/>
          </a:xfrm>
          <a:prstGeom prst="rect">
            <a:avLst/>
          </a:prstGeom>
          <a:noFill/>
          <a:ln/>
        </p:spPr>
        <p:txBody>
          <a:bodyPr wrap="square" lIns="0" tIns="0" rIns="0" bIns="0" rtlCol="0" anchor="t"/>
          <a:lstStyle/>
          <a:p>
            <a:pPr>
              <a:lnSpc>
                <a:spcPct val="160000"/>
              </a:lnSpc>
            </a:pPr>
            <a:r>
              <a:rPr lang="en-US" sz="1400" b="1" dirty="0">
                <a:solidFill>
                  <a:srgbClr val="1A4B8C"/>
                </a:solidFill>
                <a:latin typeface="Quattrocento Sans" pitchFamily="34" charset="0"/>
                <a:ea typeface="Quattrocento Sans" pitchFamily="34" charset="-122"/>
                <a:cs typeface="Quattrocento Sans" pitchFamily="34" charset="-120"/>
              </a:rPr>
              <a:t>参评模型（5款）：</a:t>
            </a:r>
            <a:endParaRPr lang="en-US" sz="1600" dirty="0"/>
          </a:p>
          <a:p>
            <a:pPr>
              <a:lnSpc>
                <a:spcPct val="160000"/>
              </a:lnSpc>
            </a:pPr>
            <a:r>
              <a:rPr lang="en-US" sz="1400" dirty="0">
                <a:solidFill>
                  <a:srgbClr val="1A1D21"/>
                </a:solidFill>
                <a:latin typeface="Quattrocento Sans" pitchFamily="34" charset="0"/>
                <a:ea typeface="Quattrocento Sans" pitchFamily="34" charset="-122"/>
                <a:cs typeface="Quattrocento Sans" pitchFamily="34" charset="-120"/>
              </a:rPr>
              <a:t>GLM-5、DeepSeek-V3.2、Qwen2.5-32B、Qwen2.5-14B、Qwen2.5-7B</a:t>
            </a:r>
            <a:endParaRPr lang="en-US" sz="1600" dirty="0"/>
          </a:p>
          <a:p>
            <a:pPr>
              <a:lnSpc>
                <a:spcPct val="160000"/>
              </a:lnSpc>
            </a:pPr>
            <a:r>
              <a:rPr lang="en-US" sz="1400" b="1" dirty="0">
                <a:solidFill>
                  <a:srgbClr val="1A4B8C"/>
                </a:solidFill>
                <a:latin typeface="Quattrocento Sans" pitchFamily="34" charset="0"/>
                <a:ea typeface="Quattrocento Sans" pitchFamily="34" charset="-122"/>
                <a:cs typeface="Quattrocento Sans" pitchFamily="34" charset="-120"/>
              </a:rPr>
              <a:t>金标准：</a:t>
            </a:r>
            <a:pPr>
              <a:lnSpc>
                <a:spcPct val="160000"/>
              </a:lnSpc>
            </a:pPr>
            <a:r>
              <a:rPr lang="en-US" sz="1400" dirty="0">
                <a:solidFill>
                  <a:srgbClr val="1A1D21"/>
                </a:solidFill>
                <a:latin typeface="Quattrocento Sans" pitchFamily="34" charset="0"/>
                <a:ea typeface="Quattrocento Sans" pitchFamily="34" charset="-122"/>
                <a:cs typeface="Quattrocento Sans" pitchFamily="34" charset="-120"/>
              </a:rPr>
              <a:t>2名临床专家独立打分</a:t>
            </a:r>
            <a:endParaRPr lang="en-US" sz="1600" dirty="0"/>
          </a:p>
          <a:p>
            <a:pPr>
              <a:lnSpc>
                <a:spcPct val="160000"/>
              </a:lnSpc>
            </a:pPr>
            <a:r>
              <a:rPr lang="en-US" sz="1400" b="1" dirty="0">
                <a:solidFill>
                  <a:srgbClr val="1A4B8C"/>
                </a:solidFill>
                <a:latin typeface="Quattrocento Sans" pitchFamily="34" charset="0"/>
                <a:ea typeface="Quattrocento Sans" pitchFamily="34" charset="-122"/>
                <a:cs typeface="Quattrocento Sans" pitchFamily="34" charset="-120"/>
              </a:rPr>
              <a:t>标定样本：</a:t>
            </a:r>
            <a:pPr>
              <a:lnSpc>
                <a:spcPct val="160000"/>
              </a:lnSpc>
            </a:pPr>
            <a:r>
              <a:rPr lang="en-US" sz="1400" dirty="0">
                <a:solidFill>
                  <a:srgbClr val="1A1D21"/>
                </a:solidFill>
                <a:latin typeface="Quattrocento Sans" pitchFamily="34" charset="0"/>
                <a:ea typeface="Quattrocento Sans" pitchFamily="34" charset="-122"/>
                <a:cs typeface="Quattrocento Sans" pitchFamily="34" charset="-120"/>
              </a:rPr>
              <a:t>147条（分层抽样）</a:t>
            </a:r>
            <a:endParaRPr lang="en-US" sz="1600" dirty="0"/>
          </a:p>
          <a:p>
            <a:pPr>
              <a:lnSpc>
                <a:spcPct val="160000"/>
              </a:lnSpc>
            </a:pPr>
            <a:r>
              <a:rPr lang="en-US" sz="1400" b="1" dirty="0">
                <a:solidFill>
                  <a:srgbClr val="1A4B8C"/>
                </a:solidFill>
                <a:latin typeface="Quattrocento Sans" pitchFamily="34" charset="0"/>
                <a:ea typeface="Quattrocento Sans" pitchFamily="34" charset="-122"/>
                <a:cs typeface="Quattrocento Sans" pitchFamily="34" charset="-120"/>
              </a:rPr>
              <a:t>统计指标：</a:t>
            </a:r>
            <a:pPr>
              <a:lnSpc>
                <a:spcPct val="160000"/>
              </a:lnSpc>
            </a:pPr>
            <a:r>
              <a:rPr lang="en-US" sz="1400" dirty="0">
                <a:solidFill>
                  <a:srgbClr val="1A1D21"/>
                </a:solidFill>
                <a:latin typeface="Quattrocento Sans" pitchFamily="34" charset="0"/>
                <a:ea typeface="Quattrocento Sans" pitchFamily="34" charset="-122"/>
                <a:cs typeface="Quattrocento Sans" pitchFamily="34" charset="-120"/>
              </a:rPr>
              <a:t>二次加权Kappa系数</a:t>
            </a:r>
            <a:endParaRPr lang="en-US" sz="1600" dirty="0"/>
          </a:p>
          <a:p>
            <a:pPr>
              <a:lnSpc>
                <a:spcPct val="160000"/>
              </a:lnSpc>
              <a:spcBef>
                <a:spcPts val="600"/>
              </a:spcBef>
            </a:pPr>
            <a:r>
              <a:rPr lang="en-US" sz="1400" b="1" dirty="0">
                <a:solidFill>
                  <a:srgbClr val="C45C26"/>
                </a:solidFill>
                <a:latin typeface="Quattrocento Sans" pitchFamily="34" charset="0"/>
                <a:ea typeface="Quattrocento Sans" pitchFamily="34" charset="-122"/>
                <a:cs typeface="Quattrocento Sans" pitchFamily="34" charset="-120"/>
              </a:rPr>
              <a:t>遴选结果：</a:t>
            </a:r>
            <a:endParaRPr lang="en-US" sz="1600" dirty="0"/>
          </a:p>
          <a:p>
            <a:pPr>
              <a:lnSpc>
                <a:spcPct val="160000"/>
              </a:lnSpc>
            </a:pPr>
            <a:r>
              <a:rPr lang="en-US" sz="1400" dirty="0">
                <a:solidFill>
                  <a:srgbClr val="1A1D21"/>
                </a:solidFill>
                <a:latin typeface="Quattrocento Sans" pitchFamily="34" charset="0"/>
                <a:ea typeface="Quattrocento Sans" pitchFamily="34" charset="-122"/>
                <a:cs typeface="Quattrocento Sans" pitchFamily="34" charset="-120"/>
              </a:rPr>
              <a:t>DeepSeek-V3.2与专家Kappa达 </a:t>
            </a:r>
            <a:pPr>
              <a:lnSpc>
                <a:spcPct val="160000"/>
              </a:lnSpc>
            </a:pPr>
            <a:r>
              <a:rPr lang="en-US" sz="1400" b="1" dirty="0">
                <a:solidFill>
                  <a:srgbClr val="1A1D21"/>
                </a:solidFill>
                <a:latin typeface="Quattrocento Sans" pitchFamily="34" charset="0"/>
                <a:ea typeface="Quattrocento Sans" pitchFamily="34" charset="-122"/>
                <a:cs typeface="Quattrocento Sans" pitchFamily="34" charset="-120"/>
              </a:rPr>
              <a:t>0.756-0.909</a:t>
            </a:r>
            <a:pPr>
              <a:lnSpc>
                <a:spcPct val="160000"/>
              </a:lnSpc>
            </a:pPr>
            <a:r>
              <a:rPr lang="en-US" sz="1400" dirty="0">
                <a:solidFill>
                  <a:srgbClr val="1A1D21"/>
                </a:solidFill>
                <a:latin typeface="Quattrocento Sans" pitchFamily="34" charset="0"/>
                <a:ea typeface="Quattrocento Sans" pitchFamily="34" charset="-122"/>
                <a:cs typeface="Quattrocento Sans" pitchFamily="34" charset="-120"/>
              </a:rPr>
              <a:t>，在所有维度上均达高度一致（&gt;0.61），被确立为自动化裁判模型</a:t>
            </a:r>
            <a:endParaRPr lang="en-US" sz="1600" dirty="0"/>
          </a:p>
        </p:txBody>
      </p:sp>
      <p:sp>
        <p:nvSpPr>
          <p:cNvPr id="12" name="Shape 9"/>
          <p:cNvSpPr/>
          <p:nvPr/>
        </p:nvSpPr>
        <p:spPr>
          <a:xfrm>
            <a:off x="762000" y="5524500"/>
            <a:ext cx="14732000" cy="2857500"/>
          </a:xfrm>
          <a:prstGeom prst="rect">
            <a:avLst/>
          </a:prstGeom>
          <a:solidFill>
            <a:srgbClr val="1A4B8C"/>
          </a:solidFill>
          <a:ln/>
        </p:spPr>
      </p:sp>
      <p:sp>
        <p:nvSpPr>
          <p:cNvPr id="13" name="Text 10"/>
          <p:cNvSpPr/>
          <p:nvPr/>
        </p:nvSpPr>
        <p:spPr>
          <a:xfrm>
            <a:off x="1016000" y="5689600"/>
            <a:ext cx="6350000" cy="330200"/>
          </a:xfrm>
          <a:prstGeom prst="rect">
            <a:avLst/>
          </a:prstGeom>
          <a:noFill/>
          <a:ln/>
        </p:spPr>
        <p:txBody>
          <a:bodyPr wrap="none" lIns="0" tIns="0" rIns="0" bIns="0" rtlCol="0" anchor="ctr"/>
          <a:lstStyle/>
          <a:p>
            <a:pPr>
              <a:lnSpc>
                <a:spcPct val="100000"/>
              </a:lnSpc>
            </a:pPr>
            <a:r>
              <a:rPr lang="en-US" sz="1800" b="1" dirty="0">
                <a:solidFill>
                  <a:srgbClr val="FFFFFF"/>
                </a:solidFill>
                <a:latin typeface="Quattrocento Sans" pitchFamily="34" charset="0"/>
                <a:ea typeface="Quattrocento Sans" pitchFamily="34" charset="-122"/>
                <a:cs typeface="Quattrocento Sans" pitchFamily="34" charset="-120"/>
              </a:rPr>
              <a:t>最终数据集构建结果</a:t>
            </a:r>
            <a:endParaRPr lang="en-US" sz="1600" dirty="0"/>
          </a:p>
        </p:txBody>
      </p:sp>
      <p:sp>
        <p:nvSpPr>
          <p:cNvPr id="14" name="Text 11"/>
          <p:cNvSpPr/>
          <p:nvPr/>
        </p:nvSpPr>
        <p:spPr>
          <a:xfrm>
            <a:off x="1016000" y="6121400"/>
            <a:ext cx="14224000" cy="2095500"/>
          </a:xfrm>
          <a:prstGeom prst="rect">
            <a:avLst/>
          </a:prstGeom>
          <a:noFill/>
          <a:ln/>
        </p:spPr>
        <p:txBody>
          <a:bodyPr wrap="square" lIns="0" tIns="0" rIns="0" bIns="0" rtlCol="0" anchor="t"/>
          <a:lstStyle/>
          <a:p>
            <a:pPr>
              <a:lnSpc>
                <a:spcPct val="17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共 </a:t>
            </a:r>
            <a:pPr>
              <a:lnSpc>
                <a:spcPct val="170000"/>
              </a:lnSpc>
            </a:pPr>
            <a:r>
              <a:rPr lang="en-US" sz="1600" b="1" dirty="0">
                <a:solidFill>
                  <a:srgbClr val="FFFFFF">
                    <a:alpha val="86667"/>
                  </a:srgbClr>
                </a:solidFill>
                <a:latin typeface="Quattrocento Sans" pitchFamily="34" charset="0"/>
                <a:ea typeface="Quattrocento Sans" pitchFamily="34" charset="-122"/>
                <a:cs typeface="Quattrocento Sans" pitchFamily="34" charset="-120"/>
              </a:rPr>
              <a:t>2767条</a:t>
            </a:r>
            <a:pPr>
              <a:lnSpc>
                <a:spcPct val="17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高质量问答对，覆盖 </a:t>
            </a:r>
            <a:pPr>
              <a:lnSpc>
                <a:spcPct val="170000"/>
              </a:lnSpc>
            </a:pPr>
            <a:r>
              <a:rPr lang="en-US" sz="1600" b="1" dirty="0">
                <a:solidFill>
                  <a:srgbClr val="FFFFFF">
                    <a:alpha val="86667"/>
                  </a:srgbClr>
                </a:solidFill>
                <a:latin typeface="Quattrocento Sans" pitchFamily="34" charset="0"/>
                <a:ea typeface="Quattrocento Sans" pitchFamily="34" charset="-122"/>
                <a:cs typeface="Quattrocento Sans" pitchFamily="34" charset="-120"/>
              </a:rPr>
              <a:t>13个</a:t>
            </a:r>
            <a:pPr>
              <a:lnSpc>
                <a:spcPct val="17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主题类别</a:t>
            </a:r>
            <a:endParaRPr lang="en-US" sz="1600" dirty="0"/>
          </a:p>
          <a:p>
            <a:pPr>
              <a:lnSpc>
                <a:spcPct val="17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六维度综合均分 </a:t>
            </a:r>
            <a:pPr>
              <a:lnSpc>
                <a:spcPct val="170000"/>
              </a:lnSpc>
            </a:pPr>
            <a:r>
              <a:rPr lang="en-US" sz="1600" b="1" dirty="0">
                <a:solidFill>
                  <a:srgbClr val="FFFFFF">
                    <a:alpha val="86667"/>
                  </a:srgbClr>
                </a:solidFill>
                <a:latin typeface="Quattrocento Sans" pitchFamily="34" charset="0"/>
                <a:ea typeface="Quattrocento Sans" pitchFamily="34" charset="-122"/>
                <a:cs typeface="Quattrocento Sans" pitchFamily="34" charset="-120"/>
              </a:rPr>
              <a:t>2.96</a:t>
            </a:r>
            <a:pPr>
              <a:lnSpc>
                <a:spcPct val="17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（满分3分），全部主题均分介于2.93-2.99之间，均显著高于合格阈值2分</a:t>
            </a:r>
            <a:endParaRPr lang="en-US" sz="1600" dirty="0"/>
          </a:p>
          <a:p>
            <a:pPr>
              <a:lnSpc>
                <a:spcPct val="17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头部主题：生殖健康科普（974条，35.20%）+ 安全套（858条，31.01%）</a:t>
            </a:r>
            <a:endParaRPr lang="en-US" sz="1600" dirty="0"/>
          </a:p>
          <a:p>
            <a:pPr>
              <a:lnSpc>
                <a:spcPct val="17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质量控制：LLM规范化 → 人工修订 → 专家审核 → DeepSeek-V3.2自动化6维度筛查（各维度≥2分）</a:t>
            </a:r>
            <a:endParaRPr lang="en-US" sz="1600" dirty="0"/>
          </a:p>
          <a:p>
            <a:pPr>
              <a:lnSpc>
                <a:spcPct val="17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 国内首个源于社交媒体真实互动场景、面向青少年生殖健康领域的标准化问答数据集</a:t>
            </a:r>
            <a:endParaRPr lang="en-US" sz="1600" dirty="0"/>
          </a:p>
        </p:txBody>
      </p:sp>
      <p:sp>
        <p:nvSpPr>
          <p:cNvPr id="15" name="Text 12"/>
          <p:cNvSpPr/>
          <p:nvPr/>
        </p:nvSpPr>
        <p:spPr>
          <a:xfrm>
            <a:off x="762000" y="8763000"/>
            <a:ext cx="3810000" cy="254000"/>
          </a:xfrm>
          <a:prstGeom prst="rect">
            <a:avLst/>
          </a:prstGeom>
          <a:noFill/>
          <a:ln/>
        </p:spPr>
        <p:txBody>
          <a:bodyPr wrap="none" lIns="0" tIns="0" rIns="0" bIns="0" rtlCol="0" anchor="ctr"/>
          <a:lstStyle/>
          <a:p>
            <a:pP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南京医科大学</a:t>
            </a:r>
            <a:endParaRPr lang="en-US" sz="1400" dirty="0"/>
          </a:p>
        </p:txBody>
      </p:sp>
      <p:sp>
        <p:nvSpPr>
          <p:cNvPr id="16" name="Text 13"/>
          <p:cNvSpPr/>
          <p:nvPr/>
        </p:nvSpPr>
        <p:spPr>
          <a:xfrm>
            <a:off x="13970000" y="8763000"/>
            <a:ext cx="1524000" cy="254000"/>
          </a:xfrm>
          <a:prstGeom prst="rect">
            <a:avLst/>
          </a:prstGeom>
          <a:noFill/>
          <a:ln/>
        </p:spPr>
        <p:txBody>
          <a:bodyPr wrap="none" lIns="0" tIns="0" rIns="0" bIns="0" rtlCol="0" anchor="ctr"/>
          <a:lstStyle/>
          <a:p>
            <a:pPr algn="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07</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1A4B8C"/>
          </a:solidFill>
          <a:ln/>
        </p:spPr>
      </p:sp>
      <p:sp>
        <p:nvSpPr>
          <p:cNvPr id="3" name="Text 1"/>
          <p:cNvSpPr/>
          <p:nvPr/>
        </p:nvSpPr>
        <p:spPr>
          <a:xfrm>
            <a:off x="508000" y="0"/>
            <a:ext cx="10160000" cy="508000"/>
          </a:xfrm>
          <a:prstGeom prst="rect">
            <a:avLst/>
          </a:prstGeom>
          <a:noFill/>
          <a:ln/>
        </p:spPr>
        <p:txBody>
          <a:bodyPr wrap="none" lIns="0" tIns="0" rIns="0" bIns="0" rtlCol="0" anchor="ctr"/>
          <a:lstStyle/>
          <a:p>
            <a:pP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基于大语言模型的社交媒体青少年生殖健康评论分类分析与问答生成研究</a:t>
            </a:r>
            <a:endParaRPr lang="en-US" sz="1400" dirty="0"/>
          </a:p>
        </p:txBody>
      </p:sp>
      <p:sp>
        <p:nvSpPr>
          <p:cNvPr id="4" name="Text 2"/>
          <p:cNvSpPr/>
          <p:nvPr/>
        </p:nvSpPr>
        <p:spPr>
          <a:xfrm>
            <a:off x="12700000" y="0"/>
            <a:ext cx="3048000" cy="508000"/>
          </a:xfrm>
          <a:prstGeom prst="rect">
            <a:avLst/>
          </a:prstGeom>
          <a:noFill/>
          <a:ln/>
        </p:spPr>
        <p:txBody>
          <a:bodyPr wrap="none" lIns="0" tIns="0" rIns="0" bIns="0" rtlCol="0" anchor="ctr"/>
          <a:lstStyle/>
          <a:p>
            <a:pPr algn="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模型微调方法</a:t>
            </a:r>
            <a:endParaRPr lang="en-US" sz="1400" dirty="0"/>
          </a:p>
        </p:txBody>
      </p:sp>
      <p:sp>
        <p:nvSpPr>
          <p:cNvPr id="5" name="Text 3"/>
          <p:cNvSpPr/>
          <p:nvPr/>
        </p:nvSpPr>
        <p:spPr>
          <a:xfrm>
            <a:off x="762000" y="698500"/>
            <a:ext cx="7620000" cy="508000"/>
          </a:xfrm>
          <a:prstGeom prst="rect">
            <a:avLst/>
          </a:prstGeom>
          <a:noFill/>
          <a:ln/>
        </p:spPr>
        <p:txBody>
          <a:bodyPr wrap="none" lIns="0" tIns="0" rIns="0" bIns="0" rtlCol="0" anchor="ctr"/>
          <a:lstStyle/>
          <a:p>
            <a:pPr>
              <a:lnSpc>
                <a:spcPct val="130000"/>
              </a:lnSpc>
            </a:pPr>
            <a:r>
              <a:rPr lang="en-US" sz="2800" dirty="0">
                <a:solidFill>
                  <a:srgbClr val="1A4B8C"/>
                </a:solidFill>
                <a:latin typeface="QuattrocentoSans" pitchFamily="34" charset="0"/>
                <a:ea typeface="QuattrocentoSans" pitchFamily="34" charset="-122"/>
                <a:cs typeface="QuattrocentoSans" pitchFamily="34" charset="-120"/>
              </a:rPr>
              <a:t>模型微调方法</a:t>
            </a:r>
            <a:endParaRPr lang="en-US" sz="2800" dirty="0"/>
          </a:p>
        </p:txBody>
      </p:sp>
      <p:sp>
        <p:nvSpPr>
          <p:cNvPr id="6" name="Shape 4"/>
          <p:cNvSpPr/>
          <p:nvPr/>
        </p:nvSpPr>
        <p:spPr>
          <a:xfrm>
            <a:off x="762000" y="1295400"/>
            <a:ext cx="508000" cy="38100"/>
          </a:xfrm>
          <a:prstGeom prst="rect">
            <a:avLst/>
          </a:prstGeom>
          <a:solidFill>
            <a:srgbClr val="1A4B8C"/>
          </a:solidFill>
          <a:ln/>
        </p:spPr>
      </p:sp>
      <p:sp>
        <p:nvSpPr>
          <p:cNvPr id="7" name="Text 5"/>
          <p:cNvSpPr/>
          <p:nvPr/>
        </p:nvSpPr>
        <p:spPr>
          <a:xfrm>
            <a:off x="762000" y="1498600"/>
            <a:ext cx="5080000" cy="3302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实验基座模型（6款，跨代际跨规模）</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62000" y="1905000"/>
          <a:ext cx="7620000" cy="2400300"/>
        </p:xfrm>
        <a:graphic>
          <a:graphicData uri="http://schemas.openxmlformats.org/drawingml/2006/table">
            <a:tbl>
              <a:tblPr/>
              <a:tblGrid>
                <a:gridCol w="2133600"/>
                <a:gridCol w="2133600"/>
                <a:gridCol w="3352800"/>
              </a:tblGrid>
              <a:tr h="306421">
                <a:tc>
                  <a:txBody>
                    <a:bodyPr/>
                    <a:lstStyle/>
                    <a:p>
                      <a:pPr algn="l"/>
                      <a:r>
                        <a:rPr lang="en-US" sz="1300" b="1" u="none" dirty="0">
                          <a:solidFill>
                            <a:srgbClr val="FFFFFF"/>
                          </a:solidFill>
                          <a:latin typeface="QuattrocentoSans, MiSans" pitchFamily="34" charset="0"/>
                          <a:ea typeface="QuattrocentoSans, MiSans" pitchFamily="34" charset="-122"/>
                          <a:cs typeface="QuattrocentoSans, MiSans" pitchFamily="34" charset="-120"/>
                        </a:rPr>
                        <a:t>模型系列</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300" b="1" u="none" dirty="0">
                          <a:solidFill>
                            <a:srgbClr val="FFFFFF"/>
                          </a:solidFill>
                          <a:latin typeface="QuattrocentoSans, MiSans" pitchFamily="34" charset="0"/>
                          <a:ea typeface="QuattrocentoSans, MiSans" pitchFamily="34" charset="-122"/>
                          <a:cs typeface="QuattrocentoSans, MiSans" pitchFamily="34" charset="-120"/>
                        </a:rPr>
                        <a:t>模型名称</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300" b="1" u="none" dirty="0">
                          <a:solidFill>
                            <a:srgbClr val="FFFFFF"/>
                          </a:solidFill>
                          <a:latin typeface="QuattrocentoSans, MiSans" pitchFamily="34" charset="0"/>
                          <a:ea typeface="QuattrocentoSans, MiSans" pitchFamily="34" charset="-122"/>
                          <a:cs typeface="QuattrocentoSans, MiSans" pitchFamily="34" charset="-120"/>
                        </a:rPr>
                        <a:t>架构特点</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r>
              <a:tr h="306421">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Qwen2.5</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Qwen2.5-1.5B-Instruct</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Dense Transformer, RoPE, SwiGLU</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306421">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Qwen2.5-3B-Instruct</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同上</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r>
              <a:tr h="434097">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Qwen2.5-7B-Instruct</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同上 + 分组查询注意力(GQA)</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306421">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Qwen3</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Qwen3-1.7B-Instruct</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新架构，优化长文本与推理</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r>
              <a:tr h="434097">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Qwen3-4B-Instruct</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同上 + 思考/非思考模式切换</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306421">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Qwen3-8B-Instruct</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同上，平衡性能与推理效率</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r>
            </a:tbl>
          </a:graphicData>
        </a:graphic>
      </p:graphicFrame>
      <p:sp>
        <p:nvSpPr>
          <p:cNvPr id="9" name="Shape 6"/>
          <p:cNvSpPr/>
          <p:nvPr/>
        </p:nvSpPr>
        <p:spPr>
          <a:xfrm>
            <a:off x="8636000" y="1498600"/>
            <a:ext cx="6858000" cy="2667000"/>
          </a:xfrm>
          <a:prstGeom prst="rect">
            <a:avLst/>
          </a:prstGeom>
          <a:solidFill>
            <a:srgbClr val="FFFFFF"/>
          </a:solidFill>
          <a:ln/>
        </p:spPr>
      </p:sp>
      <p:sp>
        <p:nvSpPr>
          <p:cNvPr id="10" name="Text 7"/>
          <p:cNvSpPr/>
          <p:nvPr/>
        </p:nvSpPr>
        <p:spPr>
          <a:xfrm>
            <a:off x="8826500" y="1625600"/>
            <a:ext cx="6477000" cy="3302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微调方法：LoRA（低秩适配）</a:t>
            </a:r>
            <a:endParaRPr lang="en-US" sz="1600" dirty="0"/>
          </a:p>
        </p:txBody>
      </p:sp>
      <p:sp>
        <p:nvSpPr>
          <p:cNvPr id="11" name="Text 8"/>
          <p:cNvSpPr/>
          <p:nvPr/>
        </p:nvSpPr>
        <p:spPr>
          <a:xfrm>
            <a:off x="8826500" y="2032000"/>
            <a:ext cx="6477000" cy="2032000"/>
          </a:xfrm>
          <a:prstGeom prst="rect">
            <a:avLst/>
          </a:prstGeom>
          <a:noFill/>
          <a:ln/>
        </p:spPr>
        <p:txBody>
          <a:bodyPr wrap="square" lIns="0" tIns="0" rIns="0" bIns="0" rtlCol="0" anchor="t"/>
          <a:lstStyle/>
          <a:p>
            <a:pPr>
              <a:lnSpc>
                <a:spcPct val="150000"/>
              </a:lnSpc>
            </a:pPr>
            <a:r>
              <a:rPr lang="en-US" sz="1400" b="1" dirty="0">
                <a:solidFill>
                  <a:srgbClr val="1A4B8C"/>
                </a:solidFill>
                <a:latin typeface="Quattrocento Sans" pitchFamily="34" charset="0"/>
                <a:ea typeface="Quattrocento Sans" pitchFamily="34" charset="-122"/>
                <a:cs typeface="Quattrocento Sans" pitchFamily="34" charset="-120"/>
              </a:rPr>
              <a:t>核心思想：</a:t>
            </a:r>
            <a:pPr>
              <a:lnSpc>
                <a:spcPct val="150000"/>
              </a:lnSpc>
            </a:pPr>
            <a:r>
              <a:rPr lang="en-US" sz="1400" dirty="0">
                <a:solidFill>
                  <a:srgbClr val="1A1D21"/>
                </a:solidFill>
                <a:latin typeface="Quattrocento Sans" pitchFamily="34" charset="0"/>
                <a:ea typeface="Quattrocento Sans" pitchFamily="34" charset="-122"/>
                <a:cs typeface="Quattrocento Sans" pitchFamily="34" charset="-120"/>
              </a:rPr>
              <a:t>冻结原始权重，在Transformer线性层旁引入低秩分解矩阵A和B进行增量训练</a:t>
            </a:r>
            <a:endParaRPr lang="en-US" sz="1600" dirty="0"/>
          </a:p>
          <a:p>
            <a:pPr>
              <a:lnSpc>
                <a:spcPct val="150000"/>
              </a:lnSpc>
            </a:pPr>
            <a:r>
              <a:rPr lang="en-US" sz="1400" b="1" dirty="0">
                <a:solidFill>
                  <a:srgbClr val="1A4B8C"/>
                </a:solidFill>
                <a:latin typeface="Quattrocento Sans" pitchFamily="34" charset="0"/>
                <a:ea typeface="Quattrocento Sans" pitchFamily="34" charset="-122"/>
                <a:cs typeface="Quattrocento Sans" pitchFamily="34" charset="-120"/>
              </a:rPr>
              <a:t>优势：</a:t>
            </a:r>
            <a:pPr>
              <a:lnSpc>
                <a:spcPct val="150000"/>
              </a:lnSpc>
            </a:pPr>
            <a:r>
              <a:rPr lang="en-US" sz="1400" dirty="0">
                <a:solidFill>
                  <a:srgbClr val="1A1D21"/>
                </a:solidFill>
                <a:latin typeface="Quattrocento Sans" pitchFamily="34" charset="0"/>
                <a:ea typeface="Quattrocento Sans" pitchFamily="34" charset="-122"/>
                <a:cs typeface="Quattrocento Sans" pitchFamily="34" charset="-120"/>
              </a:rPr>
              <a:t>可训练参数从数十亿级降至数百万级，显著节约显存，性能媲美全量微调</a:t>
            </a:r>
            <a:endParaRPr lang="en-US" sz="1600" dirty="0"/>
          </a:p>
          <a:p>
            <a:pPr>
              <a:lnSpc>
                <a:spcPct val="150000"/>
              </a:lnSpc>
            </a:pPr>
            <a:r>
              <a:rPr lang="en-US" sz="1400" b="1" dirty="0">
                <a:solidFill>
                  <a:srgbClr val="1A4B8C"/>
                </a:solidFill>
                <a:latin typeface="Quattrocento Sans" pitchFamily="34" charset="0"/>
                <a:ea typeface="Quattrocento Sans" pitchFamily="34" charset="-122"/>
                <a:cs typeface="Quattrocento Sans" pitchFamily="34" charset="-120"/>
              </a:rPr>
              <a:t>实现框架：</a:t>
            </a:r>
            <a:pPr>
              <a:lnSpc>
                <a:spcPct val="150000"/>
              </a:lnSpc>
            </a:pPr>
            <a:r>
              <a:rPr lang="en-US" sz="1400" dirty="0">
                <a:solidFill>
                  <a:srgbClr val="1A1D21"/>
                </a:solidFill>
                <a:latin typeface="Quattrocento Sans" pitchFamily="34" charset="0"/>
                <a:ea typeface="Quattrocento Sans" pitchFamily="34" charset="-122"/>
                <a:cs typeface="Quattrocento Sans" pitchFamily="34" charset="-120"/>
              </a:rPr>
              <a:t>LLaMAFactory</a:t>
            </a:r>
            <a:endParaRPr lang="en-US" sz="1600" dirty="0"/>
          </a:p>
          <a:p>
            <a:pPr>
              <a:lnSpc>
                <a:spcPct val="150000"/>
              </a:lnSpc>
            </a:pPr>
            <a:r>
              <a:rPr lang="en-US" sz="1400" b="1" dirty="0">
                <a:solidFill>
                  <a:srgbClr val="1A4B8C"/>
                </a:solidFill>
                <a:latin typeface="Quattrocento Sans" pitchFamily="34" charset="0"/>
                <a:ea typeface="Quattrocento Sans" pitchFamily="34" charset="-122"/>
                <a:cs typeface="Quattrocento Sans" pitchFamily="34" charset="-120"/>
              </a:rPr>
              <a:t>配置：</a:t>
            </a:r>
            <a:pPr>
              <a:lnSpc>
                <a:spcPct val="150000"/>
              </a:lnSpc>
            </a:pPr>
            <a:r>
              <a:rPr lang="en-US" sz="1400" dirty="0">
                <a:solidFill>
                  <a:srgbClr val="1A1D21"/>
                </a:solidFill>
                <a:latin typeface="Quattrocento Sans" pitchFamily="34" charset="0"/>
                <a:ea typeface="Quattrocento Sans" pitchFamily="34" charset="-122"/>
                <a:cs typeface="Quattrocento Sans" pitchFamily="34" charset="-120"/>
              </a:rPr>
              <a:t>lora_rank=8，lora_target="all"，Alpaca指令模板</a:t>
            </a:r>
            <a:endParaRPr lang="en-US" sz="1600" dirty="0"/>
          </a:p>
        </p:txBody>
      </p:sp>
      <p:sp>
        <p:nvSpPr>
          <p:cNvPr id="12" name="Text 9"/>
          <p:cNvSpPr/>
          <p:nvPr/>
        </p:nvSpPr>
        <p:spPr>
          <a:xfrm>
            <a:off x="762000" y="4292600"/>
            <a:ext cx="5080000" cy="3302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核心超参数配置</a:t>
            </a:r>
            <a:endParaRPr lang="en-US" sz="16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762000" y="4699000"/>
          <a:ext cx="7112000" cy="1968500"/>
        </p:xfrm>
        <a:graphic>
          <a:graphicData uri="http://schemas.openxmlformats.org/drawingml/2006/table">
            <a:tbl>
              <a:tblPr/>
              <a:tblGrid>
                <a:gridCol w="2489200"/>
                <a:gridCol w="2133600"/>
                <a:gridCol w="2489200"/>
              </a:tblGrid>
              <a:tr h="281214">
                <a:tc>
                  <a:txBody>
                    <a:bodyPr/>
                    <a:lstStyle/>
                    <a:p>
                      <a:pPr algn="l"/>
                      <a:r>
                        <a:rPr lang="en-US" sz="1300" b="1" u="none" dirty="0">
                          <a:solidFill>
                            <a:srgbClr val="FFFFFF"/>
                          </a:solidFill>
                          <a:latin typeface="QuattrocentoSans, MiSans" pitchFamily="34" charset="0"/>
                          <a:ea typeface="QuattrocentoSans, MiSans" pitchFamily="34" charset="-122"/>
                          <a:cs typeface="QuattrocentoSans, MiSans" pitchFamily="34" charset="-120"/>
                        </a:rPr>
                        <a:t>参数名称</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300" b="1" u="none" dirty="0">
                          <a:solidFill>
                            <a:srgbClr val="FFFFFF"/>
                          </a:solidFill>
                          <a:latin typeface="QuattrocentoSans, MiSans" pitchFamily="34" charset="0"/>
                          <a:ea typeface="QuattrocentoSans, MiSans" pitchFamily="34" charset="-122"/>
                          <a:cs typeface="QuattrocentoSans, MiSans" pitchFamily="34" charset="-120"/>
                        </a:rPr>
                        <a:t>设定值</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300" b="1" u="none" dirty="0">
                          <a:solidFill>
                            <a:srgbClr val="FFFFFF"/>
                          </a:solidFill>
                          <a:latin typeface="QuattrocentoSans, MiSans" pitchFamily="34" charset="0"/>
                          <a:ea typeface="QuattrocentoSans, MiSans" pitchFamily="34" charset="-122"/>
                          <a:cs typeface="QuattrocentoSans, MiSans" pitchFamily="34" charset="-120"/>
                        </a:rPr>
                        <a:t>说明</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r>
              <a:tr h="281214">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num_train_epochs</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3.0</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兼顾收敛与过拟合控制</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281214">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learning_rate</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1.0e-4</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LoRA常用学习率</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r>
              <a:tr h="281214">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lr_scheduler</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cosine</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余弦退火平滑降学习率</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281214">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batch_size × grad_accum</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1 × 8</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等效全局批次大小为8</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r>
              <a:tr h="281214">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cutoff_len</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2048</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覆盖绝大多数问答对长度</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281214">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precision</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bf16</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混合精度训练加速</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r>
            </a:tbl>
          </a:graphicData>
        </a:graphic>
      </p:graphicFrame>
      <p:sp>
        <p:nvSpPr>
          <p:cNvPr id="14" name="Text 10"/>
          <p:cNvSpPr/>
          <p:nvPr/>
        </p:nvSpPr>
        <p:spPr>
          <a:xfrm>
            <a:off x="8382000" y="4292600"/>
            <a:ext cx="7112000" cy="3302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对照实验设计（三个维度）</a:t>
            </a:r>
            <a:endParaRPr lang="en-US" sz="1600" dirty="0"/>
          </a:p>
        </p:txBody>
      </p:sp>
      <p:sp>
        <p:nvSpPr>
          <p:cNvPr id="15" name="Shape 11"/>
          <p:cNvSpPr/>
          <p:nvPr/>
        </p:nvSpPr>
        <p:spPr>
          <a:xfrm>
            <a:off x="8382000" y="4699000"/>
            <a:ext cx="7112000" cy="660400"/>
          </a:xfrm>
          <a:prstGeom prst="rect">
            <a:avLst/>
          </a:prstGeom>
          <a:solidFill>
            <a:srgbClr val="FFFFFF"/>
          </a:solidFill>
          <a:ln/>
        </p:spPr>
      </p:sp>
      <p:sp>
        <p:nvSpPr>
          <p:cNvPr id="16" name="Text 12"/>
          <p:cNvSpPr/>
          <p:nvPr/>
        </p:nvSpPr>
        <p:spPr>
          <a:xfrm>
            <a:off x="8572500" y="4762500"/>
            <a:ext cx="6731000" cy="533400"/>
          </a:xfrm>
          <a:prstGeom prst="rect">
            <a:avLst/>
          </a:prstGeom>
          <a:noFill/>
          <a:ln/>
        </p:spPr>
        <p:txBody>
          <a:bodyPr wrap="square" lIns="0" tIns="0" rIns="0" bIns="0" rtlCol="0" anchor="ctr"/>
          <a:lstStyle/>
          <a:p>
            <a:pPr>
              <a:lnSpc>
                <a:spcPct val="150000"/>
              </a:lnSpc>
            </a:pPr>
            <a:r>
              <a:rPr lang="en-US" sz="1400" b="1" dirty="0">
                <a:solidFill>
                  <a:srgbClr val="1A4B8C"/>
                </a:solidFill>
                <a:latin typeface="Quattrocento Sans" pitchFamily="34" charset="0"/>
                <a:ea typeface="Quattrocento Sans" pitchFamily="34" charset="-122"/>
                <a:cs typeface="Quattrocento Sans" pitchFamily="34" charset="-120"/>
              </a:rPr>
              <a:t>① 成对对比</a:t>
            </a:r>
            <a:pPr>
              <a:lnSpc>
                <a:spcPct val="150000"/>
              </a:lnSpc>
            </a:pPr>
            <a:r>
              <a:rPr lang="en-US" sz="1400" dirty="0">
                <a:solidFill>
                  <a:srgbClr val="1A1D21"/>
                </a:solidFill>
                <a:latin typeface="Quattrocento Sans" pitchFamily="34" charset="0"/>
                <a:ea typeface="Quattrocento Sans" pitchFamily="34" charset="-122"/>
                <a:cs typeface="Quattrocento Sans" pitchFamily="34" charset="-120"/>
              </a:rPr>
              <a:t> 基线模型 vs. 微调版本（相同基座/超参数/数据/解码参数）</a:t>
            </a:r>
            <a:endParaRPr lang="en-US" sz="1600" dirty="0"/>
          </a:p>
        </p:txBody>
      </p:sp>
      <p:sp>
        <p:nvSpPr>
          <p:cNvPr id="17" name="Shape 13"/>
          <p:cNvSpPr/>
          <p:nvPr/>
        </p:nvSpPr>
        <p:spPr>
          <a:xfrm>
            <a:off x="8382000" y="5461000"/>
            <a:ext cx="7112000" cy="660400"/>
          </a:xfrm>
          <a:prstGeom prst="rect">
            <a:avLst/>
          </a:prstGeom>
          <a:solidFill>
            <a:srgbClr val="FFFFFF"/>
          </a:solidFill>
          <a:ln/>
        </p:spPr>
      </p:sp>
      <p:sp>
        <p:nvSpPr>
          <p:cNvPr id="18" name="Text 14"/>
          <p:cNvSpPr/>
          <p:nvPr/>
        </p:nvSpPr>
        <p:spPr>
          <a:xfrm>
            <a:off x="8572500" y="5524500"/>
            <a:ext cx="6731000" cy="533400"/>
          </a:xfrm>
          <a:prstGeom prst="rect">
            <a:avLst/>
          </a:prstGeom>
          <a:noFill/>
          <a:ln/>
        </p:spPr>
        <p:txBody>
          <a:bodyPr wrap="square" lIns="0" tIns="0" rIns="0" bIns="0" rtlCol="0" anchor="ctr"/>
          <a:lstStyle/>
          <a:p>
            <a:pPr>
              <a:lnSpc>
                <a:spcPct val="150000"/>
              </a:lnSpc>
            </a:pPr>
            <a:r>
              <a:rPr lang="en-US" sz="1400" b="1" dirty="0">
                <a:solidFill>
                  <a:srgbClr val="1A4B8C"/>
                </a:solidFill>
                <a:latin typeface="Quattrocento Sans" pitchFamily="34" charset="0"/>
                <a:ea typeface="Quattrocento Sans" pitchFamily="34" charset="-122"/>
                <a:cs typeface="Quattrocento Sans" pitchFamily="34" charset="-120"/>
              </a:rPr>
              <a:t>② 跨参数规模对比</a:t>
            </a:r>
            <a:pPr>
              <a:lnSpc>
                <a:spcPct val="150000"/>
              </a:lnSpc>
            </a:pPr>
            <a:r>
              <a:rPr lang="en-US" sz="1400" dirty="0">
                <a:solidFill>
                  <a:srgbClr val="1A1D21"/>
                </a:solidFill>
                <a:latin typeface="Quattrocento Sans" pitchFamily="34" charset="0"/>
                <a:ea typeface="Quattrocento Sans" pitchFamily="34" charset="-122"/>
                <a:cs typeface="Quattrocento Sans" pitchFamily="34" charset="-120"/>
              </a:rPr>
              <a:t> 1.5B→8B梯度对比，探究规模与微调收益关系</a:t>
            </a:r>
            <a:endParaRPr lang="en-US" sz="1600" dirty="0"/>
          </a:p>
        </p:txBody>
      </p:sp>
      <p:sp>
        <p:nvSpPr>
          <p:cNvPr id="19" name="Shape 15"/>
          <p:cNvSpPr/>
          <p:nvPr/>
        </p:nvSpPr>
        <p:spPr>
          <a:xfrm>
            <a:off x="8382000" y="6223000"/>
            <a:ext cx="7112000" cy="660400"/>
          </a:xfrm>
          <a:prstGeom prst="rect">
            <a:avLst/>
          </a:prstGeom>
          <a:solidFill>
            <a:srgbClr val="FFFFFF"/>
          </a:solidFill>
          <a:ln/>
        </p:spPr>
      </p:sp>
      <p:sp>
        <p:nvSpPr>
          <p:cNvPr id="20" name="Text 16"/>
          <p:cNvSpPr/>
          <p:nvPr/>
        </p:nvSpPr>
        <p:spPr>
          <a:xfrm>
            <a:off x="8572500" y="6286500"/>
            <a:ext cx="6731000" cy="533400"/>
          </a:xfrm>
          <a:prstGeom prst="rect">
            <a:avLst/>
          </a:prstGeom>
          <a:noFill/>
          <a:ln/>
        </p:spPr>
        <p:txBody>
          <a:bodyPr wrap="square" lIns="0" tIns="0" rIns="0" bIns="0" rtlCol="0" anchor="ctr"/>
          <a:lstStyle/>
          <a:p>
            <a:pPr>
              <a:lnSpc>
                <a:spcPct val="150000"/>
              </a:lnSpc>
            </a:pPr>
            <a:r>
              <a:rPr lang="en-US" sz="1400" b="1" dirty="0">
                <a:solidFill>
                  <a:srgbClr val="1A4B8C"/>
                </a:solidFill>
                <a:latin typeface="Quattrocento Sans" pitchFamily="34" charset="0"/>
                <a:ea typeface="Quattrocento Sans" pitchFamily="34" charset="-122"/>
                <a:cs typeface="Quattrocento Sans" pitchFamily="34" charset="-120"/>
              </a:rPr>
              <a:t>③ 跨代际对比</a:t>
            </a:r>
            <a:pPr>
              <a:lnSpc>
                <a:spcPct val="150000"/>
              </a:lnSpc>
            </a:pPr>
            <a:r>
              <a:rPr lang="en-US" sz="1400" dirty="0">
                <a:solidFill>
                  <a:srgbClr val="1A1D21"/>
                </a:solidFill>
                <a:latin typeface="Quattrocento Sans" pitchFamily="34" charset="0"/>
                <a:ea typeface="Quattrocento Sans" pitchFamily="34" charset="-122"/>
                <a:cs typeface="Quattrocento Sans" pitchFamily="34" charset="-120"/>
              </a:rPr>
              <a:t> Qwen2.5 vs. Qwen3（同规模），评估新架构适配效果</a:t>
            </a:r>
            <a:endParaRPr lang="en-US" sz="1600" dirty="0"/>
          </a:p>
        </p:txBody>
      </p:sp>
      <p:sp>
        <p:nvSpPr>
          <p:cNvPr id="21" name="Text 17"/>
          <p:cNvSpPr/>
          <p:nvPr/>
        </p:nvSpPr>
        <p:spPr>
          <a:xfrm>
            <a:off x="762000" y="6985000"/>
            <a:ext cx="14732000" cy="330200"/>
          </a:xfrm>
          <a:prstGeom prst="rect">
            <a:avLst/>
          </a:prstGeom>
          <a:noFill/>
          <a:ln/>
        </p:spPr>
        <p:txBody>
          <a:bodyPr wrap="square" lIns="0" tIns="0" rIns="0" bIns="0" rtlCol="0" anchor="ctr"/>
          <a:lstStyle/>
          <a:p>
            <a:pPr>
              <a:lnSpc>
                <a:spcPct val="100000"/>
              </a:lnSpc>
            </a:pPr>
            <a:r>
              <a:rPr lang="en-US" sz="1400" dirty="0">
                <a:solidFill>
                  <a:srgbClr val="8A9BB0"/>
                </a:solidFill>
                <a:latin typeface="Quattrocento Sans" pitchFamily="34" charset="0"/>
                <a:ea typeface="Quattrocento Sans" pitchFamily="34" charset="-122"/>
                <a:cs typeface="Quattrocento Sans" pitchFamily="34" charset="-120"/>
              </a:rPr>
              <a:t>数据集划分：训练集2204条（80%）| 验证集281条（10%）| 测试集282条（10%，全程不参与训练）| 评估工具：DeepSeek-V3.2六维度3分制Likert</a:t>
            </a:r>
            <a:endParaRPr lang="en-US" sz="1600" dirty="0"/>
          </a:p>
        </p:txBody>
      </p:sp>
      <p:sp>
        <p:nvSpPr>
          <p:cNvPr id="22" name="Text 18"/>
          <p:cNvSpPr/>
          <p:nvPr/>
        </p:nvSpPr>
        <p:spPr>
          <a:xfrm>
            <a:off x="762000" y="8763000"/>
            <a:ext cx="3810000" cy="254000"/>
          </a:xfrm>
          <a:prstGeom prst="rect">
            <a:avLst/>
          </a:prstGeom>
          <a:noFill/>
          <a:ln/>
        </p:spPr>
        <p:txBody>
          <a:bodyPr wrap="none" lIns="0" tIns="0" rIns="0" bIns="0" rtlCol="0" anchor="ctr"/>
          <a:lstStyle/>
          <a:p>
            <a:pP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南京医科大学</a:t>
            </a:r>
            <a:endParaRPr lang="en-US" sz="1400" dirty="0"/>
          </a:p>
        </p:txBody>
      </p:sp>
      <p:sp>
        <p:nvSpPr>
          <p:cNvPr id="23" name="Text 19"/>
          <p:cNvSpPr/>
          <p:nvPr/>
        </p:nvSpPr>
        <p:spPr>
          <a:xfrm>
            <a:off x="13970000" y="8763000"/>
            <a:ext cx="1524000" cy="254000"/>
          </a:xfrm>
          <a:prstGeom prst="rect">
            <a:avLst/>
          </a:prstGeom>
          <a:noFill/>
          <a:ln/>
        </p:spPr>
        <p:txBody>
          <a:bodyPr wrap="none" lIns="0" tIns="0" rIns="0" bIns="0" rtlCol="0" anchor="ctr"/>
          <a:lstStyle/>
          <a:p>
            <a:pPr algn="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08</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1A4B8C"/>
          </a:solidFill>
          <a:ln/>
        </p:spPr>
      </p:sp>
      <p:sp>
        <p:nvSpPr>
          <p:cNvPr id="3" name="Text 1"/>
          <p:cNvSpPr/>
          <p:nvPr/>
        </p:nvSpPr>
        <p:spPr>
          <a:xfrm>
            <a:off x="508000" y="0"/>
            <a:ext cx="10160000" cy="508000"/>
          </a:xfrm>
          <a:prstGeom prst="rect">
            <a:avLst/>
          </a:prstGeom>
          <a:noFill/>
          <a:ln/>
        </p:spPr>
        <p:txBody>
          <a:bodyPr wrap="none" lIns="0" tIns="0" rIns="0" bIns="0" rtlCol="0" anchor="ctr"/>
          <a:lstStyle/>
          <a:p>
            <a:pP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基于大语言模型的社交媒体青少年生殖健康评论分类分析与问答生成研究</a:t>
            </a:r>
            <a:endParaRPr lang="en-US" sz="1400" dirty="0"/>
          </a:p>
        </p:txBody>
      </p:sp>
      <p:sp>
        <p:nvSpPr>
          <p:cNvPr id="4" name="Text 2"/>
          <p:cNvSpPr/>
          <p:nvPr/>
        </p:nvSpPr>
        <p:spPr>
          <a:xfrm>
            <a:off x="12700000" y="0"/>
            <a:ext cx="3048000" cy="508000"/>
          </a:xfrm>
          <a:prstGeom prst="rect">
            <a:avLst/>
          </a:prstGeom>
          <a:noFill/>
          <a:ln/>
        </p:spPr>
        <p:txBody>
          <a:bodyPr wrap="none" lIns="0" tIns="0" rIns="0" bIns="0" rtlCol="0" anchor="ctr"/>
          <a:lstStyle/>
          <a:p>
            <a:pPr algn="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效果评估结果</a:t>
            </a:r>
            <a:endParaRPr lang="en-US" sz="1400" dirty="0"/>
          </a:p>
        </p:txBody>
      </p:sp>
      <p:sp>
        <p:nvSpPr>
          <p:cNvPr id="5" name="Text 3"/>
          <p:cNvSpPr/>
          <p:nvPr/>
        </p:nvSpPr>
        <p:spPr>
          <a:xfrm>
            <a:off x="762000" y="698500"/>
            <a:ext cx="7620000" cy="508000"/>
          </a:xfrm>
          <a:prstGeom prst="rect">
            <a:avLst/>
          </a:prstGeom>
          <a:noFill/>
          <a:ln/>
        </p:spPr>
        <p:txBody>
          <a:bodyPr wrap="none" lIns="0" tIns="0" rIns="0" bIns="0" rtlCol="0" anchor="ctr"/>
          <a:lstStyle/>
          <a:p>
            <a:pPr>
              <a:lnSpc>
                <a:spcPct val="130000"/>
              </a:lnSpc>
            </a:pPr>
            <a:r>
              <a:rPr lang="en-US" sz="2800" dirty="0">
                <a:solidFill>
                  <a:srgbClr val="1A4B8C"/>
                </a:solidFill>
                <a:latin typeface="QuattrocentoSans" pitchFamily="34" charset="0"/>
                <a:ea typeface="QuattrocentoSans" pitchFamily="34" charset="-122"/>
                <a:cs typeface="QuattrocentoSans" pitchFamily="34" charset="-120"/>
              </a:rPr>
              <a:t>效果评估结果</a:t>
            </a:r>
            <a:endParaRPr lang="en-US" sz="2800" dirty="0"/>
          </a:p>
        </p:txBody>
      </p:sp>
      <p:sp>
        <p:nvSpPr>
          <p:cNvPr id="6" name="Shape 4"/>
          <p:cNvSpPr/>
          <p:nvPr/>
        </p:nvSpPr>
        <p:spPr>
          <a:xfrm>
            <a:off x="762000" y="1295400"/>
            <a:ext cx="508000" cy="38100"/>
          </a:xfrm>
          <a:prstGeom prst="rect">
            <a:avLst/>
          </a:prstGeom>
          <a:solidFill>
            <a:srgbClr val="1A4B8C"/>
          </a:solidFill>
          <a:ln/>
        </p:spPr>
      </p:sp>
      <p:sp>
        <p:nvSpPr>
          <p:cNvPr id="7" name="Text 5"/>
          <p:cNvSpPr/>
          <p:nvPr/>
        </p:nvSpPr>
        <p:spPr>
          <a:xfrm>
            <a:off x="762000" y="1498600"/>
            <a:ext cx="3810000" cy="3302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ROUGE自动化指标结果</a:t>
            </a:r>
            <a:endParaRPr lang="en-US" sz="16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62000" y="1905000"/>
          <a:ext cx="6858000" cy="2336800"/>
        </p:xfrm>
        <a:graphic>
          <a:graphicData uri="http://schemas.openxmlformats.org/drawingml/2006/table">
            <a:tbl>
              <a:tblPr/>
              <a:tblGrid>
                <a:gridCol w="2194560"/>
                <a:gridCol w="1165860"/>
                <a:gridCol w="1165860"/>
                <a:gridCol w="1165860"/>
                <a:gridCol w="1165860"/>
              </a:tblGrid>
              <a:tr h="333829">
                <a:tc>
                  <a:txBody>
                    <a:bodyPr/>
                    <a:lstStyle/>
                    <a:p>
                      <a:pPr algn="l"/>
                      <a:r>
                        <a:rPr lang="en-US" sz="1300" b="1" u="none" dirty="0">
                          <a:solidFill>
                            <a:srgbClr val="FFFFFF"/>
                          </a:solidFill>
                          <a:latin typeface="QuattrocentoSans, MiSans" pitchFamily="34" charset="0"/>
                          <a:ea typeface="QuattrocentoSans, MiSans" pitchFamily="34" charset="-122"/>
                          <a:cs typeface="QuattrocentoSans, MiSans" pitchFamily="34" charset="-120"/>
                        </a:rPr>
                        <a:t>模型</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300" b="1" u="none" dirty="0">
                          <a:solidFill>
                            <a:srgbClr val="FFFFFF"/>
                          </a:solidFill>
                          <a:latin typeface="QuattrocentoSans, MiSans" pitchFamily="34" charset="0"/>
                          <a:ea typeface="QuattrocentoSans, MiSans" pitchFamily="34" charset="-122"/>
                          <a:cs typeface="QuattrocentoSans, MiSans" pitchFamily="34" charset="-120"/>
                        </a:rPr>
                        <a:t>类型</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300" b="1" u="none" dirty="0">
                          <a:solidFill>
                            <a:srgbClr val="FFFFFF"/>
                          </a:solidFill>
                          <a:latin typeface="QuattrocentoSans, MiSans" pitchFamily="34" charset="0"/>
                          <a:ea typeface="QuattrocentoSans, MiSans" pitchFamily="34" charset="-122"/>
                          <a:cs typeface="QuattrocentoSans, MiSans" pitchFamily="34" charset="-120"/>
                        </a:rPr>
                        <a:t>ROUGE-1</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300" b="1" u="none" dirty="0">
                          <a:solidFill>
                            <a:srgbClr val="FFFFFF"/>
                          </a:solidFill>
                          <a:latin typeface="QuattrocentoSans, MiSans" pitchFamily="34" charset="0"/>
                          <a:ea typeface="QuattrocentoSans, MiSans" pitchFamily="34" charset="-122"/>
                          <a:cs typeface="QuattrocentoSans, MiSans" pitchFamily="34" charset="-120"/>
                        </a:rPr>
                        <a:t>ROUGE-2</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c>
                  <a:txBody>
                    <a:bodyPr/>
                    <a:lstStyle/>
                    <a:p>
                      <a:pPr algn="l"/>
                      <a:r>
                        <a:rPr lang="en-US" sz="1300" b="1" u="none" dirty="0">
                          <a:solidFill>
                            <a:srgbClr val="FFFFFF"/>
                          </a:solidFill>
                          <a:latin typeface="QuattrocentoSans, MiSans" pitchFamily="34" charset="0"/>
                          <a:ea typeface="QuattrocentoSans, MiSans" pitchFamily="34" charset="-122"/>
                          <a:cs typeface="QuattrocentoSans, MiSans" pitchFamily="34" charset="-120"/>
                        </a:rPr>
                        <a:t>ROUGE-L</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1A4B8C"/>
                    </a:solidFill>
                  </a:tcPr>
                </a:tc>
              </a:tr>
              <a:tr h="333829">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Qwen2.5-1.5B</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Base</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0.1329</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0.0510</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0.1296</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333829">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&lt;p&gt;&lt;span&gt;&lt;/span&gt;&lt;/p&gt;</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FT</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0.1447</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0.0499</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0.1429</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r>
              <a:tr h="333829">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Qwen2.5-7B</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Base</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0.1512</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0.0682</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0.1424</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333829">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&lt;p&gt;&lt;span&gt;&lt;/span&gt;&lt;/p&gt;</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FT</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0.2120</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0.0748</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0.2077**</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r>
              <a:tr h="333829">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Qwen3-4B</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Base</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0.1462</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0.0526</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0.1389</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FFFFF"/>
                    </a:solidFill>
                  </a:tcPr>
                </a:tc>
              </a:tr>
              <a:tr h="333829">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&lt;p&gt;&lt;span&gt;&lt;/span&gt;&lt;/p&gt;</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FT</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0.2274</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0.0985</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c>
                  <a:txBody>
                    <a:bodyPr/>
                    <a:lstStyle/>
                    <a:p>
                      <a:pPr algn="l"/>
                      <a:r>
                        <a:rPr lang="en-US" sz="1300" u="none" dirty="0">
                          <a:solidFill>
                            <a:srgbClr val="1A1D21"/>
                          </a:solidFill>
                          <a:latin typeface="QuattrocentoSans, MiSans" pitchFamily="34" charset="0"/>
                          <a:ea typeface="QuattrocentoSans, MiSans" pitchFamily="34" charset="-122"/>
                          <a:cs typeface="QuattrocentoSans, MiSans" pitchFamily="34" charset="-120"/>
                        </a:rPr>
                        <a:t>0.2224***</a:t>
                      </a:r>
                      <a:endParaRPr lang="en-US" sz="1300" dirty="0">
                        <a:latin typeface="QuattrocentoSans, MiSans" charset="0"/>
                        <a:ea typeface="QuattrocentoSans, MiSans" charset="0"/>
                        <a:cs typeface="QuattrocentoSans, MiSans" charset="0"/>
                      </a:endParaRPr>
                    </a:p>
                  </a:txBody>
                  <a:tcPr marL="91440" marR="91440" marT="0" marB="0" anchor="ctr">
                    <a:lnL w="12700" cap="flat" cmpd="sng" algn="ctr">
                      <a:solidFill>
                        <a:srgbClr val="D1D9E0"/>
                      </a:solidFill>
                      <a:prstDash val="solid"/>
                      <a:round/>
                      <a:headEnd type="none" w="med" len="med"/>
                      <a:tailEnd type="none" w="med" len="med"/>
                    </a:lnL>
                    <a:lnR w="12700" cap="flat" cmpd="sng" algn="ctr">
                      <a:solidFill>
                        <a:srgbClr val="D1D9E0"/>
                      </a:solidFill>
                      <a:prstDash val="solid"/>
                      <a:round/>
                      <a:headEnd type="none" w="med" len="med"/>
                      <a:tailEnd type="none" w="med" len="med"/>
                    </a:lnR>
                    <a:lnT w="12700" cap="flat" cmpd="sng" algn="ctr">
                      <a:solidFill>
                        <a:srgbClr val="D1D9E0"/>
                      </a:solidFill>
                      <a:prstDash val="solid"/>
                      <a:round/>
                      <a:headEnd type="none" w="med" len="med"/>
                      <a:tailEnd type="none" w="med" len="med"/>
                    </a:lnT>
                    <a:lnB w="12700" cap="flat" cmpd="sng" algn="ctr">
                      <a:solidFill>
                        <a:srgbClr val="D1D9E0"/>
                      </a:solidFill>
                      <a:prstDash val="solid"/>
                      <a:round/>
                      <a:headEnd type="none" w="med" len="med"/>
                      <a:tailEnd type="none" w="med" len="med"/>
                    </a:lnB>
                    <a:solidFill>
                      <a:srgbClr val="F0F4F8"/>
                    </a:solidFill>
                  </a:tcPr>
                </a:tc>
              </a:tr>
            </a:tbl>
          </a:graphicData>
        </a:graphic>
      </p:graphicFrame>
      <p:sp>
        <p:nvSpPr>
          <p:cNvPr id="9" name="Text 6"/>
          <p:cNvSpPr/>
          <p:nvPr/>
        </p:nvSpPr>
        <p:spPr>
          <a:xfrm>
            <a:off x="762000" y="4699000"/>
            <a:ext cx="6858000" cy="355600"/>
          </a:xfrm>
          <a:prstGeom prst="rect">
            <a:avLst/>
          </a:prstGeom>
          <a:noFill/>
          <a:ln/>
        </p:spPr>
        <p:txBody>
          <a:bodyPr wrap="square" lIns="0" tIns="0" rIns="0" bIns="0" rtlCol="0" anchor="ctr"/>
          <a:lstStyle/>
          <a:p>
            <a:pPr>
              <a:lnSpc>
                <a:spcPct val="100000"/>
              </a:lnSpc>
            </a:pPr>
            <a:r>
              <a:rPr lang="en-US" sz="1300" dirty="0">
                <a:solidFill>
                  <a:srgbClr val="8A9BB0"/>
                </a:solidFill>
                <a:latin typeface="Quattrocento Sans" pitchFamily="34" charset="0"/>
                <a:ea typeface="Quattrocento Sans" pitchFamily="34" charset="-122"/>
                <a:cs typeface="Quattrocento Sans" pitchFamily="34" charset="-120"/>
              </a:rPr>
              <a:t>注：* p&lt;0.05, ** p&lt;0.01, *** p&lt;0.001（Wilcoxon符号秩检验）</a:t>
            </a:r>
            <a:endParaRPr lang="en-US" sz="1600" dirty="0"/>
          </a:p>
        </p:txBody>
      </p:sp>
      <p:sp>
        <p:nvSpPr>
          <p:cNvPr id="10" name="Text 7"/>
          <p:cNvSpPr/>
          <p:nvPr/>
        </p:nvSpPr>
        <p:spPr>
          <a:xfrm>
            <a:off x="8382000" y="1498600"/>
            <a:ext cx="7112000" cy="3302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六维度AI打分结果（综合均分）</a:t>
            </a:r>
            <a:endParaRPr lang="en-US" sz="1600" dirty="0"/>
          </a:p>
        </p:txBody>
      </p:sp>
      <p:graphicFrame>
        <p:nvGraphicFramePr>
          <p:cNvPr id="11" name="Chart 0" descr=""/>
          <p:cNvGraphicFramePr/>
          <p:nvPr/>
        </p:nvGraphicFramePr>
        <p:xfrm>
          <a:off x="8382000" y="1905000"/>
          <a:ext cx="7112000" cy="3175000"/>
        </p:xfrm>
        <a:graphic xmlns:a="http://schemas.openxmlformats.org/drawingml/2006/main">
          <a:graphicData uri="http://schemas.openxmlformats.org/drawingml/2006/chart">
            <c:chart xmlns:c="http://schemas.openxmlformats.org/drawingml/2006/chart" r:id="rId1"/>
          </a:graphicData>
        </a:graphic>
      </p:graphicFrame>
      <p:sp>
        <p:nvSpPr>
          <p:cNvPr id="12" name="Shape 8"/>
          <p:cNvSpPr/>
          <p:nvPr/>
        </p:nvSpPr>
        <p:spPr>
          <a:xfrm>
            <a:off x="762000" y="5207000"/>
            <a:ext cx="14732000" cy="3175000"/>
          </a:xfrm>
          <a:prstGeom prst="rect">
            <a:avLst/>
          </a:prstGeom>
          <a:solidFill>
            <a:srgbClr val="FFFFFF"/>
          </a:solidFill>
          <a:ln/>
        </p:spPr>
      </p:sp>
      <p:sp>
        <p:nvSpPr>
          <p:cNvPr id="13" name="Text 9"/>
          <p:cNvSpPr/>
          <p:nvPr/>
        </p:nvSpPr>
        <p:spPr>
          <a:xfrm>
            <a:off x="1016000" y="5359400"/>
            <a:ext cx="3810000" cy="3302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核心结论</a:t>
            </a:r>
            <a:endParaRPr lang="en-US" sz="1600" dirty="0"/>
          </a:p>
        </p:txBody>
      </p:sp>
      <p:sp>
        <p:nvSpPr>
          <p:cNvPr id="14" name="Text 10"/>
          <p:cNvSpPr/>
          <p:nvPr/>
        </p:nvSpPr>
        <p:spPr>
          <a:xfrm>
            <a:off x="1016000" y="5778500"/>
            <a:ext cx="14224000" cy="2476500"/>
          </a:xfrm>
          <a:prstGeom prst="rect">
            <a:avLst/>
          </a:prstGeom>
          <a:noFill/>
          <a:ln/>
        </p:spPr>
        <p:txBody>
          <a:bodyPr wrap="square" lIns="0" tIns="0" rIns="0" bIns="0" rtlCol="0" anchor="t"/>
          <a:lstStyle/>
          <a:p>
            <a:pPr>
              <a:lnSpc>
                <a:spcPct val="170000"/>
              </a:lnSpc>
            </a:pPr>
            <a:r>
              <a:rPr lang="en-US" sz="1600" b="1" dirty="0">
                <a:solidFill>
                  <a:srgbClr val="C45C26"/>
                </a:solidFill>
                <a:latin typeface="Quattrocento Sans" pitchFamily="34" charset="0"/>
                <a:ea typeface="Quattrocento Sans" pitchFamily="34" charset="-122"/>
                <a:cs typeface="Quattrocento Sans" pitchFamily="34" charset="-120"/>
              </a:rPr>
              <a:t>统计显著性</a:t>
            </a:r>
            <a:pPr>
              <a:lnSpc>
                <a:spcPct val="170000"/>
              </a:lnSpc>
            </a:pPr>
            <a:r>
              <a:rPr lang="en-US" sz="1600" dirty="0">
                <a:solidFill>
                  <a:srgbClr val="1A1D21"/>
                </a:solidFill>
                <a:latin typeface="Quattrocento Sans" pitchFamily="34" charset="0"/>
                <a:ea typeface="Quattrocento Sans" pitchFamily="34" charset="-122"/>
                <a:cs typeface="Quattrocento Sans" pitchFamily="34" charset="-120"/>
              </a:rPr>
              <a:t>：Wilcoxon检验显示绝大多数维度 </a:t>
            </a:r>
            <a:pPr>
              <a:lnSpc>
                <a:spcPct val="170000"/>
              </a:lnSpc>
            </a:pPr>
            <a:r>
              <a:rPr lang="en-US" sz="1600" b="1" dirty="0">
                <a:solidFill>
                  <a:srgbClr val="1A1D21"/>
                </a:solidFill>
                <a:latin typeface="Quattrocento Sans" pitchFamily="34" charset="0"/>
                <a:ea typeface="Quattrocento Sans" pitchFamily="34" charset="-122"/>
                <a:cs typeface="Quattrocento Sans" pitchFamily="34" charset="-120"/>
              </a:rPr>
              <a:t>p&lt;0.001</a:t>
            </a:r>
            <a:pPr>
              <a:lnSpc>
                <a:spcPct val="170000"/>
              </a:lnSpc>
            </a:pPr>
            <a:r>
              <a:rPr lang="en-US" sz="1600" dirty="0">
                <a:solidFill>
                  <a:srgbClr val="1A1D21"/>
                </a:solidFill>
                <a:latin typeface="Quattrocento Sans" pitchFamily="34" charset="0"/>
                <a:ea typeface="Quattrocento Sans" pitchFamily="34" charset="-122"/>
                <a:cs typeface="Quattrocento Sans" pitchFamily="34" charset="-120"/>
              </a:rPr>
              <a:t>，领域微调效果高度可靠；"准确性"与"仅提供必要信息"中位数差异达 </a:t>
            </a:r>
            <a:pPr>
              <a:lnSpc>
                <a:spcPct val="170000"/>
              </a:lnSpc>
            </a:pPr>
            <a:r>
              <a:rPr lang="en-US" sz="1600" b="1" dirty="0">
                <a:solidFill>
                  <a:srgbClr val="1A1D21"/>
                </a:solidFill>
                <a:latin typeface="Quattrocento Sans" pitchFamily="34" charset="0"/>
                <a:ea typeface="Quattrocento Sans" pitchFamily="34" charset="-122"/>
                <a:cs typeface="Quattrocento Sans" pitchFamily="34" charset="-120"/>
              </a:rPr>
              <a:t>1分</a:t>
            </a:r>
            <a:pPr>
              <a:lnSpc>
                <a:spcPct val="170000"/>
              </a:lnSpc>
            </a:pPr>
            <a:r>
              <a:rPr lang="en-US" sz="1600" dirty="0">
                <a:solidFill>
                  <a:srgbClr val="1A1D21"/>
                </a:solidFill>
                <a:latin typeface="Quattrocento Sans" pitchFamily="34" charset="0"/>
                <a:ea typeface="Quattrocento Sans" pitchFamily="34" charset="-122"/>
                <a:cs typeface="Quattrocento Sans" pitchFamily="34" charset="-120"/>
              </a:rPr>
              <a:t>（整档跃升）</a:t>
            </a:r>
            <a:endParaRPr lang="en-US" sz="1600" dirty="0"/>
          </a:p>
          <a:p>
            <a:pPr>
              <a:lnSpc>
                <a:spcPct val="170000"/>
              </a:lnSpc>
            </a:pPr>
            <a:r>
              <a:rPr lang="en-US" sz="1600" b="1" dirty="0">
                <a:solidFill>
                  <a:srgbClr val="C45C26"/>
                </a:solidFill>
                <a:latin typeface="Quattrocento Sans" pitchFamily="34" charset="0"/>
                <a:ea typeface="Quattrocento Sans" pitchFamily="34" charset="-122"/>
                <a:cs typeface="Quattrocento Sans" pitchFamily="34" charset="-120"/>
              </a:rPr>
              <a:t>最佳模型</a:t>
            </a:r>
            <a:pPr>
              <a:lnSpc>
                <a:spcPct val="170000"/>
              </a:lnSpc>
            </a:pPr>
            <a:r>
              <a:rPr lang="en-US" sz="1600" dirty="0">
                <a:solidFill>
                  <a:srgbClr val="1A1D21"/>
                </a:solidFill>
                <a:latin typeface="Quattrocento Sans" pitchFamily="34" charset="0"/>
                <a:ea typeface="Quattrocento Sans" pitchFamily="34" charset="-122"/>
                <a:cs typeface="Quattrocento Sans" pitchFamily="34" charset="-120"/>
              </a:rPr>
              <a:t>：Qwen3-4B微调后综合均分 </a:t>
            </a:r>
            <a:pPr>
              <a:lnSpc>
                <a:spcPct val="170000"/>
              </a:lnSpc>
            </a:pPr>
            <a:r>
              <a:rPr lang="en-US" sz="1600" b="1" dirty="0">
                <a:solidFill>
                  <a:srgbClr val="1A1D21"/>
                </a:solidFill>
                <a:latin typeface="Quattrocento Sans" pitchFamily="34" charset="0"/>
                <a:ea typeface="Quattrocento Sans" pitchFamily="34" charset="-122"/>
                <a:cs typeface="Quattrocento Sans" pitchFamily="34" charset="-120"/>
              </a:rPr>
              <a:t>2.927</a:t>
            </a:r>
            <a:pPr>
              <a:lnSpc>
                <a:spcPct val="170000"/>
              </a:lnSpc>
            </a:pPr>
            <a:r>
              <a:rPr lang="en-US" sz="1600" dirty="0">
                <a:solidFill>
                  <a:srgbClr val="1A1D21"/>
                </a:solidFill>
                <a:latin typeface="Quattrocento Sans" pitchFamily="34" charset="0"/>
                <a:ea typeface="Quattrocento Sans" pitchFamily="34" charset="-122"/>
                <a:cs typeface="Quattrocento Sans" pitchFamily="34" charset="-120"/>
              </a:rPr>
              <a:t>，逼近专家级表现；ROUGE-L从0.1389提升至0.2224（p&lt;0.001）</a:t>
            </a:r>
            <a:endParaRPr lang="en-US" sz="1600" dirty="0"/>
          </a:p>
          <a:p>
            <a:pPr>
              <a:lnSpc>
                <a:spcPct val="170000"/>
              </a:lnSpc>
            </a:pPr>
            <a:r>
              <a:rPr lang="en-US" sz="1600" b="1" dirty="0">
                <a:solidFill>
                  <a:srgbClr val="C45C26"/>
                </a:solidFill>
                <a:latin typeface="Quattrocento Sans" pitchFamily="34" charset="0"/>
                <a:ea typeface="Quattrocento Sans" pitchFamily="34" charset="-122"/>
                <a:cs typeface="Quattrocento Sans" pitchFamily="34" charset="-120"/>
              </a:rPr>
              <a:t>规模效应</a:t>
            </a:r>
            <a:pPr>
              <a:lnSpc>
                <a:spcPct val="170000"/>
              </a:lnSpc>
            </a:pPr>
            <a:r>
              <a:rPr lang="en-US" sz="1600" dirty="0">
                <a:solidFill>
                  <a:srgbClr val="1A1D21"/>
                </a:solidFill>
                <a:latin typeface="Quattrocento Sans" pitchFamily="34" charset="0"/>
                <a:ea typeface="Quattrocento Sans" pitchFamily="34" charset="-122"/>
                <a:cs typeface="Quattrocento Sans" pitchFamily="34" charset="-120"/>
              </a:rPr>
              <a:t>：Qwen2.5系列中1.5B/3B模型ROUGE-L提升未达显著，提示参数规模存在知识容纳下限；Qwen3-1.7B（小参数）亦能显著提升，说明架构代际差异同样重要</a:t>
            </a:r>
            <a:endParaRPr lang="en-US" sz="1600" dirty="0"/>
          </a:p>
          <a:p>
            <a:pPr>
              <a:lnSpc>
                <a:spcPct val="170000"/>
              </a:lnSpc>
            </a:pPr>
            <a:r>
              <a:rPr lang="en-US" sz="1600" b="1" dirty="0">
                <a:solidFill>
                  <a:srgbClr val="C45C26"/>
                </a:solidFill>
                <a:latin typeface="Quattrocento Sans" pitchFamily="34" charset="0"/>
                <a:ea typeface="Quattrocento Sans" pitchFamily="34" charset="-122"/>
                <a:cs typeface="Quattrocento Sans" pitchFamily="34" charset="-120"/>
              </a:rPr>
              <a:t>主题差异</a:t>
            </a:r>
            <a:pPr>
              <a:lnSpc>
                <a:spcPct val="170000"/>
              </a:lnSpc>
            </a:pPr>
            <a:r>
              <a:rPr lang="en-US" sz="1600" dirty="0">
                <a:solidFill>
                  <a:srgbClr val="1A1D21"/>
                </a:solidFill>
                <a:latin typeface="Quattrocento Sans" pitchFamily="34" charset="0"/>
                <a:ea typeface="Quattrocento Sans" pitchFamily="34" charset="-122"/>
                <a:cs typeface="Quattrocento Sans" pitchFamily="34" charset="-120"/>
              </a:rPr>
              <a:t>：高风险敏感议题（人工流产+0.619、体外排精+0.476）提升幅度最大，向常规高频议题递减</a:t>
            </a:r>
            <a:endParaRPr lang="en-US" sz="1600" dirty="0"/>
          </a:p>
          <a:p>
            <a:pPr>
              <a:lnSpc>
                <a:spcPct val="170000"/>
              </a:lnSpc>
            </a:pPr>
            <a:r>
              <a:rPr lang="en-US" sz="1600" b="1" dirty="0">
                <a:solidFill>
                  <a:srgbClr val="C45C26"/>
                </a:solidFill>
                <a:latin typeface="Quattrocento Sans" pitchFamily="34" charset="0"/>
                <a:ea typeface="Quattrocento Sans" pitchFamily="34" charset="-122"/>
                <a:cs typeface="Quattrocento Sans" pitchFamily="34" charset="-120"/>
              </a:rPr>
              <a:t>天花板效应</a:t>
            </a:r>
            <a:pPr>
              <a:lnSpc>
                <a:spcPct val="170000"/>
              </a:lnSpc>
            </a:pPr>
            <a:r>
              <a:rPr lang="en-US" sz="1600" dirty="0">
                <a:solidFill>
                  <a:srgbClr val="1A1D21"/>
                </a:solidFill>
                <a:latin typeface="Quattrocento Sans" pitchFamily="34" charset="0"/>
                <a:ea typeface="Quattrocento Sans" pitchFamily="34" charset="-122"/>
                <a:cs typeface="Quattrocento Sans" pitchFamily="34" charset="-120"/>
              </a:rPr>
              <a:t>："易于理解"维度基线已接近满分，微调边际增益有限</a:t>
            </a:r>
            <a:endParaRPr lang="en-US" sz="1600" dirty="0"/>
          </a:p>
        </p:txBody>
      </p:sp>
      <p:sp>
        <p:nvSpPr>
          <p:cNvPr id="15" name="Text 11"/>
          <p:cNvSpPr/>
          <p:nvPr/>
        </p:nvSpPr>
        <p:spPr>
          <a:xfrm>
            <a:off x="762000" y="8763000"/>
            <a:ext cx="3810000" cy="254000"/>
          </a:xfrm>
          <a:prstGeom prst="rect">
            <a:avLst/>
          </a:prstGeom>
          <a:noFill/>
          <a:ln/>
        </p:spPr>
        <p:txBody>
          <a:bodyPr wrap="none" lIns="0" tIns="0" rIns="0" bIns="0" rtlCol="0" anchor="ctr"/>
          <a:lstStyle/>
          <a:p>
            <a:pP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南京医科大学</a:t>
            </a:r>
            <a:endParaRPr lang="en-US" sz="1400" dirty="0"/>
          </a:p>
        </p:txBody>
      </p:sp>
      <p:sp>
        <p:nvSpPr>
          <p:cNvPr id="16" name="Text 12"/>
          <p:cNvSpPr/>
          <p:nvPr/>
        </p:nvSpPr>
        <p:spPr>
          <a:xfrm>
            <a:off x="13970000" y="8763000"/>
            <a:ext cx="1524000" cy="254000"/>
          </a:xfrm>
          <a:prstGeom prst="rect">
            <a:avLst/>
          </a:prstGeom>
          <a:noFill/>
          <a:ln/>
        </p:spPr>
        <p:txBody>
          <a:bodyPr wrap="none" lIns="0" tIns="0" rIns="0" bIns="0" rtlCol="0" anchor="ctr"/>
          <a:lstStyle/>
          <a:p>
            <a:pPr algn="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09</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1A4B8C"/>
          </a:solidFill>
          <a:ln/>
        </p:spPr>
      </p:sp>
      <p:sp>
        <p:nvSpPr>
          <p:cNvPr id="3" name="Text 1"/>
          <p:cNvSpPr/>
          <p:nvPr/>
        </p:nvSpPr>
        <p:spPr>
          <a:xfrm>
            <a:off x="508000" y="0"/>
            <a:ext cx="10160000" cy="508000"/>
          </a:xfrm>
          <a:prstGeom prst="rect">
            <a:avLst/>
          </a:prstGeom>
          <a:noFill/>
          <a:ln/>
        </p:spPr>
        <p:txBody>
          <a:bodyPr wrap="none" lIns="0" tIns="0" rIns="0" bIns="0" rtlCol="0" anchor="ctr"/>
          <a:lstStyle/>
          <a:p>
            <a:pP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基于大语言模型的社交媒体青少年生殖健康评论分类分析与问答生成研究</a:t>
            </a:r>
            <a:endParaRPr lang="en-US" sz="1400" dirty="0"/>
          </a:p>
        </p:txBody>
      </p:sp>
      <p:sp>
        <p:nvSpPr>
          <p:cNvPr id="4" name="Text 2"/>
          <p:cNvSpPr/>
          <p:nvPr/>
        </p:nvSpPr>
        <p:spPr>
          <a:xfrm>
            <a:off x="12700000" y="0"/>
            <a:ext cx="3048000" cy="508000"/>
          </a:xfrm>
          <a:prstGeom prst="rect">
            <a:avLst/>
          </a:prstGeom>
          <a:noFill/>
          <a:ln/>
        </p:spPr>
        <p:txBody>
          <a:bodyPr wrap="none" lIns="0" tIns="0" rIns="0" bIns="0" rtlCol="0" anchor="ctr"/>
          <a:lstStyle/>
          <a:p>
            <a:pPr algn="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主题级分析与典型案例</a:t>
            </a:r>
            <a:endParaRPr lang="en-US" sz="1400" dirty="0"/>
          </a:p>
        </p:txBody>
      </p:sp>
      <p:sp>
        <p:nvSpPr>
          <p:cNvPr id="5" name="Text 3"/>
          <p:cNvSpPr/>
          <p:nvPr/>
        </p:nvSpPr>
        <p:spPr>
          <a:xfrm>
            <a:off x="762000" y="698500"/>
            <a:ext cx="7620000" cy="508000"/>
          </a:xfrm>
          <a:prstGeom prst="rect">
            <a:avLst/>
          </a:prstGeom>
          <a:noFill/>
          <a:ln/>
        </p:spPr>
        <p:txBody>
          <a:bodyPr wrap="none" lIns="0" tIns="0" rIns="0" bIns="0" rtlCol="0" anchor="ctr"/>
          <a:lstStyle/>
          <a:p>
            <a:pPr>
              <a:lnSpc>
                <a:spcPct val="130000"/>
              </a:lnSpc>
            </a:pPr>
            <a:r>
              <a:rPr lang="en-US" sz="2800" dirty="0">
                <a:solidFill>
                  <a:srgbClr val="1A4B8C"/>
                </a:solidFill>
                <a:latin typeface="QuattrocentoSans" pitchFamily="34" charset="0"/>
                <a:ea typeface="QuattrocentoSans" pitchFamily="34" charset="-122"/>
                <a:cs typeface="QuattrocentoSans" pitchFamily="34" charset="-120"/>
              </a:rPr>
              <a:t>主题级分析与典型案例</a:t>
            </a:r>
            <a:endParaRPr lang="en-US" sz="2800" dirty="0"/>
          </a:p>
        </p:txBody>
      </p:sp>
      <p:sp>
        <p:nvSpPr>
          <p:cNvPr id="6" name="Shape 4"/>
          <p:cNvSpPr/>
          <p:nvPr/>
        </p:nvSpPr>
        <p:spPr>
          <a:xfrm>
            <a:off x="762000" y="1295400"/>
            <a:ext cx="508000" cy="38100"/>
          </a:xfrm>
          <a:prstGeom prst="rect">
            <a:avLst/>
          </a:prstGeom>
          <a:solidFill>
            <a:srgbClr val="1A4B8C"/>
          </a:solidFill>
          <a:ln/>
        </p:spPr>
      </p:sp>
      <p:sp>
        <p:nvSpPr>
          <p:cNvPr id="7" name="Text 5"/>
          <p:cNvSpPr/>
          <p:nvPr/>
        </p:nvSpPr>
        <p:spPr>
          <a:xfrm>
            <a:off x="762000" y="1524000"/>
            <a:ext cx="5080000" cy="3556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各主题综合均分提升幅度（Qwen3-4B）</a:t>
            </a:r>
            <a:endParaRPr lang="en-US" sz="1600" dirty="0"/>
          </a:p>
        </p:txBody>
      </p:sp>
      <p:graphicFrame>
        <p:nvGraphicFramePr>
          <p:cNvPr id="8" name="Chart 0" descr=""/>
          <p:cNvGraphicFramePr/>
          <p:nvPr/>
        </p:nvGraphicFramePr>
        <p:xfrm>
          <a:off x="762000" y="1968500"/>
          <a:ext cx="7366000" cy="3429000"/>
        </p:xfrm>
        <a:graphic xmlns:a="http://schemas.openxmlformats.org/drawingml/2006/main">
          <a:graphicData uri="http://schemas.openxmlformats.org/drawingml/2006/chart">
            <c:chart xmlns:c="http://schemas.openxmlformats.org/drawingml/2006/chart" r:id="rId1"/>
          </a:graphicData>
        </a:graphic>
      </p:graphicFrame>
      <p:sp>
        <p:nvSpPr>
          <p:cNvPr id="9" name="Shape 6"/>
          <p:cNvSpPr/>
          <p:nvPr/>
        </p:nvSpPr>
        <p:spPr>
          <a:xfrm>
            <a:off x="8382000" y="1524000"/>
            <a:ext cx="0" cy="3873500"/>
          </a:xfrm>
          <a:prstGeom prst="straightConnector1">
            <a:avLst/>
          </a:prstGeom>
          <a:noFill/>
          <a:ln w="12700">
            <a:solidFill>
              <a:srgbClr val="8A9BB0"/>
            </a:solidFill>
            <a:prstDash val="solid"/>
            <a:headEnd type="none"/>
            <a:tailEnd type="none"/>
          </a:ln>
        </p:spPr>
      </p:sp>
      <p:sp>
        <p:nvSpPr>
          <p:cNvPr id="10" name="Text 7"/>
          <p:cNvSpPr/>
          <p:nvPr/>
        </p:nvSpPr>
        <p:spPr>
          <a:xfrm>
            <a:off x="8763000" y="1524000"/>
            <a:ext cx="6350000" cy="3556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典型案例对比</a:t>
            </a:r>
            <a:endParaRPr lang="en-US" sz="1600" dirty="0"/>
          </a:p>
        </p:txBody>
      </p:sp>
      <p:sp>
        <p:nvSpPr>
          <p:cNvPr id="11" name="Shape 8"/>
          <p:cNvSpPr/>
          <p:nvPr/>
        </p:nvSpPr>
        <p:spPr>
          <a:xfrm>
            <a:off x="8763000" y="2006600"/>
            <a:ext cx="6731000" cy="1460500"/>
          </a:xfrm>
          <a:prstGeom prst="rect">
            <a:avLst/>
          </a:prstGeom>
          <a:solidFill>
            <a:srgbClr val="F0F7FF"/>
          </a:solidFill>
          <a:ln/>
        </p:spPr>
      </p:sp>
      <p:sp>
        <p:nvSpPr>
          <p:cNvPr id="12" name="Text 9"/>
          <p:cNvSpPr/>
          <p:nvPr/>
        </p:nvSpPr>
        <p:spPr>
          <a:xfrm>
            <a:off x="8953500" y="2070100"/>
            <a:ext cx="1524000" cy="279400"/>
          </a:xfrm>
          <a:prstGeom prst="rect">
            <a:avLst/>
          </a:prstGeom>
          <a:noFill/>
          <a:ln/>
        </p:spPr>
        <p:txBody>
          <a:bodyPr wrap="none" lIns="0" tIns="0" rIns="0" bIns="0" rtlCol="0" anchor="ctr"/>
          <a:lstStyle/>
          <a:p>
            <a:pPr>
              <a:lnSpc>
                <a:spcPct val="100000"/>
              </a:lnSpc>
            </a:pPr>
            <a:r>
              <a:rPr lang="en-US" sz="1400" b="1" dirty="0">
                <a:solidFill>
                  <a:srgbClr val="1A4B8C"/>
                </a:solidFill>
                <a:latin typeface="Quattrocento Sans" pitchFamily="34" charset="0"/>
                <a:ea typeface="Quattrocento Sans" pitchFamily="34" charset="-122"/>
                <a:cs typeface="Quattrocento Sans" pitchFamily="34" charset="-120"/>
              </a:rPr>
              <a:t>优秀案例</a:t>
            </a:r>
            <a:endParaRPr lang="en-US" sz="1600" dirty="0"/>
          </a:p>
        </p:txBody>
      </p:sp>
      <p:sp>
        <p:nvSpPr>
          <p:cNvPr id="13" name="Text 10"/>
          <p:cNvSpPr/>
          <p:nvPr/>
        </p:nvSpPr>
        <p:spPr>
          <a:xfrm>
            <a:off x="8953500" y="2387600"/>
            <a:ext cx="6350000" cy="1079500"/>
          </a:xfrm>
          <a:prstGeom prst="rect">
            <a:avLst/>
          </a:prstGeom>
          <a:noFill/>
          <a:ln/>
        </p:spPr>
        <p:txBody>
          <a:bodyPr wrap="square" lIns="0" tIns="0" rIns="0" bIns="0" rtlCol="0" anchor="t"/>
          <a:lstStyle/>
          <a:p>
            <a:pPr>
              <a:lnSpc>
                <a:spcPct val="150000"/>
              </a:lnSpc>
            </a:pPr>
            <a:r>
              <a:rPr lang="en-US" sz="1500" dirty="0">
                <a:solidFill>
                  <a:srgbClr val="1A1D21"/>
                </a:solidFill>
                <a:latin typeface="Quattrocento Sans" pitchFamily="34" charset="0"/>
                <a:ea typeface="Quattrocento Sans" pitchFamily="34" charset="-122"/>
                <a:cs typeface="Quattrocento Sans" pitchFamily="34" charset="-120"/>
              </a:rPr>
              <a:t>人工流产主题：基线模型将"中晚期终止妊娠"错误描述为"医生建议的常规选择"；微调后模型准确指出医学指征（胎儿畸形、母体并发症），信息准确、逻辑清晰</a:t>
            </a:r>
            <a:endParaRPr lang="en-US" sz="1600" dirty="0"/>
          </a:p>
        </p:txBody>
      </p:sp>
      <p:sp>
        <p:nvSpPr>
          <p:cNvPr id="14" name="Shape 11"/>
          <p:cNvSpPr/>
          <p:nvPr/>
        </p:nvSpPr>
        <p:spPr>
          <a:xfrm>
            <a:off x="8763000" y="3594100"/>
            <a:ext cx="6731000" cy="1460500"/>
          </a:xfrm>
          <a:prstGeom prst="rect">
            <a:avLst/>
          </a:prstGeom>
          <a:solidFill>
            <a:srgbClr val="FFF5F0"/>
          </a:solidFill>
          <a:ln/>
        </p:spPr>
      </p:sp>
      <p:sp>
        <p:nvSpPr>
          <p:cNvPr id="15" name="Text 12"/>
          <p:cNvSpPr/>
          <p:nvPr/>
        </p:nvSpPr>
        <p:spPr>
          <a:xfrm>
            <a:off x="8953500" y="3657600"/>
            <a:ext cx="1524000" cy="279400"/>
          </a:xfrm>
          <a:prstGeom prst="rect">
            <a:avLst/>
          </a:prstGeom>
          <a:noFill/>
          <a:ln/>
        </p:spPr>
        <p:txBody>
          <a:bodyPr wrap="none" lIns="0" tIns="0" rIns="0" bIns="0" rtlCol="0" anchor="ctr"/>
          <a:lstStyle/>
          <a:p>
            <a:pPr>
              <a:lnSpc>
                <a:spcPct val="100000"/>
              </a:lnSpc>
            </a:pPr>
            <a:r>
              <a:rPr lang="en-US" sz="1400" b="1" dirty="0">
                <a:solidFill>
                  <a:srgbClr val="C45C26"/>
                </a:solidFill>
                <a:latin typeface="Quattrocento Sans" pitchFamily="34" charset="0"/>
                <a:ea typeface="Quattrocento Sans" pitchFamily="34" charset="-122"/>
                <a:cs typeface="Quattrocento Sans" pitchFamily="34" charset="-120"/>
              </a:rPr>
              <a:t>边界案例</a:t>
            </a:r>
            <a:endParaRPr lang="en-US" sz="1600" dirty="0"/>
          </a:p>
        </p:txBody>
      </p:sp>
      <p:sp>
        <p:nvSpPr>
          <p:cNvPr id="16" name="Text 13"/>
          <p:cNvSpPr/>
          <p:nvPr/>
        </p:nvSpPr>
        <p:spPr>
          <a:xfrm>
            <a:off x="8953500" y="3975100"/>
            <a:ext cx="6350000" cy="1041400"/>
          </a:xfrm>
          <a:prstGeom prst="rect">
            <a:avLst/>
          </a:prstGeom>
          <a:noFill/>
          <a:ln/>
        </p:spPr>
        <p:txBody>
          <a:bodyPr wrap="square" lIns="0" tIns="0" rIns="0" bIns="0" rtlCol="0" anchor="t"/>
          <a:lstStyle/>
          <a:p>
            <a:pPr>
              <a:lnSpc>
                <a:spcPct val="150000"/>
              </a:lnSpc>
            </a:pPr>
            <a:r>
              <a:rPr lang="en-US" sz="1500" dirty="0">
                <a:solidFill>
                  <a:srgbClr val="1A1D21"/>
                </a:solidFill>
                <a:latin typeface="Quattrocento Sans" pitchFamily="34" charset="0"/>
                <a:ea typeface="Quattrocento Sans" pitchFamily="34" charset="-122"/>
                <a:cs typeface="Quattrocento Sans" pitchFamily="34" charset="-120"/>
              </a:rPr>
              <a:t>男性避孕针：模型将男性避孕针与女性激素避孕针混淆，编造"月经第5-7天注射"等用药规范；二手避孕套：模型认可伪概念并编造获取途径，存在严重安全隐患</a:t>
            </a:r>
            <a:endParaRPr lang="en-US" sz="1600" dirty="0"/>
          </a:p>
        </p:txBody>
      </p:sp>
      <p:sp>
        <p:nvSpPr>
          <p:cNvPr id="17" name="Shape 14"/>
          <p:cNvSpPr/>
          <p:nvPr/>
        </p:nvSpPr>
        <p:spPr>
          <a:xfrm>
            <a:off x="762000" y="5651500"/>
            <a:ext cx="14732000" cy="2667000"/>
          </a:xfrm>
          <a:prstGeom prst="rect">
            <a:avLst/>
          </a:prstGeom>
          <a:solidFill>
            <a:srgbClr val="FFFFFF"/>
          </a:solidFill>
          <a:ln/>
        </p:spPr>
      </p:sp>
      <p:sp>
        <p:nvSpPr>
          <p:cNvPr id="18" name="Text 15"/>
          <p:cNvSpPr/>
          <p:nvPr/>
        </p:nvSpPr>
        <p:spPr>
          <a:xfrm>
            <a:off x="1016000" y="5778500"/>
            <a:ext cx="3810000" cy="3556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核心结论</a:t>
            </a:r>
            <a:endParaRPr lang="en-US" sz="1600" dirty="0"/>
          </a:p>
        </p:txBody>
      </p:sp>
      <p:sp>
        <p:nvSpPr>
          <p:cNvPr id="19" name="Text 16"/>
          <p:cNvSpPr/>
          <p:nvPr/>
        </p:nvSpPr>
        <p:spPr>
          <a:xfrm>
            <a:off x="1016000" y="6223000"/>
            <a:ext cx="14224000" cy="1905000"/>
          </a:xfrm>
          <a:prstGeom prst="rect">
            <a:avLst/>
          </a:prstGeom>
          <a:noFill/>
          <a:ln/>
        </p:spPr>
        <p:txBody>
          <a:bodyPr wrap="square" lIns="0" tIns="0" rIns="0" bIns="0" rtlCol="0" anchor="t"/>
          <a:lstStyle/>
          <a:p>
            <a:pPr>
              <a:lnSpc>
                <a:spcPct val="170000"/>
              </a:lnSpc>
            </a:pPr>
            <a:r>
              <a:rPr lang="en-US" sz="1700" b="1" dirty="0">
                <a:solidFill>
                  <a:srgbClr val="1A4B8C"/>
                </a:solidFill>
                <a:latin typeface="Quattrocento Sans" pitchFamily="34" charset="0"/>
                <a:ea typeface="Quattrocento Sans" pitchFamily="34" charset="-122"/>
                <a:cs typeface="Quattrocento Sans" pitchFamily="34" charset="-120"/>
              </a:rPr>
              <a:t>提升梯度</a:t>
            </a:r>
            <a:pPr>
              <a:lnSpc>
                <a:spcPct val="170000"/>
              </a:lnSpc>
            </a:pPr>
            <a:r>
              <a:rPr lang="en-US" sz="1700" dirty="0">
                <a:solidFill>
                  <a:srgbClr val="1A1D21"/>
                </a:solidFill>
                <a:latin typeface="Quattrocento Sans" pitchFamily="34" charset="0"/>
                <a:ea typeface="Quattrocento Sans" pitchFamily="34" charset="-122"/>
                <a:cs typeface="Quattrocento Sans" pitchFamily="34" charset="-120"/>
              </a:rPr>
              <a:t>：高风险敏感议题（人工流产、体外排精）提升幅度最大，向常规高频议题递减，说明数据集在主题覆盖上较为均衡</a:t>
            </a:r>
            <a:endParaRPr lang="en-US" sz="1600" dirty="0"/>
          </a:p>
          <a:p>
            <a:pPr>
              <a:lnSpc>
                <a:spcPct val="170000"/>
              </a:lnSpc>
            </a:pPr>
            <a:r>
              <a:rPr lang="en-US" sz="1700" b="1" dirty="0">
                <a:solidFill>
                  <a:srgbClr val="1A4B8C"/>
                </a:solidFill>
                <a:latin typeface="Quattrocento Sans" pitchFamily="34" charset="0"/>
                <a:ea typeface="Quattrocento Sans" pitchFamily="34" charset="-122"/>
                <a:cs typeface="Quattrocento Sans" pitchFamily="34" charset="-120"/>
              </a:rPr>
              <a:t>能力盲区</a:t>
            </a:r>
            <a:pPr>
              <a:lnSpc>
                <a:spcPct val="170000"/>
              </a:lnSpc>
            </a:pPr>
            <a:r>
              <a:rPr lang="en-US" sz="1700" dirty="0">
                <a:solidFill>
                  <a:srgbClr val="1A1D21"/>
                </a:solidFill>
                <a:latin typeface="Quattrocento Sans" pitchFamily="34" charset="0"/>
                <a:ea typeface="Quattrocento Sans" pitchFamily="34" charset="-122"/>
                <a:cs typeface="Quattrocento Sans" pitchFamily="34" charset="-120"/>
              </a:rPr>
              <a:t>：①前沿未定论议题——模型易混淆研究进展与既有知识，产生幻觉；②伪概念提问——模型缺乏批判性反驳能力，倾向于迎合式演绎</a:t>
            </a:r>
            <a:endParaRPr lang="en-US" sz="1600" dirty="0"/>
          </a:p>
          <a:p>
            <a:pPr>
              <a:lnSpc>
                <a:spcPct val="170000"/>
              </a:lnSpc>
            </a:pPr>
            <a:r>
              <a:rPr lang="en-US" sz="1700" b="1" dirty="0">
                <a:solidFill>
                  <a:srgbClr val="1A4B8C"/>
                </a:solidFill>
                <a:latin typeface="Quattrocento Sans" pitchFamily="34" charset="0"/>
                <a:ea typeface="Quattrocento Sans" pitchFamily="34" charset="-122"/>
                <a:cs typeface="Quattrocento Sans" pitchFamily="34" charset="-120"/>
              </a:rPr>
              <a:t>改进方向</a:t>
            </a:r>
            <a:pPr>
              <a:lnSpc>
                <a:spcPct val="170000"/>
              </a:lnSpc>
            </a:pPr>
            <a:r>
              <a:rPr lang="en-US" sz="1700" dirty="0">
                <a:solidFill>
                  <a:srgbClr val="1A1D21"/>
                </a:solidFill>
                <a:latin typeface="Quattrocento Sans" pitchFamily="34" charset="0"/>
                <a:ea typeface="Quattrocento Sans" pitchFamily="34" charset="-122"/>
                <a:cs typeface="Quattrocento Sans" pitchFamily="34" charset="-120"/>
              </a:rPr>
              <a:t>：数据集需持续扩充辟谣类样本和前沿进展类样本，以增强模型鲁棒性与安全性</a:t>
            </a:r>
            <a:endParaRPr lang="en-US" sz="1600" dirty="0"/>
          </a:p>
        </p:txBody>
      </p:sp>
      <p:sp>
        <p:nvSpPr>
          <p:cNvPr id="20" name="Text 17"/>
          <p:cNvSpPr/>
          <p:nvPr/>
        </p:nvSpPr>
        <p:spPr>
          <a:xfrm>
            <a:off x="762000" y="8763000"/>
            <a:ext cx="3810000" cy="254000"/>
          </a:xfrm>
          <a:prstGeom prst="rect">
            <a:avLst/>
          </a:prstGeom>
          <a:noFill/>
          <a:ln/>
        </p:spPr>
        <p:txBody>
          <a:bodyPr wrap="none" lIns="0" tIns="0" rIns="0" bIns="0" rtlCol="0" anchor="ctr"/>
          <a:lstStyle/>
          <a:p>
            <a:pP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南京医科大学</a:t>
            </a:r>
            <a:endParaRPr lang="en-US" sz="1400" dirty="0"/>
          </a:p>
        </p:txBody>
      </p:sp>
      <p:sp>
        <p:nvSpPr>
          <p:cNvPr id="21" name="Text 18"/>
          <p:cNvSpPr/>
          <p:nvPr/>
        </p:nvSpPr>
        <p:spPr>
          <a:xfrm>
            <a:off x="13970000" y="8763000"/>
            <a:ext cx="1524000" cy="254000"/>
          </a:xfrm>
          <a:prstGeom prst="rect">
            <a:avLst/>
          </a:prstGeom>
          <a:noFill/>
          <a:ln/>
        </p:spPr>
        <p:txBody>
          <a:bodyPr wrap="none" lIns="0" tIns="0" rIns="0" bIns="0" rtlCol="0" anchor="ctr"/>
          <a:lstStyle/>
          <a:p>
            <a:pPr algn="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10</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1A4B8C"/>
          </a:solidFill>
          <a:ln/>
        </p:spPr>
      </p:sp>
      <p:sp>
        <p:nvSpPr>
          <p:cNvPr id="3" name="Text 1"/>
          <p:cNvSpPr/>
          <p:nvPr/>
        </p:nvSpPr>
        <p:spPr>
          <a:xfrm>
            <a:off x="508000" y="0"/>
            <a:ext cx="10160000" cy="508000"/>
          </a:xfrm>
          <a:prstGeom prst="rect">
            <a:avLst/>
          </a:prstGeom>
          <a:noFill/>
          <a:ln/>
        </p:spPr>
        <p:txBody>
          <a:bodyPr wrap="none" lIns="0" tIns="0" rIns="0" bIns="0" rtlCol="0" anchor="ctr"/>
          <a:lstStyle/>
          <a:p>
            <a:pP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基于大语言模型的社交媒体青少年生殖健康评论分类分析与问答生成研究</a:t>
            </a:r>
            <a:endParaRPr lang="en-US" sz="1400" dirty="0"/>
          </a:p>
        </p:txBody>
      </p:sp>
      <p:sp>
        <p:nvSpPr>
          <p:cNvPr id="4" name="Text 2"/>
          <p:cNvSpPr/>
          <p:nvPr/>
        </p:nvSpPr>
        <p:spPr>
          <a:xfrm>
            <a:off x="12700000" y="0"/>
            <a:ext cx="3048000" cy="508000"/>
          </a:xfrm>
          <a:prstGeom prst="rect">
            <a:avLst/>
          </a:prstGeom>
          <a:noFill/>
          <a:ln/>
        </p:spPr>
        <p:txBody>
          <a:bodyPr wrap="none" lIns="0" tIns="0" rIns="0" bIns="0" rtlCol="0" anchor="ctr"/>
          <a:lstStyle/>
          <a:p>
            <a:pPr algn="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主要结论与创新点</a:t>
            </a:r>
            <a:endParaRPr lang="en-US" sz="1400" dirty="0"/>
          </a:p>
        </p:txBody>
      </p:sp>
      <p:sp>
        <p:nvSpPr>
          <p:cNvPr id="5" name="Text 3"/>
          <p:cNvSpPr/>
          <p:nvPr/>
        </p:nvSpPr>
        <p:spPr>
          <a:xfrm>
            <a:off x="762000" y="698500"/>
            <a:ext cx="7620000" cy="508000"/>
          </a:xfrm>
          <a:prstGeom prst="rect">
            <a:avLst/>
          </a:prstGeom>
          <a:noFill/>
          <a:ln/>
        </p:spPr>
        <p:txBody>
          <a:bodyPr wrap="none" lIns="0" tIns="0" rIns="0" bIns="0" rtlCol="0" anchor="ctr"/>
          <a:lstStyle/>
          <a:p>
            <a:pPr>
              <a:lnSpc>
                <a:spcPct val="130000"/>
              </a:lnSpc>
            </a:pPr>
            <a:r>
              <a:rPr lang="en-US" sz="2800" dirty="0">
                <a:solidFill>
                  <a:srgbClr val="1A4B8C"/>
                </a:solidFill>
                <a:latin typeface="QuattrocentoSans" pitchFamily="34" charset="0"/>
                <a:ea typeface="QuattrocentoSans" pitchFamily="34" charset="-122"/>
                <a:cs typeface="QuattrocentoSans" pitchFamily="34" charset="-120"/>
              </a:rPr>
              <a:t>主要结论与创新点</a:t>
            </a:r>
            <a:endParaRPr lang="en-US" sz="2800" dirty="0"/>
          </a:p>
        </p:txBody>
      </p:sp>
      <p:sp>
        <p:nvSpPr>
          <p:cNvPr id="6" name="Shape 4"/>
          <p:cNvSpPr/>
          <p:nvPr/>
        </p:nvSpPr>
        <p:spPr>
          <a:xfrm>
            <a:off x="762000" y="1295400"/>
            <a:ext cx="508000" cy="38100"/>
          </a:xfrm>
          <a:prstGeom prst="rect">
            <a:avLst/>
          </a:prstGeom>
          <a:solidFill>
            <a:srgbClr val="1A4B8C"/>
          </a:solidFill>
          <a:ln/>
        </p:spPr>
      </p:sp>
      <p:sp>
        <p:nvSpPr>
          <p:cNvPr id="7" name="Text 5"/>
          <p:cNvSpPr/>
          <p:nvPr/>
        </p:nvSpPr>
        <p:spPr>
          <a:xfrm>
            <a:off x="762000" y="1524000"/>
            <a:ext cx="3810000" cy="3556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四大核心发现</a:t>
            </a:r>
            <a:endParaRPr lang="en-US" sz="1600" dirty="0"/>
          </a:p>
        </p:txBody>
      </p:sp>
      <p:sp>
        <p:nvSpPr>
          <p:cNvPr id="8" name="Text 6"/>
          <p:cNvSpPr/>
          <p:nvPr/>
        </p:nvSpPr>
        <p:spPr>
          <a:xfrm>
            <a:off x="762000" y="1968500"/>
            <a:ext cx="14732000" cy="1778000"/>
          </a:xfrm>
          <a:prstGeom prst="rect">
            <a:avLst/>
          </a:prstGeom>
          <a:noFill/>
          <a:ln/>
        </p:spPr>
        <p:txBody>
          <a:bodyPr wrap="square" lIns="0" tIns="0" rIns="0" bIns="0" rtlCol="0" anchor="t"/>
          <a:lstStyle/>
          <a:p>
            <a:pPr>
              <a:lnSpc>
                <a:spcPct val="170000"/>
              </a:lnSpc>
            </a:pPr>
            <a:r>
              <a:rPr lang="en-US" sz="1700" b="1" dirty="0">
                <a:solidFill>
                  <a:srgbClr val="1A4B8C"/>
                </a:solidFill>
                <a:latin typeface="Quattrocento Sans" pitchFamily="34" charset="0"/>
                <a:ea typeface="Quattrocento Sans" pitchFamily="34" charset="-122"/>
                <a:cs typeface="Quattrocento Sans" pitchFamily="34" charset="-120"/>
              </a:rPr>
              <a:t>①</a:t>
            </a:r>
            <a:pPr>
              <a:lnSpc>
                <a:spcPct val="170000"/>
              </a:lnSpc>
            </a:pPr>
            <a:r>
              <a:rPr lang="en-US" sz="1700" dirty="0">
                <a:solidFill>
                  <a:srgbClr val="1A1D21"/>
                </a:solidFill>
                <a:latin typeface="Quattrocento Sans" pitchFamily="34" charset="0"/>
                <a:ea typeface="Quattrocento Sans" pitchFamily="34" charset="-122"/>
                <a:cs typeface="Quattrocento Sans" pitchFamily="34" charset="-120"/>
              </a:rPr>
              <a:t> 青少年需求呈"头部集中、长尾分布"——基础科普与安全套使用占54.47%，高风险议题认知误区普遍</a:t>
            </a:r>
            <a:endParaRPr lang="en-US" sz="1600" dirty="0"/>
          </a:p>
          <a:p>
            <a:pPr>
              <a:lnSpc>
                <a:spcPct val="170000"/>
              </a:lnSpc>
            </a:pPr>
            <a:r>
              <a:rPr lang="en-US" sz="1700" b="1" dirty="0">
                <a:solidFill>
                  <a:srgbClr val="1A4B8C"/>
                </a:solidFill>
                <a:latin typeface="Quattrocento Sans" pitchFamily="34" charset="0"/>
                <a:ea typeface="Quattrocento Sans" pitchFamily="34" charset="-122"/>
                <a:cs typeface="Quattrocento Sans" pitchFamily="34" charset="-120"/>
              </a:rPr>
              <a:t>②</a:t>
            </a:r>
            <a:pPr>
              <a:lnSpc>
                <a:spcPct val="170000"/>
              </a:lnSpc>
            </a:pPr>
            <a:r>
              <a:rPr lang="en-US" sz="1700" dirty="0">
                <a:solidFill>
                  <a:srgbClr val="1A1D21"/>
                </a:solidFill>
                <a:latin typeface="Quattrocento Sans" pitchFamily="34" charset="0"/>
                <a:ea typeface="Quattrocento Sans" pitchFamily="34" charset="-122"/>
                <a:cs typeface="Quattrocento Sans" pitchFamily="34" charset="-120"/>
              </a:rPr>
              <a:t> 用户评论能有效反映真实需求——口语化表达中蕴含传统问卷难以捕捉的敏感困惑与情感诉求</a:t>
            </a:r>
            <a:endParaRPr lang="en-US" sz="1600" dirty="0"/>
          </a:p>
          <a:p>
            <a:pPr>
              <a:lnSpc>
                <a:spcPct val="170000"/>
              </a:lnSpc>
            </a:pPr>
            <a:r>
              <a:rPr lang="en-US" sz="1700" b="1" dirty="0">
                <a:solidFill>
                  <a:srgbClr val="1A4B8C"/>
                </a:solidFill>
                <a:latin typeface="Quattrocento Sans" pitchFamily="34" charset="0"/>
                <a:ea typeface="Quattrocento Sans" pitchFamily="34" charset="-122"/>
                <a:cs typeface="Quattrocento Sans" pitchFamily="34" charset="-120"/>
              </a:rPr>
              <a:t>③</a:t>
            </a:r>
            <a:pPr>
              <a:lnSpc>
                <a:spcPct val="170000"/>
              </a:lnSpc>
            </a:pPr>
            <a:r>
              <a:rPr lang="en-US" sz="1700" dirty="0">
                <a:solidFill>
                  <a:srgbClr val="1A1D21"/>
                </a:solidFill>
                <a:latin typeface="Quattrocento Sans" pitchFamily="34" charset="0"/>
                <a:ea typeface="Quattrocento Sans" pitchFamily="34" charset="-122"/>
                <a:cs typeface="Quattrocento Sans" pitchFamily="34" charset="-120"/>
              </a:rPr>
              <a:t> LLM配合人工审核可规模化产出高质量问答对——2767条问答对综合均分2.96，达临床应用标准</a:t>
            </a:r>
            <a:endParaRPr lang="en-US" sz="1600" dirty="0"/>
          </a:p>
          <a:p>
            <a:pPr>
              <a:lnSpc>
                <a:spcPct val="170000"/>
              </a:lnSpc>
            </a:pPr>
            <a:r>
              <a:rPr lang="en-US" sz="1700" b="1" dirty="0">
                <a:solidFill>
                  <a:srgbClr val="1A4B8C"/>
                </a:solidFill>
                <a:latin typeface="Quattrocento Sans" pitchFamily="34" charset="0"/>
                <a:ea typeface="Quattrocento Sans" pitchFamily="34" charset="-122"/>
                <a:cs typeface="Quattrocento Sans" pitchFamily="34" charset="-120"/>
              </a:rPr>
              <a:t>④</a:t>
            </a:r>
            <a:pPr>
              <a:lnSpc>
                <a:spcPct val="170000"/>
              </a:lnSpc>
            </a:pPr>
            <a:r>
              <a:rPr lang="en-US" sz="1700" dirty="0">
                <a:solidFill>
                  <a:srgbClr val="1A1D21"/>
                </a:solidFill>
                <a:latin typeface="Quattrocento Sans" pitchFamily="34" charset="0"/>
                <a:ea typeface="Quattrocento Sans" pitchFamily="34" charset="-122"/>
                <a:cs typeface="Quattrocento Sans" pitchFamily="34" charset="-120"/>
              </a:rPr>
              <a:t> 领域微调显著提升模型专业性（p&lt;0.001），但面对前沿议题和伪概念时幻觉风险仍需关注</a:t>
            </a:r>
            <a:endParaRPr lang="en-US" sz="1600" dirty="0"/>
          </a:p>
        </p:txBody>
      </p:sp>
      <p:sp>
        <p:nvSpPr>
          <p:cNvPr id="9" name="Shape 7"/>
          <p:cNvSpPr/>
          <p:nvPr/>
        </p:nvSpPr>
        <p:spPr>
          <a:xfrm>
            <a:off x="762000" y="3937000"/>
            <a:ext cx="14732000" cy="0"/>
          </a:xfrm>
          <a:prstGeom prst="straightConnector1">
            <a:avLst/>
          </a:prstGeom>
          <a:noFill/>
          <a:ln w="12700">
            <a:solidFill>
              <a:srgbClr val="8A9BB0"/>
            </a:solidFill>
            <a:prstDash val="solid"/>
            <a:headEnd type="none"/>
            <a:tailEnd type="none"/>
          </a:ln>
        </p:spPr>
      </p:sp>
      <p:sp>
        <p:nvSpPr>
          <p:cNvPr id="10" name="Text 8"/>
          <p:cNvSpPr/>
          <p:nvPr/>
        </p:nvSpPr>
        <p:spPr>
          <a:xfrm>
            <a:off x="762000" y="4127500"/>
            <a:ext cx="3810000" cy="355600"/>
          </a:xfrm>
          <a:prstGeom prst="rect">
            <a:avLst/>
          </a:prstGeom>
          <a:noFill/>
          <a:ln/>
        </p:spPr>
        <p:txBody>
          <a:bodyPr wrap="none" lIns="0" tIns="0" rIns="0" bIns="0" rtlCol="0" anchor="ctr"/>
          <a:lstStyle/>
          <a:p>
            <a:pPr>
              <a:lnSpc>
                <a:spcPct val="100000"/>
              </a:lnSpc>
            </a:pPr>
            <a:r>
              <a:rPr lang="en-US" sz="1800" b="1" dirty="0">
                <a:solidFill>
                  <a:srgbClr val="1A4B8C"/>
                </a:solidFill>
                <a:latin typeface="Quattrocento Sans" pitchFamily="34" charset="0"/>
                <a:ea typeface="Quattrocento Sans" pitchFamily="34" charset="-122"/>
                <a:cs typeface="Quattrocento Sans" pitchFamily="34" charset="-120"/>
              </a:rPr>
              <a:t>四大创新点</a:t>
            </a:r>
            <a:endParaRPr lang="en-US" sz="1600" dirty="0"/>
          </a:p>
        </p:txBody>
      </p:sp>
      <p:sp>
        <p:nvSpPr>
          <p:cNvPr id="11" name="Shape 9"/>
          <p:cNvSpPr/>
          <p:nvPr/>
        </p:nvSpPr>
        <p:spPr>
          <a:xfrm>
            <a:off x="762000" y="4635500"/>
            <a:ext cx="3429000" cy="2667000"/>
          </a:xfrm>
          <a:prstGeom prst="rect">
            <a:avLst/>
          </a:prstGeom>
          <a:solidFill>
            <a:srgbClr val="FFFFFF"/>
          </a:solidFill>
          <a:ln/>
        </p:spPr>
      </p:sp>
      <p:sp>
        <p:nvSpPr>
          <p:cNvPr id="12" name="Shape 10"/>
          <p:cNvSpPr/>
          <p:nvPr/>
        </p:nvSpPr>
        <p:spPr>
          <a:xfrm>
            <a:off x="990600" y="4826000"/>
            <a:ext cx="457200" cy="406400"/>
          </a:xfrm>
          <a:custGeom>
            <a:avLst/>
            <a:gdLst/>
            <a:ahLst/>
            <a:cxnLst/>
            <a:rect l="l" t="t" r="r" b="b"/>
            <a:pathLst>
              <a:path w="457200" h="406400">
                <a:moveTo>
                  <a:pt x="304800" y="114300"/>
                </a:moveTo>
                <a:cubicBezTo>
                  <a:pt x="304800" y="191452"/>
                  <a:pt x="236538" y="254000"/>
                  <a:pt x="152400" y="254000"/>
                </a:cubicBezTo>
                <a:cubicBezTo>
                  <a:pt x="131207" y="254000"/>
                  <a:pt x="111046" y="250031"/>
                  <a:pt x="92710" y="242888"/>
                </a:cubicBezTo>
                <a:lnTo>
                  <a:pt x="27940" y="277178"/>
                </a:lnTo>
                <a:cubicBezTo>
                  <a:pt x="20558" y="281067"/>
                  <a:pt x="11509" y="279717"/>
                  <a:pt x="5556" y="273844"/>
                </a:cubicBezTo>
                <a:cubicBezTo>
                  <a:pt x="-397" y="267970"/>
                  <a:pt x="-1746" y="258842"/>
                  <a:pt x="2223" y="251460"/>
                </a:cubicBezTo>
                <a:lnTo>
                  <a:pt x="30480" y="198120"/>
                </a:lnTo>
                <a:cubicBezTo>
                  <a:pt x="11351" y="174784"/>
                  <a:pt x="0" y="145733"/>
                  <a:pt x="0" y="114300"/>
                </a:cubicBezTo>
                <a:cubicBezTo>
                  <a:pt x="0" y="37147"/>
                  <a:pt x="68263" y="-25400"/>
                  <a:pt x="152400" y="-25400"/>
                </a:cubicBezTo>
                <a:cubicBezTo>
                  <a:pt x="236538" y="-25400"/>
                  <a:pt x="304800" y="37147"/>
                  <a:pt x="304800" y="114300"/>
                </a:cubicBezTo>
                <a:close/>
                <a:moveTo>
                  <a:pt x="304800" y="406400"/>
                </a:moveTo>
                <a:cubicBezTo>
                  <a:pt x="230108" y="406400"/>
                  <a:pt x="167958" y="357108"/>
                  <a:pt x="154940" y="292100"/>
                </a:cubicBezTo>
                <a:cubicBezTo>
                  <a:pt x="250190" y="290909"/>
                  <a:pt x="332978" y="223123"/>
                  <a:pt x="342106" y="131207"/>
                </a:cubicBezTo>
                <a:cubicBezTo>
                  <a:pt x="408226" y="146447"/>
                  <a:pt x="457200" y="201295"/>
                  <a:pt x="457200" y="266700"/>
                </a:cubicBezTo>
                <a:cubicBezTo>
                  <a:pt x="457200" y="298133"/>
                  <a:pt x="445849" y="327184"/>
                  <a:pt x="426720" y="350520"/>
                </a:cubicBezTo>
                <a:lnTo>
                  <a:pt x="454978" y="403860"/>
                </a:lnTo>
                <a:cubicBezTo>
                  <a:pt x="458867" y="411242"/>
                  <a:pt x="457518" y="420291"/>
                  <a:pt x="451644" y="426244"/>
                </a:cubicBezTo>
                <a:cubicBezTo>
                  <a:pt x="445770" y="432197"/>
                  <a:pt x="436642" y="433546"/>
                  <a:pt x="429260" y="429578"/>
                </a:cubicBezTo>
                <a:lnTo>
                  <a:pt x="364490" y="395288"/>
                </a:lnTo>
                <a:cubicBezTo>
                  <a:pt x="346154" y="402431"/>
                  <a:pt x="325993" y="406400"/>
                  <a:pt x="304800" y="406400"/>
                </a:cubicBezTo>
                <a:close/>
              </a:path>
            </a:pathLst>
          </a:custGeom>
          <a:solidFill>
            <a:srgbClr val="1A4B8C"/>
          </a:solidFill>
          <a:ln/>
        </p:spPr>
      </p:sp>
      <p:sp>
        <p:nvSpPr>
          <p:cNvPr id="13" name="Text 11"/>
          <p:cNvSpPr/>
          <p:nvPr/>
        </p:nvSpPr>
        <p:spPr>
          <a:xfrm>
            <a:off x="1016000" y="5334000"/>
            <a:ext cx="2921000" cy="304800"/>
          </a:xfrm>
          <a:prstGeom prst="rect">
            <a:avLst/>
          </a:prstGeom>
          <a:noFill/>
          <a:ln/>
        </p:spPr>
        <p:txBody>
          <a:bodyPr wrap="none" lIns="0" tIns="0" rIns="0" bIns="0" rtlCol="0" anchor="ctr"/>
          <a:lstStyle/>
          <a:p>
            <a:pPr>
              <a:lnSpc>
                <a:spcPct val="100000"/>
              </a:lnSpc>
            </a:pPr>
            <a:r>
              <a:rPr lang="en-US" sz="1600" b="1" dirty="0">
                <a:solidFill>
                  <a:srgbClr val="1A4B8C"/>
                </a:solidFill>
                <a:latin typeface="Quattrocento Sans" pitchFamily="34" charset="0"/>
                <a:ea typeface="Quattrocento Sans" pitchFamily="34" charset="-122"/>
                <a:cs typeface="Quattrocento Sans" pitchFamily="34" charset="-120"/>
              </a:rPr>
              <a:t>研究对象创新</a:t>
            </a:r>
            <a:endParaRPr lang="en-US" sz="1600" dirty="0"/>
          </a:p>
        </p:txBody>
      </p:sp>
      <p:sp>
        <p:nvSpPr>
          <p:cNvPr id="14" name="Text 12"/>
          <p:cNvSpPr/>
          <p:nvPr/>
        </p:nvSpPr>
        <p:spPr>
          <a:xfrm>
            <a:off x="1016000" y="5715000"/>
            <a:ext cx="2921000" cy="1397000"/>
          </a:xfrm>
          <a:prstGeom prst="rect">
            <a:avLst/>
          </a:prstGeom>
          <a:noFill/>
          <a:ln/>
        </p:spPr>
        <p:txBody>
          <a:bodyPr wrap="square" lIns="0" tIns="0" rIns="0" bIns="0" rtlCol="0" anchor="t"/>
          <a:lstStyle/>
          <a:p>
            <a:pPr>
              <a:lnSpc>
                <a:spcPct val="150000"/>
              </a:lnSpc>
            </a:pPr>
            <a:r>
              <a:rPr lang="en-US" sz="1500" dirty="0">
                <a:solidFill>
                  <a:srgbClr val="1A1D21"/>
                </a:solidFill>
                <a:latin typeface="Quattrocento Sans" pitchFamily="34" charset="0"/>
                <a:ea typeface="Quattrocento Sans" pitchFamily="34" charset="-122"/>
                <a:cs typeface="Quattrocento Sans" pitchFamily="34" charset="-120"/>
              </a:rPr>
              <a:t>首次将焦点深入B站青少年用户自发生成的海量真实评论与弹幕文本</a:t>
            </a:r>
            <a:endParaRPr lang="en-US" sz="1600" dirty="0"/>
          </a:p>
        </p:txBody>
      </p:sp>
      <p:sp>
        <p:nvSpPr>
          <p:cNvPr id="15" name="Shape 13"/>
          <p:cNvSpPr/>
          <p:nvPr/>
        </p:nvSpPr>
        <p:spPr>
          <a:xfrm>
            <a:off x="4445000" y="4635500"/>
            <a:ext cx="3429000" cy="2667000"/>
          </a:xfrm>
          <a:prstGeom prst="rect">
            <a:avLst/>
          </a:prstGeom>
          <a:solidFill>
            <a:srgbClr val="FFFFFF"/>
          </a:solidFill>
          <a:ln/>
        </p:spPr>
      </p:sp>
      <p:sp>
        <p:nvSpPr>
          <p:cNvPr id="16" name="Shape 14"/>
          <p:cNvSpPr/>
          <p:nvPr/>
        </p:nvSpPr>
        <p:spPr>
          <a:xfrm>
            <a:off x="4673600" y="4826000"/>
            <a:ext cx="457200" cy="406400"/>
          </a:xfrm>
          <a:custGeom>
            <a:avLst/>
            <a:gdLst/>
            <a:ahLst/>
            <a:cxnLst/>
            <a:rect l="l" t="t" r="r" b="b"/>
            <a:pathLst>
              <a:path w="457200" h="406400">
                <a:moveTo>
                  <a:pt x="332978" y="76200"/>
                </a:moveTo>
                <a:cubicBezTo>
                  <a:pt x="319802" y="76200"/>
                  <a:pt x="307023" y="79772"/>
                  <a:pt x="295831" y="86281"/>
                </a:cubicBezTo>
                <a:cubicBezTo>
                  <a:pt x="283289" y="73581"/>
                  <a:pt x="268684" y="62944"/>
                  <a:pt x="252571" y="54928"/>
                </a:cubicBezTo>
                <a:cubicBezTo>
                  <a:pt x="274955" y="35878"/>
                  <a:pt x="303451" y="25400"/>
                  <a:pt x="332978" y="25400"/>
                </a:cubicBezTo>
                <a:cubicBezTo>
                  <a:pt x="401558" y="25400"/>
                  <a:pt x="457200" y="80963"/>
                  <a:pt x="457200" y="149622"/>
                </a:cubicBezTo>
                <a:cubicBezTo>
                  <a:pt x="457200" y="182563"/>
                  <a:pt x="444103" y="214154"/>
                  <a:pt x="420846" y="237411"/>
                </a:cubicBezTo>
                <a:lnTo>
                  <a:pt x="364411" y="293846"/>
                </a:lnTo>
                <a:cubicBezTo>
                  <a:pt x="341154" y="317103"/>
                  <a:pt x="309563" y="330200"/>
                  <a:pt x="276622" y="330200"/>
                </a:cubicBezTo>
                <a:cubicBezTo>
                  <a:pt x="208042" y="330200"/>
                  <a:pt x="152400" y="274638"/>
                  <a:pt x="152400" y="205978"/>
                </a:cubicBezTo>
                <a:cubicBezTo>
                  <a:pt x="152400" y="204788"/>
                  <a:pt x="152400" y="203597"/>
                  <a:pt x="152479" y="202406"/>
                </a:cubicBezTo>
                <a:cubicBezTo>
                  <a:pt x="152876" y="188357"/>
                  <a:pt x="164544" y="177324"/>
                  <a:pt x="178594" y="177721"/>
                </a:cubicBezTo>
                <a:cubicBezTo>
                  <a:pt x="192643" y="178118"/>
                  <a:pt x="203676" y="189786"/>
                  <a:pt x="203279" y="203835"/>
                </a:cubicBezTo>
                <a:cubicBezTo>
                  <a:pt x="203279" y="204549"/>
                  <a:pt x="203279" y="205264"/>
                  <a:pt x="203279" y="205899"/>
                </a:cubicBezTo>
                <a:cubicBezTo>
                  <a:pt x="203279" y="246459"/>
                  <a:pt x="236141" y="279321"/>
                  <a:pt x="276701" y="279321"/>
                </a:cubicBezTo>
                <a:cubicBezTo>
                  <a:pt x="296148" y="279321"/>
                  <a:pt x="314801" y="271621"/>
                  <a:pt x="328613" y="257810"/>
                </a:cubicBezTo>
                <a:lnTo>
                  <a:pt x="385048" y="201374"/>
                </a:lnTo>
                <a:cubicBezTo>
                  <a:pt x="398780" y="187643"/>
                  <a:pt x="406559" y="168910"/>
                  <a:pt x="406559" y="149463"/>
                </a:cubicBezTo>
                <a:cubicBezTo>
                  <a:pt x="406559" y="108903"/>
                  <a:pt x="373698" y="76041"/>
                  <a:pt x="333137" y="76041"/>
                </a:cubicBezTo>
                <a:close/>
                <a:moveTo>
                  <a:pt x="218440" y="137557"/>
                </a:moveTo>
                <a:cubicBezTo>
                  <a:pt x="216932" y="136922"/>
                  <a:pt x="215424" y="136049"/>
                  <a:pt x="214074" y="135096"/>
                </a:cubicBezTo>
                <a:cubicBezTo>
                  <a:pt x="204073" y="129937"/>
                  <a:pt x="192643" y="127000"/>
                  <a:pt x="180658" y="127000"/>
                </a:cubicBezTo>
                <a:cubicBezTo>
                  <a:pt x="161211" y="127000"/>
                  <a:pt x="142558" y="134699"/>
                  <a:pt x="128746" y="148511"/>
                </a:cubicBezTo>
                <a:lnTo>
                  <a:pt x="72311" y="204946"/>
                </a:lnTo>
                <a:cubicBezTo>
                  <a:pt x="58579" y="218678"/>
                  <a:pt x="50800" y="237411"/>
                  <a:pt x="50800" y="256858"/>
                </a:cubicBezTo>
                <a:cubicBezTo>
                  <a:pt x="50800" y="297418"/>
                  <a:pt x="83661" y="330279"/>
                  <a:pt x="124222" y="330279"/>
                </a:cubicBezTo>
                <a:cubicBezTo>
                  <a:pt x="137319" y="330279"/>
                  <a:pt x="150098" y="326787"/>
                  <a:pt x="161290" y="320278"/>
                </a:cubicBezTo>
                <a:cubicBezTo>
                  <a:pt x="173831" y="332978"/>
                  <a:pt x="188436" y="343614"/>
                  <a:pt x="204629" y="351631"/>
                </a:cubicBezTo>
                <a:cubicBezTo>
                  <a:pt x="182245" y="370602"/>
                  <a:pt x="153829" y="381159"/>
                  <a:pt x="124222" y="381159"/>
                </a:cubicBezTo>
                <a:cubicBezTo>
                  <a:pt x="55642" y="381159"/>
                  <a:pt x="0" y="325596"/>
                  <a:pt x="0" y="256937"/>
                </a:cubicBezTo>
                <a:cubicBezTo>
                  <a:pt x="0" y="223996"/>
                  <a:pt x="13097" y="192405"/>
                  <a:pt x="36354" y="169148"/>
                </a:cubicBezTo>
                <a:lnTo>
                  <a:pt x="92789" y="112713"/>
                </a:lnTo>
                <a:cubicBezTo>
                  <a:pt x="116046" y="89456"/>
                  <a:pt x="147638" y="76359"/>
                  <a:pt x="180578" y="76359"/>
                </a:cubicBezTo>
                <a:cubicBezTo>
                  <a:pt x="249317" y="76359"/>
                  <a:pt x="304800" y="132398"/>
                  <a:pt x="304800" y="200898"/>
                </a:cubicBezTo>
                <a:cubicBezTo>
                  <a:pt x="304800" y="201930"/>
                  <a:pt x="304800" y="202962"/>
                  <a:pt x="304800" y="203994"/>
                </a:cubicBezTo>
                <a:cubicBezTo>
                  <a:pt x="304483" y="218043"/>
                  <a:pt x="292814" y="229076"/>
                  <a:pt x="278765" y="228759"/>
                </a:cubicBezTo>
                <a:cubicBezTo>
                  <a:pt x="264716" y="228441"/>
                  <a:pt x="253682" y="216773"/>
                  <a:pt x="254000" y="202724"/>
                </a:cubicBezTo>
                <a:cubicBezTo>
                  <a:pt x="254000" y="202089"/>
                  <a:pt x="254000" y="201533"/>
                  <a:pt x="254000" y="200898"/>
                </a:cubicBezTo>
                <a:cubicBezTo>
                  <a:pt x="254000" y="174149"/>
                  <a:pt x="239713" y="150654"/>
                  <a:pt x="218440" y="137716"/>
                </a:cubicBezTo>
                <a:close/>
              </a:path>
            </a:pathLst>
          </a:custGeom>
          <a:solidFill>
            <a:srgbClr val="1A4B8C"/>
          </a:solidFill>
          <a:ln/>
        </p:spPr>
      </p:sp>
      <p:sp>
        <p:nvSpPr>
          <p:cNvPr id="17" name="Text 15"/>
          <p:cNvSpPr/>
          <p:nvPr/>
        </p:nvSpPr>
        <p:spPr>
          <a:xfrm>
            <a:off x="4699000" y="5334000"/>
            <a:ext cx="2921000" cy="304800"/>
          </a:xfrm>
          <a:prstGeom prst="rect">
            <a:avLst/>
          </a:prstGeom>
          <a:noFill/>
          <a:ln/>
        </p:spPr>
        <p:txBody>
          <a:bodyPr wrap="none" lIns="0" tIns="0" rIns="0" bIns="0" rtlCol="0" anchor="ctr"/>
          <a:lstStyle/>
          <a:p>
            <a:pPr>
              <a:lnSpc>
                <a:spcPct val="100000"/>
              </a:lnSpc>
            </a:pPr>
            <a:r>
              <a:rPr lang="en-US" sz="1600" b="1" dirty="0">
                <a:solidFill>
                  <a:srgbClr val="1A4B8C"/>
                </a:solidFill>
                <a:latin typeface="Quattrocento Sans" pitchFamily="34" charset="0"/>
                <a:ea typeface="Quattrocento Sans" pitchFamily="34" charset="-122"/>
                <a:cs typeface="Quattrocento Sans" pitchFamily="34" charset="-120"/>
              </a:rPr>
              <a:t>方法路径创新</a:t>
            </a:r>
            <a:endParaRPr lang="en-US" sz="1600" dirty="0"/>
          </a:p>
        </p:txBody>
      </p:sp>
      <p:sp>
        <p:nvSpPr>
          <p:cNvPr id="18" name="Text 16"/>
          <p:cNvSpPr/>
          <p:nvPr/>
        </p:nvSpPr>
        <p:spPr>
          <a:xfrm>
            <a:off x="4699000" y="5715000"/>
            <a:ext cx="2921000" cy="1397000"/>
          </a:xfrm>
          <a:prstGeom prst="rect">
            <a:avLst/>
          </a:prstGeom>
          <a:noFill/>
          <a:ln/>
        </p:spPr>
        <p:txBody>
          <a:bodyPr wrap="square" lIns="0" tIns="0" rIns="0" bIns="0" rtlCol="0" anchor="t"/>
          <a:lstStyle/>
          <a:p>
            <a:pPr>
              <a:lnSpc>
                <a:spcPct val="150000"/>
              </a:lnSpc>
            </a:pPr>
            <a:r>
              <a:rPr lang="en-US" sz="1500" dirty="0">
                <a:solidFill>
                  <a:srgbClr val="1A1D21"/>
                </a:solidFill>
                <a:latin typeface="Quattrocento Sans" pitchFamily="34" charset="0"/>
                <a:ea typeface="Quattrocento Sans" pitchFamily="34" charset="-122"/>
                <a:cs typeface="Quattrocento Sans" pitchFamily="34" charset="-120"/>
              </a:rPr>
              <a:t>构建并实践从原始数据到优化AI模型的完整技术链路，实现闭环转化</a:t>
            </a:r>
            <a:endParaRPr lang="en-US" sz="1600" dirty="0"/>
          </a:p>
        </p:txBody>
      </p:sp>
      <p:sp>
        <p:nvSpPr>
          <p:cNvPr id="19" name="Shape 17"/>
          <p:cNvSpPr/>
          <p:nvPr/>
        </p:nvSpPr>
        <p:spPr>
          <a:xfrm>
            <a:off x="8128000" y="4635500"/>
            <a:ext cx="3429000" cy="2667000"/>
          </a:xfrm>
          <a:prstGeom prst="rect">
            <a:avLst/>
          </a:prstGeom>
          <a:solidFill>
            <a:srgbClr val="FFFFFF"/>
          </a:solidFill>
          <a:ln/>
        </p:spPr>
      </p:sp>
      <p:sp>
        <p:nvSpPr>
          <p:cNvPr id="20" name="Shape 18"/>
          <p:cNvSpPr/>
          <p:nvPr/>
        </p:nvSpPr>
        <p:spPr>
          <a:xfrm>
            <a:off x="8407400" y="4826000"/>
            <a:ext cx="355600" cy="406400"/>
          </a:xfrm>
          <a:custGeom>
            <a:avLst/>
            <a:gdLst/>
            <a:ahLst/>
            <a:cxnLst/>
            <a:rect l="l" t="t" r="r" b="b"/>
            <a:pathLst>
              <a:path w="355600" h="406400">
                <a:moveTo>
                  <a:pt x="355600" y="163354"/>
                </a:moveTo>
                <a:cubicBezTo>
                  <a:pt x="343853" y="171133"/>
                  <a:pt x="330359" y="177403"/>
                  <a:pt x="316309" y="182404"/>
                </a:cubicBezTo>
                <a:cubicBezTo>
                  <a:pt x="279003" y="195739"/>
                  <a:pt x="230029" y="203200"/>
                  <a:pt x="177800" y="203200"/>
                </a:cubicBezTo>
                <a:cubicBezTo>
                  <a:pt x="125571" y="203200"/>
                  <a:pt x="76518" y="195659"/>
                  <a:pt x="39291" y="182404"/>
                </a:cubicBezTo>
                <a:cubicBezTo>
                  <a:pt x="25321" y="177403"/>
                  <a:pt x="11747" y="171133"/>
                  <a:pt x="0" y="163354"/>
                </a:cubicBezTo>
                <a:lnTo>
                  <a:pt x="0" y="228600"/>
                </a:lnTo>
                <a:cubicBezTo>
                  <a:pt x="0" y="263684"/>
                  <a:pt x="79613" y="292100"/>
                  <a:pt x="177800" y="292100"/>
                </a:cubicBezTo>
                <a:cubicBezTo>
                  <a:pt x="275987" y="292100"/>
                  <a:pt x="355600" y="263684"/>
                  <a:pt x="355600" y="228600"/>
                </a:cubicBezTo>
                <a:lnTo>
                  <a:pt x="355600" y="163354"/>
                </a:lnTo>
                <a:close/>
                <a:moveTo>
                  <a:pt x="355600" y="101600"/>
                </a:moveTo>
                <a:lnTo>
                  <a:pt x="355600" y="63500"/>
                </a:lnTo>
                <a:cubicBezTo>
                  <a:pt x="355600" y="28416"/>
                  <a:pt x="275987" y="0"/>
                  <a:pt x="177800" y="0"/>
                </a:cubicBezTo>
                <a:cubicBezTo>
                  <a:pt x="79613" y="0"/>
                  <a:pt x="0" y="28416"/>
                  <a:pt x="0" y="63500"/>
                </a:cubicBezTo>
                <a:lnTo>
                  <a:pt x="0" y="101600"/>
                </a:lnTo>
                <a:cubicBezTo>
                  <a:pt x="0" y="136684"/>
                  <a:pt x="79613" y="165100"/>
                  <a:pt x="177800" y="165100"/>
                </a:cubicBezTo>
                <a:cubicBezTo>
                  <a:pt x="275987" y="165100"/>
                  <a:pt x="355600" y="136684"/>
                  <a:pt x="355600" y="101600"/>
                </a:cubicBezTo>
                <a:close/>
                <a:moveTo>
                  <a:pt x="316309" y="309404"/>
                </a:moveTo>
                <a:cubicBezTo>
                  <a:pt x="279083" y="322659"/>
                  <a:pt x="230108" y="330200"/>
                  <a:pt x="177800" y="330200"/>
                </a:cubicBezTo>
                <a:cubicBezTo>
                  <a:pt x="125492" y="330200"/>
                  <a:pt x="76518" y="322659"/>
                  <a:pt x="39291" y="309404"/>
                </a:cubicBezTo>
                <a:cubicBezTo>
                  <a:pt x="25321" y="304403"/>
                  <a:pt x="11747" y="298133"/>
                  <a:pt x="0" y="290354"/>
                </a:cubicBezTo>
                <a:lnTo>
                  <a:pt x="0" y="342900"/>
                </a:lnTo>
                <a:cubicBezTo>
                  <a:pt x="0" y="377984"/>
                  <a:pt x="79613" y="406400"/>
                  <a:pt x="177800" y="406400"/>
                </a:cubicBezTo>
                <a:cubicBezTo>
                  <a:pt x="275987" y="406400"/>
                  <a:pt x="355600" y="377984"/>
                  <a:pt x="355600" y="342900"/>
                </a:cubicBezTo>
                <a:lnTo>
                  <a:pt x="355600" y="290354"/>
                </a:lnTo>
                <a:cubicBezTo>
                  <a:pt x="343853" y="298133"/>
                  <a:pt x="330359" y="304403"/>
                  <a:pt x="316309" y="309404"/>
                </a:cubicBezTo>
                <a:close/>
              </a:path>
            </a:pathLst>
          </a:custGeom>
          <a:solidFill>
            <a:srgbClr val="1A4B8C"/>
          </a:solidFill>
          <a:ln/>
        </p:spPr>
      </p:sp>
      <p:sp>
        <p:nvSpPr>
          <p:cNvPr id="21" name="Text 19"/>
          <p:cNvSpPr/>
          <p:nvPr/>
        </p:nvSpPr>
        <p:spPr>
          <a:xfrm>
            <a:off x="8382000" y="5334000"/>
            <a:ext cx="2921000" cy="304800"/>
          </a:xfrm>
          <a:prstGeom prst="rect">
            <a:avLst/>
          </a:prstGeom>
          <a:noFill/>
          <a:ln/>
        </p:spPr>
        <p:txBody>
          <a:bodyPr wrap="none" lIns="0" tIns="0" rIns="0" bIns="0" rtlCol="0" anchor="ctr"/>
          <a:lstStyle/>
          <a:p>
            <a:pPr>
              <a:lnSpc>
                <a:spcPct val="100000"/>
              </a:lnSpc>
            </a:pPr>
            <a:r>
              <a:rPr lang="en-US" sz="1600" b="1" dirty="0">
                <a:solidFill>
                  <a:srgbClr val="1A4B8C"/>
                </a:solidFill>
                <a:latin typeface="Quattrocento Sans" pitchFamily="34" charset="0"/>
                <a:ea typeface="Quattrocento Sans" pitchFamily="34" charset="-122"/>
                <a:cs typeface="Quattrocento Sans" pitchFamily="34" charset="-120"/>
              </a:rPr>
              <a:t>数据资源创新</a:t>
            </a:r>
            <a:endParaRPr lang="en-US" sz="1600" dirty="0"/>
          </a:p>
        </p:txBody>
      </p:sp>
      <p:sp>
        <p:nvSpPr>
          <p:cNvPr id="22" name="Text 20"/>
          <p:cNvSpPr/>
          <p:nvPr/>
        </p:nvSpPr>
        <p:spPr>
          <a:xfrm>
            <a:off x="8382000" y="5715000"/>
            <a:ext cx="2921000" cy="1397000"/>
          </a:xfrm>
          <a:prstGeom prst="rect">
            <a:avLst/>
          </a:prstGeom>
          <a:noFill/>
          <a:ln/>
        </p:spPr>
        <p:txBody>
          <a:bodyPr wrap="square" lIns="0" tIns="0" rIns="0" bIns="0" rtlCol="0" anchor="t"/>
          <a:lstStyle/>
          <a:p>
            <a:pPr>
              <a:lnSpc>
                <a:spcPct val="150000"/>
              </a:lnSpc>
            </a:pPr>
            <a:r>
              <a:rPr lang="en-US" sz="1500" dirty="0">
                <a:solidFill>
                  <a:srgbClr val="1A1D21"/>
                </a:solidFill>
                <a:latin typeface="Quattrocento Sans" pitchFamily="34" charset="0"/>
                <a:ea typeface="Quattrocento Sans" pitchFamily="34" charset="-122"/>
                <a:cs typeface="Quattrocento Sans" pitchFamily="34" charset="-120"/>
              </a:rPr>
              <a:t>国内首个源于社交媒体真实互动场景的青少年生殖健康标准化问答数据集</a:t>
            </a:r>
            <a:endParaRPr lang="en-US" sz="1600" dirty="0"/>
          </a:p>
        </p:txBody>
      </p:sp>
      <p:sp>
        <p:nvSpPr>
          <p:cNvPr id="23" name="Shape 21"/>
          <p:cNvSpPr/>
          <p:nvPr/>
        </p:nvSpPr>
        <p:spPr>
          <a:xfrm>
            <a:off x="11811000" y="4635500"/>
            <a:ext cx="3683000" cy="2667000"/>
          </a:xfrm>
          <a:prstGeom prst="rect">
            <a:avLst/>
          </a:prstGeom>
          <a:solidFill>
            <a:srgbClr val="FFFFFF"/>
          </a:solidFill>
          <a:ln/>
        </p:spPr>
      </p:sp>
      <p:sp>
        <p:nvSpPr>
          <p:cNvPr id="24" name="Shape 22"/>
          <p:cNvSpPr/>
          <p:nvPr/>
        </p:nvSpPr>
        <p:spPr>
          <a:xfrm>
            <a:off x="12065000" y="4826000"/>
            <a:ext cx="406400" cy="406400"/>
          </a:xfrm>
          <a:custGeom>
            <a:avLst/>
            <a:gdLst/>
            <a:ahLst/>
            <a:cxnLst/>
            <a:rect l="l" t="t" r="r" b="b"/>
            <a:pathLst>
              <a:path w="406400" h="406400">
                <a:moveTo>
                  <a:pt x="139700" y="19050"/>
                </a:moveTo>
                <a:cubicBezTo>
                  <a:pt x="139700" y="8493"/>
                  <a:pt x="131207" y="0"/>
                  <a:pt x="120650" y="0"/>
                </a:cubicBezTo>
                <a:cubicBezTo>
                  <a:pt x="110093" y="0"/>
                  <a:pt x="101600" y="8493"/>
                  <a:pt x="101600" y="19050"/>
                </a:cubicBezTo>
                <a:lnTo>
                  <a:pt x="101600" y="50800"/>
                </a:lnTo>
                <a:cubicBezTo>
                  <a:pt x="73581" y="50800"/>
                  <a:pt x="50800" y="73581"/>
                  <a:pt x="50800" y="101600"/>
                </a:cubicBezTo>
                <a:lnTo>
                  <a:pt x="19050" y="101600"/>
                </a:lnTo>
                <a:cubicBezTo>
                  <a:pt x="8493" y="101600"/>
                  <a:pt x="0" y="110093"/>
                  <a:pt x="0" y="120650"/>
                </a:cubicBezTo>
                <a:cubicBezTo>
                  <a:pt x="0" y="131207"/>
                  <a:pt x="8493" y="139700"/>
                  <a:pt x="19050" y="139700"/>
                </a:cubicBezTo>
                <a:lnTo>
                  <a:pt x="50800" y="139700"/>
                </a:lnTo>
                <a:lnTo>
                  <a:pt x="50800" y="184150"/>
                </a:lnTo>
                <a:lnTo>
                  <a:pt x="19050" y="184150"/>
                </a:lnTo>
                <a:cubicBezTo>
                  <a:pt x="8493" y="184150"/>
                  <a:pt x="0" y="192643"/>
                  <a:pt x="0" y="203200"/>
                </a:cubicBezTo>
                <a:cubicBezTo>
                  <a:pt x="0" y="213757"/>
                  <a:pt x="8493" y="222250"/>
                  <a:pt x="19050" y="222250"/>
                </a:cubicBezTo>
                <a:lnTo>
                  <a:pt x="50800" y="222250"/>
                </a:lnTo>
                <a:lnTo>
                  <a:pt x="50800" y="266700"/>
                </a:lnTo>
                <a:lnTo>
                  <a:pt x="19050" y="266700"/>
                </a:lnTo>
                <a:cubicBezTo>
                  <a:pt x="8493" y="266700"/>
                  <a:pt x="0" y="275193"/>
                  <a:pt x="0" y="285750"/>
                </a:cubicBezTo>
                <a:cubicBezTo>
                  <a:pt x="0" y="296307"/>
                  <a:pt x="8493" y="304800"/>
                  <a:pt x="19050" y="304800"/>
                </a:cubicBezTo>
                <a:lnTo>
                  <a:pt x="50800" y="304800"/>
                </a:lnTo>
                <a:cubicBezTo>
                  <a:pt x="50800" y="332819"/>
                  <a:pt x="73581" y="355600"/>
                  <a:pt x="101600" y="355600"/>
                </a:cubicBezTo>
                <a:lnTo>
                  <a:pt x="101600" y="387350"/>
                </a:lnTo>
                <a:cubicBezTo>
                  <a:pt x="101600" y="397907"/>
                  <a:pt x="110093" y="406400"/>
                  <a:pt x="120650" y="406400"/>
                </a:cubicBezTo>
                <a:cubicBezTo>
                  <a:pt x="131207" y="406400"/>
                  <a:pt x="139700" y="397907"/>
                  <a:pt x="139700" y="387350"/>
                </a:cubicBezTo>
                <a:lnTo>
                  <a:pt x="139700" y="355600"/>
                </a:lnTo>
                <a:lnTo>
                  <a:pt x="184150" y="355600"/>
                </a:lnTo>
                <a:lnTo>
                  <a:pt x="184150" y="387350"/>
                </a:lnTo>
                <a:cubicBezTo>
                  <a:pt x="184150" y="397907"/>
                  <a:pt x="192643" y="406400"/>
                  <a:pt x="203200" y="406400"/>
                </a:cubicBezTo>
                <a:cubicBezTo>
                  <a:pt x="213757" y="406400"/>
                  <a:pt x="222250" y="397907"/>
                  <a:pt x="222250" y="387350"/>
                </a:cubicBezTo>
                <a:lnTo>
                  <a:pt x="222250" y="355600"/>
                </a:lnTo>
                <a:lnTo>
                  <a:pt x="266700" y="355600"/>
                </a:lnTo>
                <a:lnTo>
                  <a:pt x="266700" y="387350"/>
                </a:lnTo>
                <a:cubicBezTo>
                  <a:pt x="266700" y="397907"/>
                  <a:pt x="275193" y="406400"/>
                  <a:pt x="285750" y="406400"/>
                </a:cubicBezTo>
                <a:cubicBezTo>
                  <a:pt x="296307" y="406400"/>
                  <a:pt x="304800" y="397907"/>
                  <a:pt x="304800" y="387350"/>
                </a:cubicBezTo>
                <a:lnTo>
                  <a:pt x="304800" y="355600"/>
                </a:lnTo>
                <a:cubicBezTo>
                  <a:pt x="332819" y="355600"/>
                  <a:pt x="355600" y="332819"/>
                  <a:pt x="355600" y="304800"/>
                </a:cubicBezTo>
                <a:lnTo>
                  <a:pt x="387350" y="304800"/>
                </a:lnTo>
                <a:cubicBezTo>
                  <a:pt x="397907" y="304800"/>
                  <a:pt x="406400" y="296307"/>
                  <a:pt x="406400" y="285750"/>
                </a:cubicBezTo>
                <a:cubicBezTo>
                  <a:pt x="406400" y="275193"/>
                  <a:pt x="397907" y="266700"/>
                  <a:pt x="387350" y="266700"/>
                </a:cubicBezTo>
                <a:lnTo>
                  <a:pt x="355600" y="266700"/>
                </a:lnTo>
                <a:lnTo>
                  <a:pt x="355600" y="222250"/>
                </a:lnTo>
                <a:lnTo>
                  <a:pt x="387350" y="222250"/>
                </a:lnTo>
                <a:cubicBezTo>
                  <a:pt x="397907" y="222250"/>
                  <a:pt x="406400" y="213757"/>
                  <a:pt x="406400" y="203200"/>
                </a:cubicBezTo>
                <a:cubicBezTo>
                  <a:pt x="406400" y="192643"/>
                  <a:pt x="397907" y="184150"/>
                  <a:pt x="387350" y="184150"/>
                </a:cubicBezTo>
                <a:lnTo>
                  <a:pt x="355600" y="184150"/>
                </a:lnTo>
                <a:lnTo>
                  <a:pt x="355600" y="139700"/>
                </a:lnTo>
                <a:lnTo>
                  <a:pt x="387350" y="139700"/>
                </a:lnTo>
                <a:cubicBezTo>
                  <a:pt x="397907" y="139700"/>
                  <a:pt x="406400" y="131207"/>
                  <a:pt x="406400" y="120650"/>
                </a:cubicBezTo>
                <a:cubicBezTo>
                  <a:pt x="406400" y="110093"/>
                  <a:pt x="397907" y="101600"/>
                  <a:pt x="387350" y="101600"/>
                </a:cubicBezTo>
                <a:lnTo>
                  <a:pt x="355600" y="101600"/>
                </a:lnTo>
                <a:cubicBezTo>
                  <a:pt x="355600" y="73581"/>
                  <a:pt x="332819" y="50800"/>
                  <a:pt x="304800" y="50800"/>
                </a:cubicBezTo>
                <a:lnTo>
                  <a:pt x="304800" y="19050"/>
                </a:lnTo>
                <a:cubicBezTo>
                  <a:pt x="304800" y="8493"/>
                  <a:pt x="296307" y="0"/>
                  <a:pt x="285750" y="0"/>
                </a:cubicBezTo>
                <a:cubicBezTo>
                  <a:pt x="275193" y="0"/>
                  <a:pt x="266700" y="8493"/>
                  <a:pt x="266700" y="19050"/>
                </a:cubicBezTo>
                <a:lnTo>
                  <a:pt x="266700" y="50800"/>
                </a:lnTo>
                <a:lnTo>
                  <a:pt x="222250" y="50800"/>
                </a:lnTo>
                <a:lnTo>
                  <a:pt x="222250" y="19050"/>
                </a:lnTo>
                <a:cubicBezTo>
                  <a:pt x="222250" y="8493"/>
                  <a:pt x="213757" y="0"/>
                  <a:pt x="203200" y="0"/>
                </a:cubicBezTo>
                <a:cubicBezTo>
                  <a:pt x="192643" y="0"/>
                  <a:pt x="184150" y="8493"/>
                  <a:pt x="184150" y="19050"/>
                </a:cubicBezTo>
                <a:lnTo>
                  <a:pt x="184150" y="50800"/>
                </a:lnTo>
                <a:lnTo>
                  <a:pt x="139700" y="50800"/>
                </a:lnTo>
                <a:lnTo>
                  <a:pt x="139700" y="19050"/>
                </a:lnTo>
                <a:close/>
                <a:moveTo>
                  <a:pt x="127000" y="101600"/>
                </a:moveTo>
                <a:lnTo>
                  <a:pt x="279400" y="101600"/>
                </a:lnTo>
                <a:cubicBezTo>
                  <a:pt x="293449" y="101600"/>
                  <a:pt x="304800" y="112951"/>
                  <a:pt x="304800" y="127000"/>
                </a:cubicBezTo>
                <a:lnTo>
                  <a:pt x="304800" y="279400"/>
                </a:lnTo>
                <a:cubicBezTo>
                  <a:pt x="304800" y="293449"/>
                  <a:pt x="293449" y="304800"/>
                  <a:pt x="279400" y="304800"/>
                </a:cubicBezTo>
                <a:lnTo>
                  <a:pt x="127000" y="304800"/>
                </a:lnTo>
                <a:cubicBezTo>
                  <a:pt x="112951" y="304800"/>
                  <a:pt x="101600" y="293449"/>
                  <a:pt x="101600" y="279400"/>
                </a:cubicBezTo>
                <a:lnTo>
                  <a:pt x="101600" y="127000"/>
                </a:lnTo>
                <a:cubicBezTo>
                  <a:pt x="101600" y="112951"/>
                  <a:pt x="112951" y="101600"/>
                  <a:pt x="127000" y="101600"/>
                </a:cubicBezTo>
                <a:close/>
                <a:moveTo>
                  <a:pt x="139700" y="139700"/>
                </a:moveTo>
                <a:lnTo>
                  <a:pt x="139700" y="266700"/>
                </a:lnTo>
                <a:lnTo>
                  <a:pt x="266700" y="266700"/>
                </a:lnTo>
                <a:lnTo>
                  <a:pt x="266700" y="139700"/>
                </a:lnTo>
                <a:lnTo>
                  <a:pt x="139700" y="139700"/>
                </a:lnTo>
                <a:close/>
              </a:path>
            </a:pathLst>
          </a:custGeom>
          <a:solidFill>
            <a:srgbClr val="1A4B8C"/>
          </a:solidFill>
          <a:ln/>
        </p:spPr>
      </p:sp>
      <p:sp>
        <p:nvSpPr>
          <p:cNvPr id="25" name="Text 23"/>
          <p:cNvSpPr/>
          <p:nvPr/>
        </p:nvSpPr>
        <p:spPr>
          <a:xfrm>
            <a:off x="12065000" y="5334000"/>
            <a:ext cx="3175000" cy="304800"/>
          </a:xfrm>
          <a:prstGeom prst="rect">
            <a:avLst/>
          </a:prstGeom>
          <a:noFill/>
          <a:ln/>
        </p:spPr>
        <p:txBody>
          <a:bodyPr wrap="none" lIns="0" tIns="0" rIns="0" bIns="0" rtlCol="0" anchor="ctr"/>
          <a:lstStyle/>
          <a:p>
            <a:pPr>
              <a:lnSpc>
                <a:spcPct val="100000"/>
              </a:lnSpc>
            </a:pPr>
            <a:r>
              <a:rPr lang="en-US" sz="1600" b="1" dirty="0">
                <a:solidFill>
                  <a:srgbClr val="1A4B8C"/>
                </a:solidFill>
                <a:latin typeface="Quattrocento Sans" pitchFamily="34" charset="0"/>
                <a:ea typeface="Quattrocento Sans" pitchFamily="34" charset="-122"/>
                <a:cs typeface="Quattrocento Sans" pitchFamily="34" charset="-120"/>
              </a:rPr>
              <a:t>模型应用创新</a:t>
            </a:r>
            <a:endParaRPr lang="en-US" sz="1600" dirty="0"/>
          </a:p>
        </p:txBody>
      </p:sp>
      <p:sp>
        <p:nvSpPr>
          <p:cNvPr id="26" name="Text 24"/>
          <p:cNvSpPr/>
          <p:nvPr/>
        </p:nvSpPr>
        <p:spPr>
          <a:xfrm>
            <a:off x="12065000" y="5715000"/>
            <a:ext cx="3175000" cy="1397000"/>
          </a:xfrm>
          <a:prstGeom prst="rect">
            <a:avLst/>
          </a:prstGeom>
          <a:noFill/>
          <a:ln/>
        </p:spPr>
        <p:txBody>
          <a:bodyPr wrap="square" lIns="0" tIns="0" rIns="0" bIns="0" rtlCol="0" anchor="t"/>
          <a:lstStyle/>
          <a:p>
            <a:pPr>
              <a:lnSpc>
                <a:spcPct val="150000"/>
              </a:lnSpc>
            </a:pPr>
            <a:r>
              <a:rPr lang="en-US" sz="1500" dirty="0">
                <a:solidFill>
                  <a:srgbClr val="1A1D21"/>
                </a:solidFill>
                <a:latin typeface="Quattrocento Sans" pitchFamily="34" charset="0"/>
                <a:ea typeface="Quattrocento Sans" pitchFamily="34" charset="-122"/>
                <a:cs typeface="Quattrocento Sans" pitchFamily="34" charset="-120"/>
              </a:rPr>
              <a:t>探索中文青少年健康教育垂域大模型的数据构建与评估方法论框架</a:t>
            </a:r>
            <a:endParaRPr lang="en-US" sz="1600" dirty="0"/>
          </a:p>
        </p:txBody>
      </p:sp>
      <p:sp>
        <p:nvSpPr>
          <p:cNvPr id="27" name="Shape 25"/>
          <p:cNvSpPr/>
          <p:nvPr/>
        </p:nvSpPr>
        <p:spPr>
          <a:xfrm>
            <a:off x="762000" y="7556500"/>
            <a:ext cx="14732000" cy="889000"/>
          </a:xfrm>
          <a:prstGeom prst="rect">
            <a:avLst/>
          </a:prstGeom>
          <a:solidFill>
            <a:srgbClr val="1A4B8C"/>
          </a:solidFill>
          <a:ln/>
        </p:spPr>
      </p:sp>
      <p:sp>
        <p:nvSpPr>
          <p:cNvPr id="28" name="Text 26"/>
          <p:cNvSpPr/>
          <p:nvPr/>
        </p:nvSpPr>
        <p:spPr>
          <a:xfrm>
            <a:off x="1016000" y="7620000"/>
            <a:ext cx="14224000" cy="762000"/>
          </a:xfrm>
          <a:prstGeom prst="rect">
            <a:avLst/>
          </a:prstGeom>
          <a:noFill/>
          <a:ln/>
        </p:spPr>
        <p:txBody>
          <a:bodyPr wrap="square" lIns="0" tIns="0" rIns="0" bIns="0" rtlCol="0" anchor="ctr"/>
          <a:lstStyle/>
          <a:p>
            <a:pPr>
              <a:lnSpc>
                <a:spcPct val="150000"/>
              </a:lnSpc>
            </a:pPr>
            <a:r>
              <a:rPr lang="en-US" sz="1600" b="1" dirty="0">
                <a:solidFill>
                  <a:srgbClr val="FFFFFF">
                    <a:alpha val="86667"/>
                  </a:srgbClr>
                </a:solidFill>
                <a:latin typeface="Quattrocento Sans" pitchFamily="34" charset="0"/>
                <a:ea typeface="Quattrocento Sans" pitchFamily="34" charset="-122"/>
                <a:cs typeface="Quattrocento Sans" pitchFamily="34" charset="-120"/>
              </a:rPr>
              <a:t>未来展望：</a:t>
            </a:r>
            <a:pPr>
              <a:lnSpc>
                <a:spcPct val="150000"/>
              </a:lnSpc>
            </a:pPr>
            <a:r>
              <a:rPr lang="en-US" sz="1600" dirty="0">
                <a:solidFill>
                  <a:srgbClr val="FFFFFF">
                    <a:alpha val="86667"/>
                  </a:srgbClr>
                </a:solidFill>
                <a:latin typeface="Quattrocento Sans" pitchFamily="34" charset="0"/>
                <a:ea typeface="Quattrocento Sans" pitchFamily="34" charset="-122"/>
                <a:cs typeface="Quattrocento Sans" pitchFamily="34" charset="-120"/>
              </a:rPr>
              <a:t>拓展至多平台跨平台比较研究 | 引入检索增强生成（RAG）缓解幻觉 | 开展多轮对话与个性化交互探索 | 持续扩充数据集规模与主题覆盖</a:t>
            </a:r>
            <a:endParaRPr lang="en-US" sz="1600" dirty="0"/>
          </a:p>
        </p:txBody>
      </p:sp>
      <p:sp>
        <p:nvSpPr>
          <p:cNvPr id="29" name="Text 27"/>
          <p:cNvSpPr/>
          <p:nvPr/>
        </p:nvSpPr>
        <p:spPr>
          <a:xfrm>
            <a:off x="762000" y="8763000"/>
            <a:ext cx="3810000" cy="254000"/>
          </a:xfrm>
          <a:prstGeom prst="rect">
            <a:avLst/>
          </a:prstGeom>
          <a:noFill/>
          <a:ln/>
        </p:spPr>
        <p:txBody>
          <a:bodyPr wrap="none" lIns="0" tIns="0" rIns="0" bIns="0" rtlCol="0" anchor="ctr"/>
          <a:lstStyle/>
          <a:p>
            <a:pP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南京医科大学</a:t>
            </a:r>
            <a:endParaRPr lang="en-US" sz="1400" dirty="0"/>
          </a:p>
        </p:txBody>
      </p:sp>
      <p:sp>
        <p:nvSpPr>
          <p:cNvPr id="30" name="Text 28"/>
          <p:cNvSpPr/>
          <p:nvPr/>
        </p:nvSpPr>
        <p:spPr>
          <a:xfrm>
            <a:off x="13970000" y="8763000"/>
            <a:ext cx="1524000" cy="254000"/>
          </a:xfrm>
          <a:prstGeom prst="rect">
            <a:avLst/>
          </a:prstGeom>
          <a:noFill/>
          <a:ln/>
        </p:spPr>
        <p:txBody>
          <a:bodyPr wrap="none" lIns="0" tIns="0" rIns="0" bIns="0" rtlCol="0" anchor="ctr"/>
          <a:lstStyle/>
          <a:p>
            <a:pPr algn="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11</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6256000" cy="508000"/>
          </a:xfrm>
          <a:prstGeom prst="rect">
            <a:avLst/>
          </a:prstGeom>
          <a:solidFill>
            <a:srgbClr val="1A4B8C"/>
          </a:solidFill>
          <a:ln/>
        </p:spPr>
      </p:sp>
      <p:sp>
        <p:nvSpPr>
          <p:cNvPr id="3" name="Text 1"/>
          <p:cNvSpPr/>
          <p:nvPr/>
        </p:nvSpPr>
        <p:spPr>
          <a:xfrm>
            <a:off x="508000" y="0"/>
            <a:ext cx="10160000" cy="508000"/>
          </a:xfrm>
          <a:prstGeom prst="rect">
            <a:avLst/>
          </a:prstGeom>
          <a:noFill/>
          <a:ln/>
        </p:spPr>
        <p:txBody>
          <a:bodyPr wrap="none" lIns="0" tIns="0" rIns="0" bIns="0" rtlCol="0" anchor="ctr"/>
          <a:lstStyle/>
          <a:p>
            <a:pP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基于大语言模型的社交媒体青少年生殖健康评论分类分析与问答生成研究</a:t>
            </a:r>
            <a:endParaRPr lang="en-US" sz="1400" dirty="0"/>
          </a:p>
        </p:txBody>
      </p:sp>
      <p:sp>
        <p:nvSpPr>
          <p:cNvPr id="4" name="Text 2"/>
          <p:cNvSpPr/>
          <p:nvPr/>
        </p:nvSpPr>
        <p:spPr>
          <a:xfrm>
            <a:off x="12700000" y="0"/>
            <a:ext cx="3048000" cy="508000"/>
          </a:xfrm>
          <a:prstGeom prst="rect">
            <a:avLst/>
          </a:prstGeom>
          <a:noFill/>
          <a:ln/>
        </p:spPr>
        <p:txBody>
          <a:bodyPr wrap="none" lIns="0" tIns="0" rIns="0" bIns="0" rtlCol="0" anchor="ctr"/>
          <a:lstStyle/>
          <a:p>
            <a:pPr algn="r">
              <a:lnSpc>
                <a:spcPct val="100000"/>
              </a:lnSpc>
            </a:pPr>
            <a:r>
              <a:rPr lang="en-US" sz="1400" dirty="0">
                <a:solidFill>
                  <a:srgbClr val="FFFFFF"/>
                </a:solidFill>
                <a:latin typeface="QuattrocentoSans" pitchFamily="34" charset="0"/>
                <a:ea typeface="QuattrocentoSans" pitchFamily="34" charset="-122"/>
                <a:cs typeface="QuattrocentoSans" pitchFamily="34" charset="-120"/>
              </a:rPr>
              <a:t>研究局限与未来展望</a:t>
            </a:r>
            <a:endParaRPr lang="en-US" sz="1400" dirty="0"/>
          </a:p>
        </p:txBody>
      </p:sp>
      <p:sp>
        <p:nvSpPr>
          <p:cNvPr id="5" name="Text 3"/>
          <p:cNvSpPr/>
          <p:nvPr/>
        </p:nvSpPr>
        <p:spPr>
          <a:xfrm>
            <a:off x="762000" y="698500"/>
            <a:ext cx="7620000" cy="508000"/>
          </a:xfrm>
          <a:prstGeom prst="rect">
            <a:avLst/>
          </a:prstGeom>
          <a:noFill/>
          <a:ln/>
        </p:spPr>
        <p:txBody>
          <a:bodyPr wrap="none" lIns="0" tIns="0" rIns="0" bIns="0" rtlCol="0" anchor="ctr"/>
          <a:lstStyle/>
          <a:p>
            <a:pPr>
              <a:lnSpc>
                <a:spcPct val="130000"/>
              </a:lnSpc>
            </a:pPr>
            <a:r>
              <a:rPr lang="en-US" sz="2800" dirty="0">
                <a:solidFill>
                  <a:srgbClr val="1A4B8C"/>
                </a:solidFill>
                <a:latin typeface="QuattrocentoSans" pitchFamily="34" charset="0"/>
                <a:ea typeface="QuattrocentoSans" pitchFamily="34" charset="-122"/>
                <a:cs typeface="QuattrocentoSans" pitchFamily="34" charset="-120"/>
              </a:rPr>
              <a:t>研究局限与未来展望</a:t>
            </a:r>
            <a:endParaRPr lang="en-US" sz="2800" dirty="0"/>
          </a:p>
        </p:txBody>
      </p:sp>
      <p:sp>
        <p:nvSpPr>
          <p:cNvPr id="6" name="Shape 4"/>
          <p:cNvSpPr/>
          <p:nvPr/>
        </p:nvSpPr>
        <p:spPr>
          <a:xfrm>
            <a:off x="762000" y="1295400"/>
            <a:ext cx="508000" cy="38100"/>
          </a:xfrm>
          <a:prstGeom prst="rect">
            <a:avLst/>
          </a:prstGeom>
          <a:solidFill>
            <a:srgbClr val="1A4B8C"/>
          </a:solidFill>
          <a:ln/>
        </p:spPr>
      </p:sp>
      <p:sp>
        <p:nvSpPr>
          <p:cNvPr id="7" name="Text 5"/>
          <p:cNvSpPr/>
          <p:nvPr/>
        </p:nvSpPr>
        <p:spPr>
          <a:xfrm>
            <a:off x="762000" y="1498600"/>
            <a:ext cx="7620000" cy="355600"/>
          </a:xfrm>
          <a:prstGeom prst="rect">
            <a:avLst/>
          </a:prstGeom>
          <a:noFill/>
          <a:ln/>
        </p:spPr>
        <p:txBody>
          <a:bodyPr wrap="none" lIns="0" tIns="0" rIns="0" bIns="0" rtlCol="0" anchor="ctr"/>
          <a:lstStyle/>
          <a:p>
            <a:pPr>
              <a:lnSpc>
                <a:spcPct val="100000"/>
              </a:lnSpc>
            </a:pPr>
            <a:r>
              <a:rPr lang="en-US" sz="1800" dirty="0">
                <a:solidFill>
                  <a:srgbClr val="8A9BB0"/>
                </a:solidFill>
                <a:latin typeface="Quattrocento Sans" pitchFamily="34" charset="0"/>
                <a:ea typeface="Quattrocento Sans" pitchFamily="34" charset="-122"/>
                <a:cs typeface="Quattrocento Sans" pitchFamily="34" charset="-120"/>
              </a:rPr>
              <a:t>客观认识边界，明确深化方向</a:t>
            </a:r>
            <a:endParaRPr lang="en-US" sz="1600" dirty="0"/>
          </a:p>
        </p:txBody>
      </p:sp>
      <p:sp>
        <p:nvSpPr>
          <p:cNvPr id="8" name="Shape 6"/>
          <p:cNvSpPr/>
          <p:nvPr/>
        </p:nvSpPr>
        <p:spPr>
          <a:xfrm>
            <a:off x="762000" y="1879600"/>
            <a:ext cx="7112000" cy="6883400"/>
          </a:xfrm>
          <a:prstGeom prst="rect">
            <a:avLst/>
          </a:prstGeom>
          <a:solidFill>
            <a:srgbClr val="FFF5F0"/>
          </a:solidFill>
          <a:ln/>
        </p:spPr>
      </p:sp>
      <p:sp>
        <p:nvSpPr>
          <p:cNvPr id="9" name="Shape 7"/>
          <p:cNvSpPr/>
          <p:nvPr/>
        </p:nvSpPr>
        <p:spPr>
          <a:xfrm>
            <a:off x="1079500" y="2108200"/>
            <a:ext cx="355600" cy="355600"/>
          </a:xfrm>
          <a:custGeom>
            <a:avLst/>
            <a:gdLst/>
            <a:ahLst/>
            <a:cxnLst/>
            <a:rect l="l" t="t" r="r" b="b"/>
            <a:pathLst>
              <a:path w="355600" h="355600">
                <a:moveTo>
                  <a:pt x="177800" y="0"/>
                </a:moveTo>
                <a:cubicBezTo>
                  <a:pt x="188010" y="0"/>
                  <a:pt x="197386" y="5626"/>
                  <a:pt x="202248" y="14585"/>
                </a:cubicBezTo>
                <a:lnTo>
                  <a:pt x="352266" y="292398"/>
                </a:lnTo>
                <a:cubicBezTo>
                  <a:pt x="356920" y="301010"/>
                  <a:pt x="356711" y="311428"/>
                  <a:pt x="351711" y="319832"/>
                </a:cubicBezTo>
                <a:cubicBezTo>
                  <a:pt x="346710" y="328235"/>
                  <a:pt x="337612" y="333375"/>
                  <a:pt x="327819" y="333375"/>
                </a:cubicBezTo>
                <a:lnTo>
                  <a:pt x="27781" y="333375"/>
                </a:lnTo>
                <a:cubicBezTo>
                  <a:pt x="17988" y="333375"/>
                  <a:pt x="8959" y="328235"/>
                  <a:pt x="3889" y="319832"/>
                </a:cubicBezTo>
                <a:cubicBezTo>
                  <a:pt x="-1181" y="311428"/>
                  <a:pt x="-1320" y="301010"/>
                  <a:pt x="3334" y="292398"/>
                </a:cubicBezTo>
                <a:lnTo>
                  <a:pt x="153353" y="14585"/>
                </a:lnTo>
                <a:cubicBezTo>
                  <a:pt x="158214" y="5626"/>
                  <a:pt x="167590" y="0"/>
                  <a:pt x="177800" y="0"/>
                </a:cubicBezTo>
                <a:close/>
                <a:moveTo>
                  <a:pt x="177800" y="116681"/>
                </a:moveTo>
                <a:cubicBezTo>
                  <a:pt x="168563" y="116681"/>
                  <a:pt x="161131" y="124113"/>
                  <a:pt x="161131" y="133350"/>
                </a:cubicBezTo>
                <a:lnTo>
                  <a:pt x="161131" y="211138"/>
                </a:lnTo>
                <a:cubicBezTo>
                  <a:pt x="161131" y="220375"/>
                  <a:pt x="168563" y="227806"/>
                  <a:pt x="177800" y="227806"/>
                </a:cubicBezTo>
                <a:cubicBezTo>
                  <a:pt x="187037" y="227806"/>
                  <a:pt x="194469" y="220375"/>
                  <a:pt x="194469" y="211138"/>
                </a:cubicBezTo>
                <a:lnTo>
                  <a:pt x="194469" y="133350"/>
                </a:lnTo>
                <a:cubicBezTo>
                  <a:pt x="194469" y="124113"/>
                  <a:pt x="187037" y="116681"/>
                  <a:pt x="177800" y="116681"/>
                </a:cubicBezTo>
                <a:close/>
                <a:moveTo>
                  <a:pt x="196344" y="266700"/>
                </a:moveTo>
                <a:cubicBezTo>
                  <a:pt x="196766" y="259817"/>
                  <a:pt x="193333" y="253268"/>
                  <a:pt x="187432" y="249699"/>
                </a:cubicBezTo>
                <a:cubicBezTo>
                  <a:pt x="181532" y="246129"/>
                  <a:pt x="174138" y="246129"/>
                  <a:pt x="168237" y="249699"/>
                </a:cubicBezTo>
                <a:cubicBezTo>
                  <a:pt x="162336" y="253268"/>
                  <a:pt x="158904" y="259817"/>
                  <a:pt x="159325" y="266700"/>
                </a:cubicBezTo>
                <a:cubicBezTo>
                  <a:pt x="158904" y="273583"/>
                  <a:pt x="162336" y="280132"/>
                  <a:pt x="168237" y="283701"/>
                </a:cubicBezTo>
                <a:cubicBezTo>
                  <a:pt x="174138" y="287271"/>
                  <a:pt x="181532" y="287271"/>
                  <a:pt x="187432" y="283701"/>
                </a:cubicBezTo>
                <a:cubicBezTo>
                  <a:pt x="193333" y="280132"/>
                  <a:pt x="196766" y="273583"/>
                  <a:pt x="196344" y="266700"/>
                </a:cubicBezTo>
                <a:close/>
              </a:path>
            </a:pathLst>
          </a:custGeom>
          <a:solidFill>
            <a:srgbClr val="C45C26"/>
          </a:solidFill>
          <a:ln/>
        </p:spPr>
      </p:sp>
      <p:sp>
        <p:nvSpPr>
          <p:cNvPr id="10" name="Text 8"/>
          <p:cNvSpPr/>
          <p:nvPr/>
        </p:nvSpPr>
        <p:spPr>
          <a:xfrm>
            <a:off x="1549400" y="2108200"/>
            <a:ext cx="3810000" cy="355600"/>
          </a:xfrm>
          <a:prstGeom prst="rect">
            <a:avLst/>
          </a:prstGeom>
          <a:noFill/>
          <a:ln/>
        </p:spPr>
        <p:txBody>
          <a:bodyPr wrap="none" lIns="0" tIns="0" rIns="0" bIns="0" rtlCol="0" anchor="ctr"/>
          <a:lstStyle/>
          <a:p>
            <a:pPr>
              <a:lnSpc>
                <a:spcPct val="100000"/>
              </a:lnSpc>
            </a:pPr>
            <a:r>
              <a:rPr lang="en-US" sz="2000" b="1" dirty="0">
                <a:solidFill>
                  <a:srgbClr val="C45C26"/>
                </a:solidFill>
                <a:latin typeface="Quattrocento Sans" pitchFamily="34" charset="0"/>
                <a:ea typeface="Quattrocento Sans" pitchFamily="34" charset="-122"/>
                <a:cs typeface="Quattrocento Sans" pitchFamily="34" charset="-120"/>
              </a:rPr>
              <a:t>当前局限</a:t>
            </a:r>
            <a:endParaRPr lang="en-US" sz="1600" dirty="0"/>
          </a:p>
        </p:txBody>
      </p:sp>
      <p:sp>
        <p:nvSpPr>
          <p:cNvPr id="11" name="Text 9"/>
          <p:cNvSpPr/>
          <p:nvPr/>
        </p:nvSpPr>
        <p:spPr>
          <a:xfrm>
            <a:off x="1079500" y="2641600"/>
            <a:ext cx="6477000" cy="6121400"/>
          </a:xfrm>
          <a:prstGeom prst="rect">
            <a:avLst/>
          </a:prstGeom>
          <a:noFill/>
          <a:ln/>
        </p:spPr>
        <p:txBody>
          <a:bodyPr wrap="square" lIns="0" tIns="0" rIns="0" bIns="0" rtlCol="0" anchor="t"/>
          <a:lstStyle/>
          <a:p>
            <a:pPr>
              <a:lnSpc>
                <a:spcPct val="170000"/>
              </a:lnSpc>
            </a:pPr>
            <a:r>
              <a:rPr lang="en-US" sz="1800" b="1" dirty="0">
                <a:solidFill>
                  <a:srgbClr val="C45C26"/>
                </a:solidFill>
                <a:latin typeface="Quattrocento Sans" pitchFamily="34" charset="0"/>
                <a:ea typeface="Quattrocento Sans" pitchFamily="34" charset="-122"/>
                <a:cs typeface="Quattrocento Sans" pitchFamily="34" charset="-120"/>
              </a:rPr>
              <a:t>① 数据源局限</a:t>
            </a:r>
            <a:endParaRPr lang="en-US" sz="1600" dirty="0"/>
          </a:p>
          <a:p>
            <a:pPr>
              <a:lnSpc>
                <a:spcPct val="170000"/>
              </a:lnSpc>
            </a:pPr>
            <a:r>
              <a:rPr lang="en-US" sz="1800" dirty="0">
                <a:solidFill>
                  <a:srgbClr val="1A1D21"/>
                </a:solidFill>
                <a:latin typeface="Quattrocento Sans" pitchFamily="34" charset="0"/>
                <a:ea typeface="Quattrocento Sans" pitchFamily="34" charset="-122"/>
                <a:cs typeface="Quattrocento Sans" pitchFamily="34" charset="-120"/>
              </a:rPr>
              <a:t>限于Bilibili单一平台，且筛选条件偏向高播放量热门视频，可能遗漏小众但重要的声音</a:t>
            </a:r>
            <a:endParaRPr lang="en-US" sz="1600" dirty="0"/>
          </a:p>
          <a:p>
            <a:pPr>
              <a:lnSpc>
                <a:spcPct val="170000"/>
              </a:lnSpc>
              <a:spcBef>
                <a:spcPts val="1200"/>
              </a:spcBef>
            </a:pPr>
            <a:r>
              <a:rPr lang="en-US" sz="1800" b="1" dirty="0">
                <a:solidFill>
                  <a:srgbClr val="C45C26"/>
                </a:solidFill>
                <a:latin typeface="Quattrocento Sans" pitchFamily="34" charset="0"/>
                <a:ea typeface="Quattrocento Sans" pitchFamily="34" charset="-122"/>
                <a:cs typeface="Quattrocento Sans" pitchFamily="34" charset="-120"/>
              </a:rPr>
              <a:t>② 模型幻觉风险</a:t>
            </a:r>
            <a:endParaRPr lang="en-US" sz="1600" dirty="0"/>
          </a:p>
          <a:p>
            <a:pPr>
              <a:lnSpc>
                <a:spcPct val="170000"/>
              </a:lnSpc>
            </a:pPr>
            <a:r>
              <a:rPr lang="en-US" sz="1800" dirty="0">
                <a:solidFill>
                  <a:srgbClr val="1A1D21"/>
                </a:solidFill>
                <a:latin typeface="Quattrocento Sans" pitchFamily="34" charset="0"/>
                <a:ea typeface="Quattrocento Sans" pitchFamily="34" charset="-122"/>
                <a:cs typeface="Quattrocento Sans" pitchFamily="34" charset="-120"/>
              </a:rPr>
              <a:t>大语言模型幻觉问题未完全根除，面对前沿未定论议题（如男性避孕针）和伪概念提问时，仍可能产生事实性错误或安全隐患</a:t>
            </a:r>
            <a:endParaRPr lang="en-US" sz="1600" dirty="0"/>
          </a:p>
          <a:p>
            <a:pPr>
              <a:lnSpc>
                <a:spcPct val="170000"/>
              </a:lnSpc>
              <a:spcBef>
                <a:spcPts val="1200"/>
              </a:spcBef>
            </a:pPr>
            <a:r>
              <a:rPr lang="en-US" sz="1800" b="1" dirty="0">
                <a:solidFill>
                  <a:srgbClr val="C45C26"/>
                </a:solidFill>
                <a:latin typeface="Quattrocento Sans" pitchFamily="34" charset="0"/>
                <a:ea typeface="Quattrocento Sans" pitchFamily="34" charset="-122"/>
                <a:cs typeface="Quattrocento Sans" pitchFamily="34" charset="-120"/>
              </a:rPr>
              <a:t>③ 评估样本约束</a:t>
            </a:r>
            <a:endParaRPr lang="en-US" sz="1600" dirty="0"/>
          </a:p>
          <a:p>
            <a:pPr>
              <a:lnSpc>
                <a:spcPct val="170000"/>
              </a:lnSpc>
            </a:pPr>
            <a:r>
              <a:rPr lang="en-US" sz="1800" dirty="0">
                <a:solidFill>
                  <a:srgbClr val="1A1D21"/>
                </a:solidFill>
                <a:latin typeface="Quattrocento Sans" pitchFamily="34" charset="0"/>
                <a:ea typeface="Quattrocento Sans" pitchFamily="34" charset="-122"/>
                <a:cs typeface="Quattrocento Sans" pitchFamily="34" charset="-120"/>
              </a:rPr>
              <a:t>人工审核与专家评分受时间与人力资源约束，样本量和覆盖维度仍有进一步扩展空间</a:t>
            </a:r>
            <a:endParaRPr lang="en-US" sz="1600" dirty="0"/>
          </a:p>
        </p:txBody>
      </p:sp>
      <p:sp>
        <p:nvSpPr>
          <p:cNvPr id="12" name="Shape 10"/>
          <p:cNvSpPr/>
          <p:nvPr/>
        </p:nvSpPr>
        <p:spPr>
          <a:xfrm>
            <a:off x="8382000" y="1879600"/>
            <a:ext cx="7112000" cy="6883400"/>
          </a:xfrm>
          <a:prstGeom prst="rect">
            <a:avLst/>
          </a:prstGeom>
          <a:solidFill>
            <a:srgbClr val="F0F7FF"/>
          </a:solidFill>
          <a:ln/>
        </p:spPr>
      </p:sp>
      <p:sp>
        <p:nvSpPr>
          <p:cNvPr id="13" name="Shape 11"/>
          <p:cNvSpPr/>
          <p:nvPr/>
        </p:nvSpPr>
        <p:spPr>
          <a:xfrm>
            <a:off x="8699500" y="2108200"/>
            <a:ext cx="355600" cy="355600"/>
          </a:xfrm>
          <a:custGeom>
            <a:avLst/>
            <a:gdLst/>
            <a:ahLst/>
            <a:cxnLst/>
            <a:rect l="l" t="t" r="r" b="b"/>
            <a:pathLst>
              <a:path w="355600" h="355600">
                <a:moveTo>
                  <a:pt x="88900" y="222250"/>
                </a:moveTo>
                <a:lnTo>
                  <a:pt x="17016" y="222250"/>
                </a:lnTo>
                <a:cubicBezTo>
                  <a:pt x="-278" y="222250"/>
                  <a:pt x="-10904" y="203428"/>
                  <a:pt x="-2014" y="188565"/>
                </a:cubicBezTo>
                <a:lnTo>
                  <a:pt x="34727" y="127308"/>
                </a:lnTo>
                <a:cubicBezTo>
                  <a:pt x="40769" y="117237"/>
                  <a:pt x="51604" y="111125"/>
                  <a:pt x="63341" y="111125"/>
                </a:cubicBezTo>
                <a:lnTo>
                  <a:pt x="129322" y="111125"/>
                </a:lnTo>
                <a:cubicBezTo>
                  <a:pt x="182176" y="21600"/>
                  <a:pt x="261005" y="17085"/>
                  <a:pt x="313720" y="24795"/>
                </a:cubicBezTo>
                <a:cubicBezTo>
                  <a:pt x="322610" y="26114"/>
                  <a:pt x="329555" y="33060"/>
                  <a:pt x="330805" y="41880"/>
                </a:cubicBezTo>
                <a:cubicBezTo>
                  <a:pt x="338515" y="94595"/>
                  <a:pt x="334000" y="173424"/>
                  <a:pt x="244475" y="226278"/>
                </a:cubicBezTo>
                <a:lnTo>
                  <a:pt x="244475" y="292259"/>
                </a:lnTo>
                <a:cubicBezTo>
                  <a:pt x="244475" y="303996"/>
                  <a:pt x="238363" y="314831"/>
                  <a:pt x="228292" y="320873"/>
                </a:cubicBezTo>
                <a:lnTo>
                  <a:pt x="167035" y="357614"/>
                </a:lnTo>
                <a:cubicBezTo>
                  <a:pt x="152241" y="366504"/>
                  <a:pt x="133350" y="355808"/>
                  <a:pt x="133350" y="338584"/>
                </a:cubicBezTo>
                <a:lnTo>
                  <a:pt x="133350" y="266700"/>
                </a:lnTo>
                <a:cubicBezTo>
                  <a:pt x="133350" y="242183"/>
                  <a:pt x="113417" y="222250"/>
                  <a:pt x="88900" y="222250"/>
                </a:cubicBezTo>
                <a:lnTo>
                  <a:pt x="88831" y="222250"/>
                </a:lnTo>
                <a:close/>
                <a:moveTo>
                  <a:pt x="277813" y="111125"/>
                </a:moveTo>
                <a:cubicBezTo>
                  <a:pt x="277813" y="92726"/>
                  <a:pt x="262874" y="77788"/>
                  <a:pt x="244475" y="77788"/>
                </a:cubicBezTo>
                <a:cubicBezTo>
                  <a:pt x="226076" y="77788"/>
                  <a:pt x="211138" y="92726"/>
                  <a:pt x="211138" y="111125"/>
                </a:cubicBezTo>
                <a:cubicBezTo>
                  <a:pt x="211138" y="129524"/>
                  <a:pt x="226076" y="144463"/>
                  <a:pt x="244475" y="144463"/>
                </a:cubicBezTo>
                <a:cubicBezTo>
                  <a:pt x="262874" y="144463"/>
                  <a:pt x="277813" y="129524"/>
                  <a:pt x="277813" y="111125"/>
                </a:cubicBezTo>
                <a:close/>
              </a:path>
            </a:pathLst>
          </a:custGeom>
          <a:solidFill>
            <a:srgbClr val="1A4B8C"/>
          </a:solidFill>
          <a:ln/>
        </p:spPr>
      </p:sp>
      <p:sp>
        <p:nvSpPr>
          <p:cNvPr id="14" name="Text 12"/>
          <p:cNvSpPr/>
          <p:nvPr/>
        </p:nvSpPr>
        <p:spPr>
          <a:xfrm>
            <a:off x="9169400" y="2108200"/>
            <a:ext cx="3810000" cy="355600"/>
          </a:xfrm>
          <a:prstGeom prst="rect">
            <a:avLst/>
          </a:prstGeom>
          <a:noFill/>
          <a:ln/>
        </p:spPr>
        <p:txBody>
          <a:bodyPr wrap="none" lIns="0" tIns="0" rIns="0" bIns="0" rtlCol="0" anchor="ctr"/>
          <a:lstStyle/>
          <a:p>
            <a:pPr>
              <a:lnSpc>
                <a:spcPct val="100000"/>
              </a:lnSpc>
            </a:pPr>
            <a:r>
              <a:rPr lang="en-US" sz="2000" b="1" dirty="0">
                <a:solidFill>
                  <a:srgbClr val="1A4B8C"/>
                </a:solidFill>
                <a:latin typeface="Quattrocento Sans" pitchFamily="34" charset="0"/>
                <a:ea typeface="Quattrocento Sans" pitchFamily="34" charset="-122"/>
                <a:cs typeface="Quattrocento Sans" pitchFamily="34" charset="-120"/>
              </a:rPr>
              <a:t>未来方向</a:t>
            </a:r>
            <a:endParaRPr lang="en-US" sz="1600" dirty="0"/>
          </a:p>
        </p:txBody>
      </p:sp>
      <p:sp>
        <p:nvSpPr>
          <p:cNvPr id="15" name="Text 13"/>
          <p:cNvSpPr/>
          <p:nvPr/>
        </p:nvSpPr>
        <p:spPr>
          <a:xfrm>
            <a:off x="8699500" y="2641600"/>
            <a:ext cx="6477000" cy="6121400"/>
          </a:xfrm>
          <a:prstGeom prst="rect">
            <a:avLst/>
          </a:prstGeom>
          <a:noFill/>
          <a:ln/>
        </p:spPr>
        <p:txBody>
          <a:bodyPr wrap="square" lIns="0" tIns="0" rIns="0" bIns="0" rtlCol="0" anchor="t"/>
          <a:lstStyle/>
          <a:p>
            <a:pPr>
              <a:lnSpc>
                <a:spcPct val="170000"/>
              </a:lnSpc>
            </a:pPr>
            <a:r>
              <a:rPr lang="en-US" sz="1800" b="1" dirty="0">
                <a:solidFill>
                  <a:srgbClr val="1A4B8C"/>
                </a:solidFill>
                <a:latin typeface="Quattrocento Sans" pitchFamily="34" charset="0"/>
                <a:ea typeface="Quattrocento Sans" pitchFamily="34" charset="-122"/>
                <a:cs typeface="Quattrocento Sans" pitchFamily="34" charset="-120"/>
              </a:rPr>
              <a:t>① 跨平台比较研究</a:t>
            </a:r>
            <a:endParaRPr lang="en-US" sz="1600" dirty="0"/>
          </a:p>
          <a:p>
            <a:pPr>
              <a:lnSpc>
                <a:spcPct val="170000"/>
              </a:lnSpc>
            </a:pPr>
            <a:r>
              <a:rPr lang="en-US" sz="1800" dirty="0">
                <a:solidFill>
                  <a:srgbClr val="1A1D21"/>
                </a:solidFill>
                <a:latin typeface="Quattrocento Sans" pitchFamily="34" charset="0"/>
                <a:ea typeface="Quattrocento Sans" pitchFamily="34" charset="-122"/>
                <a:cs typeface="Quattrocento Sans" pitchFamily="34" charset="-120"/>
              </a:rPr>
              <a:t>拓展至抖音、微博、小红书等多平台，开展跨平台比较研究，验证发现的普适性或揭示平台生态差异对健康传播的影响</a:t>
            </a:r>
            <a:endParaRPr lang="en-US" sz="1600" dirty="0"/>
          </a:p>
          <a:p>
            <a:pPr>
              <a:lnSpc>
                <a:spcPct val="170000"/>
              </a:lnSpc>
              <a:spcBef>
                <a:spcPts val="1200"/>
              </a:spcBef>
            </a:pPr>
            <a:r>
              <a:rPr lang="en-US" sz="1800" b="1" dirty="0">
                <a:solidFill>
                  <a:srgbClr val="1A4B8C"/>
                </a:solidFill>
                <a:latin typeface="Quattrocento Sans" pitchFamily="34" charset="0"/>
                <a:ea typeface="Quattrocento Sans" pitchFamily="34" charset="-122"/>
                <a:cs typeface="Quattrocento Sans" pitchFamily="34" charset="-120"/>
              </a:rPr>
              <a:t>② 检索增强生成（RAG）</a:t>
            </a:r>
            <a:endParaRPr lang="en-US" sz="1600" dirty="0"/>
          </a:p>
          <a:p>
            <a:pPr>
              <a:lnSpc>
                <a:spcPct val="170000"/>
              </a:lnSpc>
            </a:pPr>
            <a:r>
              <a:rPr lang="en-US" sz="1800" dirty="0">
                <a:solidFill>
                  <a:srgbClr val="1A1D21"/>
                </a:solidFill>
                <a:latin typeface="Quattrocento Sans" pitchFamily="34" charset="0"/>
                <a:ea typeface="Quattrocento Sans" pitchFamily="34" charset="-122"/>
                <a:cs typeface="Quattrocento Sans" pitchFamily="34" charset="-120"/>
              </a:rPr>
              <a:t>引入RAG技术，将模型与权威医学知识库动态链接，以缓解幻觉问题并保障答案的时效性与可追溯性</a:t>
            </a:r>
            <a:endParaRPr lang="en-US" sz="1600" dirty="0"/>
          </a:p>
          <a:p>
            <a:pPr>
              <a:lnSpc>
                <a:spcPct val="170000"/>
              </a:lnSpc>
              <a:spcBef>
                <a:spcPts val="1200"/>
              </a:spcBef>
            </a:pPr>
            <a:r>
              <a:rPr lang="en-US" sz="1800" b="1" dirty="0">
                <a:solidFill>
                  <a:srgbClr val="1A4B8C"/>
                </a:solidFill>
                <a:latin typeface="Quattrocento Sans" pitchFamily="34" charset="0"/>
                <a:ea typeface="Quattrocento Sans" pitchFamily="34" charset="-122"/>
                <a:cs typeface="Quattrocento Sans" pitchFamily="34" charset="-120"/>
              </a:rPr>
              <a:t>③ 多轮对话与个性化交互</a:t>
            </a:r>
            <a:endParaRPr lang="en-US" sz="1600" dirty="0"/>
          </a:p>
          <a:p>
            <a:pPr>
              <a:lnSpc>
                <a:spcPct val="170000"/>
              </a:lnSpc>
            </a:pPr>
            <a:r>
              <a:rPr lang="en-US" sz="1800" dirty="0">
                <a:solidFill>
                  <a:srgbClr val="1A1D21"/>
                </a:solidFill>
                <a:latin typeface="Quattrocento Sans" pitchFamily="34" charset="0"/>
                <a:ea typeface="Quattrocento Sans" pitchFamily="34" charset="-122"/>
                <a:cs typeface="Quattrocento Sans" pitchFamily="34" charset="-120"/>
              </a:rPr>
              <a:t>探索多轮对话与个性化交互，模拟真实咨询场景中的追问与澄清机制，提升智能问答系统的实用体验</a:t>
            </a:r>
            <a:endParaRPr lang="en-US" sz="1600" dirty="0"/>
          </a:p>
          <a:p>
            <a:pPr>
              <a:lnSpc>
                <a:spcPct val="170000"/>
              </a:lnSpc>
              <a:spcBef>
                <a:spcPts val="1200"/>
              </a:spcBef>
            </a:pPr>
            <a:r>
              <a:rPr lang="en-US" sz="1800" b="1" dirty="0">
                <a:solidFill>
                  <a:srgbClr val="1A4B8C"/>
                </a:solidFill>
                <a:latin typeface="Quattrocento Sans" pitchFamily="34" charset="0"/>
                <a:ea typeface="Quattrocento Sans" pitchFamily="34" charset="-122"/>
                <a:cs typeface="Quattrocento Sans" pitchFamily="34" charset="-120"/>
              </a:rPr>
              <a:t>④ 持续扩充数据集</a:t>
            </a:r>
            <a:endParaRPr lang="en-US" sz="1600" dirty="0"/>
          </a:p>
          <a:p>
            <a:pPr>
              <a:lnSpc>
                <a:spcPct val="170000"/>
              </a:lnSpc>
            </a:pPr>
            <a:r>
              <a:rPr lang="en-US" sz="1800" dirty="0">
                <a:solidFill>
                  <a:srgbClr val="1A1D21"/>
                </a:solidFill>
                <a:latin typeface="Quattrocento Sans" pitchFamily="34" charset="0"/>
                <a:ea typeface="Quattrocento Sans" pitchFamily="34" charset="-122"/>
                <a:cs typeface="Quattrocento Sans" pitchFamily="34" charset="-120"/>
              </a:rPr>
              <a:t>扩充数据集规模与主题覆盖，特别强化谣言辟谣及边缘议题的系统性收录，以增强模型的鲁棒性与安全性</a:t>
            </a:r>
            <a:endParaRPr lang="en-US" sz="1600" dirty="0"/>
          </a:p>
        </p:txBody>
      </p:sp>
      <p:sp>
        <p:nvSpPr>
          <p:cNvPr id="16" name="Text 14"/>
          <p:cNvSpPr/>
          <p:nvPr/>
        </p:nvSpPr>
        <p:spPr>
          <a:xfrm>
            <a:off x="762000" y="8763000"/>
            <a:ext cx="3810000" cy="254000"/>
          </a:xfrm>
          <a:prstGeom prst="rect">
            <a:avLst/>
          </a:prstGeom>
          <a:noFill/>
          <a:ln/>
        </p:spPr>
        <p:txBody>
          <a:bodyPr wrap="none" lIns="0" tIns="0" rIns="0" bIns="0" rtlCol="0" anchor="ctr"/>
          <a:lstStyle/>
          <a:p>
            <a:pP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南京医科大学</a:t>
            </a:r>
            <a:endParaRPr lang="en-US" sz="1400" dirty="0"/>
          </a:p>
        </p:txBody>
      </p:sp>
      <p:sp>
        <p:nvSpPr>
          <p:cNvPr id="17" name="Text 15"/>
          <p:cNvSpPr/>
          <p:nvPr/>
        </p:nvSpPr>
        <p:spPr>
          <a:xfrm>
            <a:off x="13970000" y="8763000"/>
            <a:ext cx="1524000" cy="254000"/>
          </a:xfrm>
          <a:prstGeom prst="rect">
            <a:avLst/>
          </a:prstGeom>
          <a:noFill/>
          <a:ln/>
        </p:spPr>
        <p:txBody>
          <a:bodyPr wrap="none" lIns="0" tIns="0" rIns="0" bIns="0" rtlCol="0" anchor="ctr"/>
          <a:lstStyle/>
          <a:p>
            <a:pPr algn="r">
              <a:lnSpc>
                <a:spcPct val="150000"/>
              </a:lnSpc>
            </a:pPr>
            <a:r>
              <a:rPr lang="en-US" sz="1400" dirty="0">
                <a:solidFill>
                  <a:srgbClr val="8A9BB0"/>
                </a:solidFill>
                <a:latin typeface="QuattrocentoSans" pitchFamily="34" charset="0"/>
                <a:ea typeface="QuattrocentoSans" pitchFamily="34" charset="-122"/>
                <a:cs typeface="QuattrocentoSans" pitchFamily="34" charset="-120"/>
              </a:rPr>
              <a:t>12</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A4B8C"/>
        </a:solidFill>
      </p:bgPr>
    </p:bg>
    <p:spTree>
      <p:nvGrpSpPr>
        <p:cNvPr id="1" name=""/>
        <p:cNvGrpSpPr/>
        <p:nvPr/>
      </p:nvGrpSpPr>
      <p:grpSpPr>
        <a:xfrm>
          <a:off x="0" y="0"/>
          <a:ext cx="0" cy="0"/>
          <a:chOff x="0" y="0"/>
          <a:chExt cx="0" cy="0"/>
        </a:xfrm>
      </p:grpSpPr>
      <p:sp>
        <p:nvSpPr>
          <p:cNvPr id="2" name="Text 0"/>
          <p:cNvSpPr/>
          <p:nvPr/>
        </p:nvSpPr>
        <p:spPr>
          <a:xfrm>
            <a:off x="3048000" y="2794000"/>
            <a:ext cx="10160000" cy="1016000"/>
          </a:xfrm>
          <a:prstGeom prst="rect">
            <a:avLst/>
          </a:prstGeom>
          <a:noFill/>
          <a:ln/>
        </p:spPr>
        <p:txBody>
          <a:bodyPr wrap="none" lIns="0" tIns="0" rIns="0" bIns="0" rtlCol="0" anchor="ctr"/>
          <a:lstStyle/>
          <a:p>
            <a:pPr algn="ctr">
              <a:lnSpc>
                <a:spcPct val="100000"/>
              </a:lnSpc>
            </a:pPr>
            <a:r>
              <a:rPr lang="en-US" sz="4800" b="1" dirty="0">
                <a:solidFill>
                  <a:srgbClr val="FFFFFF"/>
                </a:solidFill>
                <a:latin typeface="Quattrocento Sans" pitchFamily="34" charset="0"/>
                <a:ea typeface="Quattrocento Sans" pitchFamily="34" charset="-122"/>
                <a:cs typeface="Quattrocento Sans" pitchFamily="34" charset="-120"/>
              </a:rPr>
              <a:t>致谢</a:t>
            </a:r>
            <a:endParaRPr lang="en-US" sz="1600" dirty="0"/>
          </a:p>
        </p:txBody>
      </p:sp>
      <p:sp>
        <p:nvSpPr>
          <p:cNvPr id="3" name="Shape 1"/>
          <p:cNvSpPr/>
          <p:nvPr/>
        </p:nvSpPr>
        <p:spPr>
          <a:xfrm>
            <a:off x="6858000" y="4064000"/>
            <a:ext cx="2540000" cy="38100"/>
          </a:xfrm>
          <a:prstGeom prst="rect">
            <a:avLst/>
          </a:prstGeom>
          <a:solidFill>
            <a:srgbClr val="C45C26"/>
          </a:solidFill>
          <a:ln/>
        </p:spPr>
      </p:sp>
      <p:sp>
        <p:nvSpPr>
          <p:cNvPr id="4" name="Text 2"/>
          <p:cNvSpPr/>
          <p:nvPr/>
        </p:nvSpPr>
        <p:spPr>
          <a:xfrm>
            <a:off x="3048000" y="4445000"/>
            <a:ext cx="10160000" cy="1905000"/>
          </a:xfrm>
          <a:prstGeom prst="rect">
            <a:avLst/>
          </a:prstGeom>
          <a:noFill/>
          <a:ln/>
        </p:spPr>
        <p:txBody>
          <a:bodyPr wrap="square" lIns="0" tIns="0" rIns="0" bIns="0" rtlCol="0" anchor="t"/>
          <a:lstStyle/>
          <a:p>
            <a:pPr algn="ctr">
              <a:lnSpc>
                <a:spcPct val="180000"/>
              </a:lnSpc>
            </a:pPr>
            <a:r>
              <a:rPr lang="en-US" sz="2000" dirty="0">
                <a:solidFill>
                  <a:srgbClr val="FFFFFF">
                    <a:alpha val="80000"/>
                  </a:srgbClr>
                </a:solidFill>
                <a:latin typeface="Quattrocento Sans" pitchFamily="34" charset="0"/>
                <a:ea typeface="Quattrocento Sans" pitchFamily="34" charset="-122"/>
                <a:cs typeface="Quattrocento Sans" pitchFamily="34" charset="-120"/>
              </a:rPr>
              <a:t>衷心感谢导师 </a:t>
            </a:r>
            <a:pPr algn="ctr">
              <a:lnSpc>
                <a:spcPct val="180000"/>
              </a:lnSpc>
            </a:pPr>
            <a:r>
              <a:rPr lang="en-US" sz="2000" b="1" dirty="0">
                <a:solidFill>
                  <a:srgbClr val="FFFFFF">
                    <a:alpha val="80000"/>
                  </a:srgbClr>
                </a:solidFill>
                <a:latin typeface="Quattrocento Sans" pitchFamily="34" charset="0"/>
                <a:ea typeface="Quattrocento Sans" pitchFamily="34" charset="-122"/>
                <a:cs typeface="Quattrocento Sans" pitchFamily="34" charset="-120"/>
              </a:rPr>
              <a:t>黄若尘老师</a:t>
            </a:r>
            <a:pPr algn="ctr">
              <a:lnSpc>
                <a:spcPct val="180000"/>
              </a:lnSpc>
            </a:pPr>
            <a:r>
              <a:rPr lang="en-US" sz="2000" dirty="0">
                <a:solidFill>
                  <a:srgbClr val="FFFFFF">
                    <a:alpha val="80000"/>
                  </a:srgbClr>
                </a:solidFill>
                <a:latin typeface="Quattrocento Sans" pitchFamily="34" charset="0"/>
                <a:ea typeface="Quattrocento Sans" pitchFamily="34" charset="-122"/>
                <a:cs typeface="Quattrocento Sans" pitchFamily="34" charset="-120"/>
              </a:rPr>
              <a:t> 的悉心指导</a:t>
            </a:r>
            <a:endParaRPr lang="en-US" sz="1600" dirty="0"/>
          </a:p>
          <a:p>
            <a:pPr algn="ctr">
              <a:lnSpc>
                <a:spcPct val="180000"/>
              </a:lnSpc>
            </a:pPr>
            <a:r>
              <a:rPr lang="en-US" sz="2000" dirty="0">
                <a:solidFill>
                  <a:srgbClr val="FFFFFF">
                    <a:alpha val="80000"/>
                  </a:srgbClr>
                </a:solidFill>
                <a:latin typeface="Quattrocento Sans" pitchFamily="34" charset="0"/>
                <a:ea typeface="Quattrocento Sans" pitchFamily="34" charset="-122"/>
                <a:cs typeface="Quattrocento Sans" pitchFamily="34" charset="-120"/>
              </a:rPr>
              <a:t>感谢各位评审老师的宝贵意见与建议</a:t>
            </a:r>
            <a:endParaRPr lang="en-US" sz="1600" dirty="0"/>
          </a:p>
          <a:p>
            <a:pPr algn="ctr">
              <a:lnSpc>
                <a:spcPct val="180000"/>
              </a:lnSpc>
            </a:pPr>
            <a:r>
              <a:rPr lang="en-US" sz="2000" dirty="0">
                <a:solidFill>
                  <a:srgbClr val="FFFFFF">
                    <a:alpha val="80000"/>
                  </a:srgbClr>
                </a:solidFill>
                <a:latin typeface="Quattrocento Sans" pitchFamily="34" charset="0"/>
                <a:ea typeface="Quattrocento Sans" pitchFamily="34" charset="-122"/>
                <a:cs typeface="Quattrocento Sans" pitchFamily="34" charset="-120"/>
              </a:rPr>
              <a:t>感谢南京医科大学生物医学工程与信息学院的支持</a:t>
            </a:r>
            <a:endParaRPr lang="en-US" sz="1600" dirty="0"/>
          </a:p>
        </p:txBody>
      </p:sp>
      <p:sp>
        <p:nvSpPr>
          <p:cNvPr id="5" name="Shape 3"/>
          <p:cNvSpPr/>
          <p:nvPr/>
        </p:nvSpPr>
        <p:spPr>
          <a:xfrm>
            <a:off x="635000" y="762000"/>
            <a:ext cx="1905000" cy="1905000"/>
          </a:xfrm>
          <a:prstGeom prst="ellipse">
            <a:avLst/>
          </a:prstGeom>
          <a:solidFill>
            <a:srgbClr val="FFFFFF">
              <a:alpha val="3137"/>
            </a:srgbClr>
          </a:solidFill>
          <a:ln/>
        </p:spPr>
      </p:sp>
      <p:sp>
        <p:nvSpPr>
          <p:cNvPr id="6" name="Shape 4"/>
          <p:cNvSpPr/>
          <p:nvPr/>
        </p:nvSpPr>
        <p:spPr>
          <a:xfrm>
            <a:off x="13335000" y="6096000"/>
            <a:ext cx="1524000" cy="1524000"/>
          </a:xfrm>
          <a:prstGeom prst="ellipse">
            <a:avLst/>
          </a:prstGeom>
          <a:solidFill>
            <a:srgbClr val="FFFFFF">
              <a:alpha val="2353"/>
            </a:srgbClr>
          </a:solidFill>
          <a:ln/>
        </p:spPr>
      </p:sp>
      <p:sp>
        <p:nvSpPr>
          <p:cNvPr id="7" name="Text 5"/>
          <p:cNvSpPr/>
          <p:nvPr/>
        </p:nvSpPr>
        <p:spPr>
          <a:xfrm>
            <a:off x="3048000" y="6858000"/>
            <a:ext cx="10160000" cy="508000"/>
          </a:xfrm>
          <a:prstGeom prst="rect">
            <a:avLst/>
          </a:prstGeom>
          <a:noFill/>
          <a:ln/>
        </p:spPr>
        <p:txBody>
          <a:bodyPr wrap="none" lIns="0" tIns="0" rIns="0" bIns="0" rtlCol="0" anchor="ctr"/>
          <a:lstStyle/>
          <a:p>
            <a:pPr algn="ctr">
              <a:lnSpc>
                <a:spcPct val="100000"/>
              </a:lnSpc>
            </a:pPr>
            <a:r>
              <a:rPr lang="en-US" sz="1600" dirty="0">
                <a:solidFill>
                  <a:srgbClr val="FFFFFF">
                    <a:alpha val="50196"/>
                  </a:srgbClr>
                </a:solidFill>
                <a:latin typeface="Quattrocento Sans" pitchFamily="34" charset="0"/>
                <a:ea typeface="Quattrocento Sans" pitchFamily="34" charset="-122"/>
                <a:cs typeface="Quattrocento Sans" pitchFamily="34" charset="-120"/>
              </a:rPr>
              <a:t>博学至精 · 明德至善</a:t>
            </a:r>
            <a:endParaRPr lang="en-US" sz="1600" dirty="0"/>
          </a:p>
        </p:txBody>
      </p:sp>
    </p:spTree>
  </p:cSld>
  <p:clrMapOvr>
    <a:masterClrMapping/>
  </p:clrMapOvr>
</p:sld>
</file>

<file path=ppt/theme/theme1.xml><?xml version="1.0" encoding="utf-8"?>
<a:theme xmlns:a="http://schemas.openxmlformats.org/drawingml/2006/main"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Moonshot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基于大语言模型的社交媒体青少年生殖健康评论分类分析与问答生成研究</dc:title>
  <dc:subject>基于大语言模型的社交媒体青少年生殖健康评论分类分析与问答生成研究</dc:subject>
  <dc:creator>Kimi</dc:creator>
  <cp:lastModifiedBy>Kimi</cp:lastModifiedBy>
  <cp:revision>1</cp:revision>
  <dcterms:created xsi:type="dcterms:W3CDTF">2026-04-27T05:32:35Z</dcterms:created>
  <dcterms:modified xsi:type="dcterms:W3CDTF">2026-04-27T05:32:35Z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4" name="AIGC">
    <vt:lpwstr>{"Label":"基于大语言模型的社交媒体青少年生殖健康评论分类分析与问答生成研究","ContentProducer":"001191110108MACG2KBH8F10000","ProduceID":"19dcd6a3-a152-8e00-8000-0000a1c67252","ReservedCode1":"","ContentPropagator":"001191110108MACG2KBH8F20000","PropagateID":"19dcd6a3-a152-8e00-8000-0000a1c67252","ReservedCode2":""}</vt:lpwstr>
  </property>
</Properties>
</file>