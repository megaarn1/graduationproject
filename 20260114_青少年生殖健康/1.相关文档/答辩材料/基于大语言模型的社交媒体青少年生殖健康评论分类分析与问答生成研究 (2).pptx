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评论数</c:v>
                </c:pt>
              </c:strCache>
            </c:strRef>
          </c:tx>
          <c:spPr>
            <a:solidFill>
              <a:srgbClr val="1A4B8C"/>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Sheet1!$A$2:$A$14</c:f>
              <c:multiLvlStrCache>
                <c:ptCount val="13"/>
                <c:lvl>
                  <c:pt idx="0">
                    <c:v>安全套</c:v>
                  </c:pt>
                  <c:pt idx="1">
                    <c:v>生殖健康科普</c:v>
                  </c:pt>
                  <c:pt idx="2">
                    <c:v>避孕药</c:v>
                  </c:pt>
                  <c:pt idx="3">
                    <c:v>节育器</c:v>
                  </c:pt>
                  <c:pt idx="4">
                    <c:v>人工流产</c:v>
                  </c:pt>
                  <c:pt idx="5">
                    <c:v>避孕科普</c:v>
                  </c:pt>
                  <c:pt idx="6">
                    <c:v>绝育手术</c:v>
                  </c:pt>
                  <c:pt idx="7">
                    <c:v>安全期避孕</c:v>
                  </c:pt>
                  <c:pt idx="8">
                    <c:v>体外排精</c:v>
                  </c:pt>
                  <c:pt idx="9">
                    <c:v>其他内容</c:v>
                  </c:pt>
                  <c:pt idx="10">
                    <c:v>女用安全套</c:v>
                  </c:pt>
                  <c:pt idx="11">
                    <c:v>避孕失败</c:v>
                  </c:pt>
                  <c:pt idx="12">
                    <c:v>新型避孕方式</c:v>
                  </c:pt>
                </c:lvl>
              </c:multiLvlStrCache>
            </c:multiLvlStrRef>
          </c:cat>
          <c:val>
            <c:numRef>
              <c:f>Sheet1!$B$2:$B$14</c:f>
              <c:numCache>
                <c:formatCode>General</c:formatCode>
                <c:ptCount val="13"/>
                <c:pt idx="0">
                  <c:v>1224</c:v>
                </c:pt>
                <c:pt idx="1">
                  <c:v>1183</c:v>
                </c:pt>
                <c:pt idx="2">
                  <c:v>256</c:v>
                </c:pt>
                <c:pt idx="3">
                  <c:v>156</c:v>
                </c:pt>
                <c:pt idx="4">
                  <c:v>116</c:v>
                </c:pt>
                <c:pt idx="5">
                  <c:v>110</c:v>
                </c:pt>
                <c:pt idx="6">
                  <c:v>110</c:v>
                </c:pt>
                <c:pt idx="7">
                  <c:v>101</c:v>
                </c:pt>
                <c:pt idx="8">
                  <c:v>79</c:v>
                </c:pt>
                <c:pt idx="9">
                  <c:v>66</c:v>
                </c:pt>
                <c:pt idx="10">
                  <c:v>33</c:v>
                </c:pt>
                <c:pt idx="11">
                  <c:v>31</c:v>
                </c:pt>
                <c:pt idx="12">
                  <c:v>19</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7"/>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基线</c:v>
                </c:pt>
              </c:strCache>
            </c:strRef>
          </c:tx>
          <c:spPr>
            <a:solidFill>
              <a:srgbClr val="8A9BB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Sheet1!$B$2:$B$7</c:f>
              <c:numCache>
                <c:formatCode>General</c:formatCode>
                <c:ptCount val="6"/>
                <c:pt idx="0">
                  <c:v>2.108</c:v>
                </c:pt>
                <c:pt idx="1">
                  <c:v>2.262</c:v>
                </c:pt>
                <c:pt idx="2">
                  <c:v>2.595</c:v>
                </c:pt>
                <c:pt idx="3">
                  <c:v>2.259</c:v>
                </c:pt>
                <c:pt idx="4">
                  <c:v>2.555</c:v>
                </c:pt>
                <c:pt idx="5">
                  <c:v>2.657</c:v>
                </c:pt>
              </c:numCache>
            </c:numRef>
          </c:val>
        </c:ser>
        <c:ser>
          <c:idx val="1"/>
          <c:order val="1"/>
          <c:tx>
            <c:strRef>
              <c:f>Sheet1!$C$1</c:f>
              <c:strCache>
                <c:ptCount val="1"/>
                <c:pt idx="0">
                  <c:v>微调后</c:v>
                </c:pt>
              </c:strCache>
            </c:strRef>
          </c:tx>
          <c:spPr>
            <a:solidFill>
              <a:srgbClr val="1A4B8C"/>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Sheet1!$C$2:$C$7</c:f>
              <c:numCache>
                <c:formatCode>General</c:formatCode>
                <c:ptCount val="6"/>
                <c:pt idx="0">
                  <c:v>2.552</c:v>
                </c:pt>
                <c:pt idx="1">
                  <c:v>2.699</c:v>
                </c:pt>
                <c:pt idx="2">
                  <c:v>2.914</c:v>
                </c:pt>
                <c:pt idx="3">
                  <c:v>2.815</c:v>
                </c:pt>
                <c:pt idx="4">
                  <c:v>2.927</c:v>
                </c:pt>
                <c:pt idx="5">
                  <c:v>2.922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max val="3.2"/>
          <c:min val="1.5"/>
        </c:scaling>
        <c:delete val="0"/>
        <c:axPos val="l"/>
        <c:majorGridlines>
          <c:spPr>
            <a:ln w="12700" cap="flat">
              <a:solidFill>
                <a:srgbClr val="e5e7e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提升幅度</c:v>
                </c:pt>
              </c:strCache>
            </c:strRef>
          </c:tx>
          <c:spPr>
            <a:solidFill>
              <a:srgbClr val="C45C26"/>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生殖健康科普</c:v>
                  </c:pt>
                  <c:pt idx="1">
                    <c:v>安全套</c:v>
                  </c:pt>
                  <c:pt idx="2">
                    <c:v>其他内容</c:v>
                  </c:pt>
                  <c:pt idx="3">
                    <c:v>节育器</c:v>
                  </c:pt>
                  <c:pt idx="4">
                    <c:v>避孕药</c:v>
                  </c:pt>
                  <c:pt idx="5">
                    <c:v>避孕科普</c:v>
                  </c:pt>
                  <c:pt idx="6">
                    <c:v>绝育手术</c:v>
                  </c:pt>
                  <c:pt idx="7">
                    <c:v>人工流产</c:v>
                  </c:pt>
                  <c:pt idx="8">
                    <c:v>体外排精</c:v>
                  </c:pt>
                </c:lvl>
              </c:multiLvlStrCache>
            </c:multiLvlStrRef>
          </c:cat>
          <c:val>
            <c:numRef>
              <c:f>Sheet1!$B$2:$B$10</c:f>
              <c:numCache>
                <c:formatCode>General</c:formatCode>
                <c:ptCount val="9"/>
                <c:pt idx="0">
                  <c:v>0.355</c:v>
                </c:pt>
                <c:pt idx="1">
                  <c:v>0.348</c:v>
                </c:pt>
                <c:pt idx="2">
                  <c:v>0.361</c:v>
                </c:pt>
                <c:pt idx="3">
                  <c:v>0.43</c:v>
                </c:pt>
                <c:pt idx="4">
                  <c:v>0.316</c:v>
                </c:pt>
                <c:pt idx="5">
                  <c:v>0.347</c:v>
                </c:pt>
                <c:pt idx="6">
                  <c:v>0.375</c:v>
                </c:pt>
                <c:pt idx="7">
                  <c:v>0.619</c:v>
                </c:pt>
                <c:pt idx="8">
                  <c:v>0.476</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1016000" y="2794000"/>
            <a:ext cx="9144000" cy="2603500"/>
          </a:xfrm>
          <a:prstGeom prst="rect">
            <a:avLst/>
          </a:prstGeom>
          <a:noFill/>
          <a:ln/>
        </p:spPr>
        <p:txBody>
          <a:bodyPr wrap="square" lIns="0" tIns="0" rIns="0" bIns="0" rtlCol="0" anchor="t"/>
          <a:lstStyle/>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基于大语言模型的社交媒体</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青少年生殖健康评论分类分析</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与问答生成研究</a:t>
            </a:r>
            <a:endParaRPr lang="en-US" sz="3600" dirty="0"/>
          </a:p>
        </p:txBody>
      </p:sp>
      <p:sp>
        <p:nvSpPr>
          <p:cNvPr id="3" name="Shape 1"/>
          <p:cNvSpPr/>
          <p:nvPr/>
        </p:nvSpPr>
        <p:spPr>
          <a:xfrm>
            <a:off x="1016000" y="5461000"/>
            <a:ext cx="762000" cy="50800"/>
          </a:xfrm>
          <a:prstGeom prst="rect">
            <a:avLst/>
          </a:prstGeom>
          <a:solidFill>
            <a:srgbClr val="C45C26"/>
          </a:solidFill>
          <a:ln/>
        </p:spPr>
      </p:sp>
      <p:sp>
        <p:nvSpPr>
          <p:cNvPr id="4" name="Text 2"/>
          <p:cNvSpPr/>
          <p:nvPr/>
        </p:nvSpPr>
        <p:spPr>
          <a:xfrm>
            <a:off x="1016000" y="5651500"/>
            <a:ext cx="9144000" cy="508000"/>
          </a:xfrm>
          <a:prstGeom prst="rect">
            <a:avLst/>
          </a:prstGeom>
          <a:noFill/>
          <a:ln/>
        </p:spPr>
        <p:txBody>
          <a:bodyPr wrap="none" lIns="0" tIns="0" rIns="0" bIns="0" rtlCol="0" anchor="ctr"/>
          <a:lstStyle/>
          <a:p>
            <a:pPr>
              <a:lnSpc>
                <a:spcPct val="10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本科生毕业设计（论文）答辩</a:t>
            </a:r>
            <a:endParaRPr lang="en-US" sz="1600" dirty="0"/>
          </a:p>
        </p:txBody>
      </p:sp>
      <p:sp>
        <p:nvSpPr>
          <p:cNvPr id="5" name="Text 3"/>
          <p:cNvSpPr/>
          <p:nvPr/>
        </p:nvSpPr>
        <p:spPr>
          <a:xfrm>
            <a:off x="1016000" y="6604000"/>
            <a:ext cx="9144000" cy="1524000"/>
          </a:xfrm>
          <a:prstGeom prst="rect">
            <a:avLst/>
          </a:prstGeom>
          <a:noFill/>
          <a:ln/>
        </p:spPr>
        <p:txBody>
          <a:bodyPr wrap="square" lIns="0" tIns="0" rIns="0" bIns="0" rtlCol="0" anchor="t"/>
          <a:lstStyle/>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答辩人：周子轩 | 导师：黄若尘 讲师</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南京医科大学 生物医学工程与信息学院</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2026年5月</a:t>
            </a:r>
            <a:endParaRPr lang="en-US" sz="1600" dirty="0"/>
          </a:p>
        </p:txBody>
      </p:sp>
      <p:sp>
        <p:nvSpPr>
          <p:cNvPr id="6" name="Shape 4"/>
          <p:cNvSpPr/>
          <p:nvPr/>
        </p:nvSpPr>
        <p:spPr>
          <a:xfrm>
            <a:off x="11176000" y="0"/>
            <a:ext cx="5080000" cy="9144000"/>
          </a:xfrm>
          <a:prstGeom prst="rect">
            <a:avLst/>
          </a:prstGeom>
          <a:solidFill>
            <a:srgbClr val="FFFFFF">
              <a:alpha val="8235"/>
            </a:srgbClr>
          </a:solidFill>
          <a:ln/>
        </p:spPr>
      </p:sp>
      <p:sp>
        <p:nvSpPr>
          <p:cNvPr id="7" name="Shape 5"/>
          <p:cNvSpPr/>
          <p:nvPr/>
        </p:nvSpPr>
        <p:spPr>
          <a:xfrm>
            <a:off x="12446000" y="2286000"/>
            <a:ext cx="2540000" cy="2540000"/>
          </a:xfrm>
          <a:prstGeom prst="ellipse">
            <a:avLst/>
          </a:prstGeom>
          <a:solidFill>
            <a:srgbClr val="FFFFFF">
              <a:alpha val="6275"/>
            </a:srgbClr>
          </a:solidFill>
          <a:ln/>
        </p:spPr>
      </p:sp>
      <p:sp>
        <p:nvSpPr>
          <p:cNvPr id="8" name="Shape 6"/>
          <p:cNvSpPr/>
          <p:nvPr/>
        </p:nvSpPr>
        <p:spPr>
          <a:xfrm>
            <a:off x="13335000" y="5080000"/>
            <a:ext cx="1524000" cy="1524000"/>
          </a:xfrm>
          <a:prstGeom prst="ellipse">
            <a:avLst/>
          </a:prstGeom>
          <a:solidFill>
            <a:srgbClr val="FFFFFF">
              <a:alpha val="3137"/>
            </a:srgbClr>
          </a:solidFill>
          <a:ln/>
        </p:spPr>
      </p:sp>
      <p:sp>
        <p:nvSpPr>
          <p:cNvPr id="9" name="Shape 7"/>
          <p:cNvSpPr/>
          <p:nvPr/>
        </p:nvSpPr>
        <p:spPr>
          <a:xfrm>
            <a:off x="11684000" y="7112000"/>
            <a:ext cx="3048000" cy="0"/>
          </a:xfrm>
          <a:prstGeom prst="straightConnector1">
            <a:avLst/>
          </a:prstGeom>
          <a:noFill/>
          <a:ln w="25400">
            <a:solidFill>
              <a:srgbClr val="FFFFFF">
                <a:alpha val="18824"/>
              </a:srgbClr>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研究背景与意义</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研究背景与意义</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651000"/>
            <a:ext cx="4699000" cy="2667000"/>
          </a:xfrm>
          <a:prstGeom prst="rect">
            <a:avLst/>
          </a:prstGeom>
          <a:solidFill>
            <a:srgbClr val="FFFFFF"/>
          </a:solidFill>
          <a:ln/>
        </p:spPr>
      </p:sp>
      <p:sp>
        <p:nvSpPr>
          <p:cNvPr id="8" name="Text 6"/>
          <p:cNvSpPr/>
          <p:nvPr/>
        </p:nvSpPr>
        <p:spPr>
          <a:xfrm>
            <a:off x="1016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严峻的现实挑战</a:t>
            </a:r>
            <a:endParaRPr lang="en-US" sz="1600" dirty="0"/>
          </a:p>
        </p:txBody>
      </p:sp>
      <p:sp>
        <p:nvSpPr>
          <p:cNvPr id="9" name="Text 7"/>
          <p:cNvSpPr/>
          <p:nvPr/>
        </p:nvSpPr>
        <p:spPr>
          <a:xfrm>
            <a:off x="1016000" y="2260600"/>
            <a:ext cx="4191000" cy="1905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全球：2019年中低收入国家15-19岁女性约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2100万例</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怀孕，半数为非意愿妊娠</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中国：青少年HIV发病率2008-2017年间增加约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五倍</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，生殖健康教育亟待加强</a:t>
            </a:r>
            <a:endParaRPr lang="en-US" sz="1600" dirty="0"/>
          </a:p>
        </p:txBody>
      </p:sp>
      <p:sp>
        <p:nvSpPr>
          <p:cNvPr id="10" name="Shape 8"/>
          <p:cNvSpPr/>
          <p:nvPr/>
        </p:nvSpPr>
        <p:spPr>
          <a:xfrm>
            <a:off x="5715000" y="1651000"/>
            <a:ext cx="4699000" cy="2540000"/>
          </a:xfrm>
          <a:prstGeom prst="rect">
            <a:avLst/>
          </a:prstGeom>
          <a:solidFill>
            <a:srgbClr val="FFFFFF"/>
          </a:solidFill>
          <a:ln/>
        </p:spPr>
      </p:sp>
      <p:sp>
        <p:nvSpPr>
          <p:cNvPr id="11" name="Text 9"/>
          <p:cNvSpPr/>
          <p:nvPr/>
        </p:nvSpPr>
        <p:spPr>
          <a:xfrm>
            <a:off x="5969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传统教育的局限</a:t>
            </a:r>
            <a:endParaRPr lang="en-US" sz="1600" dirty="0"/>
          </a:p>
        </p:txBody>
      </p:sp>
      <p:sp>
        <p:nvSpPr>
          <p:cNvPr id="12" name="Text 10"/>
          <p:cNvSpPr/>
          <p:nvPr/>
        </p:nvSpPr>
        <p:spPr>
          <a:xfrm>
            <a:off x="5969000" y="2260600"/>
            <a:ext cx="4191000" cy="1778000"/>
          </a:xfrm>
          <a:prstGeom prst="rect">
            <a:avLst/>
          </a:prstGeom>
          <a:noFill/>
          <a:ln/>
        </p:spPr>
        <p:txBody>
          <a:bodyPr wrap="square" lIns="0" tIns="0" rIns="0" bIns="0" rtlCol="0" anchor="t"/>
          <a:lstStyle/>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文化敏感性导致学校性教育避而不谈</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课程体系不完善，知识缺口显著</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全国调查显示青少年生殖健康知识及格率偏低</a:t>
            </a:r>
            <a:endParaRPr lang="en-US" sz="1600" dirty="0"/>
          </a:p>
        </p:txBody>
      </p:sp>
      <p:sp>
        <p:nvSpPr>
          <p:cNvPr id="13" name="Shape 11"/>
          <p:cNvSpPr/>
          <p:nvPr/>
        </p:nvSpPr>
        <p:spPr>
          <a:xfrm>
            <a:off x="10668000" y="1651000"/>
            <a:ext cx="4826000" cy="2540000"/>
          </a:xfrm>
          <a:prstGeom prst="rect">
            <a:avLst/>
          </a:prstGeom>
          <a:solidFill>
            <a:srgbClr val="FFFFFF"/>
          </a:solidFill>
          <a:ln/>
        </p:spPr>
      </p:sp>
      <p:sp>
        <p:nvSpPr>
          <p:cNvPr id="14" name="Text 12"/>
          <p:cNvSpPr/>
          <p:nvPr/>
        </p:nvSpPr>
        <p:spPr>
          <a:xfrm>
            <a:off x="10922000" y="1778000"/>
            <a:ext cx="4318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社交媒体的机遇与挑战</a:t>
            </a:r>
            <a:endParaRPr lang="en-US" sz="1600" dirty="0"/>
          </a:p>
        </p:txBody>
      </p:sp>
      <p:sp>
        <p:nvSpPr>
          <p:cNvPr id="15" name="Text 13"/>
          <p:cNvSpPr/>
          <p:nvPr/>
        </p:nvSpPr>
        <p:spPr>
          <a:xfrm>
            <a:off x="10922000" y="2260600"/>
            <a:ext cx="4318000" cy="18415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B站等社交媒体成为Z世代获取敏感话题信息的核心渠道</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海量真实评论构成自发的"问答社区"</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核心挑战：UGC质量参差，如何转化为规范知识资源</a:t>
            </a:r>
            <a:endParaRPr lang="en-US" sz="1600" dirty="0"/>
          </a:p>
        </p:txBody>
      </p:sp>
      <p:sp>
        <p:nvSpPr>
          <p:cNvPr id="16" name="Shape 14"/>
          <p:cNvSpPr/>
          <p:nvPr/>
        </p:nvSpPr>
        <p:spPr>
          <a:xfrm>
            <a:off x="762000" y="4445000"/>
            <a:ext cx="14732000" cy="0"/>
          </a:xfrm>
          <a:prstGeom prst="straightConnector1">
            <a:avLst/>
          </a:prstGeom>
          <a:noFill/>
          <a:ln w="12700">
            <a:solidFill>
              <a:srgbClr val="8A9BB0"/>
            </a:solidFill>
            <a:prstDash val="solid"/>
            <a:headEnd type="none"/>
            <a:tailEnd type="none"/>
          </a:ln>
        </p:spPr>
      </p:sp>
      <p:sp>
        <p:nvSpPr>
          <p:cNvPr id="17" name="Text 15"/>
          <p:cNvSpPr/>
          <p:nvPr/>
        </p:nvSpPr>
        <p:spPr>
          <a:xfrm>
            <a:off x="762000" y="4635500"/>
            <a:ext cx="3810000" cy="4064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研究意义</a:t>
            </a:r>
            <a:endParaRPr lang="en-US" sz="1600" dirty="0"/>
          </a:p>
        </p:txBody>
      </p:sp>
      <p:sp>
        <p:nvSpPr>
          <p:cNvPr id="18" name="Text 16"/>
          <p:cNvSpPr/>
          <p:nvPr/>
        </p:nvSpPr>
        <p:spPr>
          <a:xfrm>
            <a:off x="762000" y="5143500"/>
            <a:ext cx="14732000" cy="2540000"/>
          </a:xfrm>
          <a:prstGeom prst="rect">
            <a:avLst/>
          </a:prstGeom>
          <a:noFill/>
          <a:ln/>
        </p:spPr>
        <p:txBody>
          <a:bodyPr wrap="square" lIns="0" tIns="0" rIns="0" bIns="0" rtlCol="0" anchor="t"/>
          <a:lstStyle/>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理论意义：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将研究对象从社交媒体"发布端"下沉至"接收与互动端"，将UGC视为反映真实需求的问题语料库；以大数据技术直接从匿名网络言论中挖掘青少年真实、隐秘的知识盲区</a:t>
            </a:r>
            <a:endParaRPr lang="en-US" sz="1600" dirty="0"/>
          </a:p>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实践意义：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为青少年精准健康教育提供数据支持；为平台健康内容治理提供科学依据；为智能健康问答系统开发提供高质量数据资源</a:t>
            </a:r>
            <a:endParaRPr lang="en-US" sz="1600" dirty="0"/>
          </a:p>
        </p:txBody>
      </p:sp>
      <p:sp>
        <p:nvSpPr>
          <p:cNvPr id="19" name="Text 17"/>
          <p:cNvSpPr/>
          <p:nvPr/>
        </p:nvSpPr>
        <p:spPr>
          <a:xfrm>
            <a:off x="762000" y="7810500"/>
            <a:ext cx="14732000" cy="635000"/>
          </a:xfrm>
          <a:prstGeom prst="rect">
            <a:avLst/>
          </a:prstGeom>
          <a:noFill/>
          <a:ln/>
        </p:spPr>
        <p:txBody>
          <a:bodyPr wrap="square" lIns="0" tIns="0" rIns="0" bIns="0" rtlCol="0" anchor="ctr"/>
          <a:lstStyle/>
          <a:p>
            <a:pPr>
              <a:lnSpc>
                <a:spcPct val="150000"/>
              </a:lnSpc>
            </a:pPr>
            <a:r>
              <a:rPr lang="en-US" sz="1800" b="1" dirty="0">
                <a:solidFill>
                  <a:srgbClr val="C45C26"/>
                </a:solidFill>
                <a:latin typeface="Quattrocento Sans" pitchFamily="34" charset="0"/>
                <a:ea typeface="Quattrocento Sans" pitchFamily="34" charset="-122"/>
                <a:cs typeface="Quattrocento Sans" pitchFamily="34" charset="-120"/>
              </a:rPr>
              <a:t>核心目标：</a:t>
            </a:r>
            <a:pPr>
              <a:lnSpc>
                <a:spcPct val="150000"/>
              </a:lnSpc>
            </a:pPr>
            <a:r>
              <a:rPr lang="en-US" sz="1800" dirty="0">
                <a:solidFill>
                  <a:srgbClr val="C45C26"/>
                </a:solidFill>
                <a:latin typeface="Quattrocento Sans" pitchFamily="34" charset="0"/>
                <a:ea typeface="Quattrocento Sans" pitchFamily="34" charset="-122"/>
                <a:cs typeface="Quattrocento Sans" pitchFamily="34" charset="-120"/>
              </a:rPr>
              <a:t>利用大语言模型，将B站真实用户评论系统性转化为高质量问答数据集与领域专用模型</a:t>
            </a:r>
            <a:endParaRPr lang="en-US" sz="1600" dirty="0"/>
          </a:p>
        </p:txBody>
      </p:sp>
      <p:sp>
        <p:nvSpPr>
          <p:cNvPr id="20"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研究内容与技术路线</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研究内容与技术路线</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四大研究目标</a:t>
            </a:r>
            <a:endParaRPr lang="en-US" sz="1600" dirty="0"/>
          </a:p>
        </p:txBody>
      </p:sp>
      <p:sp>
        <p:nvSpPr>
          <p:cNvPr id="8" name="Text 6"/>
          <p:cNvSpPr/>
          <p:nvPr/>
        </p:nvSpPr>
        <p:spPr>
          <a:xfrm>
            <a:off x="762000" y="1968500"/>
            <a:ext cx="14732000" cy="1079500"/>
          </a:xfrm>
          <a:prstGeom prst="rect">
            <a:avLst/>
          </a:prstGeom>
          <a:noFill/>
          <a:ln/>
        </p:spPr>
        <p:txBody>
          <a:bodyPr wrap="square" lIns="0" tIns="0" rIns="0" bIns="0" rtlCol="0" anchor="t"/>
          <a:lstStyle/>
          <a:p>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①</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青少年生殖健康问题分类分析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②</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问题规范化与问答生成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③</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构建高质量问答数据集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④</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模型微调与效果验证</a:t>
            </a:r>
            <a:endParaRPr lang="en-US" sz="1600" dirty="0"/>
          </a:p>
        </p:txBody>
      </p:sp>
      <p:sp>
        <p:nvSpPr>
          <p:cNvPr id="9" name="Text 7"/>
          <p:cNvSpPr/>
          <p:nvPr/>
        </p:nvSpPr>
        <p:spPr>
          <a:xfrm>
            <a:off x="762000" y="3175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完整技术链路</a:t>
            </a:r>
            <a:endParaRPr lang="en-US" sz="1600" dirty="0"/>
          </a:p>
        </p:txBody>
      </p:sp>
      <p:sp>
        <p:nvSpPr>
          <p:cNvPr id="10" name="Shape 8"/>
          <p:cNvSpPr/>
          <p:nvPr/>
        </p:nvSpPr>
        <p:spPr>
          <a:xfrm>
            <a:off x="762000" y="3683000"/>
            <a:ext cx="14732000" cy="4064000"/>
          </a:xfrm>
          <a:prstGeom prst="rect">
            <a:avLst/>
          </a:prstGeom>
          <a:solidFill>
            <a:srgbClr val="FFFFFF"/>
          </a:solidFill>
          <a:ln/>
        </p:spPr>
      </p:sp>
      <p:sp>
        <p:nvSpPr>
          <p:cNvPr id="11" name="Shape 9"/>
          <p:cNvSpPr/>
          <p:nvPr/>
        </p:nvSpPr>
        <p:spPr>
          <a:xfrm>
            <a:off x="1079500" y="4191000"/>
            <a:ext cx="1968500" cy="1016000"/>
          </a:xfrm>
          <a:prstGeom prst="rect">
            <a:avLst/>
          </a:prstGeom>
          <a:solidFill>
            <a:srgbClr val="1A4B8C"/>
          </a:solidFill>
          <a:ln/>
        </p:spPr>
      </p:sp>
      <p:sp>
        <p:nvSpPr>
          <p:cNvPr id="12" name="Text 10"/>
          <p:cNvSpPr/>
          <p:nvPr/>
        </p:nvSpPr>
        <p:spPr>
          <a:xfrm>
            <a:off x="1079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数据采集</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B站743视频</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32.8万评论</a:t>
            </a:r>
            <a:endParaRPr lang="en-US" sz="1600" dirty="0"/>
          </a:p>
        </p:txBody>
      </p:sp>
      <p:sp>
        <p:nvSpPr>
          <p:cNvPr id="13" name="Shape 11"/>
          <p:cNvSpPr/>
          <p:nvPr/>
        </p:nvSpPr>
        <p:spPr>
          <a:xfrm>
            <a:off x="3048000" y="4635500"/>
            <a:ext cx="381000" cy="0"/>
          </a:xfrm>
          <a:prstGeom prst="straightConnector1">
            <a:avLst/>
          </a:prstGeom>
          <a:noFill/>
          <a:ln w="25400">
            <a:solidFill>
              <a:srgbClr val="8A9BB0"/>
            </a:solidFill>
            <a:prstDash val="solid"/>
            <a:headEnd type="none"/>
            <a:tailEnd type="arrow"/>
          </a:ln>
        </p:spPr>
      </p:sp>
      <p:sp>
        <p:nvSpPr>
          <p:cNvPr id="14" name="Shape 12"/>
          <p:cNvSpPr/>
          <p:nvPr/>
        </p:nvSpPr>
        <p:spPr>
          <a:xfrm>
            <a:off x="3429000" y="4191000"/>
            <a:ext cx="1968500" cy="1016000"/>
          </a:xfrm>
          <a:prstGeom prst="rect">
            <a:avLst/>
          </a:prstGeom>
          <a:solidFill>
            <a:srgbClr val="1A4B8C"/>
          </a:solidFill>
          <a:ln/>
        </p:spPr>
      </p:sp>
      <p:sp>
        <p:nvSpPr>
          <p:cNvPr id="15" name="Text 13"/>
          <p:cNvSpPr/>
          <p:nvPr/>
        </p:nvSpPr>
        <p:spPr>
          <a:xfrm>
            <a:off x="3429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数据清洗</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问题提取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3780条问题</a:t>
            </a:r>
            <a:endParaRPr lang="en-US" sz="1600" dirty="0"/>
          </a:p>
        </p:txBody>
      </p:sp>
      <p:sp>
        <p:nvSpPr>
          <p:cNvPr id="16" name="Shape 14"/>
          <p:cNvSpPr/>
          <p:nvPr/>
        </p:nvSpPr>
        <p:spPr>
          <a:xfrm>
            <a:off x="5397500" y="4635500"/>
            <a:ext cx="381000" cy="0"/>
          </a:xfrm>
          <a:prstGeom prst="straightConnector1">
            <a:avLst/>
          </a:prstGeom>
          <a:noFill/>
          <a:ln w="25400">
            <a:solidFill>
              <a:srgbClr val="8A9BB0"/>
            </a:solidFill>
            <a:prstDash val="solid"/>
            <a:headEnd type="none"/>
            <a:tailEnd type="arrow"/>
          </a:ln>
        </p:spPr>
      </p:sp>
      <p:sp>
        <p:nvSpPr>
          <p:cNvPr id="17" name="Shape 15"/>
          <p:cNvSpPr/>
          <p:nvPr/>
        </p:nvSpPr>
        <p:spPr>
          <a:xfrm>
            <a:off x="5778500" y="4191000"/>
            <a:ext cx="1968500" cy="1016000"/>
          </a:xfrm>
          <a:prstGeom prst="rect">
            <a:avLst/>
          </a:prstGeom>
          <a:solidFill>
            <a:srgbClr val="1A4B8C"/>
          </a:solidFill>
          <a:ln/>
        </p:spPr>
      </p:sp>
      <p:sp>
        <p:nvSpPr>
          <p:cNvPr id="18" name="Text 16"/>
          <p:cNvSpPr/>
          <p:nvPr/>
        </p:nvSpPr>
        <p:spPr>
          <a:xfrm>
            <a:off x="5778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问题分类</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13个主题</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主题模型+专家</a:t>
            </a:r>
            <a:endParaRPr lang="en-US" sz="1600" dirty="0"/>
          </a:p>
        </p:txBody>
      </p:sp>
      <p:sp>
        <p:nvSpPr>
          <p:cNvPr id="19" name="Shape 17"/>
          <p:cNvSpPr/>
          <p:nvPr/>
        </p:nvSpPr>
        <p:spPr>
          <a:xfrm>
            <a:off x="7747000" y="4635500"/>
            <a:ext cx="381000" cy="0"/>
          </a:xfrm>
          <a:prstGeom prst="straightConnector1">
            <a:avLst/>
          </a:prstGeom>
          <a:noFill/>
          <a:ln w="25400">
            <a:solidFill>
              <a:srgbClr val="8A9BB0"/>
            </a:solidFill>
            <a:prstDash val="solid"/>
            <a:headEnd type="none"/>
            <a:tailEnd type="arrow"/>
          </a:ln>
        </p:spPr>
      </p:sp>
      <p:sp>
        <p:nvSpPr>
          <p:cNvPr id="20" name="Shape 18"/>
          <p:cNvSpPr/>
          <p:nvPr/>
        </p:nvSpPr>
        <p:spPr>
          <a:xfrm>
            <a:off x="8128000" y="4191000"/>
            <a:ext cx="1968500" cy="1016000"/>
          </a:xfrm>
          <a:prstGeom prst="rect">
            <a:avLst/>
          </a:prstGeom>
          <a:solidFill>
            <a:srgbClr val="1A4B8C"/>
          </a:solidFill>
          <a:ln/>
        </p:spPr>
      </p:sp>
      <p:sp>
        <p:nvSpPr>
          <p:cNvPr id="21" name="Text 19"/>
          <p:cNvSpPr/>
          <p:nvPr/>
        </p:nvSpPr>
        <p:spPr>
          <a:xfrm>
            <a:off x="8128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LLM规范化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问答生成</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DeepSeek-V3.1</a:t>
            </a:r>
            <a:endParaRPr lang="en-US" sz="1600" dirty="0"/>
          </a:p>
        </p:txBody>
      </p:sp>
      <p:sp>
        <p:nvSpPr>
          <p:cNvPr id="22" name="Shape 20"/>
          <p:cNvSpPr/>
          <p:nvPr/>
        </p:nvSpPr>
        <p:spPr>
          <a:xfrm>
            <a:off x="10096500" y="4635500"/>
            <a:ext cx="381000" cy="0"/>
          </a:xfrm>
          <a:prstGeom prst="straightConnector1">
            <a:avLst/>
          </a:prstGeom>
          <a:noFill/>
          <a:ln w="25400">
            <a:solidFill>
              <a:srgbClr val="8A9BB0"/>
            </a:solidFill>
            <a:prstDash val="solid"/>
            <a:headEnd type="none"/>
            <a:tailEnd type="arrow"/>
          </a:ln>
        </p:spPr>
      </p:sp>
      <p:sp>
        <p:nvSpPr>
          <p:cNvPr id="23" name="Shape 21"/>
          <p:cNvSpPr/>
          <p:nvPr/>
        </p:nvSpPr>
        <p:spPr>
          <a:xfrm>
            <a:off x="10477500" y="4191000"/>
            <a:ext cx="1968500" cy="1016000"/>
          </a:xfrm>
          <a:prstGeom prst="rect">
            <a:avLst/>
          </a:prstGeom>
          <a:solidFill>
            <a:srgbClr val="1A4B8C"/>
          </a:solidFill>
          <a:ln/>
        </p:spPr>
      </p:sp>
      <p:sp>
        <p:nvSpPr>
          <p:cNvPr id="24" name="Text 22"/>
          <p:cNvSpPr/>
          <p:nvPr/>
        </p:nvSpPr>
        <p:spPr>
          <a:xfrm>
            <a:off x="10477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人工审核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专家审核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AI自动筛查</a:t>
            </a:r>
            <a:endParaRPr lang="en-US" sz="1600" dirty="0"/>
          </a:p>
        </p:txBody>
      </p:sp>
      <p:sp>
        <p:nvSpPr>
          <p:cNvPr id="25" name="Shape 23"/>
          <p:cNvSpPr/>
          <p:nvPr/>
        </p:nvSpPr>
        <p:spPr>
          <a:xfrm>
            <a:off x="12446000" y="4635500"/>
            <a:ext cx="381000" cy="0"/>
          </a:xfrm>
          <a:prstGeom prst="straightConnector1">
            <a:avLst/>
          </a:prstGeom>
          <a:noFill/>
          <a:ln w="25400">
            <a:solidFill>
              <a:srgbClr val="8A9BB0"/>
            </a:solidFill>
            <a:prstDash val="solid"/>
            <a:headEnd type="none"/>
            <a:tailEnd type="arrow"/>
          </a:ln>
        </p:spPr>
      </p:sp>
      <p:sp>
        <p:nvSpPr>
          <p:cNvPr id="26" name="Shape 24"/>
          <p:cNvSpPr/>
          <p:nvPr/>
        </p:nvSpPr>
        <p:spPr>
          <a:xfrm>
            <a:off x="12827000" y="4191000"/>
            <a:ext cx="1968500" cy="1016000"/>
          </a:xfrm>
          <a:prstGeom prst="rect">
            <a:avLst/>
          </a:prstGeom>
          <a:solidFill>
            <a:srgbClr val="C45C26"/>
          </a:solidFill>
          <a:ln/>
        </p:spPr>
      </p:sp>
      <p:sp>
        <p:nvSpPr>
          <p:cNvPr id="27" name="Text 25"/>
          <p:cNvSpPr/>
          <p:nvPr/>
        </p:nvSpPr>
        <p:spPr>
          <a:xfrm>
            <a:off x="12827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数据集构建</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2767条问答对</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13主题全覆盖</a:t>
            </a:r>
            <a:endParaRPr lang="en-US" sz="1600" dirty="0"/>
          </a:p>
        </p:txBody>
      </p:sp>
      <p:sp>
        <p:nvSpPr>
          <p:cNvPr id="28" name="Shape 26"/>
          <p:cNvSpPr/>
          <p:nvPr/>
        </p:nvSpPr>
        <p:spPr>
          <a:xfrm>
            <a:off x="13804900" y="5207000"/>
            <a:ext cx="0" cy="381000"/>
          </a:xfrm>
          <a:prstGeom prst="straightConnector1">
            <a:avLst/>
          </a:prstGeom>
          <a:noFill/>
          <a:ln w="25400">
            <a:solidFill>
              <a:srgbClr val="8A9BB0"/>
            </a:solidFill>
            <a:prstDash val="solid"/>
            <a:headEnd type="none"/>
            <a:tailEnd type="arrow"/>
          </a:ln>
        </p:spPr>
      </p:sp>
      <p:sp>
        <p:nvSpPr>
          <p:cNvPr id="29" name="Shape 27"/>
          <p:cNvSpPr/>
          <p:nvPr/>
        </p:nvSpPr>
        <p:spPr>
          <a:xfrm>
            <a:off x="10668000" y="5715000"/>
            <a:ext cx="4318000" cy="1016000"/>
          </a:xfrm>
          <a:prstGeom prst="rect">
            <a:avLst/>
          </a:prstGeom>
          <a:solidFill>
            <a:srgbClr val="C45C26"/>
          </a:solidFill>
          <a:ln/>
        </p:spPr>
      </p:sp>
      <p:sp>
        <p:nvSpPr>
          <p:cNvPr id="30" name="Text 28"/>
          <p:cNvSpPr/>
          <p:nvPr/>
        </p:nvSpPr>
        <p:spPr>
          <a:xfrm>
            <a:off x="10668000" y="5715000"/>
            <a:ext cx="43180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模型微调与评估</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Qwen系列 + LoRA微调 + 六维度AI打分评估</a:t>
            </a:r>
            <a:endParaRPr lang="en-US" sz="1600" dirty="0"/>
          </a:p>
        </p:txBody>
      </p:sp>
      <p:sp>
        <p:nvSpPr>
          <p:cNvPr id="31" name="Shape 29"/>
          <p:cNvSpPr/>
          <p:nvPr/>
        </p:nvSpPr>
        <p:spPr>
          <a:xfrm>
            <a:off x="6350000" y="6223000"/>
            <a:ext cx="4318000" cy="0"/>
          </a:xfrm>
          <a:prstGeom prst="straightConnector1">
            <a:avLst/>
          </a:prstGeom>
          <a:noFill/>
          <a:ln w="25400">
            <a:solidFill>
              <a:srgbClr val="8A9BB0"/>
            </a:solidFill>
            <a:prstDash val="solid"/>
            <a:headEnd type="none"/>
            <a:tailEnd type="arrow"/>
          </a:ln>
        </p:spPr>
      </p:sp>
      <p:sp>
        <p:nvSpPr>
          <p:cNvPr id="32" name="Shape 30"/>
          <p:cNvSpPr/>
          <p:nvPr/>
        </p:nvSpPr>
        <p:spPr>
          <a:xfrm>
            <a:off x="1079500" y="5715000"/>
            <a:ext cx="5270500" cy="1016000"/>
          </a:xfrm>
          <a:prstGeom prst="rect">
            <a:avLst/>
          </a:prstGeom>
          <a:solidFill>
            <a:srgbClr val="E8EDF3"/>
          </a:solidFill>
          <a:ln/>
        </p:spPr>
      </p:sp>
      <p:sp>
        <p:nvSpPr>
          <p:cNvPr id="33" name="Text 31"/>
          <p:cNvSpPr/>
          <p:nvPr/>
        </p:nvSpPr>
        <p:spPr>
          <a:xfrm>
            <a:off x="1079500" y="5715000"/>
            <a:ext cx="5270500" cy="1016000"/>
          </a:xfrm>
          <a:prstGeom prst="rect">
            <a:avLst/>
          </a:prstGeom>
          <a:noFill/>
          <a:ln/>
        </p:spPr>
        <p:txBody>
          <a:bodyPr wrap="square" lIns="0" tIns="0" rIns="0" bIns="0" rtlCol="0" anchor="ctr"/>
          <a:lstStyle/>
          <a:p>
            <a:pPr algn="ctr">
              <a:lnSpc>
                <a:spcPct val="140000"/>
              </a:lnSpc>
            </a:pPr>
            <a:r>
              <a:rPr lang="en-US" sz="1400" b="1" dirty="0">
                <a:solidFill>
                  <a:srgbClr val="1A1D21"/>
                </a:solidFill>
                <a:latin typeface="Quattrocento Sans" pitchFamily="34" charset="0"/>
                <a:ea typeface="Quattrocento Sans" pitchFamily="34" charset="-122"/>
                <a:cs typeface="Quattrocento Sans" pitchFamily="34" charset="-120"/>
              </a:rPr>
              <a:t>评估结果反馈</a:t>
            </a:r>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：准确性、完整性、安全性显著提升</a:t>
            </a:r>
            <a:endParaRPr lang="en-US" sz="1600" dirty="0"/>
          </a:p>
          <a:p>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高风险议题提升幅度最大，模型幻觉仍待改进</a:t>
            </a:r>
            <a:endParaRPr lang="en-US" sz="1600" dirty="0"/>
          </a:p>
        </p:txBody>
      </p:sp>
      <p:sp>
        <p:nvSpPr>
          <p:cNvPr id="34" name="Shape 32"/>
          <p:cNvSpPr/>
          <p:nvPr/>
        </p:nvSpPr>
        <p:spPr>
          <a:xfrm flipV="1">
            <a:off x="3683000" y="5207000"/>
            <a:ext cx="0" cy="508000"/>
          </a:xfrm>
          <a:prstGeom prst="straightConnector1">
            <a:avLst/>
          </a:prstGeom>
          <a:noFill/>
          <a:ln w="25400">
            <a:solidFill>
              <a:srgbClr val="8A9BB0"/>
            </a:solidFill>
            <a:prstDash val="solid"/>
            <a:headEnd type="none"/>
            <a:tailEnd type="arrow"/>
          </a:ln>
        </p:spPr>
      </p:sp>
      <p:sp>
        <p:nvSpPr>
          <p:cNvPr id="35" name="Text 33"/>
          <p:cNvSpPr/>
          <p:nvPr/>
        </p:nvSpPr>
        <p:spPr>
          <a:xfrm>
            <a:off x="1079500" y="7048500"/>
            <a:ext cx="6350000" cy="508000"/>
          </a:xfrm>
          <a:prstGeom prst="rect">
            <a:avLst/>
          </a:prstGeom>
          <a:noFill/>
          <a:ln/>
        </p:spPr>
        <p:txBody>
          <a:bodyPr wrap="square" lIns="0" tIns="0" rIns="0" bIns="0" rtlCol="0" anchor="ctr"/>
          <a:lstStyle/>
          <a:p>
            <a:pPr>
              <a:lnSpc>
                <a:spcPct val="150000"/>
              </a:lnSpc>
            </a:pPr>
            <a:r>
              <a:rPr lang="en-US" sz="1400" dirty="0">
                <a:solidFill>
                  <a:srgbClr val="8A9BB0"/>
                </a:solidFill>
                <a:latin typeface="Quattrocento Sans" pitchFamily="34" charset="0"/>
                <a:ea typeface="Quattrocento Sans" pitchFamily="34" charset="-122"/>
                <a:cs typeface="Quattrocento Sans" pitchFamily="34" charset="-120"/>
              </a:rPr>
              <a:t>注：蓝色为核心处理环节，橙色为输出成果环节，灰色箭头表示数据流向</a:t>
            </a:r>
            <a:endParaRPr lang="en-US" sz="1600" dirty="0"/>
          </a:p>
        </p:txBody>
      </p:sp>
      <p:sp>
        <p:nvSpPr>
          <p:cNvPr id="36" name="Text 3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7" name="Text 3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数据来源与处理方法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数据来源与处理方法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524000"/>
            <a:ext cx="14732000" cy="1016000"/>
          </a:xfrm>
          <a:prstGeom prst="rect">
            <a:avLst/>
          </a:prstGeom>
          <a:solidFill>
            <a:srgbClr val="FFFFFF"/>
          </a:solidFill>
          <a:ln/>
        </p:spPr>
      </p:sp>
      <p:sp>
        <p:nvSpPr>
          <p:cNvPr id="8" name="Text 6"/>
          <p:cNvSpPr/>
          <p:nvPr/>
        </p:nvSpPr>
        <p:spPr>
          <a:xfrm>
            <a:off x="1016000" y="1625600"/>
            <a:ext cx="3810000" cy="3048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数据来源与采集范围</a:t>
            </a:r>
            <a:endParaRPr lang="en-US" sz="1600" dirty="0"/>
          </a:p>
        </p:txBody>
      </p:sp>
      <p:sp>
        <p:nvSpPr>
          <p:cNvPr id="9" name="Text 7"/>
          <p:cNvSpPr/>
          <p:nvPr/>
        </p:nvSpPr>
        <p:spPr>
          <a:xfrm>
            <a:off x="1016000" y="1981200"/>
            <a:ext cx="14224000" cy="457200"/>
          </a:xfrm>
          <a:prstGeom prst="rect">
            <a:avLst/>
          </a:prstGeom>
          <a:noFill/>
          <a:ln/>
        </p:spPr>
        <p:txBody>
          <a:bodyPr wrap="square" lIns="0" tIns="0" rIns="0" bIns="0" rtlCol="0" anchor="ctr"/>
          <a:lstStyle/>
          <a:p>
            <a:pPr>
              <a:lnSpc>
                <a:spcPct val="140000"/>
              </a:lnSpc>
            </a:pPr>
            <a:r>
              <a:rPr lang="en-US" sz="1600" dirty="0">
                <a:solidFill>
                  <a:srgbClr val="1A1D21"/>
                </a:solidFill>
                <a:latin typeface="Quattrocento Sans" pitchFamily="34" charset="0"/>
                <a:ea typeface="Quattrocento Sans" pitchFamily="34" charset="-122"/>
                <a:cs typeface="Quattrocento Sans" pitchFamily="34" charset="-120"/>
              </a:rPr>
              <a:t>平台：Bilibili | 时间：2016.9-2024.6 | 743个视频 | 525位UP主 | 32.8万评论 + 43.2万弹幕 | 总观看量超4.8亿次</a:t>
            </a:r>
            <a:endParaRPr lang="en-US" sz="1600" dirty="0"/>
          </a:p>
        </p:txBody>
      </p:sp>
      <p:sp>
        <p:nvSpPr>
          <p:cNvPr id="10" name="Text 8"/>
          <p:cNvSpPr/>
          <p:nvPr/>
        </p:nvSpPr>
        <p:spPr>
          <a:xfrm>
            <a:off x="762000" y="2730500"/>
            <a:ext cx="6858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视频筛选标准（三条件同时满足）</a:t>
            </a:r>
            <a:endParaRPr lang="en-US" sz="1600" dirty="0"/>
          </a:p>
        </p:txBody>
      </p:sp>
      <p:sp>
        <p:nvSpPr>
          <p:cNvPr id="11" name="Shape 9"/>
          <p:cNvSpPr/>
          <p:nvPr/>
        </p:nvSpPr>
        <p:spPr>
          <a:xfrm>
            <a:off x="762000" y="3149600"/>
            <a:ext cx="4699000" cy="1016000"/>
          </a:xfrm>
          <a:prstGeom prst="rect">
            <a:avLst/>
          </a:prstGeom>
          <a:solidFill>
            <a:srgbClr val="FFFFFF"/>
          </a:solidFill>
          <a:ln/>
        </p:spPr>
      </p:sp>
      <p:sp>
        <p:nvSpPr>
          <p:cNvPr id="12" name="Text 10"/>
          <p:cNvSpPr/>
          <p:nvPr/>
        </p:nvSpPr>
        <p:spPr>
          <a:xfrm>
            <a:off x="952500" y="3213100"/>
            <a:ext cx="4318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① 主题相关性</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视频内容与生殖健康直接相关</a:t>
            </a:r>
            <a:endParaRPr lang="en-US" sz="1600" dirty="0"/>
          </a:p>
        </p:txBody>
      </p:sp>
      <p:sp>
        <p:nvSpPr>
          <p:cNvPr id="13" name="Shape 11"/>
          <p:cNvSpPr/>
          <p:nvPr/>
        </p:nvSpPr>
        <p:spPr>
          <a:xfrm>
            <a:off x="5715000" y="3149600"/>
            <a:ext cx="4699000" cy="1016000"/>
          </a:xfrm>
          <a:prstGeom prst="rect">
            <a:avLst/>
          </a:prstGeom>
          <a:solidFill>
            <a:srgbClr val="FFFFFF"/>
          </a:solidFill>
          <a:ln/>
        </p:spPr>
      </p:sp>
      <p:sp>
        <p:nvSpPr>
          <p:cNvPr id="14" name="Text 12"/>
          <p:cNvSpPr/>
          <p:nvPr/>
        </p:nvSpPr>
        <p:spPr>
          <a:xfrm>
            <a:off x="5905500" y="3213100"/>
            <a:ext cx="4318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② 播放量阈值</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累计播放量不低于100,000次</a:t>
            </a:r>
            <a:endParaRPr lang="en-US" sz="1600" dirty="0"/>
          </a:p>
        </p:txBody>
      </p:sp>
      <p:sp>
        <p:nvSpPr>
          <p:cNvPr id="15" name="Shape 13"/>
          <p:cNvSpPr/>
          <p:nvPr/>
        </p:nvSpPr>
        <p:spPr>
          <a:xfrm>
            <a:off x="10668000" y="3149600"/>
            <a:ext cx="4826000" cy="1016000"/>
          </a:xfrm>
          <a:prstGeom prst="rect">
            <a:avLst/>
          </a:prstGeom>
          <a:solidFill>
            <a:srgbClr val="FFFFFF"/>
          </a:solidFill>
          <a:ln/>
        </p:spPr>
      </p:sp>
      <p:sp>
        <p:nvSpPr>
          <p:cNvPr id="16" name="Text 14"/>
          <p:cNvSpPr/>
          <p:nvPr/>
        </p:nvSpPr>
        <p:spPr>
          <a:xfrm>
            <a:off x="10858500" y="3213100"/>
            <a:ext cx="4445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③ 关键词匹配</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标题/标签/简介中至少包含一个关键词</a:t>
            </a:r>
            <a:endParaRPr lang="en-US" sz="1600" dirty="0"/>
          </a:p>
        </p:txBody>
      </p:sp>
      <p:sp>
        <p:nvSpPr>
          <p:cNvPr id="17" name="Text 15"/>
          <p:cNvSpPr/>
          <p:nvPr/>
        </p:nvSpPr>
        <p:spPr>
          <a:xfrm>
            <a:off x="762000" y="43180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关键词体系设计（三轮扩展，29个关键词）</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4724400"/>
          <a:ext cx="14732000" cy="1968500"/>
        </p:xfrm>
        <a:graphic>
          <a:graphicData uri="http://schemas.openxmlformats.org/drawingml/2006/table">
            <a:tbl>
              <a:tblPr/>
              <a:tblGrid>
                <a:gridCol w="588691"/>
                <a:gridCol w="1515880"/>
                <a:gridCol w="588691"/>
                <a:gridCol w="1515880"/>
                <a:gridCol w="588691"/>
                <a:gridCol w="1515880"/>
                <a:gridCol w="588691"/>
                <a:gridCol w="1515880"/>
                <a:gridCol w="588691"/>
                <a:gridCol w="1515880"/>
                <a:gridCol w="588691"/>
                <a:gridCol w="1515880"/>
                <a:gridCol w="588691"/>
                <a:gridCol w="1515880"/>
              </a:tblGrid>
              <a:tr h="328083">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女用安全套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男性绝育</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意外怀孕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人流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带套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上环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避孕科普</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女性绝育术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打胎</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药物流产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戴套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节育器</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内射</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输卵管结扎</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刮宫</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药流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戴T</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体外排精</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口服避孕药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安全期</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引产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自然流产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套套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10</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安全措施</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避孕药品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20</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新型避孕方式</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人工流产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19" name="Text 16"/>
          <p:cNvSpPr/>
          <p:nvPr/>
        </p:nvSpPr>
        <p:spPr>
          <a:xfrm>
            <a:off x="762000" y="70485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数据预处理流程（四步）与问题提取</a:t>
            </a:r>
            <a:endParaRPr lang="en-US" sz="1600" dirty="0"/>
          </a:p>
        </p:txBody>
      </p:sp>
      <p:sp>
        <p:nvSpPr>
          <p:cNvPr id="20" name="Text 17"/>
          <p:cNvSpPr/>
          <p:nvPr/>
        </p:nvSpPr>
        <p:spPr>
          <a:xfrm>
            <a:off x="762000" y="7429500"/>
            <a:ext cx="14732000" cy="1016000"/>
          </a:xfrm>
          <a:prstGeom prst="rect">
            <a:avLst/>
          </a:prstGeom>
          <a:noFill/>
          <a:ln/>
        </p:spPr>
        <p:txBody>
          <a:bodyPr wrap="square" lIns="0" tIns="0" rIns="0" bIns="0" rtlCol="0" anchor="t"/>
          <a:lstStyle/>
          <a:p>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1 去重与无效数据清洗</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：以视频ID/评论ID/弹幕ID为唯一标识符去重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2 文本规范化</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：繁简体转换、表情符号处理、去除特殊字符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3 中文分词与停用词处理</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：Jieba分词 + 综合停用词表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4 噪声/广告/灌水文本识别</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：正则规则 + LLM语义过滤 + 人工抽样验证 → </a:t>
            </a:r>
            <a:pPr>
              <a:lnSpc>
                <a:spcPct val="160000"/>
              </a:lnSpc>
            </a:pPr>
            <a:r>
              <a:rPr lang="en-US" sz="1500" b="1" dirty="0">
                <a:solidFill>
                  <a:srgbClr val="C45C26"/>
                </a:solidFill>
                <a:latin typeface="Quattrocento Sans" pitchFamily="34" charset="0"/>
                <a:ea typeface="Quattrocento Sans" pitchFamily="34" charset="-122"/>
                <a:cs typeface="Quattrocento Sans" pitchFamily="34" charset="-120"/>
              </a:rPr>
              <a:t>最终提取：3484条有效问题</a:t>
            </a:r>
            <a:endParaRPr lang="en-US" sz="1600" dirty="0"/>
          </a:p>
        </p:txBody>
      </p:sp>
      <p:sp>
        <p:nvSpPr>
          <p:cNvPr id="21"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2"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问题分类分析结果</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问题分类分析结果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6858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问题主题分类分布（13个类别，N=3484）</a:t>
            </a:r>
            <a:endParaRPr lang="en-US" sz="1600" dirty="0"/>
          </a:p>
        </p:txBody>
      </p:sp>
      <p:graphicFrame>
        <p:nvGraphicFramePr>
          <p:cNvPr id="8" name="Chart 0" descr=""/>
          <p:cNvGraphicFramePr/>
          <p:nvPr/>
        </p:nvGraphicFramePr>
        <p:xfrm>
          <a:off x="762000" y="1905000"/>
          <a:ext cx="7874000" cy="4826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890000" y="1498600"/>
            <a:ext cx="0" cy="5334000"/>
          </a:xfrm>
          <a:prstGeom prst="straightConnector1">
            <a:avLst/>
          </a:prstGeom>
          <a:noFill/>
          <a:ln w="12700">
            <a:solidFill>
              <a:srgbClr val="8A9BB0"/>
            </a:solidFill>
            <a:prstDash val="solid"/>
            <a:headEnd type="none"/>
            <a:tailEnd type="none"/>
          </a:ln>
        </p:spPr>
      </p:sp>
      <p:sp>
        <p:nvSpPr>
          <p:cNvPr id="10" name="Text 7"/>
          <p:cNvSpPr/>
          <p:nvPr/>
        </p:nvSpPr>
        <p:spPr>
          <a:xfrm>
            <a:off x="9144000" y="1498600"/>
            <a:ext cx="6096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核心发现</a:t>
            </a:r>
            <a:endParaRPr lang="en-US" sz="1600" dirty="0"/>
          </a:p>
        </p:txBody>
      </p:sp>
      <p:sp>
        <p:nvSpPr>
          <p:cNvPr id="11" name="Text 8"/>
          <p:cNvSpPr/>
          <p:nvPr/>
        </p:nvSpPr>
        <p:spPr>
          <a:xfrm>
            <a:off x="9144000" y="1968500"/>
            <a:ext cx="6096000" cy="5016500"/>
          </a:xfrm>
          <a:prstGeom prst="rect">
            <a:avLst/>
          </a:prstGeom>
          <a:noFill/>
          <a:ln/>
        </p:spPr>
        <p:txBody>
          <a:bodyPr wrap="square" lIns="0" tIns="0" rIns="0" bIns="0" rtlCol="0" anchor="t"/>
          <a:lstStyle/>
          <a:p>
            <a:pPr>
              <a:lnSpc>
                <a:spcPct val="160000"/>
              </a:lnSpc>
            </a:pPr>
            <a:r>
              <a:rPr lang="en-US" sz="1600" b="1" dirty="0">
                <a:solidFill>
                  <a:srgbClr val="C45C26"/>
                </a:solidFill>
                <a:latin typeface="Quattrocento Sans" pitchFamily="34" charset="0"/>
                <a:ea typeface="Quattrocento Sans" pitchFamily="34" charset="-122"/>
                <a:cs typeface="Quattrocento Sans" pitchFamily="34" charset="-120"/>
              </a:rPr>
              <a:t>头部集中</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安全套（32.39%）+ 生殖健康科普（31.30%）占据约2/3，青少年对基础知识和实用工具有极度渴求</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认知误区</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体外排精（2.09%）、安全期避孕（2.67%）等不可靠方法讨论热度高，反映侥幸心理普遍</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敏感需求</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人工流产（3.07%）等高风险话题引发强烈互动，专业供给严重缺位</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长尾多元</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节育器（4.13%）、女用安全套（0.87%）等小众话题亦有真实需求</a:t>
            </a:r>
            <a:endParaRPr lang="en-US" sz="1600" dirty="0"/>
          </a:p>
        </p:txBody>
      </p:sp>
      <p:sp>
        <p:nvSpPr>
          <p:cNvPr id="12" name="Text 9"/>
          <p:cNvSpPr/>
          <p:nvPr/>
        </p:nvSpPr>
        <p:spPr>
          <a:xfrm>
            <a:off x="762000" y="6858000"/>
            <a:ext cx="7874000" cy="711200"/>
          </a:xfrm>
          <a:prstGeom prst="rect">
            <a:avLst/>
          </a:prstGeom>
          <a:noFill/>
          <a:ln/>
        </p:spPr>
        <p:txBody>
          <a:bodyPr wrap="square" lIns="0" tIns="0" rIns="0" bIns="0" rtlCol="0" anchor="t"/>
          <a:lstStyle/>
          <a:p>
            <a:pPr>
              <a:lnSpc>
                <a:spcPct val="150000"/>
              </a:lnSpc>
            </a:pPr>
            <a:r>
              <a:rPr lang="en-US" sz="1400" dirty="0">
                <a:solidFill>
                  <a:srgbClr val="8A9BB0"/>
                </a:solidFill>
                <a:latin typeface="Quattrocento Sans" pitchFamily="34" charset="0"/>
                <a:ea typeface="Quattrocento Sans" pitchFamily="34" charset="-122"/>
                <a:cs typeface="Quattrocento Sans" pitchFamily="34" charset="-120"/>
              </a:rPr>
              <a:t>分类方法：基于生殖健康核心议题，结合主题模型聚类与领域专家建议，人工标注构建13类分类体系</a:t>
            </a:r>
            <a:endParaRPr lang="en-US" sz="1600" dirty="0"/>
          </a:p>
        </p:txBody>
      </p:sp>
      <p:sp>
        <p:nvSpPr>
          <p:cNvPr id="13" name="Text 10"/>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4" name="Text 11"/>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问答数据集构建方法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问答数据集构建方法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问题规范化方法</a:t>
            </a:r>
            <a:endParaRPr lang="en-US" sz="1600" dirty="0"/>
          </a:p>
        </p:txBody>
      </p:sp>
      <p:sp>
        <p:nvSpPr>
          <p:cNvPr id="8" name="Shape 6"/>
          <p:cNvSpPr/>
          <p:nvPr/>
        </p:nvSpPr>
        <p:spPr>
          <a:xfrm>
            <a:off x="762000" y="1905000"/>
            <a:ext cx="7112000" cy="3175000"/>
          </a:xfrm>
          <a:prstGeom prst="rect">
            <a:avLst/>
          </a:prstGeom>
          <a:solidFill>
            <a:srgbClr val="FFFFFF"/>
          </a:solidFill>
          <a:ln/>
        </p:spPr>
      </p:sp>
      <p:sp>
        <p:nvSpPr>
          <p:cNvPr id="9" name="Text 7"/>
          <p:cNvSpPr/>
          <p:nvPr/>
        </p:nvSpPr>
        <p:spPr>
          <a:xfrm>
            <a:off x="952500" y="2006600"/>
            <a:ext cx="6731000" cy="2984500"/>
          </a:xfrm>
          <a:prstGeom prst="rect">
            <a:avLst/>
          </a:prstGeom>
          <a:noFill/>
          <a:ln/>
        </p:spPr>
        <p:txBody>
          <a:bodyPr wrap="square" lIns="0" tIns="0" rIns="0" bIns="0" rtlCol="0" anchor="t"/>
          <a:lstStyle/>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模型：</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DeepSeek-V3.1-Terminus | temperature=0.3, top_p=0.9</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四大目标：</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语义清晰、医学表达规范、保留原始意图、适用于健康教育场景</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四项原则：</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① 不改变核心语义 ② 不引入额外假设 ③ 减少歧义与模糊 ④ 避免不当暗示性表述</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提示词核心要素：</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角色设定（青少年生殖健康教育专家）+ 任务定义（识别问题/术语规范化/去语境化去噪/科学重写）+ JSON结构化输出（is_question / original_intent / rewritten_question）</a:t>
            </a:r>
            <a:endParaRPr lang="en-US" sz="1600" dirty="0"/>
          </a:p>
        </p:txBody>
      </p:sp>
      <p:sp>
        <p:nvSpPr>
          <p:cNvPr id="10" name="Text 8"/>
          <p:cNvSpPr/>
          <p:nvPr/>
        </p:nvSpPr>
        <p:spPr>
          <a:xfrm>
            <a:off x="838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答案生成方法</a:t>
            </a:r>
            <a:endParaRPr lang="en-US" sz="1600" dirty="0"/>
          </a:p>
        </p:txBody>
      </p:sp>
      <p:sp>
        <p:nvSpPr>
          <p:cNvPr id="11" name="Shape 9"/>
          <p:cNvSpPr/>
          <p:nvPr/>
        </p:nvSpPr>
        <p:spPr>
          <a:xfrm>
            <a:off x="8382000" y="1905000"/>
            <a:ext cx="7112000" cy="3327400"/>
          </a:xfrm>
          <a:prstGeom prst="rect">
            <a:avLst/>
          </a:prstGeom>
          <a:solidFill>
            <a:srgbClr val="FFFFFF"/>
          </a:solidFill>
          <a:ln/>
        </p:spPr>
      </p:sp>
      <p:sp>
        <p:nvSpPr>
          <p:cNvPr id="12" name="Text 10"/>
          <p:cNvSpPr/>
          <p:nvPr/>
        </p:nvSpPr>
        <p:spPr>
          <a:xfrm>
            <a:off x="8572500" y="2006600"/>
            <a:ext cx="6731000" cy="3149600"/>
          </a:xfrm>
          <a:prstGeom prst="rect">
            <a:avLst/>
          </a:prstGeom>
          <a:noFill/>
          <a:ln/>
        </p:spPr>
        <p:txBody>
          <a:bodyPr wrap="square" lIns="0" tIns="0" rIns="0" bIns="0" rtlCol="0" anchor="t"/>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模型：</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DeepSeek-V3.1-Terminus | temperature=0.3, top_p=0.9</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六大原则（参考Latt等[28]）：</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① 科学准确 ② 通俗易懂 ③ 温和关怀</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④ 教育导向 ⑤ 风险警示 ⑥ 结构清晰简洁</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提示词核心要素：</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角色设定（临床经验丰富的青少年生殖健康专家）+ 风格与原则（6项要求）+ 标准化问题输入</a:t>
            </a:r>
            <a:endParaRPr lang="en-US" sz="1600" dirty="0"/>
          </a:p>
        </p:txBody>
      </p:sp>
      <p:sp>
        <p:nvSpPr>
          <p:cNvPr id="13" name="Text 11"/>
          <p:cNvSpPr/>
          <p:nvPr/>
        </p:nvSpPr>
        <p:spPr>
          <a:xfrm>
            <a:off x="762000" y="5270500"/>
            <a:ext cx="1473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人工修订与专家审核流程</a:t>
            </a:r>
            <a:endParaRPr lang="en-US" sz="1600" dirty="0"/>
          </a:p>
        </p:txBody>
      </p:sp>
      <p:sp>
        <p:nvSpPr>
          <p:cNvPr id="14" name="Shape 12"/>
          <p:cNvSpPr/>
          <p:nvPr/>
        </p:nvSpPr>
        <p:spPr>
          <a:xfrm>
            <a:off x="762000" y="5715000"/>
            <a:ext cx="4699000" cy="1270000"/>
          </a:xfrm>
          <a:prstGeom prst="rect">
            <a:avLst/>
          </a:prstGeom>
          <a:solidFill>
            <a:srgbClr val="FFFFFF"/>
          </a:solidFill>
          <a:ln/>
        </p:spPr>
      </p:sp>
      <p:sp>
        <p:nvSpPr>
          <p:cNvPr id="15" name="Shape 13"/>
          <p:cNvSpPr/>
          <p:nvPr/>
        </p:nvSpPr>
        <p:spPr>
          <a:xfrm>
            <a:off x="952500" y="5867400"/>
            <a:ext cx="304800" cy="304800"/>
          </a:xfrm>
          <a:custGeom>
            <a:avLst/>
            <a:gdLst/>
            <a:ahLst/>
            <a:cxnLst/>
            <a:rect l="l" t="t" r="r" b="b"/>
            <a:pathLst>
              <a:path w="304800" h="304800">
                <a:moveTo>
                  <a:pt x="247650" y="123825"/>
                </a:moveTo>
                <a:cubicBezTo>
                  <a:pt x="247650" y="151150"/>
                  <a:pt x="238780" y="176391"/>
                  <a:pt x="223838" y="196870"/>
                </a:cubicBezTo>
                <a:lnTo>
                  <a:pt x="299204" y="272296"/>
                </a:lnTo>
                <a:cubicBezTo>
                  <a:pt x="306645" y="279737"/>
                  <a:pt x="306645" y="291822"/>
                  <a:pt x="299204" y="299264"/>
                </a:cubicBezTo>
                <a:cubicBezTo>
                  <a:pt x="291763" y="306705"/>
                  <a:pt x="279678" y="306705"/>
                  <a:pt x="272236" y="299264"/>
                </a:cubicBezTo>
                <a:lnTo>
                  <a:pt x="196870" y="223838"/>
                </a:lnTo>
                <a:cubicBezTo>
                  <a:pt x="176391" y="238780"/>
                  <a:pt x="151150" y="247650"/>
                  <a:pt x="123825" y="247650"/>
                </a:cubicBezTo>
                <a:cubicBezTo>
                  <a:pt x="55424" y="247650"/>
                  <a:pt x="0" y="192226"/>
                  <a:pt x="0" y="123825"/>
                </a:cubicBezTo>
                <a:cubicBezTo>
                  <a:pt x="0" y="55424"/>
                  <a:pt x="55424" y="0"/>
                  <a:pt x="123825" y="0"/>
                </a:cubicBezTo>
                <a:cubicBezTo>
                  <a:pt x="192226" y="0"/>
                  <a:pt x="247650" y="55424"/>
                  <a:pt x="247650" y="123825"/>
                </a:cubicBezTo>
                <a:close/>
                <a:moveTo>
                  <a:pt x="123825" y="209550"/>
                </a:moveTo>
                <a:cubicBezTo>
                  <a:pt x="171138" y="209550"/>
                  <a:pt x="209550" y="171138"/>
                  <a:pt x="209550" y="123825"/>
                </a:cubicBezTo>
                <a:cubicBezTo>
                  <a:pt x="209550" y="76512"/>
                  <a:pt x="171138" y="38100"/>
                  <a:pt x="123825" y="38100"/>
                </a:cubicBezTo>
                <a:cubicBezTo>
                  <a:pt x="76512" y="38100"/>
                  <a:pt x="38100" y="76512"/>
                  <a:pt x="38100" y="123825"/>
                </a:cubicBezTo>
                <a:cubicBezTo>
                  <a:pt x="38100" y="171138"/>
                  <a:pt x="76512" y="209550"/>
                  <a:pt x="123825" y="209550"/>
                </a:cubicBezTo>
                <a:close/>
              </a:path>
            </a:pathLst>
          </a:custGeom>
          <a:solidFill>
            <a:srgbClr val="1A4B8C"/>
          </a:solidFill>
          <a:ln/>
        </p:spPr>
      </p:sp>
      <p:sp>
        <p:nvSpPr>
          <p:cNvPr id="16" name="Text 14"/>
          <p:cNvSpPr/>
          <p:nvPr/>
        </p:nvSpPr>
        <p:spPr>
          <a:xfrm>
            <a:off x="1371600" y="5816600"/>
            <a:ext cx="3937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初审与事实核查</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对照WHO指南和国家卫健委技术规范，逐条核实关键信息点，修正事实性错误</a:t>
            </a:r>
            <a:endParaRPr lang="en-US" sz="1600" dirty="0"/>
          </a:p>
        </p:txBody>
      </p:sp>
      <p:sp>
        <p:nvSpPr>
          <p:cNvPr id="17" name="Shape 15"/>
          <p:cNvSpPr/>
          <p:nvPr/>
        </p:nvSpPr>
        <p:spPr>
          <a:xfrm>
            <a:off x="5715000" y="5715000"/>
            <a:ext cx="4699000" cy="1270000"/>
          </a:xfrm>
          <a:prstGeom prst="rect">
            <a:avLst/>
          </a:prstGeom>
          <a:solidFill>
            <a:srgbClr val="FFFFFF"/>
          </a:solidFill>
          <a:ln/>
        </p:spPr>
      </p:sp>
      <p:sp>
        <p:nvSpPr>
          <p:cNvPr id="18" name="Shape 16"/>
          <p:cNvSpPr/>
          <p:nvPr/>
        </p:nvSpPr>
        <p:spPr>
          <a:xfrm>
            <a:off x="5905500" y="5867400"/>
            <a:ext cx="304800" cy="304800"/>
          </a:xfrm>
          <a:custGeom>
            <a:avLst/>
            <a:gdLst/>
            <a:ahLst/>
            <a:cxnLst/>
            <a:rect l="l" t="t" r="r" b="b"/>
            <a:pathLst>
              <a:path w="304800" h="304800">
                <a:moveTo>
                  <a:pt x="210086" y="12621"/>
                </a:moveTo>
                <a:lnTo>
                  <a:pt x="183356" y="39350"/>
                </a:lnTo>
                <a:lnTo>
                  <a:pt x="265450" y="121444"/>
                </a:lnTo>
                <a:lnTo>
                  <a:pt x="292179" y="94714"/>
                </a:lnTo>
                <a:cubicBezTo>
                  <a:pt x="300276" y="86678"/>
                  <a:pt x="304800" y="75724"/>
                  <a:pt x="304800" y="64294"/>
                </a:cubicBezTo>
                <a:cubicBezTo>
                  <a:pt x="304800" y="52864"/>
                  <a:pt x="300276" y="41910"/>
                  <a:pt x="292179" y="33873"/>
                </a:cubicBezTo>
                <a:lnTo>
                  <a:pt x="270927" y="12621"/>
                </a:lnTo>
                <a:cubicBezTo>
                  <a:pt x="262890" y="4524"/>
                  <a:pt x="251936" y="0"/>
                  <a:pt x="240506" y="0"/>
                </a:cubicBezTo>
                <a:cubicBezTo>
                  <a:pt x="229076" y="0"/>
                  <a:pt x="218123" y="4524"/>
                  <a:pt x="210086" y="12621"/>
                </a:cubicBezTo>
                <a:close/>
                <a:moveTo>
                  <a:pt x="163175" y="59531"/>
                </a:moveTo>
                <a:lnTo>
                  <a:pt x="35064" y="187583"/>
                </a:lnTo>
                <a:cubicBezTo>
                  <a:pt x="28694" y="193953"/>
                  <a:pt x="24051" y="201930"/>
                  <a:pt x="21610" y="210622"/>
                </a:cubicBezTo>
                <a:lnTo>
                  <a:pt x="536" y="286703"/>
                </a:lnTo>
                <a:cubicBezTo>
                  <a:pt x="-833" y="291644"/>
                  <a:pt x="536" y="297001"/>
                  <a:pt x="4227" y="300633"/>
                </a:cubicBezTo>
                <a:cubicBezTo>
                  <a:pt x="7918" y="304264"/>
                  <a:pt x="13216" y="305693"/>
                  <a:pt x="18157" y="304324"/>
                </a:cubicBezTo>
                <a:lnTo>
                  <a:pt x="94238" y="283190"/>
                </a:lnTo>
                <a:cubicBezTo>
                  <a:pt x="102930" y="280749"/>
                  <a:pt x="110847" y="276165"/>
                  <a:pt x="117277" y="269736"/>
                </a:cubicBezTo>
                <a:lnTo>
                  <a:pt x="245269" y="141625"/>
                </a:lnTo>
                <a:lnTo>
                  <a:pt x="163175" y="59531"/>
                </a:lnTo>
                <a:close/>
              </a:path>
            </a:pathLst>
          </a:custGeom>
          <a:solidFill>
            <a:srgbClr val="1A4B8C"/>
          </a:solidFill>
          <a:ln/>
        </p:spPr>
      </p:sp>
      <p:sp>
        <p:nvSpPr>
          <p:cNvPr id="19" name="Text 17"/>
          <p:cNvSpPr/>
          <p:nvPr/>
        </p:nvSpPr>
        <p:spPr>
          <a:xfrm>
            <a:off x="6324600" y="5816600"/>
            <a:ext cx="3937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语言与语调润色</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润色语言使之通俗易懂、表述温和，调整行文结构确保逻辑流畅</a:t>
            </a:r>
            <a:endParaRPr lang="en-US" sz="1600" dirty="0"/>
          </a:p>
        </p:txBody>
      </p:sp>
      <p:sp>
        <p:nvSpPr>
          <p:cNvPr id="20" name="Shape 18"/>
          <p:cNvSpPr/>
          <p:nvPr/>
        </p:nvSpPr>
        <p:spPr>
          <a:xfrm>
            <a:off x="10668000" y="5715000"/>
            <a:ext cx="4826000" cy="1270000"/>
          </a:xfrm>
          <a:prstGeom prst="rect">
            <a:avLst/>
          </a:prstGeom>
          <a:solidFill>
            <a:srgbClr val="FFFFFF"/>
          </a:solidFill>
          <a:ln/>
        </p:spPr>
      </p:sp>
      <p:sp>
        <p:nvSpPr>
          <p:cNvPr id="21" name="Shape 19"/>
          <p:cNvSpPr/>
          <p:nvPr/>
        </p:nvSpPr>
        <p:spPr>
          <a:xfrm>
            <a:off x="10877550" y="5867400"/>
            <a:ext cx="266700" cy="304800"/>
          </a:xfrm>
          <a:custGeom>
            <a:avLst/>
            <a:gdLst/>
            <a:ahLst/>
            <a:cxnLst/>
            <a:rect l="l" t="t" r="r" b="b"/>
            <a:pathLst>
              <a:path w="266700" h="304800">
                <a:moveTo>
                  <a:pt x="133350" y="4763"/>
                </a:moveTo>
                <a:cubicBezTo>
                  <a:pt x="93923" y="4763"/>
                  <a:pt x="61913" y="36773"/>
                  <a:pt x="61912" y="76200"/>
                </a:cubicBezTo>
                <a:cubicBezTo>
                  <a:pt x="61912" y="115627"/>
                  <a:pt x="93923" y="147638"/>
                  <a:pt x="133350" y="147638"/>
                </a:cubicBezTo>
                <a:cubicBezTo>
                  <a:pt x="172777" y="147638"/>
                  <a:pt x="204787" y="115627"/>
                  <a:pt x="204787" y="76200"/>
                </a:cubicBezTo>
                <a:cubicBezTo>
                  <a:pt x="204787" y="36773"/>
                  <a:pt x="172777" y="4763"/>
                  <a:pt x="133350" y="4763"/>
                </a:cubicBezTo>
                <a:close/>
                <a:moveTo>
                  <a:pt x="169069" y="190976"/>
                </a:moveTo>
                <a:cubicBezTo>
                  <a:pt x="165854" y="190679"/>
                  <a:pt x="162520" y="190500"/>
                  <a:pt x="159187" y="190500"/>
                </a:cubicBezTo>
                <a:lnTo>
                  <a:pt x="107454" y="190500"/>
                </a:lnTo>
                <a:cubicBezTo>
                  <a:pt x="104120" y="190500"/>
                  <a:pt x="100846" y="190679"/>
                  <a:pt x="97572" y="190976"/>
                </a:cubicBezTo>
                <a:lnTo>
                  <a:pt x="97572" y="231160"/>
                </a:lnTo>
                <a:cubicBezTo>
                  <a:pt x="107394" y="235684"/>
                  <a:pt x="114240" y="245626"/>
                  <a:pt x="114240" y="257115"/>
                </a:cubicBezTo>
                <a:cubicBezTo>
                  <a:pt x="114240" y="272891"/>
                  <a:pt x="101441" y="285690"/>
                  <a:pt x="85665" y="285690"/>
                </a:cubicBezTo>
                <a:cubicBezTo>
                  <a:pt x="69890" y="285690"/>
                  <a:pt x="57090" y="272891"/>
                  <a:pt x="57090" y="257115"/>
                </a:cubicBezTo>
                <a:cubicBezTo>
                  <a:pt x="57090" y="245566"/>
                  <a:pt x="63937" y="235625"/>
                  <a:pt x="73759" y="231160"/>
                </a:cubicBezTo>
                <a:lnTo>
                  <a:pt x="73759" y="196394"/>
                </a:lnTo>
                <a:cubicBezTo>
                  <a:pt x="36314" y="210145"/>
                  <a:pt x="9525" y="246221"/>
                  <a:pt x="9525" y="288488"/>
                </a:cubicBezTo>
                <a:cubicBezTo>
                  <a:pt x="9525" y="297478"/>
                  <a:pt x="16847" y="304800"/>
                  <a:pt x="25837" y="304800"/>
                </a:cubicBezTo>
                <a:lnTo>
                  <a:pt x="240804" y="304800"/>
                </a:lnTo>
                <a:cubicBezTo>
                  <a:pt x="249793" y="304800"/>
                  <a:pt x="257115" y="297478"/>
                  <a:pt x="257115" y="288488"/>
                </a:cubicBezTo>
                <a:cubicBezTo>
                  <a:pt x="257115" y="246221"/>
                  <a:pt x="230326" y="210205"/>
                  <a:pt x="192822" y="196453"/>
                </a:cubicBezTo>
                <a:lnTo>
                  <a:pt x="192822" y="218718"/>
                </a:lnTo>
                <a:cubicBezTo>
                  <a:pt x="206692" y="223599"/>
                  <a:pt x="216634" y="236875"/>
                  <a:pt x="216634" y="252413"/>
                </a:cubicBezTo>
                <a:lnTo>
                  <a:pt x="216634" y="271463"/>
                </a:lnTo>
                <a:cubicBezTo>
                  <a:pt x="216634" y="278011"/>
                  <a:pt x="211276" y="283369"/>
                  <a:pt x="204728" y="283369"/>
                </a:cubicBezTo>
                <a:cubicBezTo>
                  <a:pt x="198180" y="283369"/>
                  <a:pt x="192822" y="278011"/>
                  <a:pt x="192822" y="271463"/>
                </a:cubicBezTo>
                <a:lnTo>
                  <a:pt x="192822" y="252413"/>
                </a:lnTo>
                <a:cubicBezTo>
                  <a:pt x="192822" y="245864"/>
                  <a:pt x="187464" y="240506"/>
                  <a:pt x="180915" y="240506"/>
                </a:cubicBezTo>
                <a:cubicBezTo>
                  <a:pt x="174367" y="240506"/>
                  <a:pt x="169009" y="245864"/>
                  <a:pt x="169009" y="252413"/>
                </a:cubicBezTo>
                <a:lnTo>
                  <a:pt x="169009" y="271463"/>
                </a:lnTo>
                <a:cubicBezTo>
                  <a:pt x="169009" y="278011"/>
                  <a:pt x="163651" y="283369"/>
                  <a:pt x="157103" y="283369"/>
                </a:cubicBezTo>
                <a:cubicBezTo>
                  <a:pt x="150555" y="283369"/>
                  <a:pt x="145197" y="278011"/>
                  <a:pt x="145197" y="271463"/>
                </a:cubicBezTo>
                <a:lnTo>
                  <a:pt x="145197" y="252413"/>
                </a:lnTo>
                <a:cubicBezTo>
                  <a:pt x="145197" y="236875"/>
                  <a:pt x="155138" y="223659"/>
                  <a:pt x="169009" y="218718"/>
                </a:cubicBezTo>
                <a:lnTo>
                  <a:pt x="169009" y="190976"/>
                </a:lnTo>
                <a:close/>
              </a:path>
            </a:pathLst>
          </a:custGeom>
          <a:solidFill>
            <a:srgbClr val="1A4B8C"/>
          </a:solidFill>
          <a:ln/>
        </p:spPr>
      </p:sp>
      <p:sp>
        <p:nvSpPr>
          <p:cNvPr id="22" name="Text 20"/>
          <p:cNvSpPr/>
          <p:nvPr/>
        </p:nvSpPr>
        <p:spPr>
          <a:xfrm>
            <a:off x="11277600" y="5816600"/>
            <a:ext cx="4064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专家审核（外部医生）</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至少2名副主任医师以上妇产科专家，六维度3分制Likert量表独立打分</a:t>
            </a:r>
            <a:endParaRPr lang="en-US" sz="1600" dirty="0"/>
          </a:p>
        </p:txBody>
      </p:sp>
      <p:sp>
        <p:nvSpPr>
          <p:cNvPr id="23" name="Text 21"/>
          <p:cNvSpPr/>
          <p:nvPr/>
        </p:nvSpPr>
        <p:spPr>
          <a:xfrm>
            <a:off x="762000" y="7175500"/>
            <a:ext cx="14732000" cy="330200"/>
          </a:xfrm>
          <a:prstGeom prst="rect">
            <a:avLst/>
          </a:prstGeom>
          <a:noFill/>
          <a:ln/>
        </p:spPr>
        <p:txBody>
          <a:bodyPr wrap="square" lIns="0" tIns="0" rIns="0" bIns="0" rtlCol="0" anchor="ctr"/>
          <a:lstStyle/>
          <a:p>
            <a:pPr>
              <a:lnSpc>
                <a:spcPct val="100000"/>
              </a:lnSpc>
            </a:pPr>
            <a:r>
              <a:rPr lang="en-US" sz="1400" dirty="0">
                <a:solidFill>
                  <a:srgbClr val="8A9BB0"/>
                </a:solidFill>
                <a:latin typeface="Quattrocento Sans" pitchFamily="34" charset="0"/>
                <a:ea typeface="Quattrocento Sans" pitchFamily="34" charset="-122"/>
                <a:cs typeface="Quattrocento Sans" pitchFamily="34" charset="-120"/>
              </a:rPr>
              <a:t>注：模型生成答案仅作为初版，所有问答对须经人工修订和专家审核方可纳入数据集；六维度评分均≥2分视为合格（详见下页）</a:t>
            </a:r>
            <a:endParaRPr lang="en-US" sz="1600" dirty="0"/>
          </a:p>
        </p:txBody>
      </p:sp>
      <p:sp>
        <p:nvSpPr>
          <p:cNvPr id="24" name="Text 22"/>
          <p:cNvSpPr/>
          <p:nvPr/>
        </p:nvSpPr>
        <p:spPr>
          <a:xfrm>
            <a:off x="762000" y="7594600"/>
            <a:ext cx="3810000" cy="3302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规范化前后示例</a:t>
            </a:r>
            <a:endParaRPr lang="en-US" sz="1600" dirty="0"/>
          </a:p>
        </p:txBody>
      </p:sp>
      <p:sp>
        <p:nvSpPr>
          <p:cNvPr id="25" name="Text 23"/>
          <p:cNvSpPr/>
          <p:nvPr/>
        </p:nvSpPr>
        <p:spPr>
          <a:xfrm>
            <a:off x="762000" y="7975600"/>
            <a:ext cx="7112000" cy="609600"/>
          </a:xfrm>
          <a:prstGeom prst="rect">
            <a:avLst/>
          </a:prstGeom>
          <a:noFill/>
          <a:ln/>
        </p:spPr>
        <p:txBody>
          <a:bodyPr wrap="square" lIns="0" tIns="0" rIns="0" bIns="0" rtlCol="0" anchor="t"/>
          <a:lstStyle/>
          <a:p>
            <a:pPr>
              <a:lnSpc>
                <a:spcPct val="140000"/>
              </a:lnSpc>
            </a:pPr>
            <a:r>
              <a:rPr lang="en-US" sz="1300" dirty="0">
                <a:solidFill>
                  <a:srgbClr val="C45C26"/>
                </a:solidFill>
                <a:latin typeface="Quattrocento Sans" pitchFamily="34" charset="0"/>
                <a:ea typeface="Quattrocento Sans" pitchFamily="34" charset="-122"/>
                <a:cs typeface="Quattrocento Sans" pitchFamily="34" charset="-120"/>
              </a:rPr>
              <a:t>原始：</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"堵住了出口，蝌蚪不会越来越多，爆蛋吗？"</a:t>
            </a:r>
            <a:endParaRPr lang="en-US" sz="1600" dirty="0"/>
          </a:p>
          <a:p>
            <a:pPr>
              <a:lnSpc>
                <a:spcPct val="140000"/>
              </a:lnSpc>
            </a:pPr>
            <a:r>
              <a:rPr lang="en-US" sz="1300" dirty="0">
                <a:solidFill>
                  <a:srgbClr val="1A4B8C"/>
                </a:solidFill>
                <a:latin typeface="Quattrocento Sans" pitchFamily="34" charset="0"/>
                <a:ea typeface="Quattrocento Sans" pitchFamily="34" charset="-122"/>
                <a:cs typeface="Quattrocento Sans" pitchFamily="34" charset="-120"/>
              </a:rPr>
              <a:t>规范：</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"男性输精管结扎术后，精子积聚是否会导致睾丸肿胀？"</a:t>
            </a:r>
            <a:endParaRPr lang="en-US" sz="1600" dirty="0"/>
          </a:p>
        </p:txBody>
      </p:sp>
      <p:sp>
        <p:nvSpPr>
          <p:cNvPr id="26" name="Text 24"/>
          <p:cNvSpPr/>
          <p:nvPr/>
        </p:nvSpPr>
        <p:spPr>
          <a:xfrm>
            <a:off x="8382000" y="7975600"/>
            <a:ext cx="7112000" cy="609600"/>
          </a:xfrm>
          <a:prstGeom prst="rect">
            <a:avLst/>
          </a:prstGeom>
          <a:noFill/>
          <a:ln/>
        </p:spPr>
        <p:txBody>
          <a:bodyPr wrap="square" lIns="0" tIns="0" rIns="0" bIns="0" rtlCol="0" anchor="t"/>
          <a:lstStyle/>
          <a:p>
            <a:pPr>
              <a:lnSpc>
                <a:spcPct val="140000"/>
              </a:lnSpc>
            </a:pPr>
            <a:r>
              <a:rPr lang="en-US" sz="1300" dirty="0">
                <a:solidFill>
                  <a:srgbClr val="C45C26"/>
                </a:solidFill>
                <a:latin typeface="Quattrocento Sans" pitchFamily="34" charset="0"/>
                <a:ea typeface="Quattrocento Sans" pitchFamily="34" charset="-122"/>
                <a:cs typeface="Quattrocento Sans" pitchFamily="34" charset="-120"/>
              </a:rPr>
              <a:t>原始：</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"我听说男生都有:换蛋期。是真的吗？"</a:t>
            </a:r>
            <a:endParaRPr lang="en-US" sz="1600" dirty="0"/>
          </a:p>
          <a:p>
            <a:pPr>
              <a:lnSpc>
                <a:spcPct val="140000"/>
              </a:lnSpc>
            </a:pPr>
            <a:r>
              <a:rPr lang="en-US" sz="1300" dirty="0">
                <a:solidFill>
                  <a:srgbClr val="1A4B8C"/>
                </a:solidFill>
                <a:latin typeface="Quattrocento Sans" pitchFamily="34" charset="0"/>
                <a:ea typeface="Quattrocento Sans" pitchFamily="34" charset="-122"/>
                <a:cs typeface="Quattrocento Sans" pitchFamily="34" charset="-120"/>
              </a:rPr>
              <a:t>规范：</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"男性是否存在'换蛋期'这一生理现象？"</a:t>
            </a:r>
            <a:endParaRPr lang="en-US" sz="1600" dirty="0"/>
          </a:p>
        </p:txBody>
      </p:sp>
      <p:sp>
        <p:nvSpPr>
          <p:cNvPr id="27" name="Text 25"/>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8" name="Text 26"/>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数据集质量评估方法与结果</a:t>
            </a:r>
            <a:endParaRPr lang="en-US" sz="1400" dirty="0"/>
          </a:p>
        </p:txBody>
      </p:sp>
      <p:sp>
        <p:nvSpPr>
          <p:cNvPr id="5" name="Text 3"/>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数据集质量评估方法与结果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62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六维度3分制Likert量表（参考Seo等[38]与Ho等[39]）</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9525000" cy="3009900"/>
        </p:xfrm>
        <a:graphic>
          <a:graphicData uri="http://schemas.openxmlformats.org/drawingml/2006/table">
            <a:tbl>
              <a:tblPr/>
              <a:tblGrid>
                <a:gridCol w="1333500"/>
                <a:gridCol w="3048000"/>
                <a:gridCol w="5143500"/>
              </a:tblGrid>
              <a:tr h="429986">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维度</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3分标准</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1分标准</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指导性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提供清晰、具体且可读性强的建议或指导，帮助明确行动方向</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建议模糊、无序或不可操作，无法提供实质性的后续行动指引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准确性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医学事实、数据及术语正确，基于公认的医学共识，无误导性信息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存在严重的事实性错误、医学幻觉或违反常识的观点，可能造成误导</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完整性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充分回答了核心问题，并涵盖了关键细节、背景知识或注意事项</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仅勉强涉及表面的问题，信息片段化或重大缺失，难以全面理解</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信息完全合规，包含必要的风险提示和前置条件约束，无潜在风险</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严重违反安全规范或医学建议底线，存在造成不良后果的高风险</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易于理解</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结构清晰，语言通俗，完全没有未经解释的生僻术语</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过多生僻的医学词汇或表达晦涩混乱，极难读懂</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仅提供必要信息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回答非常聚焦，无冗余内容，精准切中疑问</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掺杂大量与核心问题无关的内容，核心重点模糊</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Shape 6"/>
          <p:cNvSpPr/>
          <p:nvPr/>
        </p:nvSpPr>
        <p:spPr>
          <a:xfrm>
            <a:off x="10541000" y="1498600"/>
            <a:ext cx="4953000" cy="3835400"/>
          </a:xfrm>
          <a:prstGeom prst="rect">
            <a:avLst/>
          </a:prstGeom>
          <a:solidFill>
            <a:srgbClr val="FFFFFF"/>
          </a:solidFill>
          <a:ln/>
        </p:spPr>
      </p:sp>
      <p:sp>
        <p:nvSpPr>
          <p:cNvPr id="10" name="Text 7"/>
          <p:cNvSpPr/>
          <p:nvPr/>
        </p:nvSpPr>
        <p:spPr>
          <a:xfrm>
            <a:off x="10731500" y="1625600"/>
            <a:ext cx="457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自动化评估模型遴选</a:t>
            </a:r>
            <a:endParaRPr lang="en-US" sz="1600" dirty="0"/>
          </a:p>
        </p:txBody>
      </p:sp>
      <p:sp>
        <p:nvSpPr>
          <p:cNvPr id="11" name="Text 8"/>
          <p:cNvSpPr/>
          <p:nvPr/>
        </p:nvSpPr>
        <p:spPr>
          <a:xfrm>
            <a:off x="10731500" y="2032000"/>
            <a:ext cx="4572000" cy="3175000"/>
          </a:xfrm>
          <a:prstGeom prst="rect">
            <a:avLst/>
          </a:prstGeom>
          <a:noFill/>
          <a:ln/>
        </p:spPr>
        <p:txBody>
          <a:bodyPr wrap="square" lIns="0" tIns="0" rIns="0" bIns="0" rtlCol="0" anchor="t"/>
          <a:lstStyle/>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参评模型（5款）：</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GLM-5、DeepSeek-V3.2、Qwen2.5-32B、Qwen2.5-14B、Qwen2.5-7B</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金标准：</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2名临床专家独立打分</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标定样本：</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147条（分层抽样）</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统计指标：</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二次加权Kappa系数</a:t>
            </a:r>
            <a:endParaRPr lang="en-US" sz="1600" dirty="0"/>
          </a:p>
          <a:p>
            <a:pPr>
              <a:lnSpc>
                <a:spcPct val="160000"/>
              </a:lnSpc>
              <a:spcBef>
                <a:spcPts val="600"/>
              </a:spcBef>
            </a:pPr>
            <a:r>
              <a:rPr lang="en-US" sz="1400" b="1" dirty="0">
                <a:solidFill>
                  <a:srgbClr val="C45C26"/>
                </a:solidFill>
                <a:latin typeface="Quattrocento Sans" pitchFamily="34" charset="0"/>
                <a:ea typeface="Quattrocento Sans" pitchFamily="34" charset="-122"/>
                <a:cs typeface="Quattrocento Sans" pitchFamily="34" charset="-120"/>
              </a:rPr>
              <a:t>遴选结果：</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DeepSeek-V3.2与专家Kappa达 </a:t>
            </a:r>
            <a:pPr>
              <a:lnSpc>
                <a:spcPct val="160000"/>
              </a:lnSpc>
            </a:pPr>
            <a:r>
              <a:rPr lang="en-US" sz="1400" b="1" dirty="0">
                <a:solidFill>
                  <a:srgbClr val="1A1D21"/>
                </a:solidFill>
                <a:latin typeface="Quattrocento Sans" pitchFamily="34" charset="0"/>
                <a:ea typeface="Quattrocento Sans" pitchFamily="34" charset="-122"/>
                <a:cs typeface="Quattrocento Sans" pitchFamily="34" charset="-120"/>
              </a:rPr>
              <a:t>0.756-0.909</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，在所有维度上均达高度一致（&gt;0.61），被确立为自动化裁判模型</a:t>
            </a:r>
            <a:endParaRPr lang="en-US" sz="1600" dirty="0"/>
          </a:p>
        </p:txBody>
      </p:sp>
      <p:sp>
        <p:nvSpPr>
          <p:cNvPr id="12" name="Shape 9"/>
          <p:cNvSpPr/>
          <p:nvPr/>
        </p:nvSpPr>
        <p:spPr>
          <a:xfrm>
            <a:off x="762000" y="5524500"/>
            <a:ext cx="14732000" cy="2857500"/>
          </a:xfrm>
          <a:prstGeom prst="rect">
            <a:avLst/>
          </a:prstGeom>
          <a:solidFill>
            <a:srgbClr val="1A4B8C"/>
          </a:solidFill>
          <a:ln/>
        </p:spPr>
      </p:sp>
      <p:sp>
        <p:nvSpPr>
          <p:cNvPr id="13" name="Text 10"/>
          <p:cNvSpPr/>
          <p:nvPr/>
        </p:nvSpPr>
        <p:spPr>
          <a:xfrm>
            <a:off x="1016000" y="5689600"/>
            <a:ext cx="6350000" cy="3302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最终数据集构建结果</a:t>
            </a:r>
            <a:endParaRPr lang="en-US" sz="1600" dirty="0"/>
          </a:p>
        </p:txBody>
      </p:sp>
      <p:sp>
        <p:nvSpPr>
          <p:cNvPr id="14" name="Text 11"/>
          <p:cNvSpPr/>
          <p:nvPr/>
        </p:nvSpPr>
        <p:spPr>
          <a:xfrm>
            <a:off x="1016000" y="6121400"/>
            <a:ext cx="14224000" cy="2095500"/>
          </a:xfrm>
          <a:prstGeom prst="rect">
            <a:avLst/>
          </a:prstGeom>
          <a:noFill/>
          <a:ln/>
        </p:spPr>
        <p:txBody>
          <a:bodyPr wrap="square" lIns="0" tIns="0" rIns="0" bIns="0" rtlCol="0" anchor="t"/>
          <a:lstStyle/>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共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2767条</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高质量问答对，覆盖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13个</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主题类别</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六维度综合均分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2.96</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（满分3分），全部主题均分介于2.93-2.99之间，均显著高于合格阈值2分</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头部主题：生殖健康科普（974条，35.20%）+ 安全套（858条，31.01%）</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质量控制：LLM规范化 → 人工修订 → 专家审核 → DeepSeek-V3.2自动化6维度筛查（各维度≥2分）</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国内首个源于社交媒体真实互动场景、面向青少年生殖健康领域的标准化问答数据集</a:t>
            </a:r>
            <a:endParaRPr lang="en-US" sz="1600" dirty="0"/>
          </a:p>
        </p:txBody>
      </p:sp>
      <p:sp>
        <p:nvSpPr>
          <p:cNvPr id="15" name="Text 12"/>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6" name="Text 13"/>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模型微调方法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模型微调方法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实验基座模型（6款，跨代际跨规模）</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7620000" cy="2400300"/>
        </p:xfrm>
        <a:graphic>
          <a:graphicData uri="http://schemas.openxmlformats.org/drawingml/2006/table">
            <a:tbl>
              <a:tblPr/>
              <a:tblGrid>
                <a:gridCol w="2133600"/>
                <a:gridCol w="2133600"/>
                <a:gridCol w="3352800"/>
              </a:tblGrid>
              <a:tr h="306421">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模型系列</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模型名称</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架构特点</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Qwen2.5-1.5B-Instruct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Dense Transformer, RoPE, SwiGLU</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Qwen2.5-3B-Instruct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34097">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Qwen2.5-7B-Instruct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 + 分组查询注意力(GQA)</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Qwen3-1.7B-Instruct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新架构，优化长文本与推理</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34097">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Qwen3-4B-Instruct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 + 思考/非思考模式切换</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Qwen3-8B-Instruct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同上，平衡性能与推理效率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Shape 6"/>
          <p:cNvSpPr/>
          <p:nvPr/>
        </p:nvSpPr>
        <p:spPr>
          <a:xfrm>
            <a:off x="8636000" y="1498600"/>
            <a:ext cx="6858000" cy="2667000"/>
          </a:xfrm>
          <a:prstGeom prst="rect">
            <a:avLst/>
          </a:prstGeom>
          <a:solidFill>
            <a:srgbClr val="FFFFFF"/>
          </a:solidFill>
          <a:ln/>
        </p:spPr>
      </p:sp>
      <p:sp>
        <p:nvSpPr>
          <p:cNvPr id="10" name="Text 7"/>
          <p:cNvSpPr/>
          <p:nvPr/>
        </p:nvSpPr>
        <p:spPr>
          <a:xfrm>
            <a:off x="8826500" y="1625600"/>
            <a:ext cx="6477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微调方法：LoRA（低秩适配）</a:t>
            </a:r>
            <a:endParaRPr lang="en-US" sz="1600" dirty="0"/>
          </a:p>
        </p:txBody>
      </p:sp>
      <p:sp>
        <p:nvSpPr>
          <p:cNvPr id="11" name="Text 8"/>
          <p:cNvSpPr/>
          <p:nvPr/>
        </p:nvSpPr>
        <p:spPr>
          <a:xfrm>
            <a:off x="8826500" y="2032000"/>
            <a:ext cx="6477000" cy="2032000"/>
          </a:xfrm>
          <a:prstGeom prst="rect">
            <a:avLst/>
          </a:prstGeom>
          <a:noFill/>
          <a:ln/>
        </p:spPr>
        <p:txBody>
          <a:bodyPr wrap="square" lIns="0" tIns="0" rIns="0" bIns="0" rtlCol="0" anchor="t"/>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核心思想：</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冻结原始权重，在Transformer线性层旁引入低秩分解矩阵A和B进行增量训练</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优势：</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可训练参数从数十亿级降至数百万级，显著节约显存，性能媲美全量微调</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实现框架：</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LLaMAFactory</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配置：</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lora_rank=8，lora_target="all"，Alpaca指令模板</a:t>
            </a:r>
            <a:endParaRPr lang="en-US" sz="1600" dirty="0"/>
          </a:p>
        </p:txBody>
      </p:sp>
      <p:sp>
        <p:nvSpPr>
          <p:cNvPr id="12" name="Text 9"/>
          <p:cNvSpPr/>
          <p:nvPr/>
        </p:nvSpPr>
        <p:spPr>
          <a:xfrm>
            <a:off x="762000" y="42926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核心超参数配置</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62000" y="4699000"/>
          <a:ext cx="7112000" cy="1968500"/>
        </p:xfrm>
        <a:graphic>
          <a:graphicData uri="http://schemas.openxmlformats.org/drawingml/2006/table">
            <a:tbl>
              <a:tblPr/>
              <a:tblGrid>
                <a:gridCol w="2489200"/>
                <a:gridCol w="2133600"/>
                <a:gridCol w="2489200"/>
              </a:tblGrid>
              <a:tr h="281214">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参数名称</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设定值</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说明</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num_train_epochs</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3.0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兼顾收敛与过拟合控制</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learning_rate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1.0e-4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LoRA常用学习率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lr_scheduler</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cosine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余弦退火平滑降学习率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batch_size × grad_accum</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1 × 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等效全局批次大小为8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cutoff_len</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2048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覆盖绝大多数问答对长度</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precision</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bf16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混合精度训练加速</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14" name="Text 10"/>
          <p:cNvSpPr/>
          <p:nvPr/>
        </p:nvSpPr>
        <p:spPr>
          <a:xfrm>
            <a:off x="8382000" y="4292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对照实验设计（三个维度）</a:t>
            </a:r>
            <a:endParaRPr lang="en-US" sz="1600" dirty="0"/>
          </a:p>
        </p:txBody>
      </p:sp>
      <p:sp>
        <p:nvSpPr>
          <p:cNvPr id="15" name="Shape 11"/>
          <p:cNvSpPr/>
          <p:nvPr/>
        </p:nvSpPr>
        <p:spPr>
          <a:xfrm>
            <a:off x="8382000" y="4699000"/>
            <a:ext cx="7112000" cy="660400"/>
          </a:xfrm>
          <a:prstGeom prst="rect">
            <a:avLst/>
          </a:prstGeom>
          <a:solidFill>
            <a:srgbClr val="FFFFFF"/>
          </a:solidFill>
          <a:ln/>
        </p:spPr>
      </p:sp>
      <p:sp>
        <p:nvSpPr>
          <p:cNvPr id="16" name="Text 12"/>
          <p:cNvSpPr/>
          <p:nvPr/>
        </p:nvSpPr>
        <p:spPr>
          <a:xfrm>
            <a:off x="8572500" y="4762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① 成对对比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基线模型 vs. 微调版本（相同基座/超参数/数据/解码参数）</a:t>
            </a:r>
            <a:endParaRPr lang="en-US" sz="1600" dirty="0"/>
          </a:p>
        </p:txBody>
      </p:sp>
      <p:sp>
        <p:nvSpPr>
          <p:cNvPr id="17" name="Shape 13"/>
          <p:cNvSpPr/>
          <p:nvPr/>
        </p:nvSpPr>
        <p:spPr>
          <a:xfrm>
            <a:off x="8382000" y="5461000"/>
            <a:ext cx="7112000" cy="660400"/>
          </a:xfrm>
          <a:prstGeom prst="rect">
            <a:avLst/>
          </a:prstGeom>
          <a:solidFill>
            <a:srgbClr val="FFFFFF"/>
          </a:solidFill>
          <a:ln/>
        </p:spPr>
      </p:sp>
      <p:sp>
        <p:nvSpPr>
          <p:cNvPr id="18" name="Text 14"/>
          <p:cNvSpPr/>
          <p:nvPr/>
        </p:nvSpPr>
        <p:spPr>
          <a:xfrm>
            <a:off x="8572500" y="5524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② 跨参数规模对比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1.5B→8B梯度对比，探究规模与微调收益关系</a:t>
            </a:r>
            <a:endParaRPr lang="en-US" sz="1600" dirty="0"/>
          </a:p>
        </p:txBody>
      </p:sp>
      <p:sp>
        <p:nvSpPr>
          <p:cNvPr id="19" name="Shape 15"/>
          <p:cNvSpPr/>
          <p:nvPr/>
        </p:nvSpPr>
        <p:spPr>
          <a:xfrm>
            <a:off x="8382000" y="6223000"/>
            <a:ext cx="7112000" cy="660400"/>
          </a:xfrm>
          <a:prstGeom prst="rect">
            <a:avLst/>
          </a:prstGeom>
          <a:solidFill>
            <a:srgbClr val="FFFFFF"/>
          </a:solidFill>
          <a:ln/>
        </p:spPr>
      </p:sp>
      <p:sp>
        <p:nvSpPr>
          <p:cNvPr id="20" name="Text 16"/>
          <p:cNvSpPr/>
          <p:nvPr/>
        </p:nvSpPr>
        <p:spPr>
          <a:xfrm>
            <a:off x="8572500" y="6286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③ 跨代际对比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Qwen2.5 vs. Qwen3（同规模），评估新架构适配效果</a:t>
            </a:r>
            <a:endParaRPr lang="en-US" sz="1600" dirty="0"/>
          </a:p>
        </p:txBody>
      </p:sp>
      <p:sp>
        <p:nvSpPr>
          <p:cNvPr id="21" name="Text 17"/>
          <p:cNvSpPr/>
          <p:nvPr/>
        </p:nvSpPr>
        <p:spPr>
          <a:xfrm>
            <a:off x="762000" y="6985000"/>
            <a:ext cx="14732000" cy="330200"/>
          </a:xfrm>
          <a:prstGeom prst="rect">
            <a:avLst/>
          </a:prstGeom>
          <a:noFill/>
          <a:ln/>
        </p:spPr>
        <p:txBody>
          <a:bodyPr wrap="square" lIns="0" tIns="0" rIns="0" bIns="0" rtlCol="0" anchor="ctr"/>
          <a:lstStyle/>
          <a:p>
            <a:pPr>
              <a:lnSpc>
                <a:spcPct val="100000"/>
              </a:lnSpc>
            </a:pPr>
            <a:r>
              <a:rPr lang="en-US" sz="1400" dirty="0">
                <a:solidFill>
                  <a:srgbClr val="8A9BB0"/>
                </a:solidFill>
                <a:latin typeface="Quattrocento Sans" pitchFamily="34" charset="0"/>
                <a:ea typeface="Quattrocento Sans" pitchFamily="34" charset="-122"/>
                <a:cs typeface="Quattrocento Sans" pitchFamily="34" charset="-120"/>
              </a:rPr>
              <a:t>数据集划分：训练集2204条（80%）| 验证集281条（10%）| 测试集282条（10%，全程不参与训练）| 评估工具：DeepSeek-V3.2六维度3分制Likert</a:t>
            </a:r>
            <a:endParaRPr lang="en-US" sz="1600" dirty="0"/>
          </a:p>
        </p:txBody>
      </p:sp>
      <p:sp>
        <p:nvSpPr>
          <p:cNvPr id="22"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3"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效果评估结果</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效果评估结果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ROUGE自动化指标结果</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6858000" cy="2336800"/>
        </p:xfrm>
        <a:graphic>
          <a:graphicData uri="http://schemas.openxmlformats.org/drawingml/2006/table">
            <a:tbl>
              <a:tblPr/>
              <a:tblGrid>
                <a:gridCol w="2194560"/>
                <a:gridCol w="1165860"/>
                <a:gridCol w="1165860"/>
                <a:gridCol w="1165860"/>
                <a:gridCol w="1165860"/>
              </a:tblGrid>
              <a:tr h="333829">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类型</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ROUGE-1</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ROUGE-L</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Qwen2.5-1.5B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0.1329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0.0510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0.1296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0.1447</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0.0499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0.1429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Qwen2.5-7B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0.1512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0.0682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0.1424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0.2120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0.0748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0.2077**</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Qwen3-4B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0.1462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0.0526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0.1389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0.2274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0.0985</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0.2224***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Text 6"/>
          <p:cNvSpPr/>
          <p:nvPr/>
        </p:nvSpPr>
        <p:spPr>
          <a:xfrm>
            <a:off x="762000" y="4699000"/>
            <a:ext cx="6858000" cy="355600"/>
          </a:xfrm>
          <a:prstGeom prst="rect">
            <a:avLst/>
          </a:prstGeom>
          <a:noFill/>
          <a:ln/>
        </p:spPr>
        <p:txBody>
          <a:bodyPr wrap="square" lIns="0" tIns="0" rIns="0" bIns="0" rtlCol="0" anchor="ctr"/>
          <a:lstStyle/>
          <a:p>
            <a:pPr>
              <a:lnSpc>
                <a:spcPct val="100000"/>
              </a:lnSpc>
            </a:pPr>
            <a:r>
              <a:rPr lang="en-US" sz="1300" dirty="0">
                <a:solidFill>
                  <a:srgbClr val="8A9BB0"/>
                </a:solidFill>
                <a:latin typeface="Quattrocento Sans" pitchFamily="34" charset="0"/>
                <a:ea typeface="Quattrocento Sans" pitchFamily="34" charset="-122"/>
                <a:cs typeface="Quattrocento Sans" pitchFamily="34" charset="-120"/>
              </a:rPr>
              <a:t>注：* p&lt;0.05, ** p&lt;0.01, *** p&lt;0.001（Wilcoxon符号秩检验）</a:t>
            </a:r>
            <a:endParaRPr lang="en-US" sz="1600" dirty="0"/>
          </a:p>
        </p:txBody>
      </p:sp>
      <p:sp>
        <p:nvSpPr>
          <p:cNvPr id="10" name="Text 7"/>
          <p:cNvSpPr/>
          <p:nvPr/>
        </p:nvSpPr>
        <p:spPr>
          <a:xfrm>
            <a:off x="838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六维度AI打分结果（综合均分）</a:t>
            </a:r>
            <a:endParaRPr lang="en-US" sz="1600" dirty="0"/>
          </a:p>
        </p:txBody>
      </p:sp>
      <p:graphicFrame>
        <p:nvGraphicFramePr>
          <p:cNvPr id="11" name="Chart 0" descr=""/>
          <p:cNvGraphicFramePr/>
          <p:nvPr/>
        </p:nvGraphicFramePr>
        <p:xfrm>
          <a:off x="8382000" y="1905000"/>
          <a:ext cx="7112000" cy="317500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762000" y="5207000"/>
            <a:ext cx="14732000" cy="3175000"/>
          </a:xfrm>
          <a:prstGeom prst="rect">
            <a:avLst/>
          </a:prstGeom>
          <a:solidFill>
            <a:srgbClr val="FFFFFF"/>
          </a:solidFill>
          <a:ln/>
        </p:spPr>
      </p:sp>
      <p:sp>
        <p:nvSpPr>
          <p:cNvPr id="13" name="Text 9"/>
          <p:cNvSpPr/>
          <p:nvPr/>
        </p:nvSpPr>
        <p:spPr>
          <a:xfrm>
            <a:off x="1016000" y="5359400"/>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14" name="Text 10"/>
          <p:cNvSpPr/>
          <p:nvPr/>
        </p:nvSpPr>
        <p:spPr>
          <a:xfrm>
            <a:off x="1016000" y="5778500"/>
            <a:ext cx="14224000" cy="2476500"/>
          </a:xfrm>
          <a:prstGeom prst="rect">
            <a:avLst/>
          </a:prstGeom>
          <a:noFill/>
          <a:ln/>
        </p:spPr>
        <p:txBody>
          <a:bodyPr wrap="square" lIns="0" tIns="0" rIns="0" bIns="0" rtlCol="0" anchor="t"/>
          <a:lstStyle/>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统计显著性</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：Wilcoxon检验显示绝大多数维度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p&lt;0.001</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，领域微调效果高度可靠；"准确性"与"仅提供必要信息"中位数差异达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1分</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（整档跃升）</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最佳模型</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：Qwen3-4B微调后综合均分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2.927</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，逼近专家级表现；ROUGE-L从0.1389提升至0.2224（p&lt;0.001）</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规模效应</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：Qwen2.5系列中1.5B/3B模型ROUGE-L提升未达显著，提示参数规模存在知识容纳下限；Qwen3-1.7B（小参数）亦能显著提升，说明架构代际差异同样重要</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主题差异</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：高风险敏感议题（人工流产+0.619、体外排精+0.476）提升幅度最大，向常规高频议题递减</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天花板效应</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："易于理解"维度基线已接近满分，微调边际增益有限</a:t>
            </a:r>
            <a:endParaRPr lang="en-US" sz="1600" dirty="0"/>
          </a:p>
        </p:txBody>
      </p:sp>
      <p:sp>
        <p:nvSpPr>
          <p:cNvPr id="15" name="Text 11"/>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6" name="Text 12"/>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主题级分析与典型案例</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主题级分析与典型案例</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各主题综合均分提升幅度（Qwen3-4B）</a:t>
            </a:r>
            <a:endParaRPr lang="en-US" sz="1600" dirty="0"/>
          </a:p>
        </p:txBody>
      </p:sp>
      <p:graphicFrame>
        <p:nvGraphicFramePr>
          <p:cNvPr id="8" name="Chart 0" descr=""/>
          <p:cNvGraphicFramePr/>
          <p:nvPr/>
        </p:nvGraphicFramePr>
        <p:xfrm>
          <a:off x="762000" y="1968500"/>
          <a:ext cx="7366000" cy="3429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382000" y="1524000"/>
            <a:ext cx="0" cy="3873500"/>
          </a:xfrm>
          <a:prstGeom prst="straightConnector1">
            <a:avLst/>
          </a:prstGeom>
          <a:noFill/>
          <a:ln w="12700">
            <a:solidFill>
              <a:srgbClr val="8A9BB0"/>
            </a:solidFill>
            <a:prstDash val="solid"/>
            <a:headEnd type="none"/>
            <a:tailEnd type="none"/>
          </a:ln>
        </p:spPr>
      </p:sp>
      <p:sp>
        <p:nvSpPr>
          <p:cNvPr id="10" name="Text 7"/>
          <p:cNvSpPr/>
          <p:nvPr/>
        </p:nvSpPr>
        <p:spPr>
          <a:xfrm>
            <a:off x="8763000" y="1524000"/>
            <a:ext cx="635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典型案例对比</a:t>
            </a:r>
            <a:endParaRPr lang="en-US" sz="1600" dirty="0"/>
          </a:p>
        </p:txBody>
      </p:sp>
      <p:sp>
        <p:nvSpPr>
          <p:cNvPr id="11" name="Shape 8"/>
          <p:cNvSpPr/>
          <p:nvPr/>
        </p:nvSpPr>
        <p:spPr>
          <a:xfrm>
            <a:off x="8763000" y="2006600"/>
            <a:ext cx="6731000" cy="1460500"/>
          </a:xfrm>
          <a:prstGeom prst="rect">
            <a:avLst/>
          </a:prstGeom>
          <a:solidFill>
            <a:srgbClr val="F0F7FF"/>
          </a:solidFill>
          <a:ln/>
        </p:spPr>
      </p:sp>
      <p:sp>
        <p:nvSpPr>
          <p:cNvPr id="12" name="Text 9"/>
          <p:cNvSpPr/>
          <p:nvPr/>
        </p:nvSpPr>
        <p:spPr>
          <a:xfrm>
            <a:off x="8953500" y="2070100"/>
            <a:ext cx="1524000" cy="2794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优秀案例</a:t>
            </a:r>
            <a:endParaRPr lang="en-US" sz="1600" dirty="0"/>
          </a:p>
        </p:txBody>
      </p:sp>
      <p:sp>
        <p:nvSpPr>
          <p:cNvPr id="13" name="Text 10"/>
          <p:cNvSpPr/>
          <p:nvPr/>
        </p:nvSpPr>
        <p:spPr>
          <a:xfrm>
            <a:off x="8953500" y="2387600"/>
            <a:ext cx="6350000" cy="10795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人工流产主题：基线模型将"中晚期终止妊娠"错误描述为"医生建议的常规选择"；微调后模型准确指出医学指征（胎儿畸形、母体并发症），信息准确、逻辑清晰</a:t>
            </a:r>
            <a:endParaRPr lang="en-US" sz="1600" dirty="0"/>
          </a:p>
        </p:txBody>
      </p:sp>
      <p:sp>
        <p:nvSpPr>
          <p:cNvPr id="14" name="Shape 11"/>
          <p:cNvSpPr/>
          <p:nvPr/>
        </p:nvSpPr>
        <p:spPr>
          <a:xfrm>
            <a:off x="8763000" y="3594100"/>
            <a:ext cx="6731000" cy="1460500"/>
          </a:xfrm>
          <a:prstGeom prst="rect">
            <a:avLst/>
          </a:prstGeom>
          <a:solidFill>
            <a:srgbClr val="FFF5F0"/>
          </a:solidFill>
          <a:ln/>
        </p:spPr>
      </p:sp>
      <p:sp>
        <p:nvSpPr>
          <p:cNvPr id="15" name="Text 12"/>
          <p:cNvSpPr/>
          <p:nvPr/>
        </p:nvSpPr>
        <p:spPr>
          <a:xfrm>
            <a:off x="8953500" y="3657600"/>
            <a:ext cx="1524000" cy="2794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边界案例</a:t>
            </a:r>
            <a:endParaRPr lang="en-US" sz="1600" dirty="0"/>
          </a:p>
        </p:txBody>
      </p:sp>
      <p:sp>
        <p:nvSpPr>
          <p:cNvPr id="16" name="Text 13"/>
          <p:cNvSpPr/>
          <p:nvPr/>
        </p:nvSpPr>
        <p:spPr>
          <a:xfrm>
            <a:off x="8953500" y="3975100"/>
            <a:ext cx="6350000" cy="10414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男性避孕针：模型将男性避孕针与女性激素避孕针混淆，编造"月经第5-7天注射"等用药规范；二手避孕套：模型认可伪概念并编造获取途径，存在严重安全隐患</a:t>
            </a:r>
            <a:endParaRPr lang="en-US" sz="1600" dirty="0"/>
          </a:p>
        </p:txBody>
      </p:sp>
      <p:sp>
        <p:nvSpPr>
          <p:cNvPr id="17" name="Shape 14"/>
          <p:cNvSpPr/>
          <p:nvPr/>
        </p:nvSpPr>
        <p:spPr>
          <a:xfrm>
            <a:off x="762000" y="5651500"/>
            <a:ext cx="14732000" cy="2667000"/>
          </a:xfrm>
          <a:prstGeom prst="rect">
            <a:avLst/>
          </a:prstGeom>
          <a:solidFill>
            <a:srgbClr val="FFFFFF"/>
          </a:solidFill>
          <a:ln/>
        </p:spPr>
      </p:sp>
      <p:sp>
        <p:nvSpPr>
          <p:cNvPr id="18" name="Text 15"/>
          <p:cNvSpPr/>
          <p:nvPr/>
        </p:nvSpPr>
        <p:spPr>
          <a:xfrm>
            <a:off x="1016000" y="5778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19" name="Text 16"/>
          <p:cNvSpPr/>
          <p:nvPr/>
        </p:nvSpPr>
        <p:spPr>
          <a:xfrm>
            <a:off x="1016000" y="6223000"/>
            <a:ext cx="14224000" cy="1905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提升梯度</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：高风险敏感议题（人工流产+0.619、体外排精+0.476）提升幅度最大，向常规高频议题递减，说明数据集在主题覆盖上较为均衡</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能力盲区</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：①前沿未定论议题——模型易混淆研究进展与既有知识，产生幻觉；②伪概念提问——模型缺乏批判性反驳能力，倾向于迎合式演绎</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改进方向</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：数据集需持续扩充辟谣类样本和前沿进展类样本，以增强模型鲁棒性与安全性</a:t>
            </a:r>
            <a:endParaRPr lang="en-US" sz="1600" dirty="0"/>
          </a:p>
        </p:txBody>
      </p:sp>
      <p:sp>
        <p:nvSpPr>
          <p:cNvPr id="20" name="Text 1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主要结论与创新点</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主要结论与创新点</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四大核心发现</a:t>
            </a:r>
            <a:endParaRPr lang="en-US" sz="1600" dirty="0"/>
          </a:p>
        </p:txBody>
      </p:sp>
      <p:sp>
        <p:nvSpPr>
          <p:cNvPr id="8" name="Text 6"/>
          <p:cNvSpPr/>
          <p:nvPr/>
        </p:nvSpPr>
        <p:spPr>
          <a:xfrm>
            <a:off x="762000" y="1968500"/>
            <a:ext cx="14732000" cy="1778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①</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青少年需求呈"头部集中、长尾分布"——基础科普与安全套使用占54.47%，高风险议题认知误区普遍</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②</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用户评论能有效反映真实需求——口语化表达中蕴含传统问卷难以捕捉的敏感困惑与情感诉求</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③</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LLM配合人工审核可规模化产出高质量问答对——2767条问答对综合均分2.96，达临床应用标准</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④</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领域微调显著提升模型专业性（p&lt;0.001），但面对前沿议题和伪概念时幻觉风险仍需关注</a:t>
            </a:r>
            <a:endParaRPr lang="en-US" sz="1600" dirty="0"/>
          </a:p>
        </p:txBody>
      </p:sp>
      <p:sp>
        <p:nvSpPr>
          <p:cNvPr id="9" name="Shape 7"/>
          <p:cNvSpPr/>
          <p:nvPr/>
        </p:nvSpPr>
        <p:spPr>
          <a:xfrm>
            <a:off x="762000" y="3937000"/>
            <a:ext cx="14732000" cy="0"/>
          </a:xfrm>
          <a:prstGeom prst="straightConnector1">
            <a:avLst/>
          </a:prstGeom>
          <a:noFill/>
          <a:ln w="12700">
            <a:solidFill>
              <a:srgbClr val="8A9BB0"/>
            </a:solidFill>
            <a:prstDash val="solid"/>
            <a:headEnd type="none"/>
            <a:tailEnd type="none"/>
          </a:ln>
        </p:spPr>
      </p:sp>
      <p:sp>
        <p:nvSpPr>
          <p:cNvPr id="10" name="Text 8"/>
          <p:cNvSpPr/>
          <p:nvPr/>
        </p:nvSpPr>
        <p:spPr>
          <a:xfrm>
            <a:off x="762000" y="4127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四大创新点</a:t>
            </a:r>
            <a:endParaRPr lang="en-US" sz="1600" dirty="0"/>
          </a:p>
        </p:txBody>
      </p:sp>
      <p:sp>
        <p:nvSpPr>
          <p:cNvPr id="11" name="Shape 9"/>
          <p:cNvSpPr/>
          <p:nvPr/>
        </p:nvSpPr>
        <p:spPr>
          <a:xfrm>
            <a:off x="762000" y="4635500"/>
            <a:ext cx="3429000" cy="2667000"/>
          </a:xfrm>
          <a:prstGeom prst="rect">
            <a:avLst/>
          </a:prstGeom>
          <a:solidFill>
            <a:srgbClr val="FFFFFF"/>
          </a:solidFill>
          <a:ln/>
        </p:spPr>
      </p:sp>
      <p:sp>
        <p:nvSpPr>
          <p:cNvPr id="12" name="Shape 10"/>
          <p:cNvSpPr/>
          <p:nvPr/>
        </p:nvSpPr>
        <p:spPr>
          <a:xfrm>
            <a:off x="990600" y="4826000"/>
            <a:ext cx="457200" cy="406400"/>
          </a:xfrm>
          <a:custGeom>
            <a:avLst/>
            <a:gdLst/>
            <a:ahLst/>
            <a:cxnLst/>
            <a:rect l="l" t="t" r="r" b="b"/>
            <a:pathLst>
              <a:path w="457200" h="406400">
                <a:moveTo>
                  <a:pt x="304800" y="114300"/>
                </a:moveTo>
                <a:cubicBezTo>
                  <a:pt x="304800" y="191452"/>
                  <a:pt x="236538" y="254000"/>
                  <a:pt x="152400" y="254000"/>
                </a:cubicBezTo>
                <a:cubicBezTo>
                  <a:pt x="131207" y="254000"/>
                  <a:pt x="111046" y="250031"/>
                  <a:pt x="92710" y="242888"/>
                </a:cubicBezTo>
                <a:lnTo>
                  <a:pt x="27940" y="277178"/>
                </a:lnTo>
                <a:cubicBezTo>
                  <a:pt x="20558" y="281067"/>
                  <a:pt x="11509" y="279717"/>
                  <a:pt x="5556" y="273844"/>
                </a:cubicBezTo>
                <a:cubicBezTo>
                  <a:pt x="-397" y="267970"/>
                  <a:pt x="-1746" y="258842"/>
                  <a:pt x="2223" y="251460"/>
                </a:cubicBezTo>
                <a:lnTo>
                  <a:pt x="30480" y="198120"/>
                </a:lnTo>
                <a:cubicBezTo>
                  <a:pt x="11351" y="174784"/>
                  <a:pt x="0" y="145733"/>
                  <a:pt x="0" y="114300"/>
                </a:cubicBezTo>
                <a:cubicBezTo>
                  <a:pt x="0" y="37147"/>
                  <a:pt x="68263" y="-25400"/>
                  <a:pt x="152400" y="-25400"/>
                </a:cubicBezTo>
                <a:cubicBezTo>
                  <a:pt x="236538" y="-25400"/>
                  <a:pt x="304800" y="37147"/>
                  <a:pt x="304800" y="114300"/>
                </a:cubicBezTo>
                <a:close/>
                <a:moveTo>
                  <a:pt x="304800" y="406400"/>
                </a:moveTo>
                <a:cubicBezTo>
                  <a:pt x="230108" y="406400"/>
                  <a:pt x="167958" y="357108"/>
                  <a:pt x="154940" y="292100"/>
                </a:cubicBezTo>
                <a:cubicBezTo>
                  <a:pt x="250190" y="290909"/>
                  <a:pt x="332978" y="223123"/>
                  <a:pt x="342106" y="131207"/>
                </a:cubicBezTo>
                <a:cubicBezTo>
                  <a:pt x="408226" y="146447"/>
                  <a:pt x="457200" y="201295"/>
                  <a:pt x="457200" y="266700"/>
                </a:cubicBezTo>
                <a:cubicBezTo>
                  <a:pt x="457200" y="298133"/>
                  <a:pt x="445849" y="327184"/>
                  <a:pt x="426720" y="350520"/>
                </a:cubicBezTo>
                <a:lnTo>
                  <a:pt x="454978" y="403860"/>
                </a:lnTo>
                <a:cubicBezTo>
                  <a:pt x="458867" y="411242"/>
                  <a:pt x="457518" y="420291"/>
                  <a:pt x="451644" y="426244"/>
                </a:cubicBezTo>
                <a:cubicBezTo>
                  <a:pt x="445770" y="432197"/>
                  <a:pt x="436642" y="433546"/>
                  <a:pt x="429260" y="429578"/>
                </a:cubicBezTo>
                <a:lnTo>
                  <a:pt x="364490" y="395288"/>
                </a:lnTo>
                <a:cubicBezTo>
                  <a:pt x="346154" y="402431"/>
                  <a:pt x="325993" y="406400"/>
                  <a:pt x="304800" y="406400"/>
                </a:cubicBezTo>
                <a:close/>
              </a:path>
            </a:pathLst>
          </a:custGeom>
          <a:solidFill>
            <a:srgbClr val="1A4B8C"/>
          </a:solidFill>
          <a:ln/>
        </p:spPr>
      </p:sp>
      <p:sp>
        <p:nvSpPr>
          <p:cNvPr id="13" name="Text 11"/>
          <p:cNvSpPr/>
          <p:nvPr/>
        </p:nvSpPr>
        <p:spPr>
          <a:xfrm>
            <a:off x="1016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研究对象创新</a:t>
            </a:r>
            <a:endParaRPr lang="en-US" sz="1600" dirty="0"/>
          </a:p>
        </p:txBody>
      </p:sp>
      <p:sp>
        <p:nvSpPr>
          <p:cNvPr id="14" name="Text 12"/>
          <p:cNvSpPr/>
          <p:nvPr/>
        </p:nvSpPr>
        <p:spPr>
          <a:xfrm>
            <a:off x="1016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首次将焦点深入B站青少年用户自发生成的海量真实评论与弹幕文本</a:t>
            </a:r>
            <a:endParaRPr lang="en-US" sz="1600" dirty="0"/>
          </a:p>
        </p:txBody>
      </p:sp>
      <p:sp>
        <p:nvSpPr>
          <p:cNvPr id="15" name="Shape 13"/>
          <p:cNvSpPr/>
          <p:nvPr/>
        </p:nvSpPr>
        <p:spPr>
          <a:xfrm>
            <a:off x="4445000" y="4635500"/>
            <a:ext cx="3429000" cy="2667000"/>
          </a:xfrm>
          <a:prstGeom prst="rect">
            <a:avLst/>
          </a:prstGeom>
          <a:solidFill>
            <a:srgbClr val="FFFFFF"/>
          </a:solidFill>
          <a:ln/>
        </p:spPr>
      </p:sp>
      <p:sp>
        <p:nvSpPr>
          <p:cNvPr id="16" name="Shape 14"/>
          <p:cNvSpPr/>
          <p:nvPr/>
        </p:nvSpPr>
        <p:spPr>
          <a:xfrm>
            <a:off x="4673600" y="48260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1A4B8C"/>
          </a:solidFill>
          <a:ln/>
        </p:spPr>
      </p:sp>
      <p:sp>
        <p:nvSpPr>
          <p:cNvPr id="17" name="Text 15"/>
          <p:cNvSpPr/>
          <p:nvPr/>
        </p:nvSpPr>
        <p:spPr>
          <a:xfrm>
            <a:off x="4699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方法路径创新</a:t>
            </a:r>
            <a:endParaRPr lang="en-US" sz="1600" dirty="0"/>
          </a:p>
        </p:txBody>
      </p:sp>
      <p:sp>
        <p:nvSpPr>
          <p:cNvPr id="18" name="Text 16"/>
          <p:cNvSpPr/>
          <p:nvPr/>
        </p:nvSpPr>
        <p:spPr>
          <a:xfrm>
            <a:off x="4699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构建并实践从原始数据到优化AI模型的完整技术链路，实现闭环转化</a:t>
            </a:r>
            <a:endParaRPr lang="en-US" sz="1600" dirty="0"/>
          </a:p>
        </p:txBody>
      </p:sp>
      <p:sp>
        <p:nvSpPr>
          <p:cNvPr id="19" name="Shape 17"/>
          <p:cNvSpPr/>
          <p:nvPr/>
        </p:nvSpPr>
        <p:spPr>
          <a:xfrm>
            <a:off x="8128000" y="4635500"/>
            <a:ext cx="3429000" cy="2667000"/>
          </a:xfrm>
          <a:prstGeom prst="rect">
            <a:avLst/>
          </a:prstGeom>
          <a:solidFill>
            <a:srgbClr val="FFFFFF"/>
          </a:solidFill>
          <a:ln/>
        </p:spPr>
      </p:sp>
      <p:sp>
        <p:nvSpPr>
          <p:cNvPr id="20" name="Shape 18"/>
          <p:cNvSpPr/>
          <p:nvPr/>
        </p:nvSpPr>
        <p:spPr>
          <a:xfrm>
            <a:off x="8407400" y="4826000"/>
            <a:ext cx="355600" cy="406400"/>
          </a:xfrm>
          <a:custGeom>
            <a:avLst/>
            <a:gdLst/>
            <a:ahLst/>
            <a:cxnLst/>
            <a:rect l="l" t="t" r="r" b="b"/>
            <a:pathLst>
              <a:path w="355600" h="406400">
                <a:moveTo>
                  <a:pt x="355600" y="163354"/>
                </a:moveTo>
                <a:cubicBezTo>
                  <a:pt x="343853" y="171133"/>
                  <a:pt x="330359" y="177403"/>
                  <a:pt x="316309" y="182404"/>
                </a:cubicBezTo>
                <a:cubicBezTo>
                  <a:pt x="279003" y="195739"/>
                  <a:pt x="230029" y="203200"/>
                  <a:pt x="177800" y="203200"/>
                </a:cubicBezTo>
                <a:cubicBezTo>
                  <a:pt x="125571" y="203200"/>
                  <a:pt x="76518" y="195659"/>
                  <a:pt x="39291" y="182404"/>
                </a:cubicBezTo>
                <a:cubicBezTo>
                  <a:pt x="25321" y="177403"/>
                  <a:pt x="11747" y="171133"/>
                  <a:pt x="0" y="163354"/>
                </a:cubicBezTo>
                <a:lnTo>
                  <a:pt x="0" y="228600"/>
                </a:lnTo>
                <a:cubicBezTo>
                  <a:pt x="0" y="263684"/>
                  <a:pt x="79613" y="292100"/>
                  <a:pt x="177800" y="292100"/>
                </a:cubicBezTo>
                <a:cubicBezTo>
                  <a:pt x="275987" y="292100"/>
                  <a:pt x="355600" y="263684"/>
                  <a:pt x="355600" y="228600"/>
                </a:cubicBezTo>
                <a:lnTo>
                  <a:pt x="355600" y="163354"/>
                </a:lnTo>
                <a:close/>
                <a:moveTo>
                  <a:pt x="355600" y="101600"/>
                </a:moveTo>
                <a:lnTo>
                  <a:pt x="355600" y="63500"/>
                </a:lnTo>
                <a:cubicBezTo>
                  <a:pt x="355600" y="28416"/>
                  <a:pt x="275987" y="0"/>
                  <a:pt x="177800" y="0"/>
                </a:cubicBezTo>
                <a:cubicBezTo>
                  <a:pt x="79613" y="0"/>
                  <a:pt x="0" y="28416"/>
                  <a:pt x="0" y="63500"/>
                </a:cubicBezTo>
                <a:lnTo>
                  <a:pt x="0" y="101600"/>
                </a:lnTo>
                <a:cubicBezTo>
                  <a:pt x="0" y="136684"/>
                  <a:pt x="79613" y="165100"/>
                  <a:pt x="177800" y="165100"/>
                </a:cubicBezTo>
                <a:cubicBezTo>
                  <a:pt x="275987" y="165100"/>
                  <a:pt x="355600" y="136684"/>
                  <a:pt x="355600" y="101600"/>
                </a:cubicBezTo>
                <a:close/>
                <a:moveTo>
                  <a:pt x="316309" y="309404"/>
                </a:moveTo>
                <a:cubicBezTo>
                  <a:pt x="279083" y="322659"/>
                  <a:pt x="230108" y="330200"/>
                  <a:pt x="177800" y="330200"/>
                </a:cubicBezTo>
                <a:cubicBezTo>
                  <a:pt x="125492" y="330200"/>
                  <a:pt x="76518" y="322659"/>
                  <a:pt x="39291" y="309404"/>
                </a:cubicBezTo>
                <a:cubicBezTo>
                  <a:pt x="25321" y="304403"/>
                  <a:pt x="11747" y="298133"/>
                  <a:pt x="0" y="290354"/>
                </a:cubicBezTo>
                <a:lnTo>
                  <a:pt x="0" y="342900"/>
                </a:lnTo>
                <a:cubicBezTo>
                  <a:pt x="0" y="377984"/>
                  <a:pt x="79613" y="406400"/>
                  <a:pt x="177800" y="406400"/>
                </a:cubicBezTo>
                <a:cubicBezTo>
                  <a:pt x="275987" y="406400"/>
                  <a:pt x="355600" y="377984"/>
                  <a:pt x="355600" y="342900"/>
                </a:cubicBezTo>
                <a:lnTo>
                  <a:pt x="355600" y="290354"/>
                </a:lnTo>
                <a:cubicBezTo>
                  <a:pt x="343853" y="298133"/>
                  <a:pt x="330359" y="304403"/>
                  <a:pt x="316309" y="309404"/>
                </a:cubicBezTo>
                <a:close/>
              </a:path>
            </a:pathLst>
          </a:custGeom>
          <a:solidFill>
            <a:srgbClr val="1A4B8C"/>
          </a:solidFill>
          <a:ln/>
        </p:spPr>
      </p:sp>
      <p:sp>
        <p:nvSpPr>
          <p:cNvPr id="21" name="Text 19"/>
          <p:cNvSpPr/>
          <p:nvPr/>
        </p:nvSpPr>
        <p:spPr>
          <a:xfrm>
            <a:off x="8382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数据资源创新</a:t>
            </a:r>
            <a:endParaRPr lang="en-US" sz="1600" dirty="0"/>
          </a:p>
        </p:txBody>
      </p:sp>
      <p:sp>
        <p:nvSpPr>
          <p:cNvPr id="22" name="Text 20"/>
          <p:cNvSpPr/>
          <p:nvPr/>
        </p:nvSpPr>
        <p:spPr>
          <a:xfrm>
            <a:off x="8382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国内首个源于社交媒体真实互动场景的青少年生殖健康标准化问答数据集</a:t>
            </a:r>
            <a:endParaRPr lang="en-US" sz="1600" dirty="0"/>
          </a:p>
        </p:txBody>
      </p:sp>
      <p:sp>
        <p:nvSpPr>
          <p:cNvPr id="23" name="Shape 21"/>
          <p:cNvSpPr/>
          <p:nvPr/>
        </p:nvSpPr>
        <p:spPr>
          <a:xfrm>
            <a:off x="11811000" y="4635500"/>
            <a:ext cx="3683000" cy="2667000"/>
          </a:xfrm>
          <a:prstGeom prst="rect">
            <a:avLst/>
          </a:prstGeom>
          <a:solidFill>
            <a:srgbClr val="FFFFFF"/>
          </a:solidFill>
          <a:ln/>
        </p:spPr>
      </p:sp>
      <p:sp>
        <p:nvSpPr>
          <p:cNvPr id="24" name="Shape 22"/>
          <p:cNvSpPr/>
          <p:nvPr/>
        </p:nvSpPr>
        <p:spPr>
          <a:xfrm>
            <a:off x="12065000" y="48260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1A4B8C"/>
          </a:solidFill>
          <a:ln/>
        </p:spPr>
      </p:sp>
      <p:sp>
        <p:nvSpPr>
          <p:cNvPr id="25" name="Text 23"/>
          <p:cNvSpPr/>
          <p:nvPr/>
        </p:nvSpPr>
        <p:spPr>
          <a:xfrm>
            <a:off x="12065000" y="5334000"/>
            <a:ext cx="3175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模型应用创新</a:t>
            </a:r>
            <a:endParaRPr lang="en-US" sz="1600" dirty="0"/>
          </a:p>
        </p:txBody>
      </p:sp>
      <p:sp>
        <p:nvSpPr>
          <p:cNvPr id="26" name="Text 24"/>
          <p:cNvSpPr/>
          <p:nvPr/>
        </p:nvSpPr>
        <p:spPr>
          <a:xfrm>
            <a:off x="12065000" y="5715000"/>
            <a:ext cx="3175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探索中文青少年健康教育垂域大模型的数据构建与评估方法论框架</a:t>
            </a:r>
            <a:endParaRPr lang="en-US" sz="1600" dirty="0"/>
          </a:p>
        </p:txBody>
      </p:sp>
      <p:sp>
        <p:nvSpPr>
          <p:cNvPr id="27" name="Shape 25"/>
          <p:cNvSpPr/>
          <p:nvPr/>
        </p:nvSpPr>
        <p:spPr>
          <a:xfrm>
            <a:off x="762000" y="7556500"/>
            <a:ext cx="14732000" cy="889000"/>
          </a:xfrm>
          <a:prstGeom prst="rect">
            <a:avLst/>
          </a:prstGeom>
          <a:solidFill>
            <a:srgbClr val="1A4B8C"/>
          </a:solidFill>
          <a:ln/>
        </p:spPr>
      </p:sp>
      <p:sp>
        <p:nvSpPr>
          <p:cNvPr id="28" name="Text 26"/>
          <p:cNvSpPr/>
          <p:nvPr/>
        </p:nvSpPr>
        <p:spPr>
          <a:xfrm>
            <a:off x="1016000" y="7620000"/>
            <a:ext cx="14224000" cy="762000"/>
          </a:xfrm>
          <a:prstGeom prst="rect">
            <a:avLst/>
          </a:prstGeom>
          <a:noFill/>
          <a:ln/>
        </p:spPr>
        <p:txBody>
          <a:bodyPr wrap="square" lIns="0" tIns="0" rIns="0" bIns="0" rtlCol="0" anchor="ctr"/>
          <a:lstStyle/>
          <a:p>
            <a:pPr>
              <a:lnSpc>
                <a:spcPct val="15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未来展望：</a:t>
            </a:r>
            <a:pPr>
              <a:lnSpc>
                <a:spcPct val="15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拓展至多平台跨平台比较研究 | 引入检索增强生成（RAG）缓解幻觉 | 开展多轮对话与个性化交互探索 | 持续扩充数据集规模与主题覆盖</a:t>
            </a:r>
            <a:endParaRPr lang="en-US" sz="1600" dirty="0"/>
          </a:p>
        </p:txBody>
      </p:sp>
      <p:sp>
        <p:nvSpPr>
          <p:cNvPr id="29" name="Text 2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0" name="Text 2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研究局限与未来展望</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研究局限与未来展望</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620000" cy="355600"/>
          </a:xfrm>
          <a:prstGeom prst="rect">
            <a:avLst/>
          </a:prstGeom>
          <a:noFill/>
          <a:ln/>
        </p:spPr>
        <p:txBody>
          <a:bodyPr wrap="none" lIns="0" tIns="0" rIns="0" bIns="0" rtlCol="0" anchor="ctr"/>
          <a:lstStyle/>
          <a:p>
            <a:pPr>
              <a:lnSpc>
                <a:spcPct val="100000"/>
              </a:lnSpc>
            </a:pPr>
            <a:r>
              <a:rPr lang="en-US" sz="1800" dirty="0">
                <a:solidFill>
                  <a:srgbClr val="8A9BB0"/>
                </a:solidFill>
                <a:latin typeface="Quattrocento Sans" pitchFamily="34" charset="0"/>
                <a:ea typeface="Quattrocento Sans" pitchFamily="34" charset="-122"/>
                <a:cs typeface="Quattrocento Sans" pitchFamily="34" charset="-120"/>
              </a:rPr>
              <a:t>客观认识边界，明确深化方向</a:t>
            </a:r>
            <a:endParaRPr lang="en-US" sz="1600" dirty="0"/>
          </a:p>
        </p:txBody>
      </p:sp>
      <p:sp>
        <p:nvSpPr>
          <p:cNvPr id="8" name="Shape 6"/>
          <p:cNvSpPr/>
          <p:nvPr/>
        </p:nvSpPr>
        <p:spPr>
          <a:xfrm>
            <a:off x="762000" y="1879600"/>
            <a:ext cx="7112000" cy="6883400"/>
          </a:xfrm>
          <a:prstGeom prst="rect">
            <a:avLst/>
          </a:prstGeom>
          <a:solidFill>
            <a:srgbClr val="FFF5F0"/>
          </a:solidFill>
          <a:ln/>
        </p:spPr>
      </p:sp>
      <p:sp>
        <p:nvSpPr>
          <p:cNvPr id="9" name="Shape 7"/>
          <p:cNvSpPr/>
          <p:nvPr/>
        </p:nvSpPr>
        <p:spPr>
          <a:xfrm>
            <a:off x="1079500" y="2108200"/>
            <a:ext cx="355600" cy="355600"/>
          </a:xfrm>
          <a:custGeom>
            <a:avLst/>
            <a:gdLst/>
            <a:ahLst/>
            <a:cxnLst/>
            <a:rect l="l" t="t" r="r" b="b"/>
            <a:pathLst>
              <a:path w="355600" h="355600">
                <a:moveTo>
                  <a:pt x="177800" y="0"/>
                </a:moveTo>
                <a:cubicBezTo>
                  <a:pt x="188010" y="0"/>
                  <a:pt x="197386" y="5626"/>
                  <a:pt x="202248" y="14585"/>
                </a:cubicBezTo>
                <a:lnTo>
                  <a:pt x="352266" y="292398"/>
                </a:lnTo>
                <a:cubicBezTo>
                  <a:pt x="356920" y="301010"/>
                  <a:pt x="356711" y="311428"/>
                  <a:pt x="351711" y="319832"/>
                </a:cubicBezTo>
                <a:cubicBezTo>
                  <a:pt x="346710" y="328235"/>
                  <a:pt x="337612" y="333375"/>
                  <a:pt x="327819" y="333375"/>
                </a:cubicBezTo>
                <a:lnTo>
                  <a:pt x="27781" y="333375"/>
                </a:lnTo>
                <a:cubicBezTo>
                  <a:pt x="17988" y="333375"/>
                  <a:pt x="8959" y="328235"/>
                  <a:pt x="3889" y="319832"/>
                </a:cubicBezTo>
                <a:cubicBezTo>
                  <a:pt x="-1181" y="311428"/>
                  <a:pt x="-1320" y="301010"/>
                  <a:pt x="3334" y="292398"/>
                </a:cubicBezTo>
                <a:lnTo>
                  <a:pt x="153353" y="14585"/>
                </a:lnTo>
                <a:cubicBezTo>
                  <a:pt x="158214" y="5626"/>
                  <a:pt x="167590" y="0"/>
                  <a:pt x="177800" y="0"/>
                </a:cubicBezTo>
                <a:close/>
                <a:moveTo>
                  <a:pt x="177800" y="116681"/>
                </a:moveTo>
                <a:cubicBezTo>
                  <a:pt x="168563" y="116681"/>
                  <a:pt x="161131" y="124113"/>
                  <a:pt x="161131" y="133350"/>
                </a:cubicBezTo>
                <a:lnTo>
                  <a:pt x="161131" y="211138"/>
                </a:lnTo>
                <a:cubicBezTo>
                  <a:pt x="161131" y="220375"/>
                  <a:pt x="168563" y="227806"/>
                  <a:pt x="177800" y="227806"/>
                </a:cubicBezTo>
                <a:cubicBezTo>
                  <a:pt x="187037" y="227806"/>
                  <a:pt x="194469" y="220375"/>
                  <a:pt x="194469" y="211138"/>
                </a:cubicBezTo>
                <a:lnTo>
                  <a:pt x="194469" y="133350"/>
                </a:lnTo>
                <a:cubicBezTo>
                  <a:pt x="194469" y="124113"/>
                  <a:pt x="187037" y="116681"/>
                  <a:pt x="177800" y="116681"/>
                </a:cubicBezTo>
                <a:close/>
                <a:moveTo>
                  <a:pt x="196344" y="266700"/>
                </a:moveTo>
                <a:cubicBezTo>
                  <a:pt x="196766" y="259817"/>
                  <a:pt x="193333" y="253268"/>
                  <a:pt x="187432" y="249699"/>
                </a:cubicBezTo>
                <a:cubicBezTo>
                  <a:pt x="181532" y="246129"/>
                  <a:pt x="174138" y="246129"/>
                  <a:pt x="168237" y="249699"/>
                </a:cubicBezTo>
                <a:cubicBezTo>
                  <a:pt x="162336" y="253268"/>
                  <a:pt x="158904" y="259817"/>
                  <a:pt x="159325" y="266700"/>
                </a:cubicBezTo>
                <a:cubicBezTo>
                  <a:pt x="158904" y="273583"/>
                  <a:pt x="162336" y="280132"/>
                  <a:pt x="168237" y="283701"/>
                </a:cubicBezTo>
                <a:cubicBezTo>
                  <a:pt x="174138" y="287271"/>
                  <a:pt x="181532" y="287271"/>
                  <a:pt x="187432" y="283701"/>
                </a:cubicBezTo>
                <a:cubicBezTo>
                  <a:pt x="193333" y="280132"/>
                  <a:pt x="196766" y="273583"/>
                  <a:pt x="196344" y="266700"/>
                </a:cubicBezTo>
                <a:close/>
              </a:path>
            </a:pathLst>
          </a:custGeom>
          <a:solidFill>
            <a:srgbClr val="C45C26"/>
          </a:solidFill>
          <a:ln/>
        </p:spPr>
      </p:sp>
      <p:sp>
        <p:nvSpPr>
          <p:cNvPr id="10" name="Text 8"/>
          <p:cNvSpPr/>
          <p:nvPr/>
        </p:nvSpPr>
        <p:spPr>
          <a:xfrm>
            <a:off x="1549400" y="2108200"/>
            <a:ext cx="3810000" cy="355600"/>
          </a:xfrm>
          <a:prstGeom prst="rect">
            <a:avLst/>
          </a:prstGeom>
          <a:noFill/>
          <a:ln/>
        </p:spPr>
        <p:txBody>
          <a:bodyPr wrap="none" lIns="0" tIns="0" rIns="0" bIns="0" rtlCol="0" anchor="ctr"/>
          <a:lstStyle/>
          <a:p>
            <a:pPr>
              <a:lnSpc>
                <a:spcPct val="100000"/>
              </a:lnSpc>
            </a:pPr>
            <a:r>
              <a:rPr lang="en-US" sz="2000" b="1" dirty="0">
                <a:solidFill>
                  <a:srgbClr val="C45C26"/>
                </a:solidFill>
                <a:latin typeface="Quattrocento Sans" pitchFamily="34" charset="0"/>
                <a:ea typeface="Quattrocento Sans" pitchFamily="34" charset="-122"/>
                <a:cs typeface="Quattrocento Sans" pitchFamily="34" charset="-120"/>
              </a:rPr>
              <a:t>当前局限</a:t>
            </a:r>
            <a:endParaRPr lang="en-US" sz="1600" dirty="0"/>
          </a:p>
        </p:txBody>
      </p:sp>
      <p:sp>
        <p:nvSpPr>
          <p:cNvPr id="11" name="Text 9"/>
          <p:cNvSpPr/>
          <p:nvPr/>
        </p:nvSpPr>
        <p:spPr>
          <a:xfrm>
            <a:off x="1079500" y="2641600"/>
            <a:ext cx="6477000" cy="6121400"/>
          </a:xfrm>
          <a:prstGeom prst="rect">
            <a:avLst/>
          </a:prstGeom>
          <a:noFill/>
          <a:ln/>
        </p:spPr>
        <p:txBody>
          <a:bodyPr wrap="square" lIns="0" tIns="0" rIns="0" bIns="0" rtlCol="0" anchor="t"/>
          <a:lstStyle/>
          <a:p>
            <a:pPr>
              <a:lnSpc>
                <a:spcPct val="170000"/>
              </a:lnSpc>
            </a:pPr>
            <a:r>
              <a:rPr lang="en-US" sz="1800" b="1" dirty="0">
                <a:solidFill>
                  <a:srgbClr val="C45C26"/>
                </a:solidFill>
                <a:latin typeface="Quattrocento Sans" pitchFamily="34" charset="0"/>
                <a:ea typeface="Quattrocento Sans" pitchFamily="34" charset="-122"/>
                <a:cs typeface="Quattrocento Sans" pitchFamily="34" charset="-120"/>
              </a:rPr>
              <a:t>① 数据源局限</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限于Bilibili单一平台，且筛选条件偏向高播放量热门视频，可能遗漏小众但重要的声音</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② 模型幻觉风险</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大语言模型幻觉问题未完全根除，面对前沿未定论议题（如男性避孕针）和伪概念提问时，仍可能产生事实性错误或安全隐患</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③ 评估样本约束</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人工审核与专家评分受时间与人力资源约束，样本量和覆盖维度仍有进一步扩展空间</a:t>
            </a:r>
            <a:endParaRPr lang="en-US" sz="1600" dirty="0"/>
          </a:p>
        </p:txBody>
      </p:sp>
      <p:sp>
        <p:nvSpPr>
          <p:cNvPr id="12" name="Shape 10"/>
          <p:cNvSpPr/>
          <p:nvPr/>
        </p:nvSpPr>
        <p:spPr>
          <a:xfrm>
            <a:off x="8382000" y="1879600"/>
            <a:ext cx="7112000" cy="6883400"/>
          </a:xfrm>
          <a:prstGeom prst="rect">
            <a:avLst/>
          </a:prstGeom>
          <a:solidFill>
            <a:srgbClr val="F0F7FF"/>
          </a:solidFill>
          <a:ln/>
        </p:spPr>
      </p:sp>
      <p:sp>
        <p:nvSpPr>
          <p:cNvPr id="13" name="Shape 11"/>
          <p:cNvSpPr/>
          <p:nvPr/>
        </p:nvSpPr>
        <p:spPr>
          <a:xfrm>
            <a:off x="8699500" y="21082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1A4B8C"/>
          </a:solidFill>
          <a:ln/>
        </p:spPr>
      </p:sp>
      <p:sp>
        <p:nvSpPr>
          <p:cNvPr id="14" name="Text 12"/>
          <p:cNvSpPr/>
          <p:nvPr/>
        </p:nvSpPr>
        <p:spPr>
          <a:xfrm>
            <a:off x="9169400" y="2108200"/>
            <a:ext cx="3810000" cy="3556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未来方向</a:t>
            </a:r>
            <a:endParaRPr lang="en-US" sz="1600" dirty="0"/>
          </a:p>
        </p:txBody>
      </p:sp>
      <p:sp>
        <p:nvSpPr>
          <p:cNvPr id="15" name="Text 13"/>
          <p:cNvSpPr/>
          <p:nvPr/>
        </p:nvSpPr>
        <p:spPr>
          <a:xfrm>
            <a:off x="8699500" y="2641600"/>
            <a:ext cx="6477000" cy="6121400"/>
          </a:xfrm>
          <a:prstGeom prst="rect">
            <a:avLst/>
          </a:prstGeom>
          <a:noFill/>
          <a:ln/>
        </p:spPr>
        <p:txBody>
          <a:bodyPr wrap="square" lIns="0" tIns="0" rIns="0" bIns="0" rtlCol="0" anchor="t"/>
          <a:lstStyle/>
          <a:p>
            <a:pPr>
              <a:lnSpc>
                <a:spcPct val="170000"/>
              </a:lnSpc>
            </a:pPr>
            <a:r>
              <a:rPr lang="en-US" sz="1800" b="1" dirty="0">
                <a:solidFill>
                  <a:srgbClr val="1A4B8C"/>
                </a:solidFill>
                <a:latin typeface="Quattrocento Sans" pitchFamily="34" charset="0"/>
                <a:ea typeface="Quattrocento Sans" pitchFamily="34" charset="-122"/>
                <a:cs typeface="Quattrocento Sans" pitchFamily="34" charset="-120"/>
              </a:rPr>
              <a:t>① 跨平台比较研究</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拓展至抖音、微博、小红书等多平台，开展跨平台比较研究，验证发现的普适性或揭示平台生态差异对健康传播的影响</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② 检索增强生成（RAG）</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引入RAG技术，将模型与权威医学知识库动态链接，以缓解幻觉问题并保障答案的时效性与可追溯性</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③ 多轮对话与个性化交互</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探索多轮对话与个性化交互，模拟真实咨询场景中的追问与澄清机制，提升智能问答系统的实用体验</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④ 持续扩充数据集</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扩充数据集规模与主题覆盖，特别强化谣言辟谣及边缘议题的系统性收录，以增强模型的鲁棒性与安全性</a:t>
            </a:r>
            <a:endParaRPr lang="en-US" sz="1600" dirty="0"/>
          </a:p>
        </p:txBody>
      </p:sp>
      <p:sp>
        <p:nvSpPr>
          <p:cNvPr id="16" name="Text 1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7" name="Text 1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3048000" y="2794000"/>
            <a:ext cx="10160000" cy="1016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Quattrocento Sans" pitchFamily="34" charset="0"/>
                <a:ea typeface="Quattrocento Sans" pitchFamily="34" charset="-122"/>
                <a:cs typeface="Quattrocento Sans" pitchFamily="34" charset="-120"/>
              </a:rPr>
              <a:t>致谢</a:t>
            </a:r>
            <a:endParaRPr lang="en-US" sz="1600" dirty="0"/>
          </a:p>
        </p:txBody>
      </p:sp>
      <p:sp>
        <p:nvSpPr>
          <p:cNvPr id="3" name="Shape 1"/>
          <p:cNvSpPr/>
          <p:nvPr/>
        </p:nvSpPr>
        <p:spPr>
          <a:xfrm>
            <a:off x="6858000" y="4064000"/>
            <a:ext cx="2540000" cy="38100"/>
          </a:xfrm>
          <a:prstGeom prst="rect">
            <a:avLst/>
          </a:prstGeom>
          <a:solidFill>
            <a:srgbClr val="C45C26"/>
          </a:solidFill>
          <a:ln/>
        </p:spPr>
      </p:sp>
      <p:sp>
        <p:nvSpPr>
          <p:cNvPr id="4" name="Text 2"/>
          <p:cNvSpPr/>
          <p:nvPr/>
        </p:nvSpPr>
        <p:spPr>
          <a:xfrm>
            <a:off x="3048000" y="4445000"/>
            <a:ext cx="10160000" cy="1905000"/>
          </a:xfrm>
          <a:prstGeom prst="rect">
            <a:avLst/>
          </a:prstGeom>
          <a:noFill/>
          <a:ln/>
        </p:spPr>
        <p:txBody>
          <a:bodyPr wrap="square" lIns="0" tIns="0" rIns="0" bIns="0" rtlCol="0" anchor="t"/>
          <a:lstStyle/>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衷心感谢导师 </a:t>
            </a:r>
            <a:pPr algn="ctr">
              <a:lnSpc>
                <a:spcPct val="180000"/>
              </a:lnSpc>
            </a:pPr>
            <a:r>
              <a:rPr lang="en-US" sz="2000" b="1" dirty="0">
                <a:solidFill>
                  <a:srgbClr val="FFFFFF">
                    <a:alpha val="80000"/>
                  </a:srgbClr>
                </a:solidFill>
                <a:latin typeface="Quattrocento Sans" pitchFamily="34" charset="0"/>
                <a:ea typeface="Quattrocento Sans" pitchFamily="34" charset="-122"/>
                <a:cs typeface="Quattrocento Sans" pitchFamily="34" charset="-120"/>
              </a:rPr>
              <a:t>黄若尘老师</a:t>
            </a:r>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 的悉心指导</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感谢各位评审老师的宝贵意见与建议</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感谢南京医科大学生物医学工程与信息学院的支持</a:t>
            </a:r>
            <a:endParaRPr lang="en-US" sz="1600" dirty="0"/>
          </a:p>
        </p:txBody>
      </p:sp>
      <p:sp>
        <p:nvSpPr>
          <p:cNvPr id="5" name="Shape 3"/>
          <p:cNvSpPr/>
          <p:nvPr/>
        </p:nvSpPr>
        <p:spPr>
          <a:xfrm>
            <a:off x="635000" y="762000"/>
            <a:ext cx="1905000" cy="1905000"/>
          </a:xfrm>
          <a:prstGeom prst="ellipse">
            <a:avLst/>
          </a:prstGeom>
          <a:solidFill>
            <a:srgbClr val="FFFFFF">
              <a:alpha val="3137"/>
            </a:srgbClr>
          </a:solidFill>
          <a:ln/>
        </p:spPr>
      </p:sp>
      <p:sp>
        <p:nvSpPr>
          <p:cNvPr id="6" name="Shape 4"/>
          <p:cNvSpPr/>
          <p:nvPr/>
        </p:nvSpPr>
        <p:spPr>
          <a:xfrm>
            <a:off x="13335000" y="6096000"/>
            <a:ext cx="1524000" cy="1524000"/>
          </a:xfrm>
          <a:prstGeom prst="ellipse">
            <a:avLst/>
          </a:prstGeom>
          <a:solidFill>
            <a:srgbClr val="FFFFFF">
              <a:alpha val="2353"/>
            </a:srgbClr>
          </a:solidFill>
          <a:ln/>
        </p:spPr>
      </p:sp>
      <p:sp>
        <p:nvSpPr>
          <p:cNvPr id="7" name="Text 5"/>
          <p:cNvSpPr/>
          <p:nvPr/>
        </p:nvSpPr>
        <p:spPr>
          <a:xfrm>
            <a:off x="3048000" y="6858000"/>
            <a:ext cx="10160000" cy="508000"/>
          </a:xfrm>
          <a:prstGeom prst="rect">
            <a:avLst/>
          </a:prstGeom>
          <a:noFill/>
          <a:ln/>
        </p:spPr>
        <p:txBody>
          <a:bodyPr wrap="none" lIns="0" tIns="0" rIns="0" bIns="0" rtlCol="0" anchor="ctr"/>
          <a:lstStyle/>
          <a:p>
            <a:pPr algn="ctr">
              <a:lnSpc>
                <a:spcPct val="100000"/>
              </a:lnSpc>
            </a:pPr>
            <a:r>
              <a:rPr lang="en-US" sz="1600" dirty="0">
                <a:solidFill>
                  <a:srgbClr val="FFFFFF">
                    <a:alpha val="50196"/>
                  </a:srgbClr>
                </a:solidFill>
                <a:latin typeface="Quattrocento Sans" pitchFamily="34" charset="0"/>
                <a:ea typeface="Quattrocento Sans" pitchFamily="34" charset="-122"/>
                <a:cs typeface="Quattrocento Sans" pitchFamily="34" charset="-120"/>
              </a:rPr>
              <a:t>博学至精 · 明德至善</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基于大语言模型的社交媒体青少年生殖健康评论分类分析与问答生成研究</dc:title>
  <dc:subject>基于大语言模型的社交媒体青少年生殖健康评论分类分析与问答生成研究</dc:subject>
  <dc:creator>Kimi</dc:creator>
  <cp:lastModifiedBy>Kimi</cp:lastModifiedBy>
  <cp:revision>1</cp:revision>
  <dcterms:created xsi:type="dcterms:W3CDTF">2026-04-28T11:22:45Z</dcterms:created>
  <dcterms:modified xsi:type="dcterms:W3CDTF">2026-04-28T11:22:45Z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基于大语言模型的社交媒体青少年生殖健康评论分类分析与问答生成研究","ContentProducer":"001191110108MACG2KBH8F10000","ProduceID":"19dd3ca6-1492-84ff-8000-0000e7f6d341","ReservedCode1":"","ContentPropagator":"001191110108MACG2KBH8F20000","PropagateID":"19dd3ca6-1492-84ff-8000-0000e7f6d341","ReservedCode2":""}</vt:lpwstr>
  </property>
</Properties>
</file>